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uZTm4STczE6W5EgwJV1wOW1Z/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26" y="115"/>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1dd18538d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g11dd18538d0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1dd18538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g11dd18538d0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9" name="Google Shape;479;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2" name="Google Shape;492;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6" name="Google Shape;516;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0" name="Google Shape;540;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4" name="Google Shape;564;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0" name="Google Shape;590;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4" name="Google Shape;604;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9" name="Google Shape;619;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1" name="Google Shape;631;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4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5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5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5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5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5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5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5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5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5"/>
          <p:cNvSpPr>
            <a:spLocks noGrp="1"/>
          </p:cNvSpPr>
          <p:nvPr>
            <p:ph type="pic" idx="2"/>
          </p:nvPr>
        </p:nvSpPr>
        <p:spPr>
          <a:xfrm>
            <a:off x="1792288" y="612775"/>
            <a:ext cx="5486400" cy="4114800"/>
          </a:xfrm>
          <a:prstGeom prst="rect">
            <a:avLst/>
          </a:prstGeom>
          <a:noFill/>
          <a:ln>
            <a:noFill/>
          </a:ln>
        </p:spPr>
      </p:sp>
      <p:sp>
        <p:nvSpPr>
          <p:cNvPr id="64" name="Google Shape;64;p5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5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5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5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86" name="Google Shape;86;p1"/>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r>
              <a:rPr lang="en-US" b="1">
                <a:solidFill>
                  <a:schemeClr val="dk2"/>
                </a:solidFill>
                <a:latin typeface="Calibri"/>
                <a:ea typeface="Calibri"/>
                <a:cs typeface="Calibri"/>
                <a:sym typeface="Calibri"/>
              </a:rPr>
              <a:t>Bài </a:t>
            </a:r>
            <a:r>
              <a:rPr lang="en-US" b="1">
                <a:solidFill>
                  <a:schemeClr val="dk2"/>
                </a:solidFill>
              </a:rPr>
              <a:t>6. </a:t>
            </a:r>
            <a:br>
              <a:rPr lang="en-US" b="1">
                <a:solidFill>
                  <a:schemeClr val="dk2"/>
                </a:solidFill>
              </a:rPr>
            </a:br>
            <a:r>
              <a:rPr lang="en-US" b="1">
                <a:solidFill>
                  <a:schemeClr val="dk2"/>
                </a:solidFill>
              </a:rPr>
              <a:t>OOP trong JavaScript</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11dd18538d0_0_7"/>
          <p:cNvSpPr txBox="1">
            <a:spLocks noGrp="1"/>
          </p:cNvSpPr>
          <p:nvPr>
            <p:ph type="subTitle" idx="1"/>
          </p:nvPr>
        </p:nvSpPr>
        <p:spPr>
          <a:xfrm>
            <a:off x="304800" y="6248400"/>
            <a:ext cx="5867400" cy="486300"/>
          </a:xfrm>
          <a:prstGeom prst="rect">
            <a:avLst/>
          </a:prstGeom>
          <a:noFill/>
          <a:ln>
            <a:noFill/>
          </a:ln>
        </p:spPr>
        <p:txBody>
          <a:bodyPr spcFirstLastPara="1" wrap="square" lIns="91425" tIns="45700" rIns="91425" bIns="45700" anchor="t" anchorCtr="0">
            <a:normAutofit fontScale="325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g11dd18538d0_0_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50"/>
              </a:srgbClr>
            </a:outerShdw>
          </a:effectLst>
        </p:spPr>
      </p:cxnSp>
      <p:sp>
        <p:nvSpPr>
          <p:cNvPr id="94" name="Google Shape;94;g11dd18538d0_0_7"/>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457200" lvl="0" indent="-406400" algn="l" rtl="0">
              <a:spcBef>
                <a:spcPts val="0"/>
              </a:spcBef>
              <a:spcAft>
                <a:spcPts val="0"/>
              </a:spcAft>
              <a:buClr>
                <a:schemeClr val="dk2"/>
              </a:buClr>
              <a:buSzPts val="2800"/>
              <a:buChar char="●"/>
            </a:pPr>
            <a:r>
              <a:rPr lang="en-US" sz="2800">
                <a:solidFill>
                  <a:schemeClr val="dk2"/>
                </a:solidFill>
              </a:rPr>
              <a:t>OOP là gì ?</a:t>
            </a:r>
            <a:endParaRPr sz="2800">
              <a:solidFill>
                <a:schemeClr val="dk2"/>
              </a:solidFill>
            </a:endParaRPr>
          </a:p>
          <a:p>
            <a:pPr marL="457200" lvl="0" indent="-406400" algn="l" rtl="0">
              <a:spcBef>
                <a:spcPts val="0"/>
              </a:spcBef>
              <a:spcAft>
                <a:spcPts val="0"/>
              </a:spcAft>
              <a:buClr>
                <a:schemeClr val="dk2"/>
              </a:buClr>
              <a:buSzPts val="2800"/>
              <a:buChar char="●"/>
            </a:pPr>
            <a:r>
              <a:rPr lang="en-US" sz="2800">
                <a:solidFill>
                  <a:schemeClr val="dk2"/>
                </a:solidFill>
              </a:rPr>
              <a:t>Tính chất của OOP</a:t>
            </a:r>
            <a:endParaRPr sz="2800">
              <a:solidFill>
                <a:schemeClr val="dk2"/>
              </a:solidFill>
            </a:endParaRPr>
          </a:p>
          <a:p>
            <a:pPr marL="457200" lvl="0" indent="-406400" algn="l" rtl="0">
              <a:spcBef>
                <a:spcPts val="0"/>
              </a:spcBef>
              <a:spcAft>
                <a:spcPts val="0"/>
              </a:spcAft>
              <a:buClr>
                <a:schemeClr val="dk2"/>
              </a:buClr>
              <a:buSzPts val="2800"/>
              <a:buChar char="●"/>
            </a:pPr>
            <a:r>
              <a:rPr lang="en-US" sz="2800">
                <a:solidFill>
                  <a:schemeClr val="dk2"/>
                </a:solidFill>
              </a:rPr>
              <a:t>Prototype</a:t>
            </a:r>
            <a:endParaRPr sz="2800">
              <a:solidFill>
                <a:schemeClr val="dk2"/>
              </a:solidFill>
            </a:endParaRPr>
          </a:p>
          <a:p>
            <a:pPr marL="0" lvl="0" indent="0" algn="l" rtl="0">
              <a:spcBef>
                <a:spcPts val="0"/>
              </a:spcBef>
              <a:spcAft>
                <a:spcPts val="0"/>
              </a:spcAft>
              <a:buClr>
                <a:srgbClr val="003999"/>
              </a:buClr>
              <a:buSzPts val="4400"/>
              <a:buFont typeface="Calibri"/>
              <a:buNone/>
            </a:pPr>
            <a:endParaRPr sz="2800">
              <a:solidFill>
                <a:schemeClr val="dk2"/>
              </a:solidFill>
            </a:endParaRPr>
          </a:p>
        </p:txBody>
      </p:sp>
      <p:pic>
        <p:nvPicPr>
          <p:cNvPr id="95" name="Google Shape;95;g11dd18538d0_0_7"/>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11dd18538d0_0_0"/>
          <p:cNvSpPr txBox="1">
            <a:spLocks noGrp="1"/>
          </p:cNvSpPr>
          <p:nvPr>
            <p:ph type="subTitle" idx="1"/>
          </p:nvPr>
        </p:nvSpPr>
        <p:spPr>
          <a:xfrm>
            <a:off x="304800" y="6248400"/>
            <a:ext cx="5867400" cy="486300"/>
          </a:xfrm>
          <a:prstGeom prst="rect">
            <a:avLst/>
          </a:prstGeom>
          <a:noFill/>
          <a:ln>
            <a:noFill/>
          </a:ln>
        </p:spPr>
        <p:txBody>
          <a:bodyPr spcFirstLastPara="1" wrap="square" lIns="91425" tIns="45700" rIns="91425" bIns="45700" anchor="t" anchorCtr="0">
            <a:normAutofit fontScale="325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1" name="Google Shape;101;g11dd18538d0_0_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50"/>
              </a:srgbClr>
            </a:outerShdw>
          </a:effectLst>
        </p:spPr>
      </p:cxnSp>
      <p:sp>
        <p:nvSpPr>
          <p:cNvPr id="102" name="Google Shape;102;g11dd18538d0_0_0"/>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r>
              <a:rPr lang="en-US" b="1">
                <a:solidFill>
                  <a:schemeClr val="dk2"/>
                </a:solidFill>
                <a:latin typeface="Calibri"/>
                <a:ea typeface="Calibri"/>
                <a:cs typeface="Calibri"/>
                <a:sym typeface="Calibri"/>
              </a:rPr>
              <a:t>Bài </a:t>
            </a:r>
            <a:r>
              <a:rPr lang="en-US" b="1">
                <a:solidFill>
                  <a:schemeClr val="dk2"/>
                </a:solidFill>
              </a:rPr>
              <a:t>6 </a:t>
            </a:r>
            <a:br>
              <a:rPr lang="en-US" b="1">
                <a:solidFill>
                  <a:schemeClr val="dk2"/>
                </a:solidFill>
              </a:rPr>
            </a:br>
            <a:r>
              <a:rPr lang="en-US" b="1">
                <a:solidFill>
                  <a:schemeClr val="dk2"/>
                </a:solidFill>
              </a:rPr>
              <a:t>Section 1. Object Oriented Programing (OOP) with JavaScript </a:t>
            </a:r>
            <a:endParaRPr sz="4200">
              <a:solidFill>
                <a:schemeClr val="dk2"/>
              </a:solidFill>
              <a:latin typeface="Calibri"/>
              <a:ea typeface="Calibri"/>
              <a:cs typeface="Calibri"/>
              <a:sym typeface="Calibri"/>
            </a:endParaRPr>
          </a:p>
        </p:txBody>
      </p:sp>
      <p:pic>
        <p:nvPicPr>
          <p:cNvPr id="103" name="Google Shape;103;g11dd18538d0_0_0"/>
          <p:cNvPicPr preferRelativeResize="0"/>
          <p:nvPr/>
        </p:nvPicPr>
        <p:blipFill rotWithShape="1">
          <a:blip r:embed="rId3">
            <a:alphaModFix/>
          </a:blip>
          <a:srcRect/>
          <a:stretch/>
        </p:blipFill>
        <p:spPr>
          <a:xfrm>
            <a:off x="7373841" y="6206612"/>
            <a:ext cx="1389157" cy="4862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9" name="Google Shape;109;p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10" name="Google Shape;110;p2"/>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11" name="Google Shape;111;p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12" name="Google Shape;112;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0" u="none" strike="noStrike" cap="none">
                <a:solidFill>
                  <a:schemeClr val="dk2"/>
                </a:solidFill>
                <a:latin typeface="Arial"/>
                <a:ea typeface="Arial"/>
                <a:cs typeface="Arial"/>
                <a:sym typeface="Arial"/>
              </a:rPr>
              <a:t>NỘI DUNG</a:t>
            </a:r>
            <a:endParaRPr/>
          </a:p>
        </p:txBody>
      </p:sp>
      <p:sp>
        <p:nvSpPr>
          <p:cNvPr id="114" name="Google Shape;114;p2"/>
          <p:cNvSpPr txBox="1"/>
          <p:nvPr/>
        </p:nvSpPr>
        <p:spPr>
          <a:xfrm>
            <a:off x="685800" y="1905000"/>
            <a:ext cx="7848600" cy="22775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Tổng quan về OOP (Lập trình hướng đối tượng)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Lập trình hướng đối tượng là một mô hình lập trình dựa trên khái niệm về đối tượng</a:t>
            </a: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Ta sử dụng các đối tượng để mô hình hóa (mô tả) các đội tượng thực thể hoặc trừu tượng</a:t>
            </a:r>
            <a:endParaRPr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0" name="Google Shape;120;p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21" name="Google Shape;121;p3"/>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22" name="Google Shape;122;p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23" name="Google Shape;123;p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25" name="Google Shape;125;p3"/>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Tổng quan về OOP (Lập trình hướng đối tượng)</a:t>
            </a:r>
            <a:endParaRPr/>
          </a:p>
        </p:txBody>
      </p:sp>
      <p:sp>
        <p:nvSpPr>
          <p:cNvPr id="126" name="Google Shape;126;p3"/>
          <p:cNvSpPr txBox="1"/>
          <p:nvPr/>
        </p:nvSpPr>
        <p:spPr>
          <a:xfrm>
            <a:off x="762000" y="3048000"/>
            <a:ext cx="4495800"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Các đội tượng có thể chứa dữ liệu bao gồm các thuộc tính (properties) và các phương thức (methods). Chúng ta tạo ra các đối tượng bằng cách đóng gói các thuộc tính và phương thức tương ứng trong một khối code.</a:t>
            </a:r>
            <a:endParaRPr/>
          </a:p>
        </p:txBody>
      </p:sp>
      <p:pic>
        <p:nvPicPr>
          <p:cNvPr id="127" name="Google Shape;127;p3"/>
          <p:cNvPicPr preferRelativeResize="0"/>
          <p:nvPr/>
        </p:nvPicPr>
        <p:blipFill rotWithShape="1">
          <a:blip r:embed="rId4">
            <a:alphaModFix/>
          </a:blip>
          <a:srcRect/>
          <a:stretch/>
        </p:blipFill>
        <p:spPr>
          <a:xfrm>
            <a:off x="5807892" y="2741997"/>
            <a:ext cx="1746920" cy="32016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3" name="Google Shape;133;p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34" name="Google Shape;134;p4"/>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35" name="Google Shape;135;p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36" name="Google Shape;136;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38" name="Google Shape;138;p4"/>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Tổng quan về OOP (Lập trình hướng đối tượng)</a:t>
            </a:r>
            <a:endParaRPr/>
          </a:p>
        </p:txBody>
      </p:sp>
      <p:sp>
        <p:nvSpPr>
          <p:cNvPr id="139" name="Google Shape;139;p4"/>
          <p:cNvSpPr txBox="1"/>
          <p:nvPr/>
        </p:nvSpPr>
        <p:spPr>
          <a:xfrm>
            <a:off x="685800" y="2667000"/>
            <a:ext cx="77724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Các đối tượng có thể tương tác thông qua giao diện lập trình công khai API (dạng public): các phương thức mà mã code bên ngoài đối tượng có thể truy cập đến và sử dụng để giao tiếp với đối tượng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OOP được phát triển với mục đích tổ chức code cho dễ hiểu, linh hoạt và dễ bảo trì hơn</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5" name="Google Shape;145;p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46" name="Google Shape;146;p5"/>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47" name="Google Shape;147;p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48" name="Google Shape;148;p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50" name="Google Shape;150;p5"/>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Class và Instance ()</a:t>
            </a:r>
            <a:endParaRPr/>
          </a:p>
        </p:txBody>
      </p:sp>
      <p:sp>
        <p:nvSpPr>
          <p:cNvPr id="151" name="Google Shape;151;p5"/>
          <p:cNvSpPr txBox="1"/>
          <p:nvPr/>
        </p:nvSpPr>
        <p:spPr>
          <a:xfrm>
            <a:off x="685800" y="2667000"/>
            <a:ext cx="7772400" cy="1631216"/>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Class: là khuân mẫu do người dùng định nghĩa thiết kế ra đối tượng. Có thể hiểu nó là một bản vẽ chi tiết kỹ thuật của đối tượng.</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Instance: là một trường hợp cụ thể của Class, tất cả các instance của một Class có các thuộc tính cụ thể được mô tả trong Class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7" name="Google Shape;157;p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58" name="Google Shape;158;p6"/>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159" name="Google Shape;159;p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60" name="Google Shape;160;p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pic>
        <p:nvPicPr>
          <p:cNvPr id="162" name="Google Shape;162;p6"/>
          <p:cNvPicPr preferRelativeResize="0"/>
          <p:nvPr/>
        </p:nvPicPr>
        <p:blipFill rotWithShape="1">
          <a:blip r:embed="rId4">
            <a:alphaModFix/>
          </a:blip>
          <a:srcRect/>
          <a:stretch/>
        </p:blipFill>
        <p:spPr>
          <a:xfrm>
            <a:off x="76200" y="838200"/>
            <a:ext cx="3759060" cy="1690395"/>
          </a:xfrm>
          <a:prstGeom prst="rect">
            <a:avLst/>
          </a:prstGeom>
          <a:noFill/>
          <a:ln>
            <a:noFill/>
          </a:ln>
        </p:spPr>
      </p:pic>
      <p:pic>
        <p:nvPicPr>
          <p:cNvPr id="163" name="Google Shape;163;p6"/>
          <p:cNvPicPr preferRelativeResize="0"/>
          <p:nvPr/>
        </p:nvPicPr>
        <p:blipFill rotWithShape="1">
          <a:blip r:embed="rId5">
            <a:alphaModFix/>
          </a:blip>
          <a:srcRect/>
          <a:stretch/>
        </p:blipFill>
        <p:spPr>
          <a:xfrm>
            <a:off x="838200" y="2532523"/>
            <a:ext cx="2600325" cy="3514725"/>
          </a:xfrm>
          <a:prstGeom prst="rect">
            <a:avLst/>
          </a:prstGeom>
          <a:noFill/>
          <a:ln>
            <a:noFill/>
          </a:ln>
        </p:spPr>
      </p:pic>
      <p:pic>
        <p:nvPicPr>
          <p:cNvPr id="164" name="Google Shape;164;p6"/>
          <p:cNvPicPr preferRelativeResize="0"/>
          <p:nvPr/>
        </p:nvPicPr>
        <p:blipFill rotWithShape="1">
          <a:blip r:embed="rId6">
            <a:alphaModFix/>
          </a:blip>
          <a:srcRect/>
          <a:stretch/>
        </p:blipFill>
        <p:spPr>
          <a:xfrm>
            <a:off x="5029200" y="1130947"/>
            <a:ext cx="3543300" cy="1104900"/>
          </a:xfrm>
          <a:prstGeom prst="rect">
            <a:avLst/>
          </a:prstGeom>
          <a:noFill/>
          <a:ln>
            <a:noFill/>
          </a:ln>
        </p:spPr>
      </p:pic>
      <p:pic>
        <p:nvPicPr>
          <p:cNvPr id="165" name="Google Shape;165;p6"/>
          <p:cNvPicPr preferRelativeResize="0"/>
          <p:nvPr/>
        </p:nvPicPr>
        <p:blipFill rotWithShape="1">
          <a:blip r:embed="rId7">
            <a:alphaModFix/>
          </a:blip>
          <a:srcRect/>
          <a:stretch/>
        </p:blipFill>
        <p:spPr>
          <a:xfrm>
            <a:off x="5029200" y="2450258"/>
            <a:ext cx="1914525" cy="2190750"/>
          </a:xfrm>
          <a:prstGeom prst="rect">
            <a:avLst/>
          </a:prstGeom>
          <a:noFill/>
          <a:ln>
            <a:noFill/>
          </a:ln>
        </p:spPr>
      </p:pic>
      <p:pic>
        <p:nvPicPr>
          <p:cNvPr id="166" name="Google Shape;166;p6"/>
          <p:cNvPicPr preferRelativeResize="0"/>
          <p:nvPr/>
        </p:nvPicPr>
        <p:blipFill rotWithShape="1">
          <a:blip r:embed="rId8">
            <a:alphaModFix/>
          </a:blip>
          <a:srcRect/>
          <a:stretch/>
        </p:blipFill>
        <p:spPr>
          <a:xfrm>
            <a:off x="6619875" y="3309937"/>
            <a:ext cx="1914525" cy="2219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2" name="Google Shape;172;p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73" name="Google Shape;173;p7"/>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74" name="Google Shape;174;p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75" name="Google Shape;175;p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77" name="Google Shape;177;p7"/>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 tính chất cơ bản trong OOP</a:t>
            </a:r>
            <a:endParaRPr/>
          </a:p>
        </p:txBody>
      </p:sp>
      <p:sp>
        <p:nvSpPr>
          <p:cNvPr id="178" name="Google Shape;178;p7"/>
          <p:cNvSpPr txBox="1"/>
          <p:nvPr/>
        </p:nvSpPr>
        <p:spPr>
          <a:xfrm>
            <a:off x="685800" y="2667000"/>
            <a:ext cx="7772400" cy="224676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Trừu tượng (Abstraction)</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Đóng gói (Encapsulation)</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Kế thừa (Inheritance)</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Đa hình (Polymorphism)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4" name="Google Shape;184;p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85" name="Google Shape;185;p8"/>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86" name="Google Shape;186;p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87" name="Google Shape;187;p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189" name="Google Shape;189;p8"/>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Trừu tượng (Abstraction)</a:t>
            </a:r>
            <a:endParaRPr/>
          </a:p>
        </p:txBody>
      </p:sp>
      <p:sp>
        <p:nvSpPr>
          <p:cNvPr id="190" name="Google Shape;190;p8"/>
          <p:cNvSpPr txBox="1"/>
          <p:nvPr/>
        </p:nvSpPr>
        <p:spPr>
          <a:xfrm>
            <a:off x="685800" y="2667000"/>
            <a:ext cx="7772400" cy="132343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Tính trừ tượng: bỏ qua hoặc che giấu những chi tiết không quan trọng, cho ta cái nhìn tổng quan về đối tượng, thay vì phải quan tâm đến từng những chi tiết không thực sự quan trọng đối với việc triển khai đối tượng</a:t>
            </a:r>
            <a:endParaRPr sz="2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6" name="Google Shape;196;p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197" name="Google Shape;197;p9"/>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198" name="Google Shape;198;p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199" name="Google Shape;199;p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01" name="Google Shape;201;p9"/>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Trừu tượng (Abstraction)</a:t>
            </a:r>
            <a:endParaRPr/>
          </a:p>
        </p:txBody>
      </p:sp>
      <p:pic>
        <p:nvPicPr>
          <p:cNvPr id="202" name="Google Shape;202;p9"/>
          <p:cNvPicPr preferRelativeResize="0"/>
          <p:nvPr/>
        </p:nvPicPr>
        <p:blipFill rotWithShape="1">
          <a:blip r:embed="rId4">
            <a:alphaModFix/>
          </a:blip>
          <a:srcRect/>
          <a:stretch/>
        </p:blipFill>
        <p:spPr>
          <a:xfrm>
            <a:off x="457200" y="2450965"/>
            <a:ext cx="1607376" cy="3560735"/>
          </a:xfrm>
          <a:prstGeom prst="rect">
            <a:avLst/>
          </a:prstGeom>
          <a:noFill/>
          <a:ln>
            <a:noFill/>
          </a:ln>
        </p:spPr>
      </p:pic>
      <p:pic>
        <p:nvPicPr>
          <p:cNvPr id="203" name="Google Shape;203;p9"/>
          <p:cNvPicPr preferRelativeResize="0"/>
          <p:nvPr/>
        </p:nvPicPr>
        <p:blipFill rotWithShape="1">
          <a:blip r:embed="rId5">
            <a:alphaModFix/>
          </a:blip>
          <a:srcRect/>
          <a:stretch/>
        </p:blipFill>
        <p:spPr>
          <a:xfrm>
            <a:off x="2064576" y="2697537"/>
            <a:ext cx="2017045" cy="3067589"/>
          </a:xfrm>
          <a:prstGeom prst="rect">
            <a:avLst/>
          </a:prstGeom>
          <a:noFill/>
          <a:ln>
            <a:noFill/>
          </a:ln>
        </p:spPr>
      </p:pic>
      <p:pic>
        <p:nvPicPr>
          <p:cNvPr id="204" name="Google Shape;204;p9"/>
          <p:cNvPicPr preferRelativeResize="0"/>
          <p:nvPr/>
        </p:nvPicPr>
        <p:blipFill rotWithShape="1">
          <a:blip r:embed="rId6">
            <a:alphaModFix/>
          </a:blip>
          <a:srcRect/>
          <a:stretch/>
        </p:blipFill>
        <p:spPr>
          <a:xfrm>
            <a:off x="4628954" y="3231476"/>
            <a:ext cx="1390650" cy="2533650"/>
          </a:xfrm>
          <a:prstGeom prst="rect">
            <a:avLst/>
          </a:prstGeom>
          <a:noFill/>
          <a:ln>
            <a:noFill/>
          </a:ln>
        </p:spPr>
      </p:pic>
      <p:pic>
        <p:nvPicPr>
          <p:cNvPr id="205" name="Google Shape;205;p9"/>
          <p:cNvPicPr preferRelativeResize="0"/>
          <p:nvPr/>
        </p:nvPicPr>
        <p:blipFill rotWithShape="1">
          <a:blip r:embed="rId7">
            <a:alphaModFix/>
          </a:blip>
          <a:srcRect/>
          <a:stretch/>
        </p:blipFill>
        <p:spPr>
          <a:xfrm>
            <a:off x="4632702" y="2366665"/>
            <a:ext cx="2533650" cy="857250"/>
          </a:xfrm>
          <a:prstGeom prst="rect">
            <a:avLst/>
          </a:prstGeom>
          <a:noFill/>
          <a:ln>
            <a:noFill/>
          </a:ln>
        </p:spPr>
      </p:pic>
      <p:pic>
        <p:nvPicPr>
          <p:cNvPr id="206" name="Google Shape;206;p9"/>
          <p:cNvPicPr preferRelativeResize="0"/>
          <p:nvPr/>
        </p:nvPicPr>
        <p:blipFill rotWithShape="1">
          <a:blip r:embed="rId8">
            <a:alphaModFix/>
          </a:blip>
          <a:srcRect/>
          <a:stretch/>
        </p:blipFill>
        <p:spPr>
          <a:xfrm>
            <a:off x="6094789" y="3308215"/>
            <a:ext cx="2143125" cy="2047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2" name="Google Shape;212;p1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13" name="Google Shape;213;p10"/>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14" name="Google Shape;214;p1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15" name="Google Shape;215;p1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17" name="Google Shape;217;p10"/>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Bao đóng(Encapsulation)</a:t>
            </a:r>
            <a:endParaRPr/>
          </a:p>
        </p:txBody>
      </p:sp>
      <p:sp>
        <p:nvSpPr>
          <p:cNvPr id="218" name="Google Shape;218;p10"/>
          <p:cNvSpPr txBox="1"/>
          <p:nvPr/>
        </p:nvSpPr>
        <p:spPr>
          <a:xfrm>
            <a:off x="685800" y="2667000"/>
            <a:ext cx="7772400" cy="132343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Tính bao đóng: Giữ cho các thuộc tính hoặc các phương thức mang tính chất cá nhân hóa (private), tức là các thuộc tính và phương này chỉ được phép sử dụng bên trong Class và không thể truy cập hay tác động từ bên ngoài</a:t>
            </a:r>
            <a:endParaRPr sz="2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4" name="Google Shape;224;p1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25" name="Google Shape;225;p11"/>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26" name="Google Shape;226;p1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27" name="Google Shape;227;p1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1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29" name="Google Shape;229;p11"/>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Bao đóng(Encapsulation)</a:t>
            </a:r>
            <a:endParaRPr/>
          </a:p>
        </p:txBody>
      </p:sp>
      <p:pic>
        <p:nvPicPr>
          <p:cNvPr id="230" name="Google Shape;230;p11"/>
          <p:cNvPicPr preferRelativeResize="0"/>
          <p:nvPr/>
        </p:nvPicPr>
        <p:blipFill rotWithShape="1">
          <a:blip r:embed="rId4">
            <a:alphaModFix/>
          </a:blip>
          <a:srcRect/>
          <a:stretch/>
        </p:blipFill>
        <p:spPr>
          <a:xfrm>
            <a:off x="685800" y="2519064"/>
            <a:ext cx="4592561" cy="33578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6" name="Google Shape;236;p1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37" name="Google Shape;237;p12"/>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38" name="Google Shape;238;p1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39" name="Google Shape;239;p1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 name="Google Shape;240;p1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41" name="Google Shape;241;p12"/>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(Inheritance)</a:t>
            </a:r>
            <a:endParaRPr/>
          </a:p>
        </p:txBody>
      </p:sp>
      <p:sp>
        <p:nvSpPr>
          <p:cNvPr id="242" name="Google Shape;242;p12"/>
          <p:cNvSpPr txBox="1"/>
          <p:nvPr/>
        </p:nvSpPr>
        <p:spPr>
          <a:xfrm>
            <a:off x="685800" y="2667000"/>
            <a:ext cx="7772400" cy="132343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Tính kế thừa: Cho phép class con có các thuộc tính và phương thức giống như của class cha. Hình thành mối quan hệ phân cấp giữa các class. Tính chất này cho phép chúng ta sử dụng lại logic thông thường và mô hình hóa mối quan hệ trong thế giới thực</a:t>
            </a:r>
            <a:endParaRPr sz="2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8" name="Google Shape;248;p1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49" name="Google Shape;249;p13"/>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50" name="Google Shape;250;p1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51" name="Google Shape;251;p1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1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53" name="Google Shape;253;p13"/>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(Inheritance)</a:t>
            </a:r>
            <a:endParaRPr/>
          </a:p>
        </p:txBody>
      </p:sp>
      <p:pic>
        <p:nvPicPr>
          <p:cNvPr id="254" name="Google Shape;254;p13"/>
          <p:cNvPicPr preferRelativeResize="0"/>
          <p:nvPr/>
        </p:nvPicPr>
        <p:blipFill rotWithShape="1">
          <a:blip r:embed="rId4">
            <a:alphaModFix/>
          </a:blip>
          <a:srcRect/>
          <a:stretch/>
        </p:blipFill>
        <p:spPr>
          <a:xfrm>
            <a:off x="685800" y="2540274"/>
            <a:ext cx="6248400" cy="32306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0" name="Google Shape;260;p1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61" name="Google Shape;261;p14"/>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62" name="Google Shape;262;p1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63" name="Google Shape;263;p1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1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65" name="Google Shape;265;p14"/>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Đa hình (Polymorphism)</a:t>
            </a:r>
            <a:endParaRPr/>
          </a:p>
        </p:txBody>
      </p:sp>
      <p:sp>
        <p:nvSpPr>
          <p:cNvPr id="266" name="Google Shape;266;p14"/>
          <p:cNvSpPr txBox="1"/>
          <p:nvPr/>
        </p:nvSpPr>
        <p:spPr>
          <a:xfrm>
            <a:off x="685800" y="2667000"/>
            <a:ext cx="7772400" cy="101566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Tính đa hình: Một class con có thể ghi đè (overwrite) phương thức mà nó kế thừa từ class cha. Cho phép các class con có cùng tên phương thức nhưng cách xử lý là khác nhau.</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2" name="Google Shape;272;p1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73" name="Google Shape;273;p15"/>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74" name="Google Shape;274;p1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75" name="Google Shape;275;p1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6" name="Google Shape;276;p1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77" name="Google Shape;277;p15"/>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Đa hình (Polymorphism)</a:t>
            </a:r>
            <a:endParaRPr/>
          </a:p>
        </p:txBody>
      </p:sp>
      <p:pic>
        <p:nvPicPr>
          <p:cNvPr id="278" name="Google Shape;278;p15"/>
          <p:cNvPicPr preferRelativeResize="0"/>
          <p:nvPr/>
        </p:nvPicPr>
        <p:blipFill rotWithShape="1">
          <a:blip r:embed="rId4">
            <a:alphaModFix/>
          </a:blip>
          <a:srcRect/>
          <a:stretch/>
        </p:blipFill>
        <p:spPr>
          <a:xfrm>
            <a:off x="685800" y="2447725"/>
            <a:ext cx="6553200" cy="34958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4" name="Google Shape;284;p1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85" name="Google Shape;285;p16"/>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Object Oriented Programing</a:t>
            </a:r>
            <a:endParaRPr sz="4200">
              <a:solidFill>
                <a:schemeClr val="dk2"/>
              </a:solidFill>
              <a:latin typeface="Calibri"/>
              <a:ea typeface="Calibri"/>
              <a:cs typeface="Calibri"/>
              <a:sym typeface="Calibri"/>
            </a:endParaRPr>
          </a:p>
        </p:txBody>
      </p:sp>
      <p:pic>
        <p:nvPicPr>
          <p:cNvPr id="286" name="Google Shape;286;p1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87" name="Google Shape;287;p1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289" name="Google Shape;289;p16"/>
          <p:cNvSpPr txBox="1"/>
          <p:nvPr/>
        </p:nvSpPr>
        <p:spPr>
          <a:xfrm>
            <a:off x="685800" y="1905000"/>
            <a:ext cx="7848600"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JavaScript OOP:</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JavaScript là ngôn ngữ dựa trên hướng đối tượng (Prototype-based object-oriented) không hoàn toàn là ngôn ngữ hướng đối tượng (như Java, C++, C#).</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Do đó có nhiều điểm khác biệt với phương pháp hướng đối tượng kiểu “cổ điển” (Classical OOP)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5" name="Google Shape;295;p1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296" name="Google Shape;296;p17"/>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297" name="Google Shape;297;p1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298" name="Google Shape;298;p1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1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00" name="Google Shape;300;p17"/>
          <p:cNvSpPr txBox="1"/>
          <p:nvPr/>
        </p:nvSpPr>
        <p:spPr>
          <a:xfrm>
            <a:off x="685800" y="1905000"/>
            <a:ext cx="7848600" cy="378565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Trong JavaScript chúng ta có Prototypes, và tất cả các Object trong JavaScript đều sự liên kết tới prototype object.</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Prototype object chứa các thuộc tính và các phương thức, và các Object liên kết đến prototype này được phép truy cập và sử dụng các thuộc tính và phương thức.</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Hành vi này được gọi là kế thừa prototype/ủy quyền (Prototype inheritance/delegated)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06" name="Google Shape;306;p1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07" name="Google Shape;307;p18"/>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08" name="Google Shape;308;p1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09" name="Google Shape;309;p1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0" name="Google Shape;310;p1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pic>
        <p:nvPicPr>
          <p:cNvPr id="311" name="Google Shape;311;p18"/>
          <p:cNvPicPr preferRelativeResize="0"/>
          <p:nvPr/>
        </p:nvPicPr>
        <p:blipFill rotWithShape="1">
          <a:blip r:embed="rId4">
            <a:alphaModFix/>
          </a:blip>
          <a:srcRect/>
          <a:stretch/>
        </p:blipFill>
        <p:spPr>
          <a:xfrm>
            <a:off x="609600" y="1467445"/>
            <a:ext cx="3428997" cy="4593685"/>
          </a:xfrm>
          <a:prstGeom prst="rect">
            <a:avLst/>
          </a:prstGeom>
          <a:noFill/>
          <a:ln>
            <a:noFill/>
          </a:ln>
        </p:spPr>
      </p:pic>
      <p:pic>
        <p:nvPicPr>
          <p:cNvPr id="312" name="Google Shape;312;p18"/>
          <p:cNvPicPr preferRelativeResize="0"/>
          <p:nvPr/>
        </p:nvPicPr>
        <p:blipFill rotWithShape="1">
          <a:blip r:embed="rId5">
            <a:alphaModFix/>
          </a:blip>
          <a:srcRect/>
          <a:stretch/>
        </p:blipFill>
        <p:spPr>
          <a:xfrm>
            <a:off x="5558017" y="1432575"/>
            <a:ext cx="2381312" cy="462855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8" name="Google Shape;318;p1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19" name="Google Shape;319;p19"/>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20" name="Google Shape;320;p1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21" name="Google Shape;321;p1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2" name="Google Shape;322;p1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23" name="Google Shape;323;p19"/>
          <p:cNvSpPr txBox="1"/>
          <p:nvPr/>
        </p:nvSpPr>
        <p:spPr>
          <a:xfrm>
            <a:off x="685800" y="1905000"/>
            <a:ext cx="7848600"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Có 3 cách để thực hiện kế thừa prototype trong JavaScript</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Constructor functions</a:t>
            </a:r>
            <a:endParaRPr/>
          </a:p>
          <a:p>
            <a:pPr marL="800100" marR="0" lvl="1" indent="-3429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Phương pháp tạo ra object từ function</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ES6 Classes</a:t>
            </a:r>
            <a:endParaRPr/>
          </a:p>
          <a:p>
            <a:pPr marL="800100" marR="0" lvl="1" indent="-3429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Cú pháp mới thay thế cho cú pháp constructor function</a:t>
            </a:r>
            <a:endParaRPr/>
          </a:p>
          <a:p>
            <a:pPr marL="800100" marR="0" lvl="1" indent="-3429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Cú pháp khác nhưng hoạt động giống constructor function</a:t>
            </a:r>
            <a:endParaRPr/>
          </a:p>
          <a:p>
            <a:pPr marL="800100" marR="0" lvl="1" indent="-3429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Cách hoạt động không giống như “classical OOP”</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Object.create()</a:t>
            </a:r>
            <a:endParaRPr/>
          </a:p>
          <a:p>
            <a:pPr marL="800100" marR="0" lvl="1" indent="-342900" algn="l" rtl="0">
              <a:spcBef>
                <a:spcPts val="0"/>
              </a:spcBef>
              <a:spcAft>
                <a:spcPts val="0"/>
              </a:spcAft>
              <a:buClr>
                <a:schemeClr val="dk1"/>
              </a:buClr>
              <a:buSzPts val="2400"/>
              <a:buFont typeface="Noto Sans Symbols"/>
              <a:buChar char="⮚"/>
            </a:pPr>
            <a:r>
              <a:rPr lang="en-US" sz="2400" b="0" i="0" u="none" strike="noStrike" cap="none">
                <a:solidFill>
                  <a:schemeClr val="dk1"/>
                </a:solidFill>
                <a:latin typeface="Calibri"/>
                <a:ea typeface="Calibri"/>
                <a:cs typeface="Calibri"/>
                <a:sym typeface="Calibri"/>
              </a:rPr>
              <a:t>Các dễ nhất và đơn giản nhất để liên kết một object với một prototype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9" name="Google Shape;329;p2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30" name="Google Shape;330;p20"/>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31" name="Google Shape;331;p2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32" name="Google Shape;332;p2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2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34" name="Google Shape;334;p20"/>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Constructor Function &amp; new Operator</a:t>
            </a:r>
            <a:endParaRPr/>
          </a:p>
        </p:txBody>
      </p:sp>
      <p:pic>
        <p:nvPicPr>
          <p:cNvPr id="335" name="Google Shape;335;p20"/>
          <p:cNvPicPr preferRelativeResize="0"/>
          <p:nvPr/>
        </p:nvPicPr>
        <p:blipFill rotWithShape="1">
          <a:blip r:embed="rId4">
            <a:alphaModFix/>
          </a:blip>
          <a:srcRect/>
          <a:stretch/>
        </p:blipFill>
        <p:spPr>
          <a:xfrm>
            <a:off x="685800" y="2672767"/>
            <a:ext cx="6429375" cy="304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41" name="Google Shape;341;p2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42" name="Google Shape;342;p21"/>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43" name="Google Shape;343;p2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44" name="Google Shape;344;p2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2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46" name="Google Shape;346;p21"/>
          <p:cNvSpPr txBox="1"/>
          <p:nvPr/>
        </p:nvSpPr>
        <p:spPr>
          <a:xfrm>
            <a:off x="685800" y="1905000"/>
            <a:ext cx="78486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Prototype</a:t>
            </a:r>
            <a:endParaRPr/>
          </a:p>
        </p:txBody>
      </p:sp>
      <p:pic>
        <p:nvPicPr>
          <p:cNvPr id="347" name="Google Shape;347;p21"/>
          <p:cNvPicPr preferRelativeResize="0"/>
          <p:nvPr/>
        </p:nvPicPr>
        <p:blipFill rotWithShape="1">
          <a:blip r:embed="rId4">
            <a:alphaModFix/>
          </a:blip>
          <a:srcRect/>
          <a:stretch/>
        </p:blipFill>
        <p:spPr>
          <a:xfrm>
            <a:off x="685800" y="2763520"/>
            <a:ext cx="5505450" cy="2809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3" name="Google Shape;353;p2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54" name="Google Shape;354;p22"/>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55" name="Google Shape;355;p2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56" name="Google Shape;356;p2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7" name="Google Shape;357;p2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58" name="Google Shape;358;p22"/>
          <p:cNvSpPr txBox="1"/>
          <p:nvPr/>
        </p:nvSpPr>
        <p:spPr>
          <a:xfrm>
            <a:off x="685800" y="1905000"/>
            <a:ext cx="7848600"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Prototype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Các function (kể cả constructor function) trong JavaScript luôn có một thuộc tính prototype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Các object được tạo ra từ constructor function sẽ có quyền truy cập đến thuộc tính và phương thức mà chúng ta khai báo trong prototype của constructor function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64" name="Google Shape;364;p2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65" name="Google Shape;365;p23"/>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66" name="Google Shape;366;p2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67" name="Google Shape;367;p2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2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69" name="Google Shape;369;p23"/>
          <p:cNvSpPr txBox="1"/>
          <p:nvPr/>
        </p:nvSpPr>
        <p:spPr>
          <a:xfrm>
            <a:off x="685800" y="1905000"/>
            <a:ext cx="78486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Prototype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Chú ý:</a:t>
            </a:r>
            <a:endParaRPr/>
          </a:p>
        </p:txBody>
      </p:sp>
      <p:pic>
        <p:nvPicPr>
          <p:cNvPr id="370" name="Google Shape;370;p23"/>
          <p:cNvPicPr preferRelativeResize="0"/>
          <p:nvPr/>
        </p:nvPicPr>
        <p:blipFill rotWithShape="1">
          <a:blip r:embed="rId4">
            <a:alphaModFix/>
          </a:blip>
          <a:srcRect/>
          <a:stretch/>
        </p:blipFill>
        <p:spPr>
          <a:xfrm>
            <a:off x="704654" y="3520299"/>
            <a:ext cx="6257925" cy="1485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6" name="Google Shape;376;p2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77" name="Google Shape;377;p24"/>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78" name="Google Shape;378;p2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79" name="Google Shape;379;p2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p2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81" name="Google Shape;381;p24"/>
          <p:cNvSpPr txBox="1"/>
          <p:nvPr/>
        </p:nvSpPr>
        <p:spPr>
          <a:xfrm>
            <a:off x="685800" y="1905000"/>
            <a:ext cx="78486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Prototype Chain</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Các liên kết liên tiếp qua prototype của các object được gọi là prototype chain</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Xét ví dụ:</a:t>
            </a:r>
            <a:endParaRPr/>
          </a:p>
        </p:txBody>
      </p:sp>
      <p:pic>
        <p:nvPicPr>
          <p:cNvPr id="382" name="Google Shape;382;p24"/>
          <p:cNvPicPr preferRelativeResize="0"/>
          <p:nvPr/>
        </p:nvPicPr>
        <p:blipFill rotWithShape="1">
          <a:blip r:embed="rId4">
            <a:alphaModFix/>
          </a:blip>
          <a:srcRect/>
          <a:stretch/>
        </p:blipFill>
        <p:spPr>
          <a:xfrm>
            <a:off x="776287" y="4506962"/>
            <a:ext cx="4924425" cy="1295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88" name="Google Shape;388;p2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389" name="Google Shape;389;p25"/>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390" name="Google Shape;390;p2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391" name="Google Shape;391;p2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2" name="Google Shape;392;p2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393" name="Google Shape;393;p25"/>
          <p:cNvSpPr txBox="1"/>
          <p:nvPr/>
        </p:nvSpPr>
        <p:spPr>
          <a:xfrm>
            <a:off x="685800" y="1905000"/>
            <a:ext cx="78486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Prototype Chain</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Lrandom có species kế thừa từ Person.prototype</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Cả Lrandom và Person đều không có hàm hasOwnProperty()</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Hàm này có trong prototype của Person và Person kế thừa nó từ đối tượng Object của JavaScript</a:t>
            </a:r>
            <a:endParaRPr/>
          </a:p>
        </p:txBody>
      </p:sp>
      <p:pic>
        <p:nvPicPr>
          <p:cNvPr id="394" name="Google Shape;394;p25"/>
          <p:cNvPicPr preferRelativeResize="0"/>
          <p:nvPr/>
        </p:nvPicPr>
        <p:blipFill rotWithShape="1">
          <a:blip r:embed="rId4">
            <a:alphaModFix/>
          </a:blip>
          <a:srcRect/>
          <a:stretch/>
        </p:blipFill>
        <p:spPr>
          <a:xfrm>
            <a:off x="776287" y="4506962"/>
            <a:ext cx="4924425" cy="1295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00" name="Google Shape;400;p2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01" name="Google Shape;401;p26"/>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02" name="Google Shape;402;p2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03" name="Google Shape;403;p2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4" name="Google Shape;404;p2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05" name="Google Shape;405;p26"/>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Prototype Chain</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406" name="Google Shape;406;p26"/>
          <p:cNvPicPr preferRelativeResize="0"/>
          <p:nvPr/>
        </p:nvPicPr>
        <p:blipFill rotWithShape="1">
          <a:blip r:embed="rId4">
            <a:alphaModFix/>
          </a:blip>
          <a:srcRect/>
          <a:stretch/>
        </p:blipFill>
        <p:spPr>
          <a:xfrm>
            <a:off x="4114800" y="1484775"/>
            <a:ext cx="4850485" cy="450061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12" name="Google Shape;412;p2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13" name="Google Shape;413;p27"/>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14" name="Google Shape;414;p2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15" name="Google Shape;415;p2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2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17" name="Google Shape;417;p27"/>
          <p:cNvSpPr txBox="1"/>
          <p:nvPr/>
        </p:nvSpPr>
        <p:spPr>
          <a:xfrm>
            <a:off x="685800" y="1905000"/>
            <a:ext cx="78486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ES6 Classes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Cú pháp khai báo ES6 Classes và Constructor Function khác nhau khi dùng từ khóa, nhưng các hoạt động về kế thừa prototype giống như nhau.</a:t>
            </a:r>
            <a:endParaRPr/>
          </a:p>
        </p:txBody>
      </p:sp>
      <p:pic>
        <p:nvPicPr>
          <p:cNvPr id="418" name="Google Shape;418;p27"/>
          <p:cNvPicPr preferRelativeResize="0"/>
          <p:nvPr/>
        </p:nvPicPr>
        <p:blipFill rotWithShape="1">
          <a:blip r:embed="rId4">
            <a:alphaModFix/>
          </a:blip>
          <a:srcRect/>
          <a:stretch/>
        </p:blipFill>
        <p:spPr>
          <a:xfrm>
            <a:off x="685800" y="4253600"/>
            <a:ext cx="2466975" cy="1285875"/>
          </a:xfrm>
          <a:prstGeom prst="rect">
            <a:avLst/>
          </a:prstGeom>
          <a:noFill/>
          <a:ln>
            <a:noFill/>
          </a:ln>
        </p:spPr>
      </p:pic>
      <p:pic>
        <p:nvPicPr>
          <p:cNvPr id="419" name="Google Shape;419;p27"/>
          <p:cNvPicPr preferRelativeResize="0"/>
          <p:nvPr/>
        </p:nvPicPr>
        <p:blipFill rotWithShape="1">
          <a:blip r:embed="rId5">
            <a:alphaModFix/>
          </a:blip>
          <a:srcRect/>
          <a:stretch/>
        </p:blipFill>
        <p:spPr>
          <a:xfrm>
            <a:off x="4195764" y="4253600"/>
            <a:ext cx="3590925" cy="1200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2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25" name="Google Shape;425;p2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26" name="Google Shape;426;p28"/>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27" name="Google Shape;427;p2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28" name="Google Shape;428;p2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9" name="Google Shape;429;p2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30" name="Google Shape;430;p28"/>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ES6 Classes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431" name="Google Shape;431;p28"/>
          <p:cNvPicPr preferRelativeResize="0"/>
          <p:nvPr/>
        </p:nvPicPr>
        <p:blipFill rotWithShape="1">
          <a:blip r:embed="rId4">
            <a:alphaModFix/>
          </a:blip>
          <a:srcRect/>
          <a:stretch/>
        </p:blipFill>
        <p:spPr>
          <a:xfrm>
            <a:off x="685800" y="2531687"/>
            <a:ext cx="4972050" cy="3371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2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37" name="Google Shape;437;p2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38" name="Google Shape;438;p29"/>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39" name="Google Shape;439;p2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40" name="Google Shape;440;p2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2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42" name="Google Shape;442;p29"/>
          <p:cNvSpPr txBox="1"/>
          <p:nvPr/>
        </p:nvSpPr>
        <p:spPr>
          <a:xfrm>
            <a:off x="685800" y="1905000"/>
            <a:ext cx="78486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ES6 Classes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Constructor function phải được khai báo bên trong Class.</a:t>
            </a:r>
            <a:endParaRPr/>
          </a:p>
          <a:p>
            <a:pPr marL="342900" marR="0" lvl="0" indent="-190500" algn="l"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Các phương thức của Class khi khai báo trong Class sẽ tự động được thêm vào thuộc tính prototype.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48" name="Google Shape;448;p3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49" name="Google Shape;449;p30"/>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50" name="Google Shape;450;p3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51" name="Google Shape;451;p3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3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53" name="Google Shape;453;p30"/>
          <p:cNvSpPr txBox="1"/>
          <p:nvPr/>
        </p:nvSpPr>
        <p:spPr>
          <a:xfrm>
            <a:off x="685800" y="1905000"/>
            <a:ext cx="784860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ES6 Classes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Một số lưu ý:</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Tính năng hoisting không áp dụng cho ES6 Class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Classes được thực thi trong strict mode của JavaScript</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Classes được coi là first-class function do Classes có thể truyền vào như một tham số cũng như có thể được return từ function.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3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59" name="Google Shape;459;p3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60" name="Google Shape;460;p31"/>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61" name="Google Shape;461;p3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62" name="Google Shape;462;p3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3" name="Google Shape;463;p3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64" name="Google Shape;464;p31"/>
          <p:cNvSpPr txBox="1"/>
          <p:nvPr/>
        </p:nvSpPr>
        <p:spPr>
          <a:xfrm>
            <a:off x="685800" y="1905000"/>
            <a:ext cx="7848600"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Getter &amp; Setter</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Mọi object trong JavaScript đều có thể có getter &amp; setter, các hàm này được sử dụng để cài đặt hoặc lấy ra giá trị của thuộc tính.</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Truy nhiên khi truy cập và sử dụng getter &amp; setter thì giống như các thao tác với thuộc tính (properties) mà không phải là cách gọi hàm.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70" name="Google Shape;470;p3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71" name="Google Shape;471;p32"/>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72" name="Google Shape;472;p3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73" name="Google Shape;473;p3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4" name="Google Shape;474;p3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75" name="Google Shape;475;p32"/>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Getter &amp; Setter</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476" name="Google Shape;476;p32"/>
          <p:cNvPicPr preferRelativeResize="0"/>
          <p:nvPr/>
        </p:nvPicPr>
        <p:blipFill rotWithShape="1">
          <a:blip r:embed="rId4">
            <a:alphaModFix/>
          </a:blip>
          <a:srcRect/>
          <a:stretch/>
        </p:blipFill>
        <p:spPr>
          <a:xfrm>
            <a:off x="681872" y="2431316"/>
            <a:ext cx="4446740" cy="3381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82" name="Google Shape;482;p3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83" name="Google Shape;483;p33"/>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84" name="Google Shape;484;p3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85" name="Google Shape;485;p3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6" name="Google Shape;486;p3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487" name="Google Shape;487;p33"/>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Getter &amp; Setter</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488" name="Google Shape;488;p33"/>
          <p:cNvPicPr preferRelativeResize="0"/>
          <p:nvPr/>
        </p:nvPicPr>
        <p:blipFill rotWithShape="1">
          <a:blip r:embed="rId4">
            <a:alphaModFix/>
          </a:blip>
          <a:srcRect/>
          <a:stretch/>
        </p:blipFill>
        <p:spPr>
          <a:xfrm>
            <a:off x="685800" y="2443377"/>
            <a:ext cx="3958388" cy="3581399"/>
          </a:xfrm>
          <a:prstGeom prst="rect">
            <a:avLst/>
          </a:prstGeom>
          <a:noFill/>
          <a:ln>
            <a:noFill/>
          </a:ln>
        </p:spPr>
      </p:pic>
      <p:pic>
        <p:nvPicPr>
          <p:cNvPr id="489" name="Google Shape;489;p33"/>
          <p:cNvPicPr preferRelativeResize="0"/>
          <p:nvPr/>
        </p:nvPicPr>
        <p:blipFill rotWithShape="1">
          <a:blip r:embed="rId5">
            <a:alphaModFix/>
          </a:blip>
          <a:srcRect/>
          <a:stretch/>
        </p:blipFill>
        <p:spPr>
          <a:xfrm>
            <a:off x="4106595" y="3022001"/>
            <a:ext cx="4427805" cy="210746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95" name="Google Shape;495;p3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496" name="Google Shape;496;p34"/>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497" name="Google Shape;497;p3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498" name="Google Shape;498;p3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9" name="Google Shape;499;p3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00" name="Google Shape;500;p34"/>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Getter &amp; Setter</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01" name="Google Shape;501;p34"/>
          <p:cNvPicPr preferRelativeResize="0"/>
          <p:nvPr/>
        </p:nvPicPr>
        <p:blipFill rotWithShape="1">
          <a:blip r:embed="rId4">
            <a:alphaModFix/>
          </a:blip>
          <a:srcRect/>
          <a:stretch/>
        </p:blipFill>
        <p:spPr>
          <a:xfrm>
            <a:off x="3276597" y="1623961"/>
            <a:ext cx="5486400" cy="439526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07" name="Google Shape;507;p3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08" name="Google Shape;508;p35"/>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09" name="Google Shape;509;p3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10" name="Google Shape;510;p3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35"/>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12" name="Google Shape;512;p35"/>
          <p:cNvSpPr txBox="1"/>
          <p:nvPr/>
        </p:nvSpPr>
        <p:spPr>
          <a:xfrm>
            <a:off x="685800" y="1905000"/>
            <a:ext cx="78486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Static method (phương thức tĩnh)</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Phương thức tĩnh gắn với object, và không phải một thuộc tính prototype của object.</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Các object kế thừa lại prototype nhưng sẽ không kế thừa lại phương thức tĩnh này.</a:t>
            </a:r>
            <a:endParaRPr/>
          </a:p>
        </p:txBody>
      </p:sp>
      <p:pic>
        <p:nvPicPr>
          <p:cNvPr id="513" name="Google Shape;513;p35"/>
          <p:cNvPicPr preferRelativeResize="0"/>
          <p:nvPr/>
        </p:nvPicPr>
        <p:blipFill rotWithShape="1">
          <a:blip r:embed="rId4">
            <a:alphaModFix/>
          </a:blip>
          <a:srcRect/>
          <a:stretch/>
        </p:blipFill>
        <p:spPr>
          <a:xfrm>
            <a:off x="685800" y="4276726"/>
            <a:ext cx="5695950" cy="1666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36"/>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19" name="Google Shape;519;p36"/>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20" name="Google Shape;520;p36"/>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21" name="Google Shape;521;p36"/>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22" name="Google Shape;522;p36"/>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3" name="Google Shape;523;p36"/>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24" name="Google Shape;524;p36"/>
          <p:cNvSpPr txBox="1"/>
          <p:nvPr/>
        </p:nvSpPr>
        <p:spPr>
          <a:xfrm>
            <a:off x="685800" y="1905000"/>
            <a:ext cx="78486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Static method (phương thức tĩnh)</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Khai báo static method với constructor function</a:t>
            </a:r>
            <a:endParaRPr/>
          </a:p>
        </p:txBody>
      </p:sp>
      <p:pic>
        <p:nvPicPr>
          <p:cNvPr id="525" name="Google Shape;525;p36"/>
          <p:cNvPicPr preferRelativeResize="0"/>
          <p:nvPr/>
        </p:nvPicPr>
        <p:blipFill rotWithShape="1">
          <a:blip r:embed="rId4">
            <a:alphaModFix/>
          </a:blip>
          <a:srcRect/>
          <a:stretch/>
        </p:blipFill>
        <p:spPr>
          <a:xfrm>
            <a:off x="804862" y="3425858"/>
            <a:ext cx="4867275" cy="2343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7"/>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31" name="Google Shape;531;p37"/>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32" name="Google Shape;532;p37"/>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33" name="Google Shape;533;p37"/>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34" name="Google Shape;534;p37"/>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5" name="Google Shape;535;p37"/>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36" name="Google Shape;536;p37"/>
          <p:cNvSpPr txBox="1"/>
          <p:nvPr/>
        </p:nvSpPr>
        <p:spPr>
          <a:xfrm>
            <a:off x="685800" y="1905000"/>
            <a:ext cx="78486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Static method (phương thức tĩnh)</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Khai báo static method với ES6 classes</a:t>
            </a:r>
            <a:endParaRPr/>
          </a:p>
        </p:txBody>
      </p:sp>
      <p:pic>
        <p:nvPicPr>
          <p:cNvPr id="537" name="Google Shape;537;p37"/>
          <p:cNvPicPr preferRelativeResize="0"/>
          <p:nvPr/>
        </p:nvPicPr>
        <p:blipFill rotWithShape="1">
          <a:blip r:embed="rId4">
            <a:alphaModFix/>
          </a:blip>
          <a:srcRect/>
          <a:stretch/>
        </p:blipFill>
        <p:spPr>
          <a:xfrm>
            <a:off x="762000" y="3164304"/>
            <a:ext cx="4371975" cy="28098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38"/>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43" name="Google Shape;543;p38"/>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44" name="Google Shape;544;p38"/>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45" name="Google Shape;545;p38"/>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46" name="Google Shape;546;p38"/>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7" name="Google Shape;547;p38"/>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48" name="Google Shape;548;p38"/>
          <p:cNvSpPr txBox="1"/>
          <p:nvPr/>
        </p:nvSpPr>
        <p:spPr>
          <a:xfrm>
            <a:off x="685800" y="1905000"/>
            <a:ext cx="7848600"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Object.create()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Object.create() về cơ bản là cách cài đặt hay liên kết thủ công propetype của một object cho các object khác.</a:t>
            </a:r>
            <a:endParaRPr/>
          </a:p>
        </p:txBody>
      </p:sp>
      <p:pic>
        <p:nvPicPr>
          <p:cNvPr id="549" name="Google Shape;549;p38"/>
          <p:cNvPicPr preferRelativeResize="0"/>
          <p:nvPr/>
        </p:nvPicPr>
        <p:blipFill rotWithShape="1">
          <a:blip r:embed="rId4">
            <a:alphaModFix/>
          </a:blip>
          <a:srcRect/>
          <a:stretch/>
        </p:blipFill>
        <p:spPr>
          <a:xfrm>
            <a:off x="762000" y="3543815"/>
            <a:ext cx="4429125" cy="251382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9"/>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55" name="Google Shape;555;p39"/>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56" name="Google Shape;556;p39"/>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57" name="Google Shape;557;p39"/>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58" name="Google Shape;558;p39"/>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39"/>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60" name="Google Shape;560;p39"/>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61" name="Google Shape;561;p39"/>
          <p:cNvPicPr preferRelativeResize="0"/>
          <p:nvPr/>
        </p:nvPicPr>
        <p:blipFill rotWithShape="1">
          <a:blip r:embed="rId4">
            <a:alphaModFix/>
          </a:blip>
          <a:srcRect/>
          <a:stretch/>
        </p:blipFill>
        <p:spPr>
          <a:xfrm>
            <a:off x="688157" y="2555613"/>
            <a:ext cx="5781675" cy="338798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0"/>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67" name="Google Shape;567;p40"/>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68" name="Google Shape;568;p40"/>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69" name="Google Shape;569;p40"/>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70" name="Google Shape;570;p40"/>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1" name="Google Shape;571;p40"/>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72" name="Google Shape;572;p40"/>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với constructor function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73" name="Google Shape;573;p40"/>
          <p:cNvPicPr preferRelativeResize="0"/>
          <p:nvPr/>
        </p:nvPicPr>
        <p:blipFill rotWithShape="1">
          <a:blip r:embed="rId4">
            <a:alphaModFix/>
          </a:blip>
          <a:srcRect/>
          <a:stretch/>
        </p:blipFill>
        <p:spPr>
          <a:xfrm>
            <a:off x="762000" y="2514600"/>
            <a:ext cx="3973428" cy="2108008"/>
          </a:xfrm>
          <a:prstGeom prst="rect">
            <a:avLst/>
          </a:prstGeom>
          <a:noFill/>
          <a:ln>
            <a:noFill/>
          </a:ln>
        </p:spPr>
      </p:pic>
      <p:pic>
        <p:nvPicPr>
          <p:cNvPr id="574" name="Google Shape;574;p40"/>
          <p:cNvPicPr preferRelativeResize="0"/>
          <p:nvPr/>
        </p:nvPicPr>
        <p:blipFill rotWithShape="1">
          <a:blip r:embed="rId5">
            <a:alphaModFix/>
          </a:blip>
          <a:srcRect/>
          <a:stretch/>
        </p:blipFill>
        <p:spPr>
          <a:xfrm>
            <a:off x="4152715" y="3238211"/>
            <a:ext cx="4991285" cy="1360441"/>
          </a:xfrm>
          <a:prstGeom prst="rect">
            <a:avLst/>
          </a:prstGeom>
          <a:noFill/>
          <a:ln>
            <a:noFill/>
          </a:ln>
        </p:spPr>
      </p:pic>
      <p:pic>
        <p:nvPicPr>
          <p:cNvPr id="575" name="Google Shape;575;p40"/>
          <p:cNvPicPr preferRelativeResize="0"/>
          <p:nvPr/>
        </p:nvPicPr>
        <p:blipFill rotWithShape="1">
          <a:blip r:embed="rId6">
            <a:alphaModFix/>
          </a:blip>
          <a:srcRect/>
          <a:stretch/>
        </p:blipFill>
        <p:spPr>
          <a:xfrm>
            <a:off x="1676400" y="4588829"/>
            <a:ext cx="5495925" cy="571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1"/>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81" name="Google Shape;581;p41"/>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82" name="Google Shape;582;p41"/>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83" name="Google Shape;583;p41"/>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84" name="Google Shape;584;p4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5" name="Google Shape;585;p41"/>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86" name="Google Shape;586;p41"/>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với constructor function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87" name="Google Shape;587;p41"/>
          <p:cNvPicPr preferRelativeResize="0"/>
          <p:nvPr/>
        </p:nvPicPr>
        <p:blipFill rotWithShape="1">
          <a:blip r:embed="rId4">
            <a:alphaModFix/>
          </a:blip>
          <a:srcRect/>
          <a:stretch/>
        </p:blipFill>
        <p:spPr>
          <a:xfrm>
            <a:off x="685800" y="2271557"/>
            <a:ext cx="7924800" cy="381593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2"/>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593" name="Google Shape;593;p42"/>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594" name="Google Shape;594;p42"/>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595" name="Google Shape;595;p42"/>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596" name="Google Shape;596;p4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7" name="Google Shape;597;p42"/>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598" name="Google Shape;598;p42"/>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với ES6 Classes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599" name="Google Shape;599;p42"/>
          <p:cNvPicPr preferRelativeResize="0"/>
          <p:nvPr/>
        </p:nvPicPr>
        <p:blipFill rotWithShape="1">
          <a:blip r:embed="rId4">
            <a:alphaModFix/>
          </a:blip>
          <a:srcRect/>
          <a:stretch/>
        </p:blipFill>
        <p:spPr>
          <a:xfrm>
            <a:off x="751395" y="2337210"/>
            <a:ext cx="3676650" cy="2581275"/>
          </a:xfrm>
          <a:prstGeom prst="rect">
            <a:avLst/>
          </a:prstGeom>
          <a:noFill/>
          <a:ln>
            <a:noFill/>
          </a:ln>
        </p:spPr>
      </p:pic>
      <p:pic>
        <p:nvPicPr>
          <p:cNvPr id="600" name="Google Shape;600;p42"/>
          <p:cNvPicPr preferRelativeResize="0"/>
          <p:nvPr/>
        </p:nvPicPr>
        <p:blipFill rotWithShape="1">
          <a:blip r:embed="rId5">
            <a:alphaModFix/>
          </a:blip>
          <a:srcRect/>
          <a:stretch/>
        </p:blipFill>
        <p:spPr>
          <a:xfrm>
            <a:off x="4493640" y="2320498"/>
            <a:ext cx="4324350" cy="2819400"/>
          </a:xfrm>
          <a:prstGeom prst="rect">
            <a:avLst/>
          </a:prstGeom>
          <a:noFill/>
          <a:ln>
            <a:noFill/>
          </a:ln>
        </p:spPr>
      </p:pic>
      <p:pic>
        <p:nvPicPr>
          <p:cNvPr id="601" name="Google Shape;601;p42"/>
          <p:cNvPicPr preferRelativeResize="0"/>
          <p:nvPr/>
        </p:nvPicPr>
        <p:blipFill rotWithShape="1">
          <a:blip r:embed="rId6">
            <a:alphaModFix/>
          </a:blip>
          <a:srcRect/>
          <a:stretch/>
        </p:blipFill>
        <p:spPr>
          <a:xfrm>
            <a:off x="756894" y="5185890"/>
            <a:ext cx="5524500" cy="6953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43"/>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07" name="Google Shape;607;p43"/>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608" name="Google Shape;608;p43"/>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609" name="Google Shape;609;p43"/>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10" name="Google Shape;610;p43"/>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1" name="Google Shape;611;p43"/>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12" name="Google Shape;612;p43"/>
          <p:cNvSpPr txBox="1"/>
          <p:nvPr/>
        </p:nvSpPr>
        <p:spPr>
          <a:xfrm>
            <a:off x="685800" y="1905000"/>
            <a:ext cx="78486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Kế thừa với Object.create()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pic>
        <p:nvPicPr>
          <p:cNvPr id="613" name="Google Shape;613;p43"/>
          <p:cNvPicPr preferRelativeResize="0"/>
          <p:nvPr/>
        </p:nvPicPr>
        <p:blipFill rotWithShape="1">
          <a:blip r:embed="rId4">
            <a:alphaModFix/>
          </a:blip>
          <a:srcRect/>
          <a:stretch/>
        </p:blipFill>
        <p:spPr>
          <a:xfrm>
            <a:off x="722722" y="2324426"/>
            <a:ext cx="3438525" cy="2333625"/>
          </a:xfrm>
          <a:prstGeom prst="rect">
            <a:avLst/>
          </a:prstGeom>
          <a:noFill/>
          <a:ln>
            <a:noFill/>
          </a:ln>
        </p:spPr>
      </p:pic>
      <p:pic>
        <p:nvPicPr>
          <p:cNvPr id="614" name="Google Shape;614;p43"/>
          <p:cNvPicPr preferRelativeResize="0"/>
          <p:nvPr/>
        </p:nvPicPr>
        <p:blipFill rotWithShape="1">
          <a:blip r:embed="rId5">
            <a:alphaModFix/>
          </a:blip>
          <a:srcRect/>
          <a:stretch/>
        </p:blipFill>
        <p:spPr>
          <a:xfrm>
            <a:off x="3573934" y="4231334"/>
            <a:ext cx="5189063" cy="1110054"/>
          </a:xfrm>
          <a:prstGeom prst="rect">
            <a:avLst/>
          </a:prstGeom>
          <a:noFill/>
          <a:ln>
            <a:noFill/>
          </a:ln>
        </p:spPr>
      </p:pic>
      <p:pic>
        <p:nvPicPr>
          <p:cNvPr id="615" name="Google Shape;615;p43"/>
          <p:cNvPicPr preferRelativeResize="0"/>
          <p:nvPr/>
        </p:nvPicPr>
        <p:blipFill rotWithShape="1">
          <a:blip r:embed="rId6">
            <a:alphaModFix/>
          </a:blip>
          <a:srcRect/>
          <a:stretch/>
        </p:blipFill>
        <p:spPr>
          <a:xfrm>
            <a:off x="4246772" y="3643847"/>
            <a:ext cx="4495800" cy="590550"/>
          </a:xfrm>
          <a:prstGeom prst="rect">
            <a:avLst/>
          </a:prstGeom>
          <a:noFill/>
          <a:ln>
            <a:noFill/>
          </a:ln>
        </p:spPr>
      </p:pic>
      <p:pic>
        <p:nvPicPr>
          <p:cNvPr id="616" name="Google Shape;616;p43"/>
          <p:cNvPicPr preferRelativeResize="0"/>
          <p:nvPr/>
        </p:nvPicPr>
        <p:blipFill rotWithShape="1">
          <a:blip r:embed="rId7">
            <a:alphaModFix/>
          </a:blip>
          <a:srcRect/>
          <a:stretch/>
        </p:blipFill>
        <p:spPr>
          <a:xfrm>
            <a:off x="685800" y="5057775"/>
            <a:ext cx="4143375" cy="9620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4"/>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22" name="Google Shape;622;p44"/>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623" name="Google Shape;623;p44"/>
          <p:cNvSpPr txBox="1">
            <a:spLocks noGrp="1"/>
          </p:cNvSpPr>
          <p:nvPr>
            <p:ph type="ctrTitle"/>
          </p:nvPr>
        </p:nvSpPr>
        <p:spPr>
          <a:xfrm>
            <a:off x="609600" y="770505"/>
            <a:ext cx="7924800" cy="66207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sz="4000">
                <a:solidFill>
                  <a:schemeClr val="dk2"/>
                </a:solidFill>
                <a:latin typeface="Calibri"/>
                <a:ea typeface="Calibri"/>
                <a:cs typeface="Calibri"/>
                <a:sym typeface="Calibri"/>
              </a:rPr>
              <a:t>JavaScript OOP</a:t>
            </a:r>
            <a:endParaRPr sz="4200">
              <a:solidFill>
                <a:schemeClr val="dk2"/>
              </a:solidFill>
              <a:latin typeface="Calibri"/>
              <a:ea typeface="Calibri"/>
              <a:cs typeface="Calibri"/>
              <a:sym typeface="Calibri"/>
            </a:endParaRPr>
          </a:p>
        </p:txBody>
      </p:sp>
      <p:pic>
        <p:nvPicPr>
          <p:cNvPr id="624" name="Google Shape;624;p44"/>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25" name="Google Shape;625;p4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6" name="Google Shape;626;p44"/>
          <p:cNvSpPr txBox="1"/>
          <p:nvPr/>
        </p:nvSpPr>
        <p:spPr>
          <a:xfrm flipH="1">
            <a:off x="4599708" y="127123"/>
            <a:ext cx="4163289" cy="52322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a:solidFill>
                  <a:schemeClr val="dk2"/>
                </a:solidFill>
                <a:latin typeface="Arial"/>
                <a:ea typeface="Arial"/>
                <a:cs typeface="Arial"/>
                <a:sym typeface="Arial"/>
              </a:rPr>
              <a:t>NỘI DUNG</a:t>
            </a:r>
            <a:endParaRPr/>
          </a:p>
        </p:txBody>
      </p:sp>
      <p:sp>
        <p:nvSpPr>
          <p:cNvPr id="627" name="Google Shape;627;p44"/>
          <p:cNvSpPr txBox="1"/>
          <p:nvPr/>
        </p:nvSpPr>
        <p:spPr>
          <a:xfrm>
            <a:off x="685800" y="1905000"/>
            <a:ext cx="434340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Encapsulation </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(Tính chất đóng gói)</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Xét ví dụ constructor function</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hãy thử truy cập student.name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Tương tự</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Thử viết lại bằng ES6 Class và nhận xét</a:t>
            </a:r>
            <a:endParaRPr sz="2400">
              <a:solidFill>
                <a:schemeClr val="dk1"/>
              </a:solidFill>
              <a:latin typeface="Calibri"/>
              <a:ea typeface="Calibri"/>
              <a:cs typeface="Calibri"/>
              <a:sym typeface="Calibri"/>
            </a:endParaRPr>
          </a:p>
        </p:txBody>
      </p:sp>
      <p:pic>
        <p:nvPicPr>
          <p:cNvPr id="628" name="Google Shape;628;p44"/>
          <p:cNvPicPr preferRelativeResize="0"/>
          <p:nvPr/>
        </p:nvPicPr>
        <p:blipFill rotWithShape="1">
          <a:blip r:embed="rId4">
            <a:alphaModFix/>
          </a:blip>
          <a:srcRect/>
          <a:stretch/>
        </p:blipFill>
        <p:spPr>
          <a:xfrm>
            <a:off x="5105397" y="1616397"/>
            <a:ext cx="3657600" cy="435624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45"/>
          <p:cNvSpPr txBox="1">
            <a:spLocks noGrp="1"/>
          </p:cNvSpPr>
          <p:nvPr>
            <p:ph type="subTitle" idx="1"/>
          </p:nvPr>
        </p:nvSpPr>
        <p:spPr>
          <a:xfrm>
            <a:off x="304800" y="6248400"/>
            <a:ext cx="5867400" cy="486206"/>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Clr>
                <a:srgbClr val="888888"/>
              </a:buClr>
              <a:buSzPct val="100000"/>
              <a:buNone/>
            </a:pPr>
            <a:r>
              <a:rPr lang="en-US" b="1"/>
              <a:t> </a:t>
            </a:r>
            <a:endParaRPr/>
          </a:p>
          <a:p>
            <a:pPr marL="0" lvl="0" indent="0" algn="l" rtl="0">
              <a:spcBef>
                <a:spcPts val="240"/>
              </a:spcBef>
              <a:spcAft>
                <a:spcPts val="0"/>
              </a:spcAft>
              <a:buClr>
                <a:srgbClr val="888888"/>
              </a:buClr>
              <a:buSzPct val="100000"/>
              <a:buNone/>
            </a:pPr>
            <a:r>
              <a:rPr lang="en-US" sz="3700" b="1">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634" name="Google Shape;634;p45"/>
          <p:cNvCxnSpPr/>
          <p:nvPr/>
        </p:nvCxnSpPr>
        <p:spPr>
          <a:xfrm>
            <a:off x="0" y="6096000"/>
            <a:ext cx="9144000" cy="0"/>
          </a:xfrm>
          <a:prstGeom prst="straightConnector1">
            <a:avLst/>
          </a:prstGeom>
          <a:noFill/>
          <a:ln w="25400" cap="flat" cmpd="sng">
            <a:solidFill>
              <a:srgbClr val="003999"/>
            </a:solidFill>
            <a:prstDash val="solid"/>
            <a:round/>
            <a:headEnd type="none" w="sm" len="sm"/>
            <a:tailEnd type="none" w="sm" len="sm"/>
          </a:ln>
          <a:effectLst>
            <a:outerShdw blurRad="40000" dist="20000" dir="5400000" rotWithShape="0">
              <a:srgbClr val="000000">
                <a:alpha val="37647"/>
              </a:srgbClr>
            </a:outerShdw>
          </a:effectLst>
        </p:spPr>
      </p:cxnSp>
      <p:sp>
        <p:nvSpPr>
          <p:cNvPr id="635" name="Google Shape;635;p45"/>
          <p:cNvSpPr txBox="1">
            <a:spLocks noGrp="1"/>
          </p:cNvSpPr>
          <p:nvPr>
            <p:ph type="ctrTitle"/>
          </p:nvPr>
        </p:nvSpPr>
        <p:spPr>
          <a:xfrm>
            <a:off x="381000" y="762000"/>
            <a:ext cx="8382000" cy="3581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636" name="Google Shape;636;p45"/>
          <p:cNvPicPr preferRelativeResize="0"/>
          <p:nvPr/>
        </p:nvPicPr>
        <p:blipFill rotWithShape="1">
          <a:blip r:embed="rId3">
            <a:alphaModFix/>
          </a:blip>
          <a:srcRect/>
          <a:stretch/>
        </p:blipFill>
        <p:spPr>
          <a:xfrm>
            <a:off x="7373841" y="6206612"/>
            <a:ext cx="1389157" cy="486205"/>
          </a:xfrm>
          <a:prstGeom prst="rect">
            <a:avLst/>
          </a:prstGeom>
          <a:noFill/>
          <a:ln>
            <a:noFill/>
          </a:ln>
        </p:spPr>
      </p:pic>
      <p:sp>
        <p:nvSpPr>
          <p:cNvPr id="637" name="Google Shape;637;p45"/>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w="25400" cap="flat" cmpd="sng">
            <a:solidFill>
              <a:srgbClr val="97B4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38" name="Google Shape;638;p45"/>
          <p:cNvPicPr preferRelativeResize="0"/>
          <p:nvPr/>
        </p:nvPicPr>
        <p:blipFill rotWithShape="1">
          <a:blip r:embed="rId4">
            <a:alphaModFix/>
          </a:blip>
          <a:srcRect/>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2184</Words>
  <Application>Microsoft Office PowerPoint</Application>
  <PresentationFormat>On-screen Show (4:3)</PresentationFormat>
  <Paragraphs>310</Paragraphs>
  <Slides>47</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Noto Sans Symbols</vt:lpstr>
      <vt:lpstr>Arial</vt:lpstr>
      <vt:lpstr>Calibri</vt:lpstr>
      <vt:lpstr>Office Theme</vt:lpstr>
      <vt:lpstr> Bài 6.  OOP trong JavaScript</vt:lpstr>
      <vt:lpstr>OOP là gì ? Tính chất của OOP Prototype </vt:lpstr>
      <vt:lpstr> Bài 6  Section 1. Object Oriented Programing (OOP) with JavaScript </vt:lpstr>
      <vt:lpstr>Object Oriented Programing</vt:lpstr>
      <vt:lpstr>Object Oriented Programing</vt:lpstr>
      <vt:lpstr>Object Oriented Programing</vt:lpstr>
      <vt:lpstr>Object Oriented Programing</vt:lpstr>
      <vt:lpstr> </vt:lpstr>
      <vt:lpstr>Object Oriented Programing</vt:lpstr>
      <vt:lpstr>Object Oriented Programing</vt:lpstr>
      <vt:lpstr>Object Oriented Programing</vt:lpstr>
      <vt:lpstr>Object Oriented Programing</vt:lpstr>
      <vt:lpstr>Object Oriented Programing</vt:lpstr>
      <vt:lpstr>Object Oriented Programing</vt:lpstr>
      <vt:lpstr>Object Oriented Programing</vt:lpstr>
      <vt:lpstr>Object Oriented Programing</vt:lpstr>
      <vt:lpstr>Object Oriented Programing</vt:lpstr>
      <vt:lpstr>Object Oriented Programing</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JavaScript OOP</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GIAOVU</dc:creator>
  <cp:lastModifiedBy>Nguyen Thuy Linh 20225031</cp:lastModifiedBy>
  <cp:revision>1</cp:revision>
  <dcterms:created xsi:type="dcterms:W3CDTF">2021-03-05T02:20:42Z</dcterms:created>
  <dcterms:modified xsi:type="dcterms:W3CDTF">2025-09-13T10:19:19Z</dcterms:modified>
</cp:coreProperties>
</file>