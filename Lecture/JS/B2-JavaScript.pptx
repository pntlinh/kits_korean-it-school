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6858000" cx="9144000"/>
  <p:notesSz cx="6858000" cy="9144000"/>
  <p:embeddedFontLst>
    <p:embeddedFont>
      <p:font typeface="Nunito"/>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62" roundtripDataSignature="AMtx7mgTvVz/X1AICoRgsJckQCViOE20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customschemas.google.com/relationships/presentationmetadata" Target="metadata"/><Relationship Id="rId61" Type="http://schemas.openxmlformats.org/officeDocument/2006/relationships/font" Target="fonts/Nunit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Nunito-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Nunito-bold.fntdata"/><Relationship Id="rId14" Type="http://schemas.openxmlformats.org/officeDocument/2006/relationships/slide" Target="slides/slide9.xml"/><Relationship Id="rId58" Type="http://schemas.openxmlformats.org/officeDocument/2006/relationships/font" Target="fonts/Nunit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1d565844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11d565844b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5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5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5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5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6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1"/>
          <p:cNvSpPr/>
          <p:nvPr>
            <p:ph idx="2" type="pic"/>
          </p:nvPr>
        </p:nvSpPr>
        <p:spPr>
          <a:xfrm>
            <a:off x="1792288" y="612775"/>
            <a:ext cx="5486400" cy="4114800"/>
          </a:xfrm>
          <a:prstGeom prst="rect">
            <a:avLst/>
          </a:prstGeom>
          <a:noFill/>
          <a:ln>
            <a:noFill/>
          </a:ln>
        </p:spPr>
      </p:sp>
      <p:sp>
        <p:nvSpPr>
          <p:cNvPr id="64" name="Google Shape;64;p6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 Id="rId4" Type="http://schemas.openxmlformats.org/officeDocument/2006/relationships/image" Target="../media/image27.png"/><Relationship Id="rId5"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26.png"/><Relationship Id="rId5" Type="http://schemas.openxmlformats.org/officeDocument/2006/relationships/image" Target="../media/image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 Id="rId4" Type="http://schemas.openxmlformats.org/officeDocument/2006/relationships/image" Target="../media/image41.png"/><Relationship Id="rId5"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png"/><Relationship Id="rId4" Type="http://schemas.openxmlformats.org/officeDocument/2006/relationships/image" Target="../media/image37.png"/><Relationship Id="rId5"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5" name="Google Shape;85;p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86" name="Google Shape;86;p1"/>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99"/>
              </a:buClr>
              <a:buSzPts val="4400"/>
              <a:buFont typeface="Calibri"/>
              <a:buNone/>
            </a:pPr>
            <a:br>
              <a:rPr lang="en-US">
                <a:solidFill>
                  <a:srgbClr val="003999"/>
                </a:solidFill>
              </a:rPr>
            </a:br>
            <a:r>
              <a:rPr b="1" lang="en-US">
                <a:solidFill>
                  <a:schemeClr val="dk2"/>
                </a:solidFill>
                <a:latin typeface="Calibri"/>
                <a:ea typeface="Calibri"/>
                <a:cs typeface="Calibri"/>
                <a:sym typeface="Calibri"/>
              </a:rPr>
              <a:t>Bài 2</a:t>
            </a:r>
            <a:r>
              <a:rPr b="1" lang="en-US">
                <a:solidFill>
                  <a:schemeClr val="dk2"/>
                </a:solidFill>
              </a:rPr>
              <a:t>. </a:t>
            </a:r>
            <a:br>
              <a:rPr b="1" lang="en-US">
                <a:solidFill>
                  <a:schemeClr val="dk2"/>
                </a:solidFill>
              </a:rPr>
            </a:br>
            <a:r>
              <a:rPr b="1" lang="en-US">
                <a:solidFill>
                  <a:schemeClr val="dk2"/>
                </a:solidFill>
              </a:rPr>
              <a:t>Function &amp; Object</a:t>
            </a:r>
            <a:endParaRPr sz="4200">
              <a:solidFill>
                <a:schemeClr val="dk2"/>
              </a:solidFill>
              <a:latin typeface="Calibri"/>
              <a:ea typeface="Calibri"/>
              <a:cs typeface="Calibri"/>
              <a:sym typeface="Calibri"/>
            </a:endParaRPr>
          </a:p>
        </p:txBody>
      </p:sp>
      <p:pic>
        <p:nvPicPr>
          <p:cNvPr id="87" name="Google Shape;87;p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11d565844b1_0_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3" name="Google Shape;93;g11d565844b1_0_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50"/>
              </a:srgbClr>
            </a:outerShdw>
          </a:effectLst>
        </p:spPr>
      </p:cxnSp>
      <p:sp>
        <p:nvSpPr>
          <p:cNvPr id="94" name="Google Shape;94;g11d565844b1_0_0"/>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406400" lvl="0" marL="457200" rtl="0" algn="l">
              <a:spcBef>
                <a:spcPts val="0"/>
              </a:spcBef>
              <a:spcAft>
                <a:spcPts val="0"/>
              </a:spcAft>
              <a:buClr>
                <a:srgbClr val="003999"/>
              </a:buClr>
              <a:buSzPts val="2800"/>
              <a:buChar char="●"/>
            </a:pPr>
            <a:r>
              <a:rPr lang="en-US" sz="2800">
                <a:solidFill>
                  <a:srgbClr val="003999"/>
                </a:solidFill>
              </a:rPr>
              <a:t>Hàm là gì ?</a:t>
            </a:r>
            <a:endParaRPr sz="2800">
              <a:solidFill>
                <a:srgbClr val="003999"/>
              </a:solidFill>
            </a:endParaRPr>
          </a:p>
          <a:p>
            <a:pPr indent="-406400" lvl="0" marL="457200" rtl="0" algn="l">
              <a:spcBef>
                <a:spcPts val="0"/>
              </a:spcBef>
              <a:spcAft>
                <a:spcPts val="0"/>
              </a:spcAft>
              <a:buClr>
                <a:srgbClr val="003999"/>
              </a:buClr>
              <a:buSzPts val="2800"/>
              <a:buChar char="●"/>
            </a:pPr>
            <a:r>
              <a:rPr lang="en-US" sz="2800">
                <a:solidFill>
                  <a:srgbClr val="003999"/>
                </a:solidFill>
              </a:rPr>
              <a:t>Khai báo hàm</a:t>
            </a:r>
            <a:endParaRPr sz="2800">
              <a:solidFill>
                <a:srgbClr val="003999"/>
              </a:solidFill>
            </a:endParaRPr>
          </a:p>
          <a:p>
            <a:pPr indent="-406400" lvl="0" marL="457200" rtl="0" algn="l">
              <a:spcBef>
                <a:spcPts val="0"/>
              </a:spcBef>
              <a:spcAft>
                <a:spcPts val="0"/>
              </a:spcAft>
              <a:buClr>
                <a:srgbClr val="003999"/>
              </a:buClr>
              <a:buSzPts val="2800"/>
              <a:buChar char="●"/>
            </a:pPr>
            <a:r>
              <a:rPr lang="en-US" sz="2800">
                <a:solidFill>
                  <a:srgbClr val="003999"/>
                </a:solidFill>
              </a:rPr>
              <a:t>Các loại hàm trong JS</a:t>
            </a:r>
            <a:endParaRPr sz="2800">
              <a:solidFill>
                <a:srgbClr val="003999"/>
              </a:solidFill>
            </a:endParaRPr>
          </a:p>
          <a:p>
            <a:pPr indent="-406400" lvl="0" marL="457200" rtl="0" algn="l">
              <a:spcBef>
                <a:spcPts val="0"/>
              </a:spcBef>
              <a:spcAft>
                <a:spcPts val="0"/>
              </a:spcAft>
              <a:buClr>
                <a:srgbClr val="003999"/>
              </a:buClr>
              <a:buSzPts val="2800"/>
              <a:buChar char="●"/>
            </a:pPr>
            <a:r>
              <a:rPr lang="en-US" sz="2800">
                <a:solidFill>
                  <a:srgbClr val="003999"/>
                </a:solidFill>
              </a:rPr>
              <a:t>Callback function</a:t>
            </a:r>
            <a:endParaRPr sz="2800">
              <a:solidFill>
                <a:srgbClr val="003999"/>
              </a:solidFill>
            </a:endParaRPr>
          </a:p>
          <a:p>
            <a:pPr indent="-406400" lvl="0" marL="457200" rtl="0" algn="l">
              <a:spcBef>
                <a:spcPts val="0"/>
              </a:spcBef>
              <a:spcAft>
                <a:spcPts val="0"/>
              </a:spcAft>
              <a:buClr>
                <a:srgbClr val="003999"/>
              </a:buClr>
              <a:buSzPts val="2800"/>
              <a:buChar char="●"/>
            </a:pPr>
            <a:r>
              <a:rPr lang="en-US" sz="2800">
                <a:solidFill>
                  <a:srgbClr val="003999"/>
                </a:solidFill>
              </a:rPr>
              <a:t>First Class Function </a:t>
            </a:r>
            <a:endParaRPr sz="2800">
              <a:solidFill>
                <a:srgbClr val="003999"/>
              </a:solidFill>
            </a:endParaRPr>
          </a:p>
          <a:p>
            <a:pPr indent="-406400" lvl="0" marL="457200" rtl="0" algn="l">
              <a:spcBef>
                <a:spcPts val="0"/>
              </a:spcBef>
              <a:spcAft>
                <a:spcPts val="0"/>
              </a:spcAft>
              <a:buClr>
                <a:srgbClr val="003999"/>
              </a:buClr>
              <a:buSzPts val="2800"/>
              <a:buChar char="●"/>
            </a:pPr>
            <a:r>
              <a:rPr lang="en-US" sz="2800">
                <a:solidFill>
                  <a:srgbClr val="003999"/>
                </a:solidFill>
              </a:rPr>
              <a:t>Đối tượng</a:t>
            </a:r>
            <a:endParaRPr sz="2800">
              <a:solidFill>
                <a:srgbClr val="003999"/>
              </a:solidFill>
            </a:endParaRPr>
          </a:p>
        </p:txBody>
      </p:sp>
      <p:pic>
        <p:nvPicPr>
          <p:cNvPr id="95" name="Google Shape;95;g11d565844b1_0_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1" name="Google Shape;101;p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02" name="Google Shape;102;p2"/>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103" name="Google Shape;103;p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04" name="Google Shape;104;p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2"/>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2800" u="none" cap="none" strike="noStrike">
                <a:solidFill>
                  <a:schemeClr val="dk2"/>
                </a:solidFill>
                <a:latin typeface="Arial"/>
                <a:ea typeface="Arial"/>
                <a:cs typeface="Arial"/>
                <a:sym typeface="Arial"/>
              </a:rPr>
              <a:t>NỘI DUNG</a:t>
            </a:r>
            <a:endParaRPr/>
          </a:p>
        </p:txBody>
      </p:sp>
      <p:sp>
        <p:nvSpPr>
          <p:cNvPr id="106" name="Google Shape;106;p2"/>
          <p:cNvSpPr txBox="1"/>
          <p:nvPr/>
        </p:nvSpPr>
        <p:spPr>
          <a:xfrm>
            <a:off x="685800" y="1981200"/>
            <a:ext cx="79248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2"/>
                </a:solidFill>
                <a:latin typeface="Calibri"/>
                <a:ea typeface="Calibri"/>
                <a:cs typeface="Calibri"/>
                <a:sym typeface="Calibri"/>
              </a:rPr>
              <a:t>Định nghĩa:</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Function còn gọi là hàm bao gồm tập hợp các câu lệnh gọi là function body. Hàm có thể:</a:t>
            </a:r>
            <a:endParaRPr/>
          </a:p>
          <a:p>
            <a:pPr indent="-285750" lvl="0" marL="28575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nhận các giá trị hoặc hàm khác truyền vào.</a:t>
            </a:r>
            <a:endParaRPr/>
          </a:p>
          <a:p>
            <a:pPr indent="-285750" lvl="0" marL="28575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có thể trả về giá trị hoặc một hàm khác.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12" name="Google Shape;112;p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13" name="Google Shape;113;p3"/>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114" name="Google Shape;114;p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15" name="Google Shape;115;p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 name="Google Shape;116;p3"/>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17" name="Google Shape;117;p3"/>
          <p:cNvSpPr txBox="1"/>
          <p:nvPr/>
        </p:nvSpPr>
        <p:spPr>
          <a:xfrm>
            <a:off x="685800" y="1981200"/>
            <a:ext cx="79248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Khai báo function: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Có 3 cách tạo một function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457200" lvl="0" marL="457200" marR="0" rtl="0" algn="l">
              <a:spcBef>
                <a:spcPts val="0"/>
              </a:spcBef>
              <a:spcAft>
                <a:spcPts val="0"/>
              </a:spcAft>
              <a:buClr>
                <a:schemeClr val="dk2"/>
              </a:buClr>
              <a:buSzPts val="2400"/>
              <a:buFont typeface="Calibri"/>
              <a:buAutoNum type="arabicPeriod"/>
            </a:pPr>
            <a:r>
              <a:rPr lang="en-US" sz="2400">
                <a:solidFill>
                  <a:schemeClr val="dk2"/>
                </a:solidFill>
                <a:latin typeface="Calibri"/>
                <a:ea typeface="Calibri"/>
                <a:cs typeface="Calibri"/>
                <a:sym typeface="Calibri"/>
              </a:rPr>
              <a:t>Function declaration (Khai báo hàm)</a:t>
            </a:r>
            <a:endParaRPr/>
          </a:p>
          <a:p>
            <a:pPr indent="-457200" lvl="0" marL="457200" marR="0" rtl="0" algn="l">
              <a:spcBef>
                <a:spcPts val="0"/>
              </a:spcBef>
              <a:spcAft>
                <a:spcPts val="0"/>
              </a:spcAft>
              <a:buClr>
                <a:schemeClr val="dk2"/>
              </a:buClr>
              <a:buSzPts val="2400"/>
              <a:buFont typeface="Calibri"/>
              <a:buAutoNum type="arabicPeriod"/>
            </a:pPr>
            <a:r>
              <a:rPr lang="en-US" sz="2400">
                <a:solidFill>
                  <a:schemeClr val="dk2"/>
                </a:solidFill>
                <a:latin typeface="Calibri"/>
                <a:ea typeface="Calibri"/>
                <a:cs typeface="Calibri"/>
                <a:sym typeface="Calibri"/>
              </a:rPr>
              <a:t>Function expression (Biểu thức hàm/hàm trong biến)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23" name="Google Shape;123;p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24" name="Google Shape;124;p4"/>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125" name="Google Shape;125;p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26" name="Google Shape;126;p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 name="Google Shape;127;p4"/>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28" name="Google Shape;128;p4"/>
          <p:cNvSpPr txBox="1"/>
          <p:nvPr/>
        </p:nvSpPr>
        <p:spPr>
          <a:xfrm>
            <a:off x="685800" y="1981200"/>
            <a:ext cx="79248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Ví dụ: </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p:txBody>
      </p:sp>
      <p:pic>
        <p:nvPicPr>
          <p:cNvPr id="129" name="Google Shape;129;p4"/>
          <p:cNvPicPr preferRelativeResize="0"/>
          <p:nvPr/>
        </p:nvPicPr>
        <p:blipFill rotWithShape="1">
          <a:blip r:embed="rId4">
            <a:alphaModFix/>
          </a:blip>
          <a:srcRect b="0" l="0" r="0" t="0"/>
          <a:stretch/>
        </p:blipFill>
        <p:spPr>
          <a:xfrm>
            <a:off x="685800" y="2581364"/>
            <a:ext cx="4895850" cy="3133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35" name="Google Shape;135;p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36" name="Google Shape;136;p5"/>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137" name="Google Shape;137;p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38" name="Google Shape;138;p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 name="Google Shape;139;p5"/>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40" name="Google Shape;140;p5"/>
          <p:cNvSpPr txBox="1"/>
          <p:nvPr/>
        </p:nvSpPr>
        <p:spPr>
          <a:xfrm>
            <a:off x="685800" y="1559911"/>
            <a:ext cx="79248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thành phần trong function </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p:txBody>
      </p:sp>
      <p:pic>
        <p:nvPicPr>
          <p:cNvPr id="141" name="Google Shape;141;p5"/>
          <p:cNvPicPr preferRelativeResize="0"/>
          <p:nvPr/>
        </p:nvPicPr>
        <p:blipFill rotWithShape="1">
          <a:blip r:embed="rId4">
            <a:alphaModFix/>
          </a:blip>
          <a:srcRect b="0" l="0" r="0" t="0"/>
          <a:stretch/>
        </p:blipFill>
        <p:spPr>
          <a:xfrm>
            <a:off x="1066800" y="2124489"/>
            <a:ext cx="7010400" cy="396300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47" name="Google Shape;147;p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48" name="Google Shape;148;p6"/>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149" name="Google Shape;149;p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50" name="Google Shape;150;p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6"/>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52" name="Google Shape;152;p6"/>
          <p:cNvSpPr txBox="1"/>
          <p:nvPr/>
        </p:nvSpPr>
        <p:spPr>
          <a:xfrm>
            <a:off x="685800" y="1559911"/>
            <a:ext cx="7924800"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Các ràng buộc về tên function:</a:t>
            </a:r>
            <a:endParaRPr/>
          </a:p>
          <a:p>
            <a:pPr indent="-190500" lvl="0" marL="342900" marR="0" rtl="0" algn="l">
              <a:spcBef>
                <a:spcPts val="0"/>
              </a:spcBef>
              <a:spcAft>
                <a:spcPts val="0"/>
              </a:spcAft>
              <a:buClr>
                <a:schemeClr val="dk1"/>
              </a:buClr>
              <a:buSzPts val="2400"/>
              <a:buFont typeface="Arial"/>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Tên function phải được bắt đầu bằng chữ cái (a-z, A-Z) hoặc ký tự “_”</a:t>
            </a:r>
            <a:endParaRPr/>
          </a:p>
          <a:p>
            <a:pPr indent="-190500" lvl="0" marL="342900" marR="0" rtl="0" algn="l">
              <a:spcBef>
                <a:spcPts val="0"/>
              </a:spcBef>
              <a:spcAft>
                <a:spcPts val="0"/>
              </a:spcAft>
              <a:buClr>
                <a:schemeClr val="dk1"/>
              </a:buClr>
              <a:buSzPts val="2400"/>
              <a:buFont typeface="Arial"/>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Tên function không được bắt đầu bằng số hoặc các ký tự khác ký tự “_”</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58" name="Google Shape;158;p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59" name="Google Shape;159;p7"/>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160" name="Google Shape;160;p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61" name="Google Shape;161;p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7"/>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63" name="Google Shape;163;p7"/>
          <p:cNvSpPr txBox="1"/>
          <p:nvPr/>
        </p:nvSpPr>
        <p:spPr>
          <a:xfrm>
            <a:off x="685800" y="1559911"/>
            <a:ext cx="7924800"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function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1. Function cơ bản</a:t>
            </a:r>
            <a:endParaRPr sz="2400">
              <a:solidFill>
                <a:schemeClr val="dk2"/>
              </a:solidFill>
              <a:latin typeface="Calibri"/>
              <a:ea typeface="Calibri"/>
              <a:cs typeface="Calibri"/>
              <a:sym typeface="Calibri"/>
            </a:endParaRPr>
          </a:p>
          <a:p>
            <a:pPr indent="-304800" lvl="0" marL="457200" marR="0" rtl="0" algn="l">
              <a:spcBef>
                <a:spcPts val="0"/>
              </a:spcBef>
              <a:spcAft>
                <a:spcPts val="0"/>
              </a:spcAft>
              <a:buClr>
                <a:schemeClr val="dk1"/>
              </a:buClr>
              <a:buSzPts val="2400"/>
              <a:buFont typeface="Calibri"/>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Cú pháp:</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Ví dụ:</a:t>
            </a:r>
            <a:endParaRPr/>
          </a:p>
        </p:txBody>
      </p:sp>
      <p:pic>
        <p:nvPicPr>
          <p:cNvPr id="164" name="Google Shape;164;p7"/>
          <p:cNvPicPr preferRelativeResize="0"/>
          <p:nvPr/>
        </p:nvPicPr>
        <p:blipFill rotWithShape="1">
          <a:blip r:embed="rId4">
            <a:alphaModFix/>
          </a:blip>
          <a:srcRect b="0" l="0" r="0" t="0"/>
          <a:stretch/>
        </p:blipFill>
        <p:spPr>
          <a:xfrm>
            <a:off x="3238500" y="4698681"/>
            <a:ext cx="4371975" cy="904875"/>
          </a:xfrm>
          <a:prstGeom prst="rect">
            <a:avLst/>
          </a:prstGeom>
          <a:noFill/>
          <a:ln>
            <a:noFill/>
          </a:ln>
        </p:spPr>
      </p:pic>
      <p:pic>
        <p:nvPicPr>
          <p:cNvPr id="165" name="Google Shape;165;p7"/>
          <p:cNvPicPr preferRelativeResize="0"/>
          <p:nvPr/>
        </p:nvPicPr>
        <p:blipFill rotWithShape="1">
          <a:blip r:embed="rId5">
            <a:alphaModFix/>
          </a:blip>
          <a:srcRect b="0" l="0" r="0" t="0"/>
          <a:stretch/>
        </p:blipFill>
        <p:spPr>
          <a:xfrm>
            <a:off x="3238500" y="2857064"/>
            <a:ext cx="4476750" cy="1228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8"/>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71" name="Google Shape;171;p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72" name="Google Shape;172;p8"/>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173" name="Google Shape;173;p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74" name="Google Shape;174;p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8"/>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76" name="Google Shape;176;p8"/>
          <p:cNvSpPr txBox="1"/>
          <p:nvPr/>
        </p:nvSpPr>
        <p:spPr>
          <a:xfrm>
            <a:off x="685800" y="1559911"/>
            <a:ext cx="7924800"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hàm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2. Function có tham số truyền vào</a:t>
            </a:r>
            <a:endParaRPr sz="2400">
              <a:solidFill>
                <a:schemeClr val="dk2"/>
              </a:solidFill>
              <a:latin typeface="Calibri"/>
              <a:ea typeface="Calibri"/>
              <a:cs typeface="Calibri"/>
              <a:sym typeface="Calibri"/>
            </a:endParaRPr>
          </a:p>
          <a:p>
            <a:pPr indent="-304800" lvl="0" marL="457200" marR="0" rtl="0" algn="l">
              <a:spcBef>
                <a:spcPts val="0"/>
              </a:spcBef>
              <a:spcAft>
                <a:spcPts val="0"/>
              </a:spcAft>
              <a:buClr>
                <a:schemeClr val="dk1"/>
              </a:buClr>
              <a:buSzPts val="2400"/>
              <a:buFont typeface="Calibri"/>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Cú pháp:</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Ví dụ:</a:t>
            </a:r>
            <a:endParaRPr/>
          </a:p>
        </p:txBody>
      </p:sp>
      <p:pic>
        <p:nvPicPr>
          <p:cNvPr id="177" name="Google Shape;177;p8"/>
          <p:cNvPicPr preferRelativeResize="0"/>
          <p:nvPr/>
        </p:nvPicPr>
        <p:blipFill rotWithShape="1">
          <a:blip r:embed="rId4">
            <a:alphaModFix/>
          </a:blip>
          <a:srcRect b="0" l="0" r="0" t="0"/>
          <a:stretch/>
        </p:blipFill>
        <p:spPr>
          <a:xfrm>
            <a:off x="3228975" y="3022282"/>
            <a:ext cx="4381500" cy="1066800"/>
          </a:xfrm>
          <a:prstGeom prst="rect">
            <a:avLst/>
          </a:prstGeom>
          <a:noFill/>
          <a:ln>
            <a:noFill/>
          </a:ln>
        </p:spPr>
      </p:pic>
      <p:pic>
        <p:nvPicPr>
          <p:cNvPr id="178" name="Google Shape;178;p8"/>
          <p:cNvPicPr preferRelativeResize="0"/>
          <p:nvPr/>
        </p:nvPicPr>
        <p:blipFill rotWithShape="1">
          <a:blip r:embed="rId5">
            <a:alphaModFix/>
          </a:blip>
          <a:srcRect b="0" l="0" r="0" t="0"/>
          <a:stretch/>
        </p:blipFill>
        <p:spPr>
          <a:xfrm>
            <a:off x="3228975" y="4579903"/>
            <a:ext cx="4286250" cy="971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84" name="Google Shape;184;p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85" name="Google Shape;185;p9"/>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186" name="Google Shape;186;p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87" name="Google Shape;187;p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 name="Google Shape;188;p9"/>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189" name="Google Shape;189;p9"/>
          <p:cNvSpPr txBox="1"/>
          <p:nvPr/>
        </p:nvSpPr>
        <p:spPr>
          <a:xfrm>
            <a:off x="685800" y="1559911"/>
            <a:ext cx="7924800"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hàm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3. Function có tham số mặc định</a:t>
            </a:r>
            <a:endParaRPr sz="2400">
              <a:solidFill>
                <a:schemeClr val="dk2"/>
              </a:solidFill>
              <a:latin typeface="Calibri"/>
              <a:ea typeface="Calibri"/>
              <a:cs typeface="Calibri"/>
              <a:sym typeface="Calibri"/>
            </a:endParaRPr>
          </a:p>
          <a:p>
            <a:pPr indent="-304800" lvl="0" marL="457200" marR="0" rtl="0" algn="l">
              <a:spcBef>
                <a:spcPts val="0"/>
              </a:spcBef>
              <a:spcAft>
                <a:spcPts val="0"/>
              </a:spcAft>
              <a:buClr>
                <a:schemeClr val="dk1"/>
              </a:buClr>
              <a:buSzPts val="2400"/>
              <a:buFont typeface="Calibri"/>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Cú pháp:</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Ví dụ:</a:t>
            </a:r>
            <a:endParaRPr/>
          </a:p>
        </p:txBody>
      </p:sp>
      <p:pic>
        <p:nvPicPr>
          <p:cNvPr id="190" name="Google Shape;190;p9"/>
          <p:cNvPicPr preferRelativeResize="0"/>
          <p:nvPr/>
        </p:nvPicPr>
        <p:blipFill rotWithShape="1">
          <a:blip r:embed="rId4">
            <a:alphaModFix/>
          </a:blip>
          <a:srcRect b="0" l="0" r="0" t="0"/>
          <a:stretch/>
        </p:blipFill>
        <p:spPr>
          <a:xfrm>
            <a:off x="2937431" y="2943990"/>
            <a:ext cx="5695950" cy="914400"/>
          </a:xfrm>
          <a:prstGeom prst="rect">
            <a:avLst/>
          </a:prstGeom>
          <a:noFill/>
          <a:ln>
            <a:noFill/>
          </a:ln>
        </p:spPr>
      </p:pic>
      <p:pic>
        <p:nvPicPr>
          <p:cNvPr id="191" name="Google Shape;191;p9"/>
          <p:cNvPicPr preferRelativeResize="0"/>
          <p:nvPr/>
        </p:nvPicPr>
        <p:blipFill rotWithShape="1">
          <a:blip r:embed="rId5">
            <a:alphaModFix/>
          </a:blip>
          <a:srcRect b="0" l="0" r="0" t="0"/>
          <a:stretch/>
        </p:blipFill>
        <p:spPr>
          <a:xfrm>
            <a:off x="2937431" y="4608827"/>
            <a:ext cx="4305300" cy="1019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0"/>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97" name="Google Shape;197;p1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198" name="Google Shape;198;p10"/>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199" name="Google Shape;199;p1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00" name="Google Shape;200;p1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 name="Google Shape;201;p10"/>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02" name="Google Shape;202;p10"/>
          <p:cNvSpPr txBox="1"/>
          <p:nvPr/>
        </p:nvSpPr>
        <p:spPr>
          <a:xfrm>
            <a:off x="685800" y="1559911"/>
            <a:ext cx="79248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hàm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4. Function có và không trả về giá trị</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Ta sử dụng từ khóa return để một function trả về giá trị</a:t>
            </a:r>
            <a:endParaRPr sz="2400">
              <a:solidFill>
                <a:schemeClr val="dk2"/>
              </a:solidFill>
              <a:latin typeface="Calibri"/>
              <a:ea typeface="Calibri"/>
              <a:cs typeface="Calibri"/>
              <a:sym typeface="Calibri"/>
            </a:endParaRPr>
          </a:p>
        </p:txBody>
      </p:sp>
      <p:pic>
        <p:nvPicPr>
          <p:cNvPr id="203" name="Google Shape;203;p10"/>
          <p:cNvPicPr preferRelativeResize="0"/>
          <p:nvPr/>
        </p:nvPicPr>
        <p:blipFill rotWithShape="1">
          <a:blip r:embed="rId4">
            <a:alphaModFix/>
          </a:blip>
          <a:srcRect b="0" l="0" r="0" t="0"/>
          <a:stretch/>
        </p:blipFill>
        <p:spPr>
          <a:xfrm>
            <a:off x="685800" y="3946508"/>
            <a:ext cx="3695700" cy="923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09" name="Google Shape;209;p1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10" name="Google Shape;210;p11"/>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211" name="Google Shape;211;p1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12" name="Google Shape;212;p1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3" name="Google Shape;213;p11"/>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14" name="Google Shape;214;p11"/>
          <p:cNvSpPr txBox="1"/>
          <p:nvPr/>
        </p:nvSpPr>
        <p:spPr>
          <a:xfrm>
            <a:off x="685800" y="1559911"/>
            <a:ext cx="79248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hàm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4. Function có và không trả về giá trị</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Một function có thể trả về (return)</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một function khác</a:t>
            </a:r>
            <a:endParaRPr sz="2400">
              <a:solidFill>
                <a:schemeClr val="dk2"/>
              </a:solidFill>
              <a:latin typeface="Calibri"/>
              <a:ea typeface="Calibri"/>
              <a:cs typeface="Calibri"/>
              <a:sym typeface="Calibri"/>
            </a:endParaRPr>
          </a:p>
        </p:txBody>
      </p:sp>
      <p:pic>
        <p:nvPicPr>
          <p:cNvPr id="215" name="Google Shape;215;p11"/>
          <p:cNvPicPr preferRelativeResize="0"/>
          <p:nvPr/>
        </p:nvPicPr>
        <p:blipFill rotWithShape="1">
          <a:blip r:embed="rId4">
            <a:alphaModFix/>
          </a:blip>
          <a:srcRect b="0" l="0" r="0" t="0"/>
          <a:stretch/>
        </p:blipFill>
        <p:spPr>
          <a:xfrm>
            <a:off x="5410200" y="2878108"/>
            <a:ext cx="3495675" cy="3124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2"/>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21" name="Google Shape;221;p1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22" name="Google Shape;222;p12"/>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223" name="Google Shape;223;p1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24" name="Google Shape;224;p1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12"/>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26" name="Google Shape;226;p12"/>
          <p:cNvSpPr txBox="1"/>
          <p:nvPr/>
        </p:nvSpPr>
        <p:spPr>
          <a:xfrm>
            <a:off x="685800" y="1559911"/>
            <a:ext cx="79248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hàm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5. Anonymous function (Hàm nặc danh/không có tên)</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Anonymous function thường được khi báo bằng cách 2 (Function expression hoặc Arrow function)</a:t>
            </a:r>
            <a:endParaRPr/>
          </a:p>
        </p:txBody>
      </p:sp>
      <p:pic>
        <p:nvPicPr>
          <p:cNvPr id="227" name="Google Shape;227;p12"/>
          <p:cNvPicPr preferRelativeResize="0"/>
          <p:nvPr/>
        </p:nvPicPr>
        <p:blipFill rotWithShape="1">
          <a:blip r:embed="rId4">
            <a:alphaModFix/>
          </a:blip>
          <a:srcRect b="0" l="0" r="0" t="0"/>
          <a:stretch/>
        </p:blipFill>
        <p:spPr>
          <a:xfrm>
            <a:off x="693656" y="3557889"/>
            <a:ext cx="5353050" cy="2447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3"/>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33" name="Google Shape;233;p1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34" name="Google Shape;234;p13"/>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235" name="Google Shape;235;p1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36" name="Google Shape;236;p1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13"/>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38" name="Google Shape;238;p13"/>
          <p:cNvSpPr txBox="1"/>
          <p:nvPr/>
        </p:nvSpPr>
        <p:spPr>
          <a:xfrm>
            <a:off x="685800" y="1559911"/>
            <a:ext cx="79248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hàm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5. Anonymous function (Hàm nặc danh/không có tên)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Anonymous function cũng chấp nhận các tham số truyền vào như function thông thường</a:t>
            </a:r>
            <a:endParaRPr sz="2400">
              <a:solidFill>
                <a:schemeClr val="dk2"/>
              </a:solidFill>
              <a:latin typeface="Calibri"/>
              <a:ea typeface="Calibri"/>
              <a:cs typeface="Calibri"/>
              <a:sym typeface="Calibri"/>
            </a:endParaRPr>
          </a:p>
        </p:txBody>
      </p:sp>
      <p:pic>
        <p:nvPicPr>
          <p:cNvPr id="239" name="Google Shape;239;p13"/>
          <p:cNvPicPr preferRelativeResize="0"/>
          <p:nvPr/>
        </p:nvPicPr>
        <p:blipFill rotWithShape="1">
          <a:blip r:embed="rId4">
            <a:alphaModFix/>
          </a:blip>
          <a:srcRect b="0" l="0" r="0" t="0"/>
          <a:stretch/>
        </p:blipFill>
        <p:spPr>
          <a:xfrm>
            <a:off x="685800" y="4229101"/>
            <a:ext cx="4572000" cy="1295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4"/>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45" name="Google Shape;245;p1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46" name="Google Shape;246;p14"/>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247" name="Google Shape;247;p1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48" name="Google Shape;248;p1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 name="Google Shape;249;p14"/>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50" name="Google Shape;250;p14"/>
          <p:cNvSpPr txBox="1"/>
          <p:nvPr/>
        </p:nvSpPr>
        <p:spPr>
          <a:xfrm>
            <a:off x="685800" y="1559911"/>
            <a:ext cx="7924800"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hàm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6. Self-Executing Function (Hàm tự khởi chạy)</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Đây là function sẽ tự động chạy ngay khi nó được khởi tạo.</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Cú pháp:</a:t>
            </a:r>
            <a:endParaRPr/>
          </a:p>
        </p:txBody>
      </p:sp>
      <p:pic>
        <p:nvPicPr>
          <p:cNvPr id="251" name="Google Shape;251;p14"/>
          <p:cNvPicPr preferRelativeResize="0"/>
          <p:nvPr/>
        </p:nvPicPr>
        <p:blipFill rotWithShape="1">
          <a:blip r:embed="rId4">
            <a:alphaModFix/>
          </a:blip>
          <a:srcRect b="0" l="0" r="0" t="0"/>
          <a:stretch/>
        </p:blipFill>
        <p:spPr>
          <a:xfrm>
            <a:off x="685800" y="4501877"/>
            <a:ext cx="5048250" cy="819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5"/>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57" name="Google Shape;257;p1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58" name="Google Shape;258;p15"/>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259" name="Google Shape;259;p1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60" name="Google Shape;260;p1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 name="Google Shape;261;p15"/>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62" name="Google Shape;262;p15"/>
          <p:cNvSpPr txBox="1"/>
          <p:nvPr/>
        </p:nvSpPr>
        <p:spPr>
          <a:xfrm>
            <a:off x="685800" y="1559911"/>
            <a:ext cx="79248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hàm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7. Arrow function (Hàm mũi tên)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Arrow function là cú pháp mới trong JavaScript trong ES6, và nó là một dạng hàm vô danh</a:t>
            </a:r>
            <a:endParaRPr sz="2400">
              <a:solidFill>
                <a:schemeClr val="dk2"/>
              </a:solidFill>
              <a:latin typeface="Calibri"/>
              <a:ea typeface="Calibri"/>
              <a:cs typeface="Calibri"/>
              <a:sym typeface="Calibri"/>
            </a:endParaRPr>
          </a:p>
        </p:txBody>
      </p:sp>
      <p:pic>
        <p:nvPicPr>
          <p:cNvPr id="263" name="Google Shape;263;p15"/>
          <p:cNvPicPr preferRelativeResize="0"/>
          <p:nvPr/>
        </p:nvPicPr>
        <p:blipFill rotWithShape="1">
          <a:blip r:embed="rId4">
            <a:alphaModFix/>
          </a:blip>
          <a:srcRect b="0" l="0" r="0" t="0"/>
          <a:stretch/>
        </p:blipFill>
        <p:spPr>
          <a:xfrm>
            <a:off x="609600" y="4070078"/>
            <a:ext cx="4438650" cy="1914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6"/>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69" name="Google Shape;269;p1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70" name="Google Shape;270;p16"/>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271" name="Google Shape;271;p1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72" name="Google Shape;272;p1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 name="Google Shape;273;p16"/>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74" name="Google Shape;274;p16"/>
          <p:cNvSpPr txBox="1"/>
          <p:nvPr/>
        </p:nvSpPr>
        <p:spPr>
          <a:xfrm>
            <a:off x="685800" y="1559911"/>
            <a:ext cx="79248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hàm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7. Arrow function (Hàm mũi tên)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Trường hợp không có tham số hoặc nhiều hơn 1 tham số thì dấu </a:t>
            </a:r>
            <a:r>
              <a:rPr lang="en-US" sz="2400">
                <a:solidFill>
                  <a:srgbClr val="FF0000"/>
                </a:solidFill>
                <a:latin typeface="Calibri"/>
                <a:ea typeface="Calibri"/>
                <a:cs typeface="Calibri"/>
                <a:sym typeface="Calibri"/>
              </a:rPr>
              <a:t>()</a:t>
            </a:r>
            <a:r>
              <a:rPr lang="en-US" sz="2400">
                <a:solidFill>
                  <a:schemeClr val="dk2"/>
                </a:solidFill>
                <a:latin typeface="Calibri"/>
                <a:ea typeface="Calibri"/>
                <a:cs typeface="Calibri"/>
                <a:sym typeface="Calibri"/>
              </a:rPr>
              <a:t> là bắt buộc, nếu chỉ có </a:t>
            </a:r>
            <a:r>
              <a:rPr lang="en-US" sz="2400">
                <a:solidFill>
                  <a:srgbClr val="FF0000"/>
                </a:solidFill>
                <a:latin typeface="Calibri"/>
                <a:ea typeface="Calibri"/>
                <a:cs typeface="Calibri"/>
                <a:sym typeface="Calibri"/>
              </a:rPr>
              <a:t>đúng 1 tham số</a:t>
            </a:r>
            <a:r>
              <a:rPr lang="en-US" sz="2400">
                <a:solidFill>
                  <a:schemeClr val="dk2"/>
                </a:solidFill>
                <a:latin typeface="Calibri"/>
                <a:ea typeface="Calibri"/>
                <a:cs typeface="Calibri"/>
                <a:sym typeface="Calibri"/>
              </a:rPr>
              <a:t> thì không cần </a:t>
            </a:r>
            <a:r>
              <a:rPr lang="en-US" sz="2400">
                <a:solidFill>
                  <a:srgbClr val="FF0000"/>
                </a:solidFill>
                <a:latin typeface="Calibri"/>
                <a:ea typeface="Calibri"/>
                <a:cs typeface="Calibri"/>
                <a:sym typeface="Calibri"/>
              </a:rPr>
              <a:t>()</a:t>
            </a:r>
            <a:endParaRPr/>
          </a:p>
        </p:txBody>
      </p:sp>
      <p:pic>
        <p:nvPicPr>
          <p:cNvPr id="275" name="Google Shape;275;p16"/>
          <p:cNvPicPr preferRelativeResize="0"/>
          <p:nvPr/>
        </p:nvPicPr>
        <p:blipFill rotWithShape="1">
          <a:blip r:embed="rId4">
            <a:alphaModFix/>
          </a:blip>
          <a:srcRect b="0" l="0" r="0" t="0"/>
          <a:stretch/>
        </p:blipFill>
        <p:spPr>
          <a:xfrm>
            <a:off x="685800" y="4324892"/>
            <a:ext cx="5372100" cy="1314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7"/>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81" name="Google Shape;281;p1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82" name="Google Shape;282;p17"/>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283" name="Google Shape;283;p1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84" name="Google Shape;284;p1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 name="Google Shape;285;p17"/>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86" name="Google Shape;286;p17"/>
          <p:cNvSpPr txBox="1"/>
          <p:nvPr/>
        </p:nvSpPr>
        <p:spPr>
          <a:xfrm>
            <a:off x="685800" y="1559911"/>
            <a:ext cx="79248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hàm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7. Arrow function (Hàm mũi tên)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Trường hợp chỉ có 1 dòng lệnh bên trong function body ta cũng có thể bỏ cặp dấu </a:t>
            </a:r>
            <a:r>
              <a:rPr lang="en-US" sz="2400">
                <a:solidFill>
                  <a:srgbClr val="FF0000"/>
                </a:solidFill>
                <a:latin typeface="Calibri"/>
                <a:ea typeface="Calibri"/>
                <a:cs typeface="Calibri"/>
                <a:sym typeface="Calibri"/>
              </a:rPr>
              <a:t>{}</a:t>
            </a:r>
            <a:endParaRPr/>
          </a:p>
        </p:txBody>
      </p:sp>
      <p:pic>
        <p:nvPicPr>
          <p:cNvPr id="287" name="Google Shape;287;p17"/>
          <p:cNvPicPr preferRelativeResize="0"/>
          <p:nvPr/>
        </p:nvPicPr>
        <p:blipFill rotWithShape="1">
          <a:blip r:embed="rId4">
            <a:alphaModFix/>
          </a:blip>
          <a:srcRect b="0" l="0" r="0" t="0"/>
          <a:stretch/>
        </p:blipFill>
        <p:spPr>
          <a:xfrm>
            <a:off x="609600" y="4337787"/>
            <a:ext cx="4991100" cy="390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8"/>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93" name="Google Shape;293;p1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294" name="Google Shape;294;p18"/>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295" name="Google Shape;295;p1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96" name="Google Shape;296;p1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 name="Google Shape;297;p18"/>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298" name="Google Shape;298;p18"/>
          <p:cNvSpPr txBox="1"/>
          <p:nvPr/>
        </p:nvSpPr>
        <p:spPr>
          <a:xfrm>
            <a:off x="685800" y="1559911"/>
            <a:ext cx="79248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hàm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8. Callback function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Callback function là function được truyền vào làm tham số cho một function khác.</a:t>
            </a:r>
            <a:endParaRPr/>
          </a:p>
        </p:txBody>
      </p:sp>
      <p:pic>
        <p:nvPicPr>
          <p:cNvPr id="299" name="Google Shape;299;p18"/>
          <p:cNvPicPr preferRelativeResize="0"/>
          <p:nvPr/>
        </p:nvPicPr>
        <p:blipFill rotWithShape="1">
          <a:blip r:embed="rId4">
            <a:alphaModFix/>
          </a:blip>
          <a:srcRect b="0" l="0" r="0" t="0"/>
          <a:stretch/>
        </p:blipFill>
        <p:spPr>
          <a:xfrm>
            <a:off x="685800" y="4171215"/>
            <a:ext cx="5210175" cy="1562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9"/>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05" name="Google Shape;305;p1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06" name="Google Shape;306;p19"/>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307" name="Google Shape;307;p1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08" name="Google Shape;308;p1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9" name="Google Shape;309;p19"/>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10" name="Google Shape;310;p19"/>
          <p:cNvSpPr txBox="1"/>
          <p:nvPr/>
        </p:nvSpPr>
        <p:spPr>
          <a:xfrm>
            <a:off x="685800" y="1559911"/>
            <a:ext cx="79248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parameter (tham số) trong function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Có 2 loại tham số mới trong JavaScript ES6</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Default parameters</a:t>
            </a:r>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Rest parameters</a:t>
            </a:r>
            <a:endParaRPr sz="2400">
              <a:solidFill>
                <a:srgbClr val="FF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0"/>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16" name="Google Shape;316;p2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17" name="Google Shape;317;p20"/>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318" name="Google Shape;318;p2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19" name="Google Shape;319;p2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0" name="Google Shape;320;p20"/>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21" name="Google Shape;321;p20"/>
          <p:cNvSpPr txBox="1"/>
          <p:nvPr/>
        </p:nvSpPr>
        <p:spPr>
          <a:xfrm>
            <a:off x="685800" y="1559911"/>
            <a:ext cx="792480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tham số</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Default parameters</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Trong JavaScript các tham số của function nếu không được truyền vào sẽ được mặc đinh là </a:t>
            </a:r>
            <a:r>
              <a:rPr lang="en-US" sz="2400">
                <a:solidFill>
                  <a:srgbClr val="FF0000"/>
                </a:solidFill>
                <a:latin typeface="Calibri"/>
                <a:ea typeface="Calibri"/>
                <a:cs typeface="Calibri"/>
                <a:sym typeface="Calibri"/>
              </a:rPr>
              <a:t>undefined</a:t>
            </a:r>
            <a:r>
              <a:rPr lang="en-US" sz="2400">
                <a:solidFill>
                  <a:schemeClr val="dk2"/>
                </a:solidFill>
                <a:latin typeface="Calibri"/>
                <a:ea typeface="Calibri"/>
                <a:cs typeface="Calibri"/>
                <a:sym typeface="Calibri"/>
              </a:rPr>
              <a:t>.</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Vì vậy nếu không truyền tham số vào code sẽ sinh ra bug và ta phải kiểm tra tham số bên trong function body</a:t>
            </a:r>
            <a:endParaRPr sz="2400">
              <a:solidFill>
                <a:srgbClr val="FF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27" name="Google Shape;327;p2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28" name="Google Shape;328;p21"/>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329" name="Google Shape;329;p2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30" name="Google Shape;330;p2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1" name="Google Shape;331;p21"/>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32" name="Google Shape;332;p21"/>
          <p:cNvSpPr txBox="1"/>
          <p:nvPr/>
        </p:nvSpPr>
        <p:spPr>
          <a:xfrm>
            <a:off x="685800" y="1559911"/>
            <a:ext cx="79248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tham số</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Default parameters</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Xem xét ví dụ sau:</a:t>
            </a:r>
            <a:endParaRPr/>
          </a:p>
        </p:txBody>
      </p:sp>
      <p:pic>
        <p:nvPicPr>
          <p:cNvPr id="333" name="Google Shape;333;p21"/>
          <p:cNvPicPr preferRelativeResize="0"/>
          <p:nvPr/>
        </p:nvPicPr>
        <p:blipFill rotWithShape="1">
          <a:blip r:embed="rId4">
            <a:alphaModFix/>
          </a:blip>
          <a:srcRect b="0" l="0" r="0" t="0"/>
          <a:stretch/>
        </p:blipFill>
        <p:spPr>
          <a:xfrm>
            <a:off x="685800" y="3651302"/>
            <a:ext cx="4305300" cy="2019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2"/>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39" name="Google Shape;339;p2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40" name="Google Shape;340;p22"/>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341" name="Google Shape;341;p2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42" name="Google Shape;342;p2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3" name="Google Shape;343;p22"/>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44" name="Google Shape;344;p22"/>
          <p:cNvSpPr txBox="1"/>
          <p:nvPr/>
        </p:nvSpPr>
        <p:spPr>
          <a:xfrm>
            <a:off x="685800" y="1559911"/>
            <a:ext cx="79248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tham số</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Default parameters</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Với default parameters trong ES6 ta chỉ cần set b = 1 khi khai báo parameter của function</a:t>
            </a:r>
            <a:endParaRPr/>
          </a:p>
        </p:txBody>
      </p:sp>
      <p:pic>
        <p:nvPicPr>
          <p:cNvPr id="345" name="Google Shape;345;p22"/>
          <p:cNvPicPr preferRelativeResize="0"/>
          <p:nvPr/>
        </p:nvPicPr>
        <p:blipFill rotWithShape="1">
          <a:blip r:embed="rId4">
            <a:alphaModFix/>
          </a:blip>
          <a:srcRect b="0" l="0" r="0" t="0"/>
          <a:stretch/>
        </p:blipFill>
        <p:spPr>
          <a:xfrm>
            <a:off x="685800" y="4210592"/>
            <a:ext cx="3343275" cy="15430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3"/>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51" name="Google Shape;351;p2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52" name="Google Shape;352;p23"/>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353" name="Google Shape;353;p2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54" name="Google Shape;354;p2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5" name="Google Shape;355;p23"/>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56" name="Google Shape;356;p23"/>
          <p:cNvSpPr txBox="1"/>
          <p:nvPr/>
        </p:nvSpPr>
        <p:spPr>
          <a:xfrm>
            <a:off x="685800" y="1559911"/>
            <a:ext cx="79248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Các loại tham số</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Rest parameters</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Cho phép chúng ta dùng một mảng để đại diện cho số lượng vô hạn các tham số mà ta truyền vào</a:t>
            </a:r>
            <a:endParaRPr sz="2400">
              <a:solidFill>
                <a:schemeClr val="dk2"/>
              </a:solidFill>
              <a:latin typeface="Calibri"/>
              <a:ea typeface="Calibri"/>
              <a:cs typeface="Calibri"/>
              <a:sym typeface="Calibri"/>
            </a:endParaRPr>
          </a:p>
        </p:txBody>
      </p:sp>
      <p:pic>
        <p:nvPicPr>
          <p:cNvPr id="357" name="Google Shape;357;p23"/>
          <p:cNvPicPr preferRelativeResize="0"/>
          <p:nvPr/>
        </p:nvPicPr>
        <p:blipFill rotWithShape="1">
          <a:blip r:embed="rId4">
            <a:alphaModFix/>
          </a:blip>
          <a:srcRect b="0" l="0" r="0" t="0"/>
          <a:stretch/>
        </p:blipFill>
        <p:spPr>
          <a:xfrm>
            <a:off x="685800" y="3987826"/>
            <a:ext cx="4848225" cy="1619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4"/>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63" name="Google Shape;363;p2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64" name="Google Shape;364;p24"/>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365" name="Google Shape;365;p2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66" name="Google Shape;366;p2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 name="Google Shape;367;p24"/>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68" name="Google Shape;368;p24"/>
          <p:cNvSpPr txBox="1"/>
          <p:nvPr/>
        </p:nvSpPr>
        <p:spPr>
          <a:xfrm>
            <a:off x="685800" y="1559911"/>
            <a:ext cx="7924800"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Scope &amp; Hoisting</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Tương tự như với biến thì function trong JavaScript cũng có tính chất </a:t>
            </a:r>
            <a:r>
              <a:rPr lang="en-US" sz="2400">
                <a:solidFill>
                  <a:srgbClr val="FF0000"/>
                </a:solidFill>
                <a:latin typeface="Calibri"/>
                <a:ea typeface="Calibri"/>
                <a:cs typeface="Calibri"/>
                <a:sym typeface="Calibri"/>
              </a:rPr>
              <a:t>scope</a:t>
            </a:r>
            <a:r>
              <a:rPr lang="en-US" sz="2400">
                <a:solidFill>
                  <a:schemeClr val="dk2"/>
                </a:solidFill>
                <a:latin typeface="Calibri"/>
                <a:ea typeface="Calibri"/>
                <a:cs typeface="Calibri"/>
                <a:sym typeface="Calibri"/>
              </a:rPr>
              <a:t> và </a:t>
            </a:r>
            <a:r>
              <a:rPr lang="en-US" sz="2400">
                <a:solidFill>
                  <a:srgbClr val="FF0000"/>
                </a:solidFill>
                <a:latin typeface="Calibri"/>
                <a:ea typeface="Calibri"/>
                <a:cs typeface="Calibri"/>
                <a:sym typeface="Calibri"/>
              </a:rPr>
              <a:t>hoisting</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Với </a:t>
            </a:r>
            <a:r>
              <a:rPr lang="en-US" sz="2400">
                <a:solidFill>
                  <a:srgbClr val="FF0000"/>
                </a:solidFill>
                <a:latin typeface="Calibri"/>
                <a:ea typeface="Calibri"/>
                <a:cs typeface="Calibri"/>
                <a:sym typeface="Calibri"/>
              </a:rPr>
              <a:t>Lexical scoping</a:t>
            </a:r>
            <a:r>
              <a:rPr lang="en-US" sz="2400">
                <a:solidFill>
                  <a:schemeClr val="dk2"/>
                </a:solidFill>
                <a:latin typeface="Calibri"/>
                <a:ea typeface="Calibri"/>
                <a:cs typeface="Calibri"/>
                <a:sym typeface="Calibri"/>
              </a:rPr>
              <a:t> nguyên tắc là một hàm </a:t>
            </a:r>
            <a:r>
              <a:rPr lang="en-US" sz="2400">
                <a:solidFill>
                  <a:srgbClr val="FF0000"/>
                </a:solidFill>
                <a:latin typeface="Calibri"/>
                <a:ea typeface="Calibri"/>
                <a:cs typeface="Calibri"/>
                <a:sym typeface="Calibri"/>
              </a:rPr>
              <a:t>có thể truy cập </a:t>
            </a:r>
            <a:r>
              <a:rPr lang="en-US" sz="2400">
                <a:solidFill>
                  <a:schemeClr val="dk2"/>
                </a:solidFill>
                <a:latin typeface="Calibri"/>
                <a:ea typeface="Calibri"/>
                <a:cs typeface="Calibri"/>
                <a:sym typeface="Calibri"/>
              </a:rPr>
              <a:t>đến các biến và các function khác </a:t>
            </a:r>
            <a:r>
              <a:rPr lang="en-US" sz="2400">
                <a:solidFill>
                  <a:srgbClr val="FF0000"/>
                </a:solidFill>
                <a:latin typeface="Calibri"/>
                <a:ea typeface="Calibri"/>
                <a:cs typeface="Calibri"/>
                <a:sym typeface="Calibri"/>
              </a:rPr>
              <a:t>trong cùng phạm vi </a:t>
            </a:r>
            <a:r>
              <a:rPr lang="en-US" sz="2400">
                <a:solidFill>
                  <a:schemeClr val="dk2"/>
                </a:solidFill>
                <a:latin typeface="Calibri"/>
                <a:ea typeface="Calibri"/>
                <a:cs typeface="Calibri"/>
                <a:sym typeface="Calibri"/>
              </a:rPr>
              <a:t>mà function đó được khai báo.</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5"/>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74" name="Google Shape;374;p2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75" name="Google Shape;375;p25"/>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376" name="Google Shape;376;p2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77" name="Google Shape;377;p2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8" name="Google Shape;378;p25"/>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379" name="Google Shape;379;p25"/>
          <p:cNvSpPr txBox="1"/>
          <p:nvPr/>
        </p:nvSpPr>
        <p:spPr>
          <a:xfrm>
            <a:off x="685800" y="1559911"/>
            <a:ext cx="792480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Scope &amp; Hoisting</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VD: </a:t>
            </a:r>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Một function được khai báo trong phạm vi global thì có thể truy cập đến các biến và function có phạm vi global.</a:t>
            </a:r>
            <a:endParaRPr/>
          </a:p>
          <a:p>
            <a:pPr indent="-190500" lvl="0" marL="342900" marR="0" rtl="0" algn="l">
              <a:spcBef>
                <a:spcPts val="0"/>
              </a:spcBef>
              <a:spcAft>
                <a:spcPts val="0"/>
              </a:spcAft>
              <a:buClr>
                <a:schemeClr val="dk1"/>
              </a:buClr>
              <a:buSzPts val="2400"/>
              <a:buFont typeface="Arial"/>
              <a:buNone/>
            </a:pPr>
            <a:r>
              <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Một function được khai báo trong phạm vi của một function khác (function cha) thì có thể truy cập đến các biến và function có phạm vi bên trong function cha đó.</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6"/>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85" name="Google Shape;385;p2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pic>
        <p:nvPicPr>
          <p:cNvPr id="386" name="Google Shape;386;p2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87" name="Google Shape;387;p2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8" name="Google Shape;388;p26"/>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pic>
        <p:nvPicPr>
          <p:cNvPr id="389" name="Google Shape;389;p26"/>
          <p:cNvPicPr preferRelativeResize="0"/>
          <p:nvPr/>
        </p:nvPicPr>
        <p:blipFill rotWithShape="1">
          <a:blip r:embed="rId4">
            <a:alphaModFix/>
          </a:blip>
          <a:srcRect b="0" l="0" r="0" t="0"/>
          <a:stretch/>
        </p:blipFill>
        <p:spPr>
          <a:xfrm>
            <a:off x="990600" y="626648"/>
            <a:ext cx="5205952" cy="539315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7"/>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95" name="Google Shape;395;p2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396" name="Google Shape;396;p27"/>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397" name="Google Shape;397;p2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98" name="Google Shape;398;p2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9" name="Google Shape;399;p27"/>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00" name="Google Shape;400;p27"/>
          <p:cNvSpPr txBox="1"/>
          <p:nvPr/>
        </p:nvSpPr>
        <p:spPr>
          <a:xfrm>
            <a:off x="685800" y="1559911"/>
            <a:ext cx="79248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Scope &amp; Hoisting</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Function hoisting giống như variable hoisting. Cho phép ta gọi function trước rồi khai báo sau. Tuy nhiên điều này </a:t>
            </a:r>
            <a:r>
              <a:rPr lang="en-US" sz="2400">
                <a:solidFill>
                  <a:srgbClr val="FF0000"/>
                </a:solidFill>
                <a:latin typeface="Calibri"/>
                <a:ea typeface="Calibri"/>
                <a:cs typeface="Calibri"/>
                <a:sym typeface="Calibri"/>
              </a:rPr>
              <a:t>chỉ đúng</a:t>
            </a:r>
            <a:r>
              <a:rPr lang="en-US" sz="2400">
                <a:solidFill>
                  <a:schemeClr val="dk2"/>
                </a:solidFill>
                <a:latin typeface="Calibri"/>
                <a:ea typeface="Calibri"/>
                <a:cs typeface="Calibri"/>
                <a:sym typeface="Calibri"/>
              </a:rPr>
              <a:t> khi ta </a:t>
            </a:r>
            <a:r>
              <a:rPr lang="en-US" sz="2400">
                <a:solidFill>
                  <a:srgbClr val="FF0000"/>
                </a:solidFill>
                <a:latin typeface="Calibri"/>
                <a:ea typeface="Calibri"/>
                <a:cs typeface="Calibri"/>
                <a:sym typeface="Calibri"/>
              </a:rPr>
              <a:t>khai báo</a:t>
            </a:r>
            <a:r>
              <a:rPr lang="en-US" sz="2400">
                <a:solidFill>
                  <a:schemeClr val="dk2"/>
                </a:solidFill>
                <a:latin typeface="Calibri"/>
                <a:ea typeface="Calibri"/>
                <a:cs typeface="Calibri"/>
                <a:sym typeface="Calibri"/>
              </a:rPr>
              <a:t> function theo cách </a:t>
            </a:r>
            <a:r>
              <a:rPr lang="en-US" sz="2400">
                <a:solidFill>
                  <a:srgbClr val="FF0000"/>
                </a:solidFill>
                <a:latin typeface="Calibri"/>
                <a:ea typeface="Calibri"/>
                <a:cs typeface="Calibri"/>
                <a:sym typeface="Calibri"/>
              </a:rPr>
              <a:t>1 - Function declaration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8"/>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06" name="Google Shape;406;p2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07" name="Google Shape;407;p28"/>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408" name="Google Shape;408;p2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09" name="Google Shape;409;p2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0" name="Google Shape;410;p28"/>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11" name="Google Shape;411;p28"/>
          <p:cNvSpPr txBox="1"/>
          <p:nvPr/>
        </p:nvSpPr>
        <p:spPr>
          <a:xfrm>
            <a:off x="685800" y="1559911"/>
            <a:ext cx="792480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First-class Function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Câu hỏi:</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Hãy cho biết có bao nhiêu </a:t>
            </a:r>
            <a:r>
              <a:rPr lang="en-US" sz="2400">
                <a:solidFill>
                  <a:srgbClr val="FF0000"/>
                </a:solidFill>
                <a:latin typeface="Calibri"/>
                <a:ea typeface="Calibri"/>
                <a:cs typeface="Calibri"/>
                <a:sym typeface="Calibri"/>
              </a:rPr>
              <a:t>kiểu dữ liệu chính</a:t>
            </a:r>
            <a:r>
              <a:rPr lang="en-US" sz="2400">
                <a:solidFill>
                  <a:schemeClr val="dk2"/>
                </a:solidFill>
                <a:latin typeface="Calibri"/>
                <a:ea typeface="Calibri"/>
                <a:cs typeface="Calibri"/>
                <a:sym typeface="Calibri"/>
              </a:rPr>
              <a:t> trong JavaScript?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9"/>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17" name="Google Shape;417;p2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18" name="Google Shape;418;p29"/>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419" name="Google Shape;419;p2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20" name="Google Shape;420;p2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1" name="Google Shape;421;p29"/>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22" name="Google Shape;422;p29"/>
          <p:cNvSpPr txBox="1"/>
          <p:nvPr/>
        </p:nvSpPr>
        <p:spPr>
          <a:xfrm>
            <a:off x="685800" y="1559911"/>
            <a:ext cx="79248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First-class Function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Trả lời:</a:t>
            </a:r>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Có 2 kiểu dữ liệu chính trong JavaScript, đó là:</a:t>
            </a:r>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Primitive</a:t>
            </a:r>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Object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0"/>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28" name="Google Shape;428;p3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29" name="Google Shape;429;p30"/>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430" name="Google Shape;430;p3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31" name="Google Shape;431;p3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2" name="Google Shape;432;p30"/>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33" name="Google Shape;433;p30"/>
          <p:cNvSpPr txBox="1"/>
          <p:nvPr/>
        </p:nvSpPr>
        <p:spPr>
          <a:xfrm>
            <a:off x="685800" y="1559911"/>
            <a:ext cx="7924800"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First-class Function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JavaScript coi function là </a:t>
            </a:r>
            <a:r>
              <a:rPr lang="en-US" sz="2400">
                <a:solidFill>
                  <a:srgbClr val="FF0000"/>
                </a:solidFill>
                <a:latin typeface="Calibri"/>
                <a:ea typeface="Calibri"/>
                <a:cs typeface="Calibri"/>
                <a:sym typeface="Calibri"/>
              </a:rPr>
              <a:t>kiểu dữ liệu Object</a:t>
            </a:r>
            <a:r>
              <a:rPr lang="en-US" sz="2400">
                <a:solidFill>
                  <a:schemeClr val="dk2"/>
                </a:solidFill>
                <a:latin typeface="Calibri"/>
                <a:ea typeface="Calibri"/>
                <a:cs typeface="Calibri"/>
                <a:sym typeface="Calibri"/>
              </a:rPr>
              <a:t>. Do đó một function được coi là first-class function sẽ có các tính chất như sau:</a:t>
            </a:r>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Có thể đóng vai trò như </a:t>
            </a:r>
            <a:r>
              <a:rPr lang="en-US" sz="2400">
                <a:solidFill>
                  <a:srgbClr val="FF0000"/>
                </a:solidFill>
                <a:latin typeface="Calibri"/>
                <a:ea typeface="Calibri"/>
                <a:cs typeface="Calibri"/>
                <a:sym typeface="Calibri"/>
              </a:rPr>
              <a:t>tham số </a:t>
            </a:r>
            <a:r>
              <a:rPr lang="en-US" sz="2400">
                <a:solidFill>
                  <a:schemeClr val="dk2"/>
                </a:solidFill>
                <a:latin typeface="Calibri"/>
                <a:ea typeface="Calibri"/>
                <a:cs typeface="Calibri"/>
                <a:sym typeface="Calibri"/>
              </a:rPr>
              <a:t>của một hàm</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Có thể đóng vai trò là </a:t>
            </a:r>
            <a:r>
              <a:rPr lang="en-US" sz="2400">
                <a:solidFill>
                  <a:srgbClr val="FF0000"/>
                </a:solidFill>
                <a:latin typeface="Calibri"/>
                <a:ea typeface="Calibri"/>
                <a:cs typeface="Calibri"/>
                <a:sym typeface="Calibri"/>
              </a:rPr>
              <a:t>giá trị trả về </a:t>
            </a:r>
            <a:r>
              <a:rPr lang="en-US" sz="2400">
                <a:solidFill>
                  <a:schemeClr val="dk2"/>
                </a:solidFill>
                <a:latin typeface="Calibri"/>
                <a:ea typeface="Calibri"/>
                <a:cs typeface="Calibri"/>
                <a:sym typeface="Calibri"/>
              </a:rPr>
              <a:t>từ một hàm</a:t>
            </a:r>
            <a:endParaRPr sz="24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Có thể </a:t>
            </a:r>
            <a:r>
              <a:rPr lang="en-US" sz="2400">
                <a:solidFill>
                  <a:srgbClr val="FF0000"/>
                </a:solidFill>
                <a:latin typeface="Calibri"/>
                <a:ea typeface="Calibri"/>
                <a:cs typeface="Calibri"/>
                <a:sym typeface="Calibri"/>
              </a:rPr>
              <a:t>gán cho một biến</a:t>
            </a:r>
            <a:endParaRPr sz="2400">
              <a:solidFill>
                <a:srgbClr val="FF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39" name="Google Shape;439;p3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40" name="Google Shape;440;p31"/>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441" name="Google Shape;441;p3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42" name="Google Shape;442;p3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 name="Google Shape;443;p31"/>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44" name="Google Shape;444;p31"/>
          <p:cNvSpPr txBox="1"/>
          <p:nvPr/>
        </p:nvSpPr>
        <p:spPr>
          <a:xfrm>
            <a:off x="685800" y="1559911"/>
            <a:ext cx="79248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Higher-order Function</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Một function được coi là </a:t>
            </a:r>
            <a:r>
              <a:rPr lang="en-US" sz="2400">
                <a:solidFill>
                  <a:srgbClr val="FF0000"/>
                </a:solidFill>
                <a:latin typeface="Calibri"/>
                <a:ea typeface="Calibri"/>
                <a:cs typeface="Calibri"/>
                <a:sym typeface="Calibri"/>
              </a:rPr>
              <a:t>higher-order function </a:t>
            </a:r>
            <a:r>
              <a:rPr lang="en-US" sz="2400">
                <a:solidFill>
                  <a:schemeClr val="dk2"/>
                </a:solidFill>
                <a:latin typeface="Calibri"/>
                <a:ea typeface="Calibri"/>
                <a:cs typeface="Calibri"/>
                <a:sym typeface="Calibri"/>
              </a:rPr>
              <a:t>khi nó nhận function khác làm tham số hoặc return ra function, hoặc cả hai.</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32"/>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50" name="Google Shape;450;p3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51" name="Google Shape;451;p32"/>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452" name="Google Shape;452;p3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53" name="Google Shape;453;p3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4" name="Google Shape;454;p32"/>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55" name="Google Shape;455;p32"/>
          <p:cNvSpPr txBox="1"/>
          <p:nvPr/>
        </p:nvSpPr>
        <p:spPr>
          <a:xfrm>
            <a:off x="685800" y="1559911"/>
            <a:ext cx="79248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Closures</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Cho ví dụ sau:</a:t>
            </a:r>
            <a:endParaRPr/>
          </a:p>
        </p:txBody>
      </p:sp>
      <p:pic>
        <p:nvPicPr>
          <p:cNvPr id="456" name="Google Shape;456;p32"/>
          <p:cNvPicPr preferRelativeResize="0"/>
          <p:nvPr/>
        </p:nvPicPr>
        <p:blipFill rotWithShape="1">
          <a:blip r:embed="rId4">
            <a:alphaModFix/>
          </a:blip>
          <a:srcRect b="0" l="0" r="0" t="0"/>
          <a:stretch/>
        </p:blipFill>
        <p:spPr>
          <a:xfrm>
            <a:off x="685800" y="3142245"/>
            <a:ext cx="5210175" cy="25717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3"/>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62" name="Google Shape;462;p3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63" name="Google Shape;463;p33"/>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464" name="Google Shape;464;p3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65" name="Google Shape;465;p3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6" name="Google Shape;466;p33"/>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67" name="Google Shape;467;p33"/>
          <p:cNvSpPr txBox="1"/>
          <p:nvPr/>
        </p:nvSpPr>
        <p:spPr>
          <a:xfrm>
            <a:off x="685800" y="1559911"/>
            <a:ext cx="79248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Closures</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rPr lang="en-US" sz="2400">
                <a:solidFill>
                  <a:schemeClr val="dk2"/>
                </a:solidFill>
                <a:latin typeface="Calibri"/>
                <a:ea typeface="Calibri"/>
                <a:cs typeface="Calibri"/>
                <a:sym typeface="Calibri"/>
              </a:rPr>
              <a:t>Chúng ta sẽ có các scope như hình:</a:t>
            </a:r>
            <a:endParaRPr/>
          </a:p>
        </p:txBody>
      </p:sp>
      <p:pic>
        <p:nvPicPr>
          <p:cNvPr id="468" name="Google Shape;468;p33"/>
          <p:cNvPicPr preferRelativeResize="0"/>
          <p:nvPr/>
        </p:nvPicPr>
        <p:blipFill rotWithShape="1">
          <a:blip r:embed="rId4">
            <a:alphaModFix/>
          </a:blip>
          <a:srcRect b="0" l="0" r="0" t="0"/>
          <a:stretch/>
        </p:blipFill>
        <p:spPr>
          <a:xfrm>
            <a:off x="5421519" y="1056620"/>
            <a:ext cx="3341478" cy="4724400"/>
          </a:xfrm>
          <a:prstGeom prst="rect">
            <a:avLst/>
          </a:prstGeom>
          <a:noFill/>
          <a:ln>
            <a:noFill/>
          </a:ln>
        </p:spPr>
      </p:pic>
      <p:sp>
        <p:nvSpPr>
          <p:cNvPr id="469" name="Google Shape;469;p33"/>
          <p:cNvSpPr txBox="1"/>
          <p:nvPr/>
        </p:nvSpPr>
        <p:spPr>
          <a:xfrm>
            <a:off x="685800" y="2932838"/>
            <a:ext cx="4343400"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2"/>
                </a:solidFill>
                <a:latin typeface="Calibri"/>
                <a:ea typeface="Calibri"/>
                <a:cs typeface="Calibri"/>
                <a:sym typeface="Calibri"/>
              </a:rPr>
              <a:t>Biến </a:t>
            </a:r>
            <a:r>
              <a:rPr lang="en-US" sz="1800">
                <a:solidFill>
                  <a:srgbClr val="FF0000"/>
                </a:solidFill>
                <a:latin typeface="Calibri"/>
                <a:ea typeface="Calibri"/>
                <a:cs typeface="Calibri"/>
                <a:sym typeface="Calibri"/>
              </a:rPr>
              <a:t>passengerCount</a:t>
            </a:r>
            <a:r>
              <a:rPr lang="en-US" sz="1800">
                <a:solidFill>
                  <a:schemeClr val="dk2"/>
                </a:solidFill>
                <a:latin typeface="Calibri"/>
                <a:ea typeface="Calibri"/>
                <a:cs typeface="Calibri"/>
                <a:sym typeface="Calibri"/>
              </a:rPr>
              <a:t> có scope (phạm vi) nằm trong function </a:t>
            </a:r>
            <a:r>
              <a:rPr lang="en-US" sz="1800">
                <a:solidFill>
                  <a:srgbClr val="FF0000"/>
                </a:solidFill>
                <a:latin typeface="Calibri"/>
                <a:ea typeface="Calibri"/>
                <a:cs typeface="Calibri"/>
                <a:sym typeface="Calibri"/>
              </a:rPr>
              <a:t>secureBooking()</a:t>
            </a:r>
            <a:r>
              <a:rPr lang="en-US" sz="1800">
                <a:solidFill>
                  <a:schemeClr val="dk2"/>
                </a:solidFill>
                <a:latin typeface="Calibri"/>
                <a:ea typeface="Calibri"/>
                <a:cs typeface="Calibri"/>
                <a:sym typeface="Calibri"/>
              </a:rPr>
              <a:t>.</a:t>
            </a:r>
            <a:endParaRPr/>
          </a:p>
          <a:p>
            <a:pPr indent="0" lvl="0" marL="0" marR="0" rtl="0" algn="l">
              <a:spcBef>
                <a:spcPts val="0"/>
              </a:spcBef>
              <a:spcAft>
                <a:spcPts val="0"/>
              </a:spcAft>
              <a:buNone/>
            </a:pPr>
            <a:r>
              <a:rPr lang="en-US" sz="1800">
                <a:solidFill>
                  <a:schemeClr val="dk2"/>
                </a:solidFill>
                <a:latin typeface="Calibri"/>
                <a:ea typeface="Calibri"/>
                <a:cs typeface="Calibri"/>
                <a:sym typeface="Calibri"/>
              </a:rPr>
              <a:t>Nó sẽ </a:t>
            </a:r>
            <a:r>
              <a:rPr lang="en-US" sz="1800">
                <a:solidFill>
                  <a:srgbClr val="FF0000"/>
                </a:solidFill>
                <a:latin typeface="Calibri"/>
                <a:ea typeface="Calibri"/>
                <a:cs typeface="Calibri"/>
                <a:sym typeface="Calibri"/>
              </a:rPr>
              <a:t>được khởi tạo</a:t>
            </a:r>
            <a:r>
              <a:rPr lang="en-US" sz="1800">
                <a:solidFill>
                  <a:schemeClr val="dk2"/>
                </a:solidFill>
                <a:latin typeface="Calibri"/>
                <a:ea typeface="Calibri"/>
                <a:cs typeface="Calibri"/>
                <a:sym typeface="Calibri"/>
              </a:rPr>
              <a:t> mỗi khi chúng ta gọi hàm secureBooking().</a:t>
            </a:r>
            <a:endParaRPr/>
          </a:p>
          <a:p>
            <a:pPr indent="0" lvl="0" marL="0" marR="0" rtl="0" algn="l">
              <a:spcBef>
                <a:spcPts val="0"/>
              </a:spcBef>
              <a:spcAft>
                <a:spcPts val="0"/>
              </a:spcAft>
              <a:buNone/>
            </a:pPr>
            <a:r>
              <a:t/>
            </a:r>
            <a:endParaRPr sz="1800">
              <a:solidFill>
                <a:schemeClr val="dk2"/>
              </a:solidFill>
              <a:latin typeface="Calibri"/>
              <a:ea typeface="Calibri"/>
              <a:cs typeface="Calibri"/>
              <a:sym typeface="Calibri"/>
            </a:endParaRPr>
          </a:p>
          <a:p>
            <a:pPr indent="0" lvl="0" marL="0" marR="0" rtl="0" algn="l">
              <a:spcBef>
                <a:spcPts val="0"/>
              </a:spcBef>
              <a:spcAft>
                <a:spcPts val="0"/>
              </a:spcAft>
              <a:buNone/>
            </a:pPr>
            <a:r>
              <a:rPr lang="en-US" sz="1800">
                <a:solidFill>
                  <a:schemeClr val="dk2"/>
                </a:solidFill>
                <a:latin typeface="Calibri"/>
                <a:ea typeface="Calibri"/>
                <a:cs typeface="Calibri"/>
                <a:sym typeface="Calibri"/>
              </a:rPr>
              <a:t>Và với </a:t>
            </a:r>
            <a:r>
              <a:rPr lang="en-US" sz="1800">
                <a:solidFill>
                  <a:srgbClr val="FF0000"/>
                </a:solidFill>
                <a:latin typeface="Calibri"/>
                <a:ea typeface="Calibri"/>
                <a:cs typeface="Calibri"/>
                <a:sym typeface="Calibri"/>
              </a:rPr>
              <a:t>lexical scope </a:t>
            </a:r>
            <a:r>
              <a:rPr lang="en-US" sz="1800">
                <a:solidFill>
                  <a:schemeClr val="dk2"/>
                </a:solidFill>
                <a:latin typeface="Calibri"/>
                <a:ea typeface="Calibri"/>
                <a:cs typeface="Calibri"/>
                <a:sym typeface="Calibri"/>
              </a:rPr>
              <a:t>chúng ta đã nói đến trong Function scope thì </a:t>
            </a:r>
            <a:r>
              <a:rPr lang="en-US" sz="1800">
                <a:solidFill>
                  <a:srgbClr val="FF0000"/>
                </a:solidFill>
                <a:latin typeface="Calibri"/>
                <a:ea typeface="Calibri"/>
                <a:cs typeface="Calibri"/>
                <a:sym typeface="Calibri"/>
              </a:rPr>
              <a:t>function mà return</a:t>
            </a:r>
            <a:r>
              <a:rPr lang="en-US" sz="1800">
                <a:solidFill>
                  <a:schemeClr val="dk2"/>
                </a:solidFill>
                <a:latin typeface="Calibri"/>
                <a:ea typeface="Calibri"/>
                <a:cs typeface="Calibri"/>
                <a:sym typeface="Calibri"/>
              </a:rPr>
              <a:t> từ </a:t>
            </a:r>
            <a:r>
              <a:rPr lang="en-US" sz="1800">
                <a:solidFill>
                  <a:srgbClr val="FF0000"/>
                </a:solidFill>
                <a:latin typeface="Calibri"/>
                <a:ea typeface="Calibri"/>
                <a:cs typeface="Calibri"/>
                <a:sym typeface="Calibri"/>
              </a:rPr>
              <a:t>secureBooking() </a:t>
            </a:r>
            <a:r>
              <a:rPr lang="en-US" sz="1800">
                <a:solidFill>
                  <a:schemeClr val="dk2"/>
                </a:solidFill>
                <a:latin typeface="Calibri"/>
                <a:ea typeface="Calibri"/>
                <a:cs typeface="Calibri"/>
                <a:sym typeface="Calibri"/>
              </a:rPr>
              <a:t>được phép truy cập đến </a:t>
            </a:r>
            <a:r>
              <a:rPr lang="en-US" sz="1800">
                <a:solidFill>
                  <a:srgbClr val="FF0000"/>
                </a:solidFill>
                <a:latin typeface="Calibri"/>
                <a:ea typeface="Calibri"/>
                <a:cs typeface="Calibri"/>
                <a:sym typeface="Calibri"/>
              </a:rPr>
              <a:t>passegerCount</a:t>
            </a:r>
            <a:r>
              <a:rPr lang="en-US" sz="1800">
                <a:solidFill>
                  <a:schemeClr val="dk2"/>
                </a:solidFill>
                <a:latin typeface="Calibri"/>
                <a:ea typeface="Calibri"/>
                <a:cs typeface="Calibri"/>
                <a:sym typeface="Calibri"/>
              </a:rPr>
              <a:t> vì cả hai nằm trong </a:t>
            </a:r>
            <a:r>
              <a:rPr lang="en-US" sz="1800">
                <a:solidFill>
                  <a:srgbClr val="FF0000"/>
                </a:solidFill>
                <a:latin typeface="Calibri"/>
                <a:ea typeface="Calibri"/>
                <a:cs typeface="Calibri"/>
                <a:sym typeface="Calibri"/>
              </a:rPr>
              <a:t>cùng một scope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4"/>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75" name="Google Shape;475;p3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76" name="Google Shape;476;p34"/>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477" name="Google Shape;477;p3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78" name="Google Shape;478;p3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9" name="Google Shape;479;p34"/>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80" name="Google Shape;480;p34"/>
          <p:cNvSpPr txBox="1"/>
          <p:nvPr/>
        </p:nvSpPr>
        <p:spPr>
          <a:xfrm>
            <a:off x="685800" y="1559911"/>
            <a:ext cx="79248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Closures</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p:txBody>
      </p:sp>
      <p:pic>
        <p:nvPicPr>
          <p:cNvPr id="481" name="Google Shape;481;p34"/>
          <p:cNvPicPr preferRelativeResize="0"/>
          <p:nvPr/>
        </p:nvPicPr>
        <p:blipFill rotWithShape="1">
          <a:blip r:embed="rId4">
            <a:alphaModFix/>
          </a:blip>
          <a:srcRect b="0" l="0" r="0" t="0"/>
          <a:stretch/>
        </p:blipFill>
        <p:spPr>
          <a:xfrm>
            <a:off x="3838572" y="2212443"/>
            <a:ext cx="4924425" cy="3009900"/>
          </a:xfrm>
          <a:prstGeom prst="rect">
            <a:avLst/>
          </a:prstGeom>
          <a:noFill/>
          <a:ln>
            <a:noFill/>
          </a:ln>
        </p:spPr>
      </p:pic>
      <p:sp>
        <p:nvSpPr>
          <p:cNvPr id="482" name="Google Shape;482;p34"/>
          <p:cNvSpPr txBox="1"/>
          <p:nvPr/>
        </p:nvSpPr>
        <p:spPr>
          <a:xfrm>
            <a:off x="685800" y="2305050"/>
            <a:ext cx="2895600" cy="31700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Gọi </a:t>
            </a:r>
            <a:r>
              <a:rPr lang="en-US" sz="2000">
                <a:solidFill>
                  <a:srgbClr val="FF0000"/>
                </a:solidFill>
                <a:latin typeface="Calibri"/>
                <a:ea typeface="Calibri"/>
                <a:cs typeface="Calibri"/>
                <a:sym typeface="Calibri"/>
              </a:rPr>
              <a:t>sercureBooking() </a:t>
            </a:r>
            <a:r>
              <a:rPr lang="en-US" sz="2000">
                <a:solidFill>
                  <a:schemeClr val="dk2"/>
                </a:solidFill>
                <a:latin typeface="Calibri"/>
                <a:ea typeface="Calibri"/>
                <a:cs typeface="Calibri"/>
                <a:sym typeface="Calibri"/>
              </a:rPr>
              <a:t>ta nhận được kết quả giống nhau của </a:t>
            </a:r>
            <a:r>
              <a:rPr lang="en-US" sz="2000">
                <a:solidFill>
                  <a:srgbClr val="FF0000"/>
                </a:solidFill>
                <a:latin typeface="Calibri"/>
                <a:ea typeface="Calibri"/>
                <a:cs typeface="Calibri"/>
                <a:sym typeface="Calibri"/>
              </a:rPr>
              <a:t>passengerCount</a:t>
            </a:r>
            <a:r>
              <a:rPr lang="en-US" sz="2000">
                <a:solidFill>
                  <a:schemeClr val="dk2"/>
                </a:solidFill>
                <a:latin typeface="Calibri"/>
                <a:ea typeface="Calibri"/>
                <a:cs typeface="Calibri"/>
                <a:sym typeface="Calibri"/>
              </a:rPr>
              <a:t> bằng 1 và là như nhau ở mỗi lần gọi hàm.</a:t>
            </a:r>
            <a:endParaRPr/>
          </a:p>
          <a:p>
            <a:pPr indent="0" lvl="0" marL="0" marR="0" rtl="0" algn="l">
              <a:spcBef>
                <a:spcPts val="0"/>
              </a:spcBef>
              <a:spcAft>
                <a:spcPts val="0"/>
              </a:spcAft>
              <a:buNone/>
            </a:pPr>
            <a:r>
              <a:t/>
            </a:r>
            <a:endParaRPr sz="2000">
              <a:solidFill>
                <a:schemeClr val="dk2"/>
              </a:solidFill>
              <a:latin typeface="Calibri"/>
              <a:ea typeface="Calibri"/>
              <a:cs typeface="Calibri"/>
              <a:sym typeface="Calibri"/>
            </a:endParaRPr>
          </a:p>
          <a:p>
            <a:pPr indent="0" lvl="0" marL="0" marR="0" rtl="0" algn="l">
              <a:spcBef>
                <a:spcPts val="0"/>
              </a:spcBef>
              <a:spcAft>
                <a:spcPts val="0"/>
              </a:spcAft>
              <a:buNone/>
            </a:pPr>
            <a:r>
              <a:rPr lang="en-US" sz="2000">
                <a:solidFill>
                  <a:schemeClr val="dk2"/>
                </a:solidFill>
                <a:latin typeface="Calibri"/>
                <a:ea typeface="Calibri"/>
                <a:cs typeface="Calibri"/>
                <a:sym typeface="Calibri"/>
              </a:rPr>
              <a:t>passengerCount được </a:t>
            </a:r>
            <a:r>
              <a:rPr lang="en-US" sz="2000">
                <a:solidFill>
                  <a:srgbClr val="FF0000"/>
                </a:solidFill>
                <a:latin typeface="Calibri"/>
                <a:ea typeface="Calibri"/>
                <a:cs typeface="Calibri"/>
                <a:sym typeface="Calibri"/>
              </a:rPr>
              <a:t>khởi tạo </a:t>
            </a:r>
            <a:r>
              <a:rPr lang="en-US" sz="2000">
                <a:solidFill>
                  <a:schemeClr val="dk2"/>
                </a:solidFill>
                <a:latin typeface="Calibri"/>
                <a:ea typeface="Calibri"/>
                <a:cs typeface="Calibri"/>
                <a:sym typeface="Calibri"/>
              </a:rPr>
              <a:t>khi gọi hàm và được </a:t>
            </a:r>
            <a:r>
              <a:rPr lang="en-US" sz="2000">
                <a:solidFill>
                  <a:srgbClr val="FF0000"/>
                </a:solidFill>
                <a:latin typeface="Calibri"/>
                <a:ea typeface="Calibri"/>
                <a:cs typeface="Calibri"/>
                <a:sym typeface="Calibri"/>
              </a:rPr>
              <a:t>giải phóng </a:t>
            </a:r>
            <a:r>
              <a:rPr lang="en-US" sz="2000">
                <a:solidFill>
                  <a:schemeClr val="dk2"/>
                </a:solidFill>
                <a:latin typeface="Calibri"/>
                <a:ea typeface="Calibri"/>
                <a:cs typeface="Calibri"/>
                <a:sym typeface="Calibri"/>
              </a:rPr>
              <a:t>khi hàm thực thi xong.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5"/>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88" name="Google Shape;488;p3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489" name="Google Shape;489;p35"/>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490" name="Google Shape;490;p3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91" name="Google Shape;491;p3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2" name="Google Shape;492;p35"/>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493" name="Google Shape;493;p35"/>
          <p:cNvSpPr txBox="1"/>
          <p:nvPr/>
        </p:nvSpPr>
        <p:spPr>
          <a:xfrm>
            <a:off x="685800" y="1559911"/>
            <a:ext cx="79248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Closures</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p:txBody>
      </p:sp>
      <p:sp>
        <p:nvSpPr>
          <p:cNvPr id="494" name="Google Shape;494;p35"/>
          <p:cNvSpPr txBox="1"/>
          <p:nvPr/>
        </p:nvSpPr>
        <p:spPr>
          <a:xfrm>
            <a:off x="685800" y="2305050"/>
            <a:ext cx="2895600" cy="31700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Calibri"/>
                <a:ea typeface="Calibri"/>
                <a:cs typeface="Calibri"/>
                <a:sym typeface="Calibri"/>
              </a:rPr>
              <a:t>booker</a:t>
            </a:r>
            <a:r>
              <a:rPr lang="en-US" sz="2000">
                <a:solidFill>
                  <a:schemeClr val="dk2"/>
                </a:solidFill>
                <a:latin typeface="Calibri"/>
                <a:ea typeface="Calibri"/>
                <a:cs typeface="Calibri"/>
                <a:sym typeface="Calibri"/>
              </a:rPr>
              <a:t> là một </a:t>
            </a:r>
            <a:r>
              <a:rPr lang="en-US" sz="2000">
                <a:solidFill>
                  <a:srgbClr val="FF0000"/>
                </a:solidFill>
                <a:latin typeface="Calibri"/>
                <a:ea typeface="Calibri"/>
                <a:cs typeface="Calibri"/>
                <a:sym typeface="Calibri"/>
              </a:rPr>
              <a:t>function</a:t>
            </a:r>
            <a:r>
              <a:rPr lang="en-US" sz="2000">
                <a:solidFill>
                  <a:schemeClr val="dk2"/>
                </a:solidFill>
                <a:latin typeface="Calibri"/>
                <a:ea typeface="Calibri"/>
                <a:cs typeface="Calibri"/>
                <a:sym typeface="Calibri"/>
              </a:rPr>
              <a:t> do secureBooking() trả về.</a:t>
            </a:r>
            <a:endParaRPr/>
          </a:p>
          <a:p>
            <a:pPr indent="0" lvl="0" marL="0" marR="0" rtl="0" algn="l">
              <a:spcBef>
                <a:spcPts val="0"/>
              </a:spcBef>
              <a:spcAft>
                <a:spcPts val="0"/>
              </a:spcAft>
              <a:buNone/>
            </a:pPr>
            <a:r>
              <a:t/>
            </a:r>
            <a:endParaRPr sz="2000">
              <a:solidFill>
                <a:schemeClr val="dk2"/>
              </a:solidFill>
              <a:latin typeface="Calibri"/>
              <a:ea typeface="Calibri"/>
              <a:cs typeface="Calibri"/>
              <a:sym typeface="Calibri"/>
            </a:endParaRPr>
          </a:p>
          <a:p>
            <a:pPr indent="0" lvl="0" marL="0" marR="0" rtl="0" algn="l">
              <a:spcBef>
                <a:spcPts val="0"/>
              </a:spcBef>
              <a:spcAft>
                <a:spcPts val="0"/>
              </a:spcAft>
              <a:buNone/>
            </a:pPr>
            <a:r>
              <a:rPr lang="en-US" sz="2000">
                <a:solidFill>
                  <a:srgbClr val="FF0000"/>
                </a:solidFill>
                <a:latin typeface="Calibri"/>
                <a:ea typeface="Calibri"/>
                <a:cs typeface="Calibri"/>
                <a:sym typeface="Calibri"/>
              </a:rPr>
              <a:t>booker</a:t>
            </a:r>
            <a:r>
              <a:rPr lang="en-US" sz="2000">
                <a:solidFill>
                  <a:schemeClr val="dk2"/>
                </a:solidFill>
                <a:latin typeface="Calibri"/>
                <a:ea typeface="Calibri"/>
                <a:cs typeface="Calibri"/>
                <a:sym typeface="Calibri"/>
              </a:rPr>
              <a:t> có scope là </a:t>
            </a:r>
            <a:r>
              <a:rPr lang="en-US" sz="2000">
                <a:solidFill>
                  <a:srgbClr val="FF0000"/>
                </a:solidFill>
                <a:latin typeface="Calibri"/>
                <a:ea typeface="Calibri"/>
                <a:cs typeface="Calibri"/>
                <a:sym typeface="Calibri"/>
              </a:rPr>
              <a:t>global</a:t>
            </a:r>
            <a:r>
              <a:rPr lang="en-US" sz="2000">
                <a:solidFill>
                  <a:schemeClr val="dk2"/>
                </a:solidFill>
                <a:latin typeface="Calibri"/>
                <a:ea typeface="Calibri"/>
                <a:cs typeface="Calibri"/>
                <a:sym typeface="Calibri"/>
              </a:rPr>
              <a:t> nhưng vẫn </a:t>
            </a:r>
            <a:r>
              <a:rPr lang="en-US" sz="2000">
                <a:solidFill>
                  <a:srgbClr val="FF0000"/>
                </a:solidFill>
                <a:latin typeface="Calibri"/>
                <a:ea typeface="Calibri"/>
                <a:cs typeface="Calibri"/>
                <a:sym typeface="Calibri"/>
              </a:rPr>
              <a:t>truy cập</a:t>
            </a:r>
            <a:r>
              <a:rPr lang="en-US" sz="2000">
                <a:solidFill>
                  <a:schemeClr val="dk2"/>
                </a:solidFill>
                <a:latin typeface="Calibri"/>
                <a:ea typeface="Calibri"/>
                <a:cs typeface="Calibri"/>
                <a:sym typeface="Calibri"/>
              </a:rPr>
              <a:t> được passengerCount</a:t>
            </a:r>
            <a:endParaRPr sz="20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2"/>
              </a:solidFill>
              <a:latin typeface="Calibri"/>
              <a:ea typeface="Calibri"/>
              <a:cs typeface="Calibri"/>
              <a:sym typeface="Calibri"/>
            </a:endParaRPr>
          </a:p>
          <a:p>
            <a:pPr indent="0" lvl="0" marL="0" marR="0" rtl="0" algn="l">
              <a:spcBef>
                <a:spcPts val="0"/>
              </a:spcBef>
              <a:spcAft>
                <a:spcPts val="0"/>
              </a:spcAft>
              <a:buNone/>
            </a:pPr>
            <a:r>
              <a:rPr lang="en-US" sz="2000">
                <a:solidFill>
                  <a:schemeClr val="dk2"/>
                </a:solidFill>
                <a:latin typeface="Calibri"/>
                <a:ea typeface="Calibri"/>
                <a:cs typeface="Calibri"/>
                <a:sym typeface="Calibri"/>
              </a:rPr>
              <a:t>passengerCount </a:t>
            </a:r>
            <a:r>
              <a:rPr lang="en-US" sz="2000">
                <a:solidFill>
                  <a:srgbClr val="FF0000"/>
                </a:solidFill>
                <a:latin typeface="Calibri"/>
                <a:ea typeface="Calibri"/>
                <a:cs typeface="Calibri"/>
                <a:sym typeface="Calibri"/>
              </a:rPr>
              <a:t>không bị giải phóng</a:t>
            </a:r>
            <a:r>
              <a:rPr lang="en-US" sz="2000">
                <a:solidFill>
                  <a:schemeClr val="dk2"/>
                </a:solidFill>
                <a:latin typeface="Calibri"/>
                <a:ea typeface="Calibri"/>
                <a:cs typeface="Calibri"/>
                <a:sym typeface="Calibri"/>
              </a:rPr>
              <a:t> mà tiếp tục được sử dụng </a:t>
            </a:r>
            <a:endParaRPr/>
          </a:p>
        </p:txBody>
      </p:sp>
      <p:pic>
        <p:nvPicPr>
          <p:cNvPr id="495" name="Google Shape;495;p35"/>
          <p:cNvPicPr preferRelativeResize="0"/>
          <p:nvPr/>
        </p:nvPicPr>
        <p:blipFill rotWithShape="1">
          <a:blip r:embed="rId4">
            <a:alphaModFix/>
          </a:blip>
          <a:srcRect b="0" l="0" r="0" t="0"/>
          <a:stretch/>
        </p:blipFill>
        <p:spPr>
          <a:xfrm>
            <a:off x="3867147" y="1821958"/>
            <a:ext cx="4895850" cy="3695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6"/>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01" name="Google Shape;501;p3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502" name="Google Shape;502;p36"/>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Function</a:t>
            </a:r>
            <a:endParaRPr/>
          </a:p>
        </p:txBody>
      </p:sp>
      <p:pic>
        <p:nvPicPr>
          <p:cNvPr id="503" name="Google Shape;503;p3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504" name="Google Shape;504;p3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5" name="Google Shape;505;p36"/>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506" name="Google Shape;506;p36"/>
          <p:cNvSpPr txBox="1"/>
          <p:nvPr/>
        </p:nvSpPr>
        <p:spPr>
          <a:xfrm>
            <a:off x="685800" y="1559911"/>
            <a:ext cx="79248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Closures</a:t>
            </a:r>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p:txBody>
      </p:sp>
      <p:sp>
        <p:nvSpPr>
          <p:cNvPr id="507" name="Google Shape;507;p36"/>
          <p:cNvSpPr txBox="1"/>
          <p:nvPr/>
        </p:nvSpPr>
        <p:spPr>
          <a:xfrm>
            <a:off x="685800" y="2305050"/>
            <a:ext cx="7924800"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a:solidFill>
                  <a:srgbClr val="4C6280"/>
                </a:solidFill>
                <a:latin typeface="Nunito"/>
                <a:ea typeface="Nunito"/>
                <a:cs typeface="Nunito"/>
                <a:sym typeface="Nunito"/>
              </a:rPr>
              <a:t>“</a:t>
            </a:r>
            <a:r>
              <a:rPr b="0" i="1" lang="en-US" sz="2000">
                <a:solidFill>
                  <a:srgbClr val="FF0000"/>
                </a:solidFill>
                <a:latin typeface="Nunito"/>
                <a:ea typeface="Nunito"/>
                <a:cs typeface="Nunito"/>
                <a:sym typeface="Nunito"/>
              </a:rPr>
              <a:t>Closure là một chức năng có quyền truy cập vào phạm vi cha, ngay cả sau khi scope đã đóng</a:t>
            </a:r>
            <a:r>
              <a:rPr b="0" i="1" lang="en-US" sz="2000">
                <a:solidFill>
                  <a:srgbClr val="4C6280"/>
                </a:solidFill>
                <a:latin typeface="Nunito"/>
                <a:ea typeface="Nunito"/>
                <a:cs typeface="Nunito"/>
                <a:sym typeface="Nunito"/>
              </a:rPr>
              <a:t>.”</a:t>
            </a:r>
            <a:endParaRPr/>
          </a:p>
          <a:p>
            <a:pPr indent="0" lvl="0" marL="0" marR="0" rtl="0" algn="l">
              <a:spcBef>
                <a:spcPts val="0"/>
              </a:spcBef>
              <a:spcAft>
                <a:spcPts val="0"/>
              </a:spcAft>
              <a:buNone/>
            </a:pPr>
            <a:r>
              <a:t/>
            </a:r>
            <a:endParaRPr i="1" sz="2000">
              <a:solidFill>
                <a:srgbClr val="4C6280"/>
              </a:solidFill>
              <a:latin typeface="Nunito"/>
              <a:ea typeface="Nunito"/>
              <a:cs typeface="Nunito"/>
              <a:sym typeface="Nunito"/>
            </a:endParaRPr>
          </a:p>
          <a:p>
            <a:pPr indent="0" lvl="0" marL="0" marR="0" rtl="0" algn="l">
              <a:spcBef>
                <a:spcPts val="0"/>
              </a:spcBef>
              <a:spcAft>
                <a:spcPts val="0"/>
              </a:spcAft>
              <a:buNone/>
            </a:pPr>
            <a:r>
              <a:rPr i="1" lang="en-US" sz="2000">
                <a:solidFill>
                  <a:srgbClr val="4C6280"/>
                </a:solidFill>
                <a:latin typeface="Nunito"/>
                <a:ea typeface="Nunito"/>
                <a:cs typeface="Nunito"/>
                <a:sym typeface="Nunito"/>
              </a:rPr>
              <a:t>Và Closure sở hữu 3 scope sau:</a:t>
            </a:r>
            <a:endParaRPr/>
          </a:p>
          <a:p>
            <a:pPr indent="-342900" lvl="0" marL="342900" marR="0" rtl="0" algn="l">
              <a:spcBef>
                <a:spcPts val="0"/>
              </a:spcBef>
              <a:spcAft>
                <a:spcPts val="0"/>
              </a:spcAft>
              <a:buClr>
                <a:srgbClr val="4C6280"/>
              </a:buClr>
              <a:buSzPts val="2000"/>
              <a:buFont typeface="Arial"/>
              <a:buChar char="•"/>
            </a:pPr>
            <a:r>
              <a:rPr i="1" lang="en-US" sz="2000">
                <a:solidFill>
                  <a:srgbClr val="4C6280"/>
                </a:solidFill>
                <a:latin typeface="Nunito"/>
                <a:ea typeface="Nunito"/>
                <a:cs typeface="Nunito"/>
                <a:sym typeface="Nunito"/>
              </a:rPr>
              <a:t>Local scope (Own scope)</a:t>
            </a:r>
            <a:endParaRPr/>
          </a:p>
          <a:p>
            <a:pPr indent="-342900" lvl="0" marL="342900" marR="0" rtl="0" algn="l">
              <a:spcBef>
                <a:spcPts val="0"/>
              </a:spcBef>
              <a:spcAft>
                <a:spcPts val="0"/>
              </a:spcAft>
              <a:buClr>
                <a:srgbClr val="4C6280"/>
              </a:buClr>
              <a:buSzPts val="2000"/>
              <a:buFont typeface="Arial"/>
              <a:buChar char="•"/>
            </a:pPr>
            <a:r>
              <a:rPr i="1" lang="en-US" sz="2000">
                <a:solidFill>
                  <a:srgbClr val="4C6280"/>
                </a:solidFill>
                <a:latin typeface="Nunito"/>
                <a:ea typeface="Nunito"/>
                <a:cs typeface="Nunito"/>
                <a:sym typeface="Nunito"/>
              </a:rPr>
              <a:t>Outer functions Scope</a:t>
            </a:r>
            <a:endParaRPr/>
          </a:p>
          <a:p>
            <a:pPr indent="-342900" lvl="0" marL="342900" marR="0" rtl="0" algn="l">
              <a:spcBef>
                <a:spcPts val="0"/>
              </a:spcBef>
              <a:spcAft>
                <a:spcPts val="0"/>
              </a:spcAft>
              <a:buClr>
                <a:srgbClr val="4C6280"/>
              </a:buClr>
              <a:buSzPts val="2000"/>
              <a:buFont typeface="Arial"/>
              <a:buChar char="•"/>
            </a:pPr>
            <a:r>
              <a:rPr i="1" lang="en-US" sz="2000">
                <a:solidFill>
                  <a:srgbClr val="4C6280"/>
                </a:solidFill>
                <a:latin typeface="Nunito"/>
                <a:ea typeface="Nunito"/>
                <a:cs typeface="Nunito"/>
                <a:sym typeface="Nunito"/>
              </a:rPr>
              <a:t>Global scope</a:t>
            </a:r>
            <a:endParaRPr sz="2000">
              <a:solidFill>
                <a:schemeClr val="dk2"/>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7"/>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13" name="Google Shape;513;p3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514" name="Google Shape;514;p37"/>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515" name="Google Shape;515;p3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516" name="Google Shape;516;p3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7" name="Google Shape;517;p37"/>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518" name="Google Shape;518;p37"/>
          <p:cNvSpPr txBox="1"/>
          <p:nvPr/>
        </p:nvSpPr>
        <p:spPr>
          <a:xfrm>
            <a:off x="685800" y="1559911"/>
            <a:ext cx="79248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Khái niệm</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2"/>
              </a:solidFill>
              <a:latin typeface="Calibri"/>
              <a:ea typeface="Calibri"/>
              <a:cs typeface="Calibri"/>
              <a:sym typeface="Calibri"/>
            </a:endParaRPr>
          </a:p>
        </p:txBody>
      </p:sp>
      <p:sp>
        <p:nvSpPr>
          <p:cNvPr id="519" name="Google Shape;519;p37"/>
          <p:cNvSpPr txBox="1"/>
          <p:nvPr/>
        </p:nvSpPr>
        <p:spPr>
          <a:xfrm>
            <a:off x="685800" y="2305050"/>
            <a:ext cx="79248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Object trong JavaScript có thể hiểu như những đối tượng thực tế trong đời thực được mô tả lại bằng code. Object bao gồm các thuộc tính &amp; phương thức.</a:t>
            </a:r>
            <a:endParaRPr/>
          </a:p>
        </p:txBody>
      </p:sp>
      <p:pic>
        <p:nvPicPr>
          <p:cNvPr id="520" name="Google Shape;520;p37"/>
          <p:cNvPicPr preferRelativeResize="0"/>
          <p:nvPr/>
        </p:nvPicPr>
        <p:blipFill rotWithShape="1">
          <a:blip r:embed="rId4">
            <a:alphaModFix/>
          </a:blip>
          <a:srcRect b="0" l="0" r="0" t="0"/>
          <a:stretch/>
        </p:blipFill>
        <p:spPr>
          <a:xfrm>
            <a:off x="762000" y="3435491"/>
            <a:ext cx="3995738" cy="258928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8"/>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26" name="Google Shape;526;p3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527" name="Google Shape;527;p38"/>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528" name="Google Shape;528;p3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529" name="Google Shape;529;p3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0" name="Google Shape;530;p38"/>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531" name="Google Shape;531;p38"/>
          <p:cNvSpPr txBox="1"/>
          <p:nvPr/>
        </p:nvSpPr>
        <p:spPr>
          <a:xfrm>
            <a:off x="685800" y="1559911"/>
            <a:ext cx="79248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Khởi tạo Object</a:t>
            </a:r>
            <a:endParaRPr/>
          </a:p>
        </p:txBody>
      </p:sp>
      <p:sp>
        <p:nvSpPr>
          <p:cNvPr id="532" name="Google Shape;532;p38"/>
          <p:cNvSpPr txBox="1"/>
          <p:nvPr/>
        </p:nvSpPr>
        <p:spPr>
          <a:xfrm>
            <a:off x="685800" y="2305050"/>
            <a:ext cx="7924800"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Để tạo ra một object trong JavaScript ta có thể dùng 3 cách:</a:t>
            </a:r>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Sử dụng ký tự {}</a:t>
            </a:r>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Sử dụng từ khóa new Object()</a:t>
            </a:r>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Sử dụng phương thức static của Object</a:t>
            </a:r>
            <a:endParaRPr sz="2000">
              <a:solidFill>
                <a:srgbClr val="FF0000"/>
              </a:solidFill>
              <a:latin typeface="Calibri"/>
              <a:ea typeface="Calibri"/>
              <a:cs typeface="Calibri"/>
              <a:sym typeface="Calibri"/>
            </a:endParaRPr>
          </a:p>
        </p:txBody>
      </p:sp>
      <p:pic>
        <p:nvPicPr>
          <p:cNvPr id="533" name="Google Shape;533;p38"/>
          <p:cNvPicPr preferRelativeResize="0"/>
          <p:nvPr/>
        </p:nvPicPr>
        <p:blipFill rotWithShape="1">
          <a:blip r:embed="rId4">
            <a:alphaModFix/>
          </a:blip>
          <a:srcRect b="0" l="0" r="0" t="0"/>
          <a:stretch/>
        </p:blipFill>
        <p:spPr>
          <a:xfrm>
            <a:off x="762000" y="3686175"/>
            <a:ext cx="3714750" cy="23336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9"/>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39" name="Google Shape;539;p3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540" name="Google Shape;540;p39"/>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541" name="Google Shape;541;p3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542" name="Google Shape;542;p3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3" name="Google Shape;543;p39"/>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544" name="Google Shape;544;p39"/>
          <p:cNvSpPr txBox="1"/>
          <p:nvPr/>
        </p:nvSpPr>
        <p:spPr>
          <a:xfrm>
            <a:off x="685800" y="1559911"/>
            <a:ext cx="79248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Thuộc tính trong Object (Object properties)</a:t>
            </a:r>
            <a:endParaRPr/>
          </a:p>
        </p:txBody>
      </p:sp>
      <p:sp>
        <p:nvSpPr>
          <p:cNvPr id="545" name="Google Shape;545;p39"/>
          <p:cNvSpPr txBox="1"/>
          <p:nvPr/>
        </p:nvSpPr>
        <p:spPr>
          <a:xfrm>
            <a:off x="685800" y="2305050"/>
            <a:ext cx="792480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Thuộc tính trong Object được biểu diễn bằng cặp giá trị </a:t>
            </a:r>
            <a:r>
              <a:rPr lang="en-US" sz="2000">
                <a:solidFill>
                  <a:srgbClr val="FF0000"/>
                </a:solidFill>
                <a:latin typeface="Calibri"/>
                <a:ea typeface="Calibri"/>
                <a:cs typeface="Calibri"/>
                <a:sym typeface="Calibri"/>
              </a:rPr>
              <a:t>key : value</a:t>
            </a:r>
            <a:r>
              <a:rPr lang="en-US" sz="2000">
                <a:solidFill>
                  <a:schemeClr val="dk2"/>
                </a:solidFill>
                <a:latin typeface="Calibri"/>
                <a:ea typeface="Calibri"/>
                <a:cs typeface="Calibri"/>
                <a:sym typeface="Calibri"/>
              </a:rPr>
              <a:t>.</a:t>
            </a:r>
            <a:endParaRPr/>
          </a:p>
          <a:p>
            <a:pPr indent="0" lvl="0" marL="0" marR="0" rtl="0" algn="l">
              <a:spcBef>
                <a:spcPts val="0"/>
              </a:spcBef>
              <a:spcAft>
                <a:spcPts val="0"/>
              </a:spcAft>
              <a:buNone/>
            </a:pPr>
            <a:r>
              <a:rPr lang="en-US" sz="2000">
                <a:solidFill>
                  <a:schemeClr val="dk2"/>
                </a:solidFill>
                <a:latin typeface="Calibri"/>
                <a:ea typeface="Calibri"/>
                <a:cs typeface="Calibri"/>
                <a:sym typeface="Calibri"/>
              </a:rPr>
              <a:t>Trong đó </a:t>
            </a:r>
            <a:r>
              <a:rPr lang="en-US" sz="2000">
                <a:solidFill>
                  <a:srgbClr val="FF0000"/>
                </a:solidFill>
                <a:latin typeface="Calibri"/>
                <a:ea typeface="Calibri"/>
                <a:cs typeface="Calibri"/>
                <a:sym typeface="Calibri"/>
              </a:rPr>
              <a:t>key </a:t>
            </a:r>
            <a:r>
              <a:rPr lang="en-US" sz="2000">
                <a:solidFill>
                  <a:schemeClr val="dk2"/>
                </a:solidFill>
                <a:latin typeface="Calibri"/>
                <a:ea typeface="Calibri"/>
                <a:cs typeface="Calibri"/>
                <a:sym typeface="Calibri"/>
              </a:rPr>
              <a:t>gọi là thuộc tính còn </a:t>
            </a:r>
            <a:r>
              <a:rPr lang="en-US" sz="2000">
                <a:solidFill>
                  <a:srgbClr val="FF0000"/>
                </a:solidFill>
                <a:latin typeface="Calibri"/>
                <a:ea typeface="Calibri"/>
                <a:cs typeface="Calibri"/>
                <a:sym typeface="Calibri"/>
              </a:rPr>
              <a:t>value</a:t>
            </a:r>
            <a:r>
              <a:rPr lang="en-US" sz="2000">
                <a:solidFill>
                  <a:schemeClr val="dk2"/>
                </a:solidFill>
                <a:latin typeface="Calibri"/>
                <a:ea typeface="Calibri"/>
                <a:cs typeface="Calibri"/>
                <a:sym typeface="Calibri"/>
              </a:rPr>
              <a:t> là giá trị tương ứng của thuộc tính</a:t>
            </a:r>
            <a:endParaRPr sz="2000">
              <a:solidFill>
                <a:srgbClr val="FF0000"/>
              </a:solidFill>
              <a:latin typeface="Calibri"/>
              <a:ea typeface="Calibri"/>
              <a:cs typeface="Calibri"/>
              <a:sym typeface="Calibri"/>
            </a:endParaRPr>
          </a:p>
        </p:txBody>
      </p:sp>
      <p:pic>
        <p:nvPicPr>
          <p:cNvPr id="546" name="Google Shape;546;p39"/>
          <p:cNvPicPr preferRelativeResize="0"/>
          <p:nvPr/>
        </p:nvPicPr>
        <p:blipFill rotWithShape="1">
          <a:blip r:embed="rId4">
            <a:alphaModFix/>
          </a:blip>
          <a:srcRect b="0" l="0" r="0" t="0"/>
          <a:stretch/>
        </p:blipFill>
        <p:spPr>
          <a:xfrm>
            <a:off x="762000" y="3206203"/>
            <a:ext cx="2686050" cy="17240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40"/>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52" name="Google Shape;552;p4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553" name="Google Shape;553;p40"/>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554" name="Google Shape;554;p4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555" name="Google Shape;555;p4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6" name="Google Shape;556;p40"/>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557" name="Google Shape;557;p40"/>
          <p:cNvSpPr txBox="1"/>
          <p:nvPr/>
        </p:nvSpPr>
        <p:spPr>
          <a:xfrm>
            <a:off x="685800" y="1559911"/>
            <a:ext cx="79248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Phương thức của Object (Object methods)</a:t>
            </a:r>
            <a:endParaRPr/>
          </a:p>
        </p:txBody>
      </p:sp>
      <p:sp>
        <p:nvSpPr>
          <p:cNvPr id="558" name="Google Shape;558;p40"/>
          <p:cNvSpPr txBox="1"/>
          <p:nvPr/>
        </p:nvSpPr>
        <p:spPr>
          <a:xfrm>
            <a:off x="685800" y="2305050"/>
            <a:ext cx="3657600"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Phương thức của Object là một hàm liên kết với object đó, hoặc, có thể nói phương thức là một thuộc tính của object và có giá trị là một hàm.</a:t>
            </a:r>
            <a:endParaRPr sz="2000">
              <a:solidFill>
                <a:srgbClr val="FF0000"/>
              </a:solidFill>
              <a:latin typeface="Calibri"/>
              <a:ea typeface="Calibri"/>
              <a:cs typeface="Calibri"/>
              <a:sym typeface="Calibri"/>
            </a:endParaRPr>
          </a:p>
        </p:txBody>
      </p:sp>
      <p:pic>
        <p:nvPicPr>
          <p:cNvPr id="559" name="Google Shape;559;p40"/>
          <p:cNvPicPr preferRelativeResize="0"/>
          <p:nvPr/>
        </p:nvPicPr>
        <p:blipFill rotWithShape="1">
          <a:blip r:embed="rId4">
            <a:alphaModFix/>
          </a:blip>
          <a:srcRect b="0" l="0" r="0" t="0"/>
          <a:stretch/>
        </p:blipFill>
        <p:spPr>
          <a:xfrm>
            <a:off x="4419600" y="2359656"/>
            <a:ext cx="4114800" cy="33432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65" name="Google Shape;565;p4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566" name="Google Shape;566;p41"/>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567" name="Google Shape;567;p4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568" name="Google Shape;568;p4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9" name="Google Shape;569;p41"/>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570" name="Google Shape;570;p41"/>
          <p:cNvSpPr txBox="1"/>
          <p:nvPr/>
        </p:nvSpPr>
        <p:spPr>
          <a:xfrm>
            <a:off x="685800" y="1559911"/>
            <a:ext cx="79248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Phương thức của Object (Object methods)</a:t>
            </a:r>
            <a:endParaRPr/>
          </a:p>
        </p:txBody>
      </p:sp>
      <p:sp>
        <p:nvSpPr>
          <p:cNvPr id="571" name="Google Shape;571;p41"/>
          <p:cNvSpPr txBox="1"/>
          <p:nvPr/>
        </p:nvSpPr>
        <p:spPr>
          <a:xfrm>
            <a:off x="685799" y="2305050"/>
            <a:ext cx="8077197"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Các phương thức cũng có thể được định nghĩa bên ngoài hàm khởi tạo object</a:t>
            </a:r>
            <a:endParaRPr sz="2000">
              <a:solidFill>
                <a:srgbClr val="FF0000"/>
              </a:solidFill>
              <a:latin typeface="Calibri"/>
              <a:ea typeface="Calibri"/>
              <a:cs typeface="Calibri"/>
              <a:sym typeface="Calibri"/>
            </a:endParaRPr>
          </a:p>
        </p:txBody>
      </p:sp>
      <p:pic>
        <p:nvPicPr>
          <p:cNvPr id="572" name="Google Shape;572;p41"/>
          <p:cNvPicPr preferRelativeResize="0"/>
          <p:nvPr/>
        </p:nvPicPr>
        <p:blipFill rotWithShape="1">
          <a:blip r:embed="rId4">
            <a:alphaModFix/>
          </a:blip>
          <a:srcRect b="0" l="0" r="0" t="0"/>
          <a:stretch/>
        </p:blipFill>
        <p:spPr>
          <a:xfrm>
            <a:off x="685799" y="3013329"/>
            <a:ext cx="6296025" cy="297551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42"/>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78" name="Google Shape;578;p4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579" name="Google Shape;579;p42"/>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580" name="Google Shape;580;p4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581" name="Google Shape;581;p4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2" name="Google Shape;582;p42"/>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583" name="Google Shape;583;p42"/>
          <p:cNvSpPr txBox="1"/>
          <p:nvPr/>
        </p:nvSpPr>
        <p:spPr>
          <a:xfrm>
            <a:off x="685800" y="1559911"/>
            <a:ext cx="79248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Sử dụng </a:t>
            </a:r>
            <a:r>
              <a:rPr lang="en-US" sz="2400">
                <a:solidFill>
                  <a:srgbClr val="FF0000"/>
                </a:solidFill>
                <a:latin typeface="Calibri"/>
                <a:ea typeface="Calibri"/>
                <a:cs typeface="Calibri"/>
                <a:sym typeface="Calibri"/>
              </a:rPr>
              <a:t>dot</a:t>
            </a:r>
            <a:r>
              <a:rPr lang="en-US" sz="2400">
                <a:solidFill>
                  <a:schemeClr val="dk2"/>
                </a:solidFill>
                <a:latin typeface="Calibri"/>
                <a:ea typeface="Calibri"/>
                <a:cs typeface="Calibri"/>
                <a:sym typeface="Calibri"/>
              </a:rPr>
              <a:t> và </a:t>
            </a:r>
            <a:r>
              <a:rPr lang="en-US" sz="2400">
                <a:solidFill>
                  <a:srgbClr val="FF0000"/>
                </a:solidFill>
                <a:latin typeface="Calibri"/>
                <a:ea typeface="Calibri"/>
                <a:cs typeface="Calibri"/>
                <a:sym typeface="Calibri"/>
              </a:rPr>
              <a:t>Bracket Notation []</a:t>
            </a:r>
            <a:endParaRPr/>
          </a:p>
        </p:txBody>
      </p:sp>
      <p:sp>
        <p:nvSpPr>
          <p:cNvPr id="584" name="Google Shape;584;p42"/>
          <p:cNvSpPr txBox="1"/>
          <p:nvPr/>
        </p:nvSpPr>
        <p:spPr>
          <a:xfrm>
            <a:off x="685799" y="2305050"/>
            <a:ext cx="8077197"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Có hai cách để lấy ra giá trị của một thuộc tính trong object:</a:t>
            </a:r>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Sử dụng </a:t>
            </a:r>
            <a:r>
              <a:rPr lang="en-US" sz="2000">
                <a:solidFill>
                  <a:srgbClr val="FF0000"/>
                </a:solidFill>
                <a:latin typeface="Calibri"/>
                <a:ea typeface="Calibri"/>
                <a:cs typeface="Calibri"/>
                <a:sym typeface="Calibri"/>
              </a:rPr>
              <a:t>dot .</a:t>
            </a:r>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Sử dụng </a:t>
            </a:r>
            <a:r>
              <a:rPr lang="en-US" sz="2000">
                <a:solidFill>
                  <a:srgbClr val="FF0000"/>
                </a:solidFill>
                <a:latin typeface="Calibri"/>
                <a:ea typeface="Calibri"/>
                <a:cs typeface="Calibri"/>
                <a:sym typeface="Calibri"/>
              </a:rPr>
              <a:t>bracket notation []</a:t>
            </a:r>
            <a:endParaRPr/>
          </a:p>
          <a:p>
            <a:pPr indent="0" lvl="0" marL="0" marR="0" rtl="0" algn="l">
              <a:spcBef>
                <a:spcPts val="0"/>
              </a:spcBef>
              <a:spcAft>
                <a:spcPts val="0"/>
              </a:spcAft>
              <a:buNone/>
            </a:pPr>
            <a:r>
              <a:t/>
            </a:r>
            <a:endParaRPr sz="2000">
              <a:solidFill>
                <a:srgbClr val="FF0000"/>
              </a:solidFill>
              <a:latin typeface="Calibri"/>
              <a:ea typeface="Calibri"/>
              <a:cs typeface="Calibri"/>
              <a:sym typeface="Calibri"/>
            </a:endParaRPr>
          </a:p>
          <a:p>
            <a:pPr indent="0" lvl="0" marL="0" marR="0" rtl="0" algn="l">
              <a:spcBef>
                <a:spcPts val="0"/>
              </a:spcBef>
              <a:spcAft>
                <a:spcPts val="0"/>
              </a:spcAft>
              <a:buNone/>
            </a:pPr>
            <a:r>
              <a:t/>
            </a:r>
            <a:endParaRPr sz="2000">
              <a:solidFill>
                <a:srgbClr val="FF0000"/>
              </a:solidFill>
              <a:latin typeface="Calibri"/>
              <a:ea typeface="Calibri"/>
              <a:cs typeface="Calibri"/>
              <a:sym typeface="Calibri"/>
            </a:endParaRPr>
          </a:p>
        </p:txBody>
      </p:sp>
      <p:pic>
        <p:nvPicPr>
          <p:cNvPr id="585" name="Google Shape;585;p42"/>
          <p:cNvPicPr preferRelativeResize="0"/>
          <p:nvPr/>
        </p:nvPicPr>
        <p:blipFill rotWithShape="1">
          <a:blip r:embed="rId4">
            <a:alphaModFix/>
          </a:blip>
          <a:srcRect b="0" l="0" r="0" t="0"/>
          <a:stretch/>
        </p:blipFill>
        <p:spPr>
          <a:xfrm>
            <a:off x="685799" y="3429001"/>
            <a:ext cx="2790825" cy="1828800"/>
          </a:xfrm>
          <a:prstGeom prst="rect">
            <a:avLst/>
          </a:prstGeom>
          <a:noFill/>
          <a:ln>
            <a:noFill/>
          </a:ln>
        </p:spPr>
      </p:pic>
      <p:pic>
        <p:nvPicPr>
          <p:cNvPr id="586" name="Google Shape;586;p42"/>
          <p:cNvPicPr preferRelativeResize="0"/>
          <p:nvPr/>
        </p:nvPicPr>
        <p:blipFill rotWithShape="1">
          <a:blip r:embed="rId5">
            <a:alphaModFix/>
          </a:blip>
          <a:srcRect b="0" l="0" r="0" t="0"/>
          <a:stretch/>
        </p:blipFill>
        <p:spPr>
          <a:xfrm>
            <a:off x="3733800" y="3446282"/>
            <a:ext cx="4585277" cy="211931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43"/>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92" name="Google Shape;592;p4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593" name="Google Shape;593;p43"/>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594" name="Google Shape;594;p4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595" name="Google Shape;595;p4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6" name="Google Shape;596;p43"/>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597" name="Google Shape;597;p43"/>
          <p:cNvSpPr txBox="1"/>
          <p:nvPr/>
        </p:nvSpPr>
        <p:spPr>
          <a:xfrm>
            <a:off x="685800" y="1559911"/>
            <a:ext cx="79248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Sử dụng </a:t>
            </a:r>
            <a:r>
              <a:rPr lang="en-US" sz="2400">
                <a:solidFill>
                  <a:srgbClr val="FF0000"/>
                </a:solidFill>
                <a:latin typeface="Calibri"/>
                <a:ea typeface="Calibri"/>
                <a:cs typeface="Calibri"/>
                <a:sym typeface="Calibri"/>
              </a:rPr>
              <a:t>dot</a:t>
            </a:r>
            <a:r>
              <a:rPr lang="en-US" sz="2400">
                <a:solidFill>
                  <a:schemeClr val="dk2"/>
                </a:solidFill>
                <a:latin typeface="Calibri"/>
                <a:ea typeface="Calibri"/>
                <a:cs typeface="Calibri"/>
                <a:sym typeface="Calibri"/>
              </a:rPr>
              <a:t> và </a:t>
            </a:r>
            <a:r>
              <a:rPr lang="en-US" sz="2400">
                <a:solidFill>
                  <a:srgbClr val="FF0000"/>
                </a:solidFill>
                <a:latin typeface="Calibri"/>
                <a:ea typeface="Calibri"/>
                <a:cs typeface="Calibri"/>
                <a:sym typeface="Calibri"/>
              </a:rPr>
              <a:t>Bracket Notation []</a:t>
            </a:r>
            <a:endParaRPr/>
          </a:p>
        </p:txBody>
      </p:sp>
      <p:sp>
        <p:nvSpPr>
          <p:cNvPr id="598" name="Google Shape;598;p43"/>
          <p:cNvSpPr txBox="1"/>
          <p:nvPr/>
        </p:nvSpPr>
        <p:spPr>
          <a:xfrm>
            <a:off x="685799" y="2305050"/>
            <a:ext cx="8077197"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Lưu ý:</a:t>
            </a:r>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Sử dụng </a:t>
            </a:r>
            <a:r>
              <a:rPr lang="en-US" sz="2000">
                <a:solidFill>
                  <a:srgbClr val="FF0000"/>
                </a:solidFill>
                <a:latin typeface="Calibri"/>
                <a:ea typeface="Calibri"/>
                <a:cs typeface="Calibri"/>
                <a:sym typeface="Calibri"/>
              </a:rPr>
              <a:t>dot . </a:t>
            </a:r>
            <a:r>
              <a:rPr lang="en-US" sz="2000">
                <a:solidFill>
                  <a:schemeClr val="dk2"/>
                </a:solidFill>
                <a:latin typeface="Calibri"/>
                <a:ea typeface="Calibri"/>
                <a:cs typeface="Calibri"/>
                <a:sym typeface="Calibri"/>
              </a:rPr>
              <a:t>khi tên thuộc tính không có ký tự đặc biệt ngoại trừ kí tự </a:t>
            </a:r>
            <a:endParaRPr/>
          </a:p>
          <a:p>
            <a:pPr indent="0" lvl="0" marL="0" marR="0" rtl="0" algn="l">
              <a:spcBef>
                <a:spcPts val="0"/>
              </a:spcBef>
              <a:spcAft>
                <a:spcPts val="0"/>
              </a:spcAft>
              <a:buNone/>
            </a:pPr>
            <a:r>
              <a:rPr lang="en-US" sz="2000">
                <a:solidFill>
                  <a:schemeClr val="dk2"/>
                </a:solidFill>
                <a:latin typeface="Calibri"/>
                <a:ea typeface="Calibri"/>
                <a:cs typeface="Calibri"/>
                <a:sym typeface="Calibri"/>
              </a:rPr>
              <a:t>      _ và $</a:t>
            </a:r>
            <a:endParaRPr sz="2000">
              <a:solidFill>
                <a:srgbClr val="FF0000"/>
              </a:solidFill>
              <a:latin typeface="Calibri"/>
              <a:ea typeface="Calibri"/>
              <a:cs typeface="Calibri"/>
              <a:sym typeface="Calibri"/>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Sử dụng </a:t>
            </a:r>
            <a:r>
              <a:rPr lang="en-US" sz="2000">
                <a:solidFill>
                  <a:srgbClr val="FF0000"/>
                </a:solidFill>
                <a:latin typeface="Calibri"/>
                <a:ea typeface="Calibri"/>
                <a:cs typeface="Calibri"/>
                <a:sym typeface="Calibri"/>
              </a:rPr>
              <a:t>bracket notation [] </a:t>
            </a:r>
            <a:r>
              <a:rPr lang="en-US" sz="2000">
                <a:solidFill>
                  <a:schemeClr val="dk2"/>
                </a:solidFill>
                <a:latin typeface="Calibri"/>
                <a:ea typeface="Calibri"/>
                <a:cs typeface="Calibri"/>
                <a:sym typeface="Calibri"/>
              </a:rPr>
              <a:t>khi tên thuộc tính có chứa khoảng trống hoặc các ký tự đặc biệt khác.</a:t>
            </a:r>
            <a:endParaRPr sz="2000">
              <a:solidFill>
                <a:srgbClr val="FF0000"/>
              </a:solidFill>
              <a:latin typeface="Calibri"/>
              <a:ea typeface="Calibri"/>
              <a:cs typeface="Calibri"/>
              <a:sym typeface="Calibri"/>
            </a:endParaRPr>
          </a:p>
          <a:p>
            <a:pPr indent="0" lvl="0" marL="0" marR="0" rtl="0" algn="l">
              <a:spcBef>
                <a:spcPts val="0"/>
              </a:spcBef>
              <a:spcAft>
                <a:spcPts val="0"/>
              </a:spcAft>
              <a:buNone/>
            </a:pPr>
            <a:r>
              <a:t/>
            </a:r>
            <a:endParaRPr sz="2000">
              <a:solidFill>
                <a:srgbClr val="FF0000"/>
              </a:solidFill>
              <a:latin typeface="Calibri"/>
              <a:ea typeface="Calibri"/>
              <a:cs typeface="Calibri"/>
              <a:sym typeface="Calibri"/>
            </a:endParaRPr>
          </a:p>
          <a:p>
            <a:pPr indent="0" lvl="0" marL="0" marR="0" rtl="0" algn="l">
              <a:spcBef>
                <a:spcPts val="0"/>
              </a:spcBef>
              <a:spcAft>
                <a:spcPts val="0"/>
              </a:spcAft>
              <a:buNone/>
            </a:pPr>
            <a:r>
              <a:t/>
            </a:r>
            <a:endParaRPr sz="2000">
              <a:solidFill>
                <a:srgbClr val="FF0000"/>
              </a:solidFill>
              <a:latin typeface="Calibri"/>
              <a:ea typeface="Calibri"/>
              <a:cs typeface="Calibri"/>
              <a:sym typeface="Calibri"/>
            </a:endParaRPr>
          </a:p>
        </p:txBody>
      </p:sp>
      <p:pic>
        <p:nvPicPr>
          <p:cNvPr id="599" name="Google Shape;599;p43"/>
          <p:cNvPicPr preferRelativeResize="0"/>
          <p:nvPr/>
        </p:nvPicPr>
        <p:blipFill rotWithShape="1">
          <a:blip r:embed="rId4">
            <a:alphaModFix/>
          </a:blip>
          <a:srcRect b="0" l="0" r="0" t="0"/>
          <a:stretch/>
        </p:blipFill>
        <p:spPr>
          <a:xfrm>
            <a:off x="1514475" y="4112524"/>
            <a:ext cx="6115050" cy="14859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4"/>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05" name="Google Shape;605;p4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606" name="Google Shape;606;p44"/>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607" name="Google Shape;607;p4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608" name="Google Shape;608;p4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9" name="Google Shape;609;p44"/>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610" name="Google Shape;610;p44"/>
          <p:cNvSpPr txBox="1"/>
          <p:nvPr/>
        </p:nvSpPr>
        <p:spPr>
          <a:xfrm>
            <a:off x="685800" y="1559911"/>
            <a:ext cx="4724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Reference values</a:t>
            </a:r>
            <a:endParaRPr sz="2400">
              <a:solidFill>
                <a:srgbClr val="FF0000"/>
              </a:solidFill>
              <a:latin typeface="Calibri"/>
              <a:ea typeface="Calibri"/>
              <a:cs typeface="Calibri"/>
              <a:sym typeface="Calibri"/>
            </a:endParaRPr>
          </a:p>
        </p:txBody>
      </p:sp>
      <p:sp>
        <p:nvSpPr>
          <p:cNvPr id="611" name="Google Shape;611;p44"/>
          <p:cNvSpPr txBox="1"/>
          <p:nvPr/>
        </p:nvSpPr>
        <p:spPr>
          <a:xfrm>
            <a:off x="685799" y="2305050"/>
            <a:ext cx="4572001"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Đối với dữ liệu dạng Object thì JavaScript áp dụng kiểu </a:t>
            </a:r>
            <a:r>
              <a:rPr lang="en-US" sz="2000">
                <a:solidFill>
                  <a:srgbClr val="FF0000"/>
                </a:solidFill>
                <a:latin typeface="Calibri"/>
                <a:ea typeface="Calibri"/>
                <a:cs typeface="Calibri"/>
                <a:sym typeface="Calibri"/>
              </a:rPr>
              <a:t>tham chiếu giá trị</a:t>
            </a:r>
            <a:r>
              <a:rPr lang="en-US" sz="2000">
                <a:solidFill>
                  <a:schemeClr val="dk2"/>
                </a:solidFill>
                <a:latin typeface="Calibri"/>
                <a:ea typeface="Calibri"/>
                <a:cs typeface="Calibri"/>
                <a:sym typeface="Calibri"/>
              </a:rPr>
              <a:t> (</a:t>
            </a:r>
            <a:r>
              <a:rPr lang="en-US" sz="2000">
                <a:solidFill>
                  <a:srgbClr val="FF0000"/>
                </a:solidFill>
                <a:latin typeface="Calibri"/>
                <a:ea typeface="Calibri"/>
                <a:cs typeface="Calibri"/>
                <a:sym typeface="Calibri"/>
              </a:rPr>
              <a:t>Reference</a:t>
            </a:r>
            <a:r>
              <a:rPr lang="en-US" sz="2000">
                <a:solidFill>
                  <a:schemeClr val="dk2"/>
                </a:solidFill>
                <a:latin typeface="Calibri"/>
                <a:ea typeface="Calibri"/>
                <a:cs typeface="Calibri"/>
                <a:sym typeface="Calibri"/>
              </a:rPr>
              <a:t>) trên bộ nhớ.</a:t>
            </a:r>
            <a:endParaRPr/>
          </a:p>
          <a:p>
            <a:pPr indent="0" lvl="0" marL="0" marR="0" rtl="0" algn="l">
              <a:spcBef>
                <a:spcPts val="0"/>
              </a:spcBef>
              <a:spcAft>
                <a:spcPts val="0"/>
              </a:spcAft>
              <a:buNone/>
            </a:pPr>
            <a:r>
              <a:t/>
            </a:r>
            <a:endParaRPr sz="2000">
              <a:solidFill>
                <a:schemeClr val="dk2"/>
              </a:solidFill>
              <a:latin typeface="Calibri"/>
              <a:ea typeface="Calibri"/>
              <a:cs typeface="Calibri"/>
              <a:sym typeface="Calibri"/>
            </a:endParaRPr>
          </a:p>
          <a:p>
            <a:pPr indent="0" lvl="0" marL="0" marR="0" rtl="0" algn="l">
              <a:spcBef>
                <a:spcPts val="0"/>
              </a:spcBef>
              <a:spcAft>
                <a:spcPts val="0"/>
              </a:spcAft>
              <a:buNone/>
            </a:pPr>
            <a:r>
              <a:rPr lang="en-US" sz="2000">
                <a:solidFill>
                  <a:schemeClr val="dk2"/>
                </a:solidFill>
                <a:latin typeface="Calibri"/>
                <a:ea typeface="Calibri"/>
                <a:cs typeface="Calibri"/>
                <a:sym typeface="Calibri"/>
              </a:rPr>
              <a:t>Như ví dụ bên khi ta thay đổi thuộc tính </a:t>
            </a:r>
            <a:r>
              <a:rPr lang="en-US" sz="2000">
                <a:solidFill>
                  <a:srgbClr val="FF0000"/>
                </a:solidFill>
                <a:latin typeface="Calibri"/>
                <a:ea typeface="Calibri"/>
                <a:cs typeface="Calibri"/>
                <a:sym typeface="Calibri"/>
              </a:rPr>
              <a:t>age</a:t>
            </a:r>
            <a:r>
              <a:rPr lang="en-US" sz="2000">
                <a:solidFill>
                  <a:schemeClr val="dk2"/>
                </a:solidFill>
                <a:latin typeface="Calibri"/>
                <a:ea typeface="Calibri"/>
                <a:cs typeface="Calibri"/>
                <a:sym typeface="Calibri"/>
              </a:rPr>
              <a:t> của </a:t>
            </a:r>
            <a:r>
              <a:rPr lang="en-US" sz="2000">
                <a:solidFill>
                  <a:srgbClr val="FF0000"/>
                </a:solidFill>
                <a:latin typeface="Calibri"/>
                <a:ea typeface="Calibri"/>
                <a:cs typeface="Calibri"/>
                <a:sym typeface="Calibri"/>
              </a:rPr>
              <a:t>friend</a:t>
            </a:r>
            <a:r>
              <a:rPr lang="en-US" sz="2000">
                <a:solidFill>
                  <a:schemeClr val="dk2"/>
                </a:solidFill>
                <a:latin typeface="Calibri"/>
                <a:ea typeface="Calibri"/>
                <a:cs typeface="Calibri"/>
                <a:sym typeface="Calibri"/>
              </a:rPr>
              <a:t> thì </a:t>
            </a:r>
            <a:r>
              <a:rPr lang="en-US" sz="2000">
                <a:solidFill>
                  <a:srgbClr val="FF0000"/>
                </a:solidFill>
                <a:latin typeface="Calibri"/>
                <a:ea typeface="Calibri"/>
                <a:cs typeface="Calibri"/>
                <a:sym typeface="Calibri"/>
              </a:rPr>
              <a:t>me</a:t>
            </a:r>
            <a:r>
              <a:rPr lang="en-US" sz="2000">
                <a:solidFill>
                  <a:schemeClr val="dk2"/>
                </a:solidFill>
                <a:latin typeface="Calibri"/>
                <a:ea typeface="Calibri"/>
                <a:cs typeface="Calibri"/>
                <a:sym typeface="Calibri"/>
              </a:rPr>
              <a:t> cũng thay đổi theo. Tức khi ta dùng </a:t>
            </a:r>
            <a:r>
              <a:rPr lang="en-US" sz="2000">
                <a:solidFill>
                  <a:srgbClr val="FF0000"/>
                </a:solidFill>
                <a:latin typeface="Calibri"/>
                <a:ea typeface="Calibri"/>
                <a:cs typeface="Calibri"/>
                <a:sym typeface="Calibri"/>
              </a:rPr>
              <a:t>friend=me</a:t>
            </a:r>
            <a:r>
              <a:rPr lang="en-US" sz="2000">
                <a:solidFill>
                  <a:schemeClr val="dk2"/>
                </a:solidFill>
                <a:latin typeface="Calibri"/>
                <a:ea typeface="Calibri"/>
                <a:cs typeface="Calibri"/>
                <a:sym typeface="Calibri"/>
              </a:rPr>
              <a:t> thì </a:t>
            </a:r>
            <a:r>
              <a:rPr lang="en-US" sz="2000">
                <a:solidFill>
                  <a:srgbClr val="FF0000"/>
                </a:solidFill>
                <a:latin typeface="Calibri"/>
                <a:ea typeface="Calibri"/>
                <a:cs typeface="Calibri"/>
                <a:sym typeface="Calibri"/>
              </a:rPr>
              <a:t>friend</a:t>
            </a:r>
            <a:r>
              <a:rPr lang="en-US" sz="2000">
                <a:solidFill>
                  <a:schemeClr val="dk2"/>
                </a:solidFill>
                <a:latin typeface="Calibri"/>
                <a:ea typeface="Calibri"/>
                <a:cs typeface="Calibri"/>
                <a:sym typeface="Calibri"/>
              </a:rPr>
              <a:t> chỉ là một </a:t>
            </a:r>
            <a:r>
              <a:rPr lang="en-US" sz="2000">
                <a:solidFill>
                  <a:srgbClr val="FF0000"/>
                </a:solidFill>
                <a:latin typeface="Calibri"/>
                <a:ea typeface="Calibri"/>
                <a:cs typeface="Calibri"/>
                <a:sym typeface="Calibri"/>
              </a:rPr>
              <a:t>tham chiếu </a:t>
            </a:r>
            <a:r>
              <a:rPr lang="en-US" sz="2000">
                <a:solidFill>
                  <a:schemeClr val="dk2"/>
                </a:solidFill>
                <a:latin typeface="Calibri"/>
                <a:ea typeface="Calibri"/>
                <a:cs typeface="Calibri"/>
                <a:sym typeface="Calibri"/>
              </a:rPr>
              <a:t>đến </a:t>
            </a:r>
            <a:r>
              <a:rPr lang="en-US" sz="2000">
                <a:solidFill>
                  <a:srgbClr val="FF0000"/>
                </a:solidFill>
                <a:latin typeface="Calibri"/>
                <a:ea typeface="Calibri"/>
                <a:cs typeface="Calibri"/>
                <a:sym typeface="Calibri"/>
              </a:rPr>
              <a:t>me</a:t>
            </a:r>
            <a:r>
              <a:rPr lang="en-US" sz="2000">
                <a:solidFill>
                  <a:schemeClr val="dk2"/>
                </a:solidFill>
                <a:latin typeface="Calibri"/>
                <a:ea typeface="Calibri"/>
                <a:cs typeface="Calibri"/>
                <a:sym typeface="Calibri"/>
              </a:rPr>
              <a:t> mặc dù tên là khác nhau nhưng </a:t>
            </a:r>
            <a:r>
              <a:rPr lang="en-US" sz="2000">
                <a:solidFill>
                  <a:srgbClr val="FF0000"/>
                </a:solidFill>
                <a:latin typeface="Calibri"/>
                <a:ea typeface="Calibri"/>
                <a:cs typeface="Calibri"/>
                <a:sym typeface="Calibri"/>
              </a:rPr>
              <a:t>có cùng một giá trị</a:t>
            </a:r>
            <a:endParaRPr sz="2000">
              <a:solidFill>
                <a:srgbClr val="FF0000"/>
              </a:solidFill>
              <a:latin typeface="Calibri"/>
              <a:ea typeface="Calibri"/>
              <a:cs typeface="Calibri"/>
              <a:sym typeface="Calibri"/>
            </a:endParaRPr>
          </a:p>
        </p:txBody>
      </p:sp>
      <p:pic>
        <p:nvPicPr>
          <p:cNvPr id="612" name="Google Shape;612;p44"/>
          <p:cNvPicPr preferRelativeResize="0"/>
          <p:nvPr/>
        </p:nvPicPr>
        <p:blipFill rotWithShape="1">
          <a:blip r:embed="rId4">
            <a:alphaModFix/>
          </a:blip>
          <a:srcRect b="0" l="0" r="0" t="0"/>
          <a:stretch/>
        </p:blipFill>
        <p:spPr>
          <a:xfrm>
            <a:off x="5562596" y="1756178"/>
            <a:ext cx="3200400" cy="41719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45"/>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18" name="Google Shape;618;p4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619" name="Google Shape;619;p45"/>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620" name="Google Shape;620;p4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621" name="Google Shape;621;p4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2" name="Google Shape;622;p45"/>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623" name="Google Shape;623;p45"/>
          <p:cNvSpPr txBox="1"/>
          <p:nvPr/>
        </p:nvSpPr>
        <p:spPr>
          <a:xfrm>
            <a:off x="685800" y="1559911"/>
            <a:ext cx="4724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Reference values</a:t>
            </a:r>
            <a:endParaRPr sz="2400">
              <a:solidFill>
                <a:srgbClr val="FF0000"/>
              </a:solidFill>
              <a:latin typeface="Calibri"/>
              <a:ea typeface="Calibri"/>
              <a:cs typeface="Calibri"/>
              <a:sym typeface="Calibri"/>
            </a:endParaRPr>
          </a:p>
        </p:txBody>
      </p:sp>
      <p:pic>
        <p:nvPicPr>
          <p:cNvPr id="624" name="Google Shape;624;p45"/>
          <p:cNvPicPr preferRelativeResize="0"/>
          <p:nvPr/>
        </p:nvPicPr>
        <p:blipFill rotWithShape="1">
          <a:blip r:embed="rId4">
            <a:alphaModFix/>
          </a:blip>
          <a:srcRect b="0" l="0" r="0" t="0"/>
          <a:stretch/>
        </p:blipFill>
        <p:spPr>
          <a:xfrm>
            <a:off x="685014" y="2149074"/>
            <a:ext cx="2910870" cy="3794527"/>
          </a:xfrm>
          <a:prstGeom prst="rect">
            <a:avLst/>
          </a:prstGeom>
          <a:noFill/>
          <a:ln>
            <a:noFill/>
          </a:ln>
        </p:spPr>
      </p:pic>
      <p:pic>
        <p:nvPicPr>
          <p:cNvPr id="625" name="Google Shape;625;p45"/>
          <p:cNvPicPr preferRelativeResize="0"/>
          <p:nvPr/>
        </p:nvPicPr>
        <p:blipFill rotWithShape="1">
          <a:blip r:embed="rId5">
            <a:alphaModFix/>
          </a:blip>
          <a:srcRect b="0" l="0" r="0" t="0"/>
          <a:stretch/>
        </p:blipFill>
        <p:spPr>
          <a:xfrm>
            <a:off x="3595884" y="2158501"/>
            <a:ext cx="5047775" cy="277404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46"/>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31" name="Google Shape;631;p4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632" name="Google Shape;632;p46"/>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633" name="Google Shape;633;p4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634" name="Google Shape;634;p4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5" name="Google Shape;635;p46"/>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636" name="Google Shape;636;p46"/>
          <p:cNvSpPr txBox="1"/>
          <p:nvPr/>
        </p:nvSpPr>
        <p:spPr>
          <a:xfrm>
            <a:off x="685800" y="1559911"/>
            <a:ext cx="4724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Copy Object</a:t>
            </a:r>
            <a:endParaRPr sz="2400">
              <a:solidFill>
                <a:srgbClr val="FF0000"/>
              </a:solidFill>
              <a:latin typeface="Calibri"/>
              <a:ea typeface="Calibri"/>
              <a:cs typeface="Calibri"/>
              <a:sym typeface="Calibri"/>
            </a:endParaRPr>
          </a:p>
        </p:txBody>
      </p:sp>
      <p:sp>
        <p:nvSpPr>
          <p:cNvPr id="637" name="Google Shape;637;p46"/>
          <p:cNvSpPr txBox="1"/>
          <p:nvPr/>
        </p:nvSpPr>
        <p:spPr>
          <a:xfrm>
            <a:off x="685799" y="2305050"/>
            <a:ext cx="4038601"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Có 3 cách để copy Object:</a:t>
            </a:r>
            <a:endParaRPr/>
          </a:p>
          <a:p>
            <a:pPr indent="0" lvl="0" marL="0" marR="0" rtl="0" algn="l">
              <a:spcBef>
                <a:spcPts val="0"/>
              </a:spcBef>
              <a:spcAft>
                <a:spcPts val="0"/>
              </a:spcAft>
              <a:buNone/>
            </a:pPr>
            <a:r>
              <a:t/>
            </a:r>
            <a:endParaRPr sz="20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Sử dụng cú pháp spread ( … )</a:t>
            </a:r>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Sử dụng phương thức Object.assign()</a:t>
            </a:r>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Sử dụng JSON.stringify() và JSON.parse()</a:t>
            </a:r>
            <a:endParaRPr sz="2000">
              <a:solidFill>
                <a:srgbClr val="FF0000"/>
              </a:solidFill>
              <a:latin typeface="Calibri"/>
              <a:ea typeface="Calibri"/>
              <a:cs typeface="Calibri"/>
              <a:sym typeface="Calibri"/>
            </a:endParaRPr>
          </a:p>
        </p:txBody>
      </p:sp>
      <p:pic>
        <p:nvPicPr>
          <p:cNvPr id="638" name="Google Shape;638;p46"/>
          <p:cNvPicPr preferRelativeResize="0"/>
          <p:nvPr/>
        </p:nvPicPr>
        <p:blipFill rotWithShape="1">
          <a:blip r:embed="rId4">
            <a:alphaModFix/>
          </a:blip>
          <a:srcRect b="0" l="0" r="0" t="0"/>
          <a:stretch/>
        </p:blipFill>
        <p:spPr>
          <a:xfrm>
            <a:off x="4981572" y="2057400"/>
            <a:ext cx="3781425" cy="35052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47"/>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44" name="Google Shape;644;p4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645" name="Google Shape;645;p47"/>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646" name="Google Shape;646;p4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647" name="Google Shape;647;p4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8" name="Google Shape;648;p47"/>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649" name="Google Shape;649;p47"/>
          <p:cNvSpPr txBox="1"/>
          <p:nvPr/>
        </p:nvSpPr>
        <p:spPr>
          <a:xfrm>
            <a:off x="685800" y="1559911"/>
            <a:ext cx="4724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Copy Object</a:t>
            </a:r>
            <a:endParaRPr sz="2400">
              <a:solidFill>
                <a:srgbClr val="FF0000"/>
              </a:solidFill>
              <a:latin typeface="Calibri"/>
              <a:ea typeface="Calibri"/>
              <a:cs typeface="Calibri"/>
              <a:sym typeface="Calibri"/>
            </a:endParaRPr>
          </a:p>
        </p:txBody>
      </p:sp>
      <p:sp>
        <p:nvSpPr>
          <p:cNvPr id="650" name="Google Shape;650;p47"/>
          <p:cNvSpPr txBox="1"/>
          <p:nvPr/>
        </p:nvSpPr>
        <p:spPr>
          <a:xfrm>
            <a:off x="685799" y="2305050"/>
            <a:ext cx="7848601"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Shallow copy &amp; Deep copy</a:t>
            </a:r>
            <a:endParaRPr/>
          </a:p>
          <a:p>
            <a:pPr indent="0" lvl="0" marL="0" marR="0" rtl="0" algn="l">
              <a:spcBef>
                <a:spcPts val="0"/>
              </a:spcBef>
              <a:spcAft>
                <a:spcPts val="0"/>
              </a:spcAft>
              <a:buNone/>
            </a:pPr>
            <a:r>
              <a:t/>
            </a:r>
            <a:endParaRPr sz="20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Shallow copy có nghĩa là các </a:t>
            </a:r>
            <a:r>
              <a:rPr lang="en-US" sz="2000">
                <a:solidFill>
                  <a:srgbClr val="FF0000"/>
                </a:solidFill>
                <a:latin typeface="Calibri"/>
                <a:ea typeface="Calibri"/>
                <a:cs typeface="Calibri"/>
                <a:sym typeface="Calibri"/>
              </a:rPr>
              <a:t>values</a:t>
            </a:r>
            <a:r>
              <a:rPr lang="en-US" sz="2000">
                <a:solidFill>
                  <a:schemeClr val="dk2"/>
                </a:solidFill>
                <a:latin typeface="Calibri"/>
                <a:ea typeface="Calibri"/>
                <a:cs typeface="Calibri"/>
                <a:sym typeface="Calibri"/>
              </a:rPr>
              <a:t> của một object </a:t>
            </a:r>
            <a:r>
              <a:rPr lang="en-US" sz="2000">
                <a:solidFill>
                  <a:srgbClr val="FF0000"/>
                </a:solidFill>
                <a:latin typeface="Calibri"/>
                <a:ea typeface="Calibri"/>
                <a:cs typeface="Calibri"/>
                <a:sym typeface="Calibri"/>
              </a:rPr>
              <a:t>vẫn tham chiếu </a:t>
            </a:r>
            <a:r>
              <a:rPr lang="en-US" sz="2000">
                <a:solidFill>
                  <a:schemeClr val="dk2"/>
                </a:solidFill>
                <a:latin typeface="Calibri"/>
                <a:ea typeface="Calibri"/>
                <a:cs typeface="Calibri"/>
                <a:sym typeface="Calibri"/>
              </a:rPr>
              <a:t>tới original object mà nó sao chép lại. Hai phương pháp sao chép bằng spread (…) và Object.assign() thuộc shallow copy</a:t>
            </a:r>
            <a:endParaRPr/>
          </a:p>
          <a:p>
            <a:pPr indent="-215900" lvl="0" marL="342900" marR="0" rtl="0" algn="l">
              <a:spcBef>
                <a:spcPts val="0"/>
              </a:spcBef>
              <a:spcAft>
                <a:spcPts val="0"/>
              </a:spcAft>
              <a:buClr>
                <a:schemeClr val="dk1"/>
              </a:buClr>
              <a:buSzPts val="2000"/>
              <a:buFont typeface="Arial"/>
              <a:buNone/>
            </a:pPr>
            <a:r>
              <a:t/>
            </a:r>
            <a:endParaRPr sz="20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Deep copy có nghĩa là các </a:t>
            </a:r>
            <a:r>
              <a:rPr lang="en-US" sz="2000">
                <a:solidFill>
                  <a:srgbClr val="FF0000"/>
                </a:solidFill>
                <a:latin typeface="Calibri"/>
                <a:ea typeface="Calibri"/>
                <a:cs typeface="Calibri"/>
                <a:sym typeface="Calibri"/>
              </a:rPr>
              <a:t>values</a:t>
            </a:r>
            <a:r>
              <a:rPr lang="en-US" sz="2000">
                <a:solidFill>
                  <a:schemeClr val="dk2"/>
                </a:solidFill>
                <a:latin typeface="Calibri"/>
                <a:ea typeface="Calibri"/>
                <a:cs typeface="Calibri"/>
                <a:sym typeface="Calibri"/>
              </a:rPr>
              <a:t> của một object </a:t>
            </a:r>
            <a:r>
              <a:rPr lang="en-US" sz="2000">
                <a:solidFill>
                  <a:srgbClr val="FF0000"/>
                </a:solidFill>
                <a:latin typeface="Calibri"/>
                <a:ea typeface="Calibri"/>
                <a:cs typeface="Calibri"/>
                <a:sym typeface="Calibri"/>
              </a:rPr>
              <a:t>không còn tham chiếu </a:t>
            </a:r>
            <a:r>
              <a:rPr lang="en-US" sz="2000">
                <a:solidFill>
                  <a:schemeClr val="dk2"/>
                </a:solidFill>
                <a:latin typeface="Calibri"/>
                <a:ea typeface="Calibri"/>
                <a:cs typeface="Calibri"/>
                <a:sym typeface="Calibri"/>
              </a:rPr>
              <a:t>đến original object mà nó sao chép lại nữa. Sử dụng phương thức của JSON để copy object thuộc deep copy</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48"/>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56" name="Google Shape;656;p4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657" name="Google Shape;657;p48"/>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658" name="Google Shape;658;p4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659" name="Google Shape;659;p4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0" name="Google Shape;660;p48"/>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661" name="Google Shape;661;p48"/>
          <p:cNvSpPr txBox="1"/>
          <p:nvPr/>
        </p:nvSpPr>
        <p:spPr>
          <a:xfrm>
            <a:off x="685800" y="1559911"/>
            <a:ext cx="4724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Copy Object</a:t>
            </a:r>
            <a:endParaRPr sz="2400">
              <a:solidFill>
                <a:srgbClr val="FF0000"/>
              </a:solidFill>
              <a:latin typeface="Calibri"/>
              <a:ea typeface="Calibri"/>
              <a:cs typeface="Calibri"/>
              <a:sym typeface="Calibri"/>
            </a:endParaRPr>
          </a:p>
        </p:txBody>
      </p:sp>
      <p:sp>
        <p:nvSpPr>
          <p:cNvPr id="662" name="Google Shape;662;p48"/>
          <p:cNvSpPr txBox="1"/>
          <p:nvPr/>
        </p:nvSpPr>
        <p:spPr>
          <a:xfrm>
            <a:off x="685799" y="2305050"/>
            <a:ext cx="7848601"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Shallow copy &amp; Deep copy</a:t>
            </a:r>
            <a:endParaRPr/>
          </a:p>
          <a:p>
            <a:pPr indent="0" lvl="0" marL="0" marR="0" rtl="0" algn="l">
              <a:spcBef>
                <a:spcPts val="0"/>
              </a:spcBef>
              <a:spcAft>
                <a:spcPts val="0"/>
              </a:spcAft>
              <a:buNone/>
            </a:pPr>
            <a:r>
              <a:t/>
            </a:r>
            <a:endParaRPr sz="20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Shallow copy có nghĩa là các </a:t>
            </a:r>
            <a:r>
              <a:rPr lang="en-US" sz="2000">
                <a:solidFill>
                  <a:srgbClr val="FF0000"/>
                </a:solidFill>
                <a:latin typeface="Calibri"/>
                <a:ea typeface="Calibri"/>
                <a:cs typeface="Calibri"/>
                <a:sym typeface="Calibri"/>
              </a:rPr>
              <a:t>values</a:t>
            </a:r>
            <a:r>
              <a:rPr lang="en-US" sz="2000">
                <a:solidFill>
                  <a:schemeClr val="dk2"/>
                </a:solidFill>
                <a:latin typeface="Calibri"/>
                <a:ea typeface="Calibri"/>
                <a:cs typeface="Calibri"/>
                <a:sym typeface="Calibri"/>
              </a:rPr>
              <a:t> của một object </a:t>
            </a:r>
            <a:r>
              <a:rPr lang="en-US" sz="2000">
                <a:solidFill>
                  <a:srgbClr val="FF0000"/>
                </a:solidFill>
                <a:latin typeface="Calibri"/>
                <a:ea typeface="Calibri"/>
                <a:cs typeface="Calibri"/>
                <a:sym typeface="Calibri"/>
              </a:rPr>
              <a:t>vẫn tham chiếu </a:t>
            </a:r>
            <a:r>
              <a:rPr lang="en-US" sz="2000">
                <a:solidFill>
                  <a:schemeClr val="dk2"/>
                </a:solidFill>
                <a:latin typeface="Calibri"/>
                <a:ea typeface="Calibri"/>
                <a:cs typeface="Calibri"/>
                <a:sym typeface="Calibri"/>
              </a:rPr>
              <a:t>tới original object mà nó sao chép lại. Hai phương pháp sao chép bằng spread (…) và Object.assign() thuộc shallow copy</a:t>
            </a:r>
            <a:endParaRPr/>
          </a:p>
          <a:p>
            <a:pPr indent="-215900" lvl="0" marL="342900" marR="0" rtl="0" algn="l">
              <a:spcBef>
                <a:spcPts val="0"/>
              </a:spcBef>
              <a:spcAft>
                <a:spcPts val="0"/>
              </a:spcAft>
              <a:buClr>
                <a:schemeClr val="dk1"/>
              </a:buClr>
              <a:buSzPts val="2000"/>
              <a:buFont typeface="Arial"/>
              <a:buNone/>
            </a:pPr>
            <a:r>
              <a:t/>
            </a:r>
            <a:endParaRPr sz="2000">
              <a:solidFill>
                <a:schemeClr val="dk2"/>
              </a:solidFill>
              <a:latin typeface="Calibri"/>
              <a:ea typeface="Calibri"/>
              <a:cs typeface="Calibri"/>
              <a:sym typeface="Calibri"/>
            </a:endParaRPr>
          </a:p>
          <a:p>
            <a:pPr indent="-342900" lvl="0" marL="342900" marR="0" rtl="0" algn="l">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Deep copy có nghĩa là các </a:t>
            </a:r>
            <a:r>
              <a:rPr lang="en-US" sz="2000">
                <a:solidFill>
                  <a:srgbClr val="FF0000"/>
                </a:solidFill>
                <a:latin typeface="Calibri"/>
                <a:ea typeface="Calibri"/>
                <a:cs typeface="Calibri"/>
                <a:sym typeface="Calibri"/>
              </a:rPr>
              <a:t>values</a:t>
            </a:r>
            <a:r>
              <a:rPr lang="en-US" sz="2000">
                <a:solidFill>
                  <a:schemeClr val="dk2"/>
                </a:solidFill>
                <a:latin typeface="Calibri"/>
                <a:ea typeface="Calibri"/>
                <a:cs typeface="Calibri"/>
                <a:sym typeface="Calibri"/>
              </a:rPr>
              <a:t> của một object </a:t>
            </a:r>
            <a:r>
              <a:rPr lang="en-US" sz="2000">
                <a:solidFill>
                  <a:srgbClr val="FF0000"/>
                </a:solidFill>
                <a:latin typeface="Calibri"/>
                <a:ea typeface="Calibri"/>
                <a:cs typeface="Calibri"/>
                <a:sym typeface="Calibri"/>
              </a:rPr>
              <a:t>không còn tham chiếu </a:t>
            </a:r>
            <a:r>
              <a:rPr lang="en-US" sz="2000">
                <a:solidFill>
                  <a:schemeClr val="dk2"/>
                </a:solidFill>
                <a:latin typeface="Calibri"/>
                <a:ea typeface="Calibri"/>
                <a:cs typeface="Calibri"/>
                <a:sym typeface="Calibri"/>
              </a:rPr>
              <a:t>đến original object mà nó sao chép lại nữa. Sử dụng phương thức của JSON để copy object thuộc deep copy</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49"/>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68" name="Google Shape;668;p4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669" name="Google Shape;669;p49"/>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670" name="Google Shape;670;p4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671" name="Google Shape;671;p4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2" name="Google Shape;672;p49"/>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673" name="Google Shape;673;p49"/>
          <p:cNvSpPr txBox="1"/>
          <p:nvPr/>
        </p:nvSpPr>
        <p:spPr>
          <a:xfrm>
            <a:off x="685800" y="1559911"/>
            <a:ext cx="4724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Copy Object</a:t>
            </a:r>
            <a:endParaRPr sz="2400">
              <a:solidFill>
                <a:srgbClr val="FF0000"/>
              </a:solidFill>
              <a:latin typeface="Calibri"/>
              <a:ea typeface="Calibri"/>
              <a:cs typeface="Calibri"/>
              <a:sym typeface="Calibri"/>
            </a:endParaRPr>
          </a:p>
        </p:txBody>
      </p:sp>
      <p:sp>
        <p:nvSpPr>
          <p:cNvPr id="674" name="Google Shape;674;p49"/>
          <p:cNvSpPr txBox="1"/>
          <p:nvPr/>
        </p:nvSpPr>
        <p:spPr>
          <a:xfrm>
            <a:off x="685799" y="2305050"/>
            <a:ext cx="784860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Shallow copy</a:t>
            </a:r>
            <a:endParaRPr/>
          </a:p>
        </p:txBody>
      </p:sp>
      <p:pic>
        <p:nvPicPr>
          <p:cNvPr id="675" name="Google Shape;675;p49"/>
          <p:cNvPicPr preferRelativeResize="0"/>
          <p:nvPr/>
        </p:nvPicPr>
        <p:blipFill rotWithShape="1">
          <a:blip r:embed="rId4">
            <a:alphaModFix/>
          </a:blip>
          <a:srcRect b="0" l="0" r="0" t="0"/>
          <a:stretch/>
        </p:blipFill>
        <p:spPr>
          <a:xfrm>
            <a:off x="5126234" y="689730"/>
            <a:ext cx="2654610" cy="2379995"/>
          </a:xfrm>
          <a:prstGeom prst="rect">
            <a:avLst/>
          </a:prstGeom>
          <a:noFill/>
          <a:ln>
            <a:noFill/>
          </a:ln>
        </p:spPr>
      </p:pic>
      <p:pic>
        <p:nvPicPr>
          <p:cNvPr id="676" name="Google Shape;676;p49"/>
          <p:cNvPicPr preferRelativeResize="0"/>
          <p:nvPr/>
        </p:nvPicPr>
        <p:blipFill rotWithShape="1">
          <a:blip r:embed="rId5">
            <a:alphaModFix/>
          </a:blip>
          <a:srcRect b="0" l="0" r="0" t="0"/>
          <a:stretch/>
        </p:blipFill>
        <p:spPr>
          <a:xfrm>
            <a:off x="713294" y="3099368"/>
            <a:ext cx="7067550" cy="27908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50"/>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82" name="Google Shape;682;p5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683" name="Google Shape;683;p50"/>
          <p:cNvSpPr txBox="1"/>
          <p:nvPr>
            <p:ph type="ctrTitle"/>
          </p:nvPr>
        </p:nvSpPr>
        <p:spPr>
          <a:xfrm>
            <a:off x="609600" y="770504"/>
            <a:ext cx="7924800" cy="75349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Object</a:t>
            </a:r>
            <a:endParaRPr/>
          </a:p>
        </p:txBody>
      </p:sp>
      <p:pic>
        <p:nvPicPr>
          <p:cNvPr id="684" name="Google Shape;684;p5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685" name="Google Shape;685;p5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6" name="Google Shape;686;p50"/>
          <p:cNvSpPr txBox="1"/>
          <p:nvPr/>
        </p:nvSpPr>
        <p:spPr>
          <a:xfrm flipH="1">
            <a:off x="4599708" y="127123"/>
            <a:ext cx="4163289"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Arial"/>
                <a:ea typeface="Arial"/>
                <a:cs typeface="Arial"/>
                <a:sym typeface="Arial"/>
              </a:rPr>
              <a:t>NỘI DUNG</a:t>
            </a:r>
            <a:endParaRPr/>
          </a:p>
        </p:txBody>
      </p:sp>
      <p:sp>
        <p:nvSpPr>
          <p:cNvPr id="687" name="Google Shape;687;p50"/>
          <p:cNvSpPr txBox="1"/>
          <p:nvPr/>
        </p:nvSpPr>
        <p:spPr>
          <a:xfrm>
            <a:off x="685800" y="1559911"/>
            <a:ext cx="4724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Calibri"/>
                <a:ea typeface="Calibri"/>
                <a:cs typeface="Calibri"/>
                <a:sym typeface="Calibri"/>
              </a:rPr>
              <a:t>Copy Object</a:t>
            </a:r>
            <a:endParaRPr sz="2400">
              <a:solidFill>
                <a:srgbClr val="FF0000"/>
              </a:solidFill>
              <a:latin typeface="Calibri"/>
              <a:ea typeface="Calibri"/>
              <a:cs typeface="Calibri"/>
              <a:sym typeface="Calibri"/>
            </a:endParaRPr>
          </a:p>
        </p:txBody>
      </p:sp>
      <p:sp>
        <p:nvSpPr>
          <p:cNvPr id="688" name="Google Shape;688;p50"/>
          <p:cNvSpPr txBox="1"/>
          <p:nvPr/>
        </p:nvSpPr>
        <p:spPr>
          <a:xfrm>
            <a:off x="685799" y="2305050"/>
            <a:ext cx="784860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Calibri"/>
                <a:ea typeface="Calibri"/>
                <a:cs typeface="Calibri"/>
                <a:sym typeface="Calibri"/>
              </a:rPr>
              <a:t>Deep copy</a:t>
            </a:r>
            <a:endParaRPr/>
          </a:p>
        </p:txBody>
      </p:sp>
      <p:pic>
        <p:nvPicPr>
          <p:cNvPr id="689" name="Google Shape;689;p50"/>
          <p:cNvPicPr preferRelativeResize="0"/>
          <p:nvPr/>
        </p:nvPicPr>
        <p:blipFill rotWithShape="1">
          <a:blip r:embed="rId4">
            <a:alphaModFix/>
          </a:blip>
          <a:srcRect b="0" l="0" r="0" t="0"/>
          <a:stretch/>
        </p:blipFill>
        <p:spPr>
          <a:xfrm>
            <a:off x="5126234" y="689730"/>
            <a:ext cx="2654610" cy="2379995"/>
          </a:xfrm>
          <a:prstGeom prst="rect">
            <a:avLst/>
          </a:prstGeom>
          <a:noFill/>
          <a:ln>
            <a:noFill/>
          </a:ln>
        </p:spPr>
      </p:pic>
      <p:pic>
        <p:nvPicPr>
          <p:cNvPr id="690" name="Google Shape;690;p50"/>
          <p:cNvPicPr preferRelativeResize="0"/>
          <p:nvPr/>
        </p:nvPicPr>
        <p:blipFill rotWithShape="1">
          <a:blip r:embed="rId5">
            <a:alphaModFix/>
          </a:blip>
          <a:srcRect b="0" l="0" r="0" t="0"/>
          <a:stretch/>
        </p:blipFill>
        <p:spPr>
          <a:xfrm>
            <a:off x="813952" y="3104065"/>
            <a:ext cx="5867400" cy="27336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5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spcBef>
                <a:spcPts val="0"/>
              </a:spcBef>
              <a:spcAft>
                <a:spcPts val="0"/>
              </a:spcAft>
              <a:buClr>
                <a:srgbClr val="888888"/>
              </a:buClr>
              <a:buSzPct val="100000"/>
              <a:buNone/>
            </a:pPr>
            <a:r>
              <a:rPr b="1" lang="en-US"/>
              <a:t> </a:t>
            </a:r>
            <a:endParaRPr/>
          </a:p>
          <a:p>
            <a:pPr indent="0" lvl="0" marL="0" rtl="0" algn="l">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96" name="Google Shape;696;p5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647"/>
              </a:srgbClr>
            </a:outerShdw>
          </a:effectLst>
        </p:spPr>
      </p:cxnSp>
      <p:sp>
        <p:nvSpPr>
          <p:cNvPr id="697" name="Google Shape;697;p51"/>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pic>
        <p:nvPicPr>
          <p:cNvPr id="698" name="Google Shape;698;p5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699" name="Google Shape;699;p5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700" name="Google Shape;700;p51"/>
          <p:cNvPicPr preferRelativeResize="0"/>
          <p:nvPr/>
        </p:nvPicPr>
        <p:blipFill rotWithShape="1">
          <a:blip r:embed="rId4">
            <a:alphaModFix/>
          </a:blip>
          <a:srcRect b="0" l="0" r="0" t="0"/>
          <a:stretch/>
        </p:blipFill>
        <p:spPr>
          <a:xfrm>
            <a:off x="1309686" y="762000"/>
            <a:ext cx="6829425" cy="4848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2021-03-05T02:20:42Z</dcterms:created>
  <dc:creator>GIAOVU</dc:creator>
</cp:coreProperties>
</file>