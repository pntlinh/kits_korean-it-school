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9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6" roundtripDataSignature="AMtx7mgxNkS3BkT3KDs62wU+No4mG95Kn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5B9831B-DEB4-427B-B906-03422F021740}">
  <a:tblStyle styleId="{35B9831B-DEB4-427B-B906-03422F02174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77" y="3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8"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1dce7f740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g11dce7f740a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 name="Google Shape;272;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5" name="Google Shape;285;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8" name="Google Shape;308;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2" name="Google Shape;322;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7" name="Google Shape;347;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8" name="Google Shape;358;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0" name="Google Shape;370;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0" name="Google Shape;380;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0" name="Google Shape;390;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1" name="Google Shape;401;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2" name="Google Shape;412;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3" name="Google Shape;423;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4" name="Google Shape;434;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7" name="Google Shape;447;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9" name="Google Shape;459;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1" name="Google Shape;471;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5" name="Google Shape;485;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6" name="Google Shape;496;p3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9" name="Google Shape;509;p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3" name="Google Shape;523;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5" name="Google Shape;535;p4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9" name="Google Shape;549;p4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1" name="Google Shape;561;p4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3" name="Google Shape;573;p4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5" name="Google Shape;585;p4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7" name="Google Shape;597;p4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9" name="Google Shape;609;p4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1" name="Google Shape;621;p4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3" name="Google Shape;633;p4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7" name="Google Shape;647;p4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8" name="Google Shape;658;p5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1" name="Google Shape;671;p5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p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2" name="Google Shape;682;p5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p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3" name="Google Shape;693;p5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p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4" name="Google Shape;704;p5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6" name="Google Shape;716;p5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p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7" name="Google Shape;727;p5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p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8" name="Google Shape;738;p5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p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9" name="Google Shape;749;p5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p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0" name="Google Shape;760;p5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p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1" name="Google Shape;771;p6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p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2" name="Google Shape;782;p6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p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3" name="Google Shape;793;p6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p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4" name="Google Shape;804;p6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p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4" name="Google Shape;814;p6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p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5" name="Google Shape;825;p6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p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6" name="Google Shape;836;p6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8" name="Google Shape;848;p6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p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9" name="Google Shape;859;p6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p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0" name="Google Shape;870;p7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p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2" name="Google Shape;882;p7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p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3" name="Google Shape;893;p7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p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5" name="Google Shape;905;p7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p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6" name="Google Shape;916;p7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p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7" name="Google Shape;927;p7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8" name="Google Shape;938;p7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p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8" name="Google Shape;948;p7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p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9" name="Google Shape;959;p7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p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0" name="Google Shape;970;p7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p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1" name="Google Shape;981;p8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p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2" name="Google Shape;992;p8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p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2" name="Google Shape;1002;p8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p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3" name="Google Shape;1013;p8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5" name="Google Shape;1025;p8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p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6" name="Google Shape;1036;p8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p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 name="Google Shape;1048;p8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p:cNvGrpSpPr/>
        <p:nvPr/>
      </p:nvGrpSpPr>
      <p:grpSpPr>
        <a:xfrm>
          <a:off x="0" y="0"/>
          <a:ext cx="0" cy="0"/>
          <a:chOff x="0" y="0"/>
          <a:chExt cx="0" cy="0"/>
        </a:xfrm>
      </p:grpSpPr>
      <p:sp>
        <p:nvSpPr>
          <p:cNvPr id="1059" name="Google Shape;1059;p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0" name="Google Shape;1060;p8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p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0" name="Google Shape;1070;p8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p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1" name="Google Shape;1081;p9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p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2" name="Google Shape;1092;p9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9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9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9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9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9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9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9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9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9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9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9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9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26" name="Google Shape;26;p9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9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9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9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9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2" name="Google Shape;32;p9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3" name="Google Shape;33;p9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9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9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9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9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9" name="Google Shape;39;p9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0" name="Google Shape;40;p9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1" name="Google Shape;41;p9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2" name="Google Shape;42;p9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9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9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9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9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9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9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9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10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10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1"/>
          <p:cNvSpPr>
            <a:spLocks noGrp="1"/>
          </p:cNvSpPr>
          <p:nvPr>
            <p:ph type="pic" idx="2"/>
          </p:nvPr>
        </p:nvSpPr>
        <p:spPr>
          <a:xfrm>
            <a:off x="1792288" y="612775"/>
            <a:ext cx="5486400" cy="4114800"/>
          </a:xfrm>
          <a:prstGeom prst="rect">
            <a:avLst/>
          </a:prstGeom>
          <a:noFill/>
          <a:ln>
            <a:noFill/>
          </a:ln>
        </p:spPr>
      </p:sp>
      <p:sp>
        <p:nvSpPr>
          <p:cNvPr id="64" name="Google Shape;64;p10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0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0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0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0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0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0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0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0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0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9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9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9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9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9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image" Target="../media/image61.png"/></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62.png"/></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1.xml"/><Relationship Id="rId4" Type="http://schemas.openxmlformats.org/officeDocument/2006/relationships/image" Target="../media/image63.png"/></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image" Target="../media/image65.png"/></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1.xml"/><Relationship Id="rId4" Type="http://schemas.openxmlformats.org/officeDocument/2006/relationships/image" Target="../media/image66.png"/></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1.xml"/><Relationship Id="rId4" Type="http://schemas.openxmlformats.org/officeDocument/2006/relationships/image" Target="../media/image67.png"/></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1.xml"/><Relationship Id="rId4" Type="http://schemas.openxmlformats.org/officeDocument/2006/relationships/image" Target="../media/image68.png"/></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1.xml"/><Relationship Id="rId4" Type="http://schemas.openxmlformats.org/officeDocument/2006/relationships/image" Target="../media/image69.png"/></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1.xml"/><Relationship Id="rId4" Type="http://schemas.openxmlformats.org/officeDocument/2006/relationships/image" Target="../media/image71.png"/></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1.xml"/><Relationship Id="rId4" Type="http://schemas.openxmlformats.org/officeDocument/2006/relationships/image" Target="../media/image72.png"/></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1.xml"/><Relationship Id="rId4" Type="http://schemas.openxmlformats.org/officeDocument/2006/relationships/image" Target="../media/image73.png"/></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1.xml"/><Relationship Id="rId5" Type="http://schemas.openxmlformats.org/officeDocument/2006/relationships/image" Target="../media/image75.png"/><Relationship Id="rId4" Type="http://schemas.openxmlformats.org/officeDocument/2006/relationships/image" Target="../media/image74.png"/></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5.xml"/><Relationship Id="rId1" Type="http://schemas.openxmlformats.org/officeDocument/2006/relationships/slideLayout" Target="../slideLayouts/slideLayout1.xml"/><Relationship Id="rId4" Type="http://schemas.openxmlformats.org/officeDocument/2006/relationships/image" Target="../media/image76.png"/></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7.xml"/><Relationship Id="rId1" Type="http://schemas.openxmlformats.org/officeDocument/2006/relationships/slideLayout" Target="../slideLayouts/slideLayout1.xml"/><Relationship Id="rId4" Type="http://schemas.openxmlformats.org/officeDocument/2006/relationships/image" Target="../media/image77.png"/></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8.xml"/><Relationship Id="rId1" Type="http://schemas.openxmlformats.org/officeDocument/2006/relationships/slideLayout" Target="../slideLayouts/slideLayout1.xml"/><Relationship Id="rId4" Type="http://schemas.openxmlformats.org/officeDocument/2006/relationships/image" Target="../media/image78.png"/></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9.xml"/><Relationship Id="rId1" Type="http://schemas.openxmlformats.org/officeDocument/2006/relationships/slideLayout" Target="../slideLayouts/slideLayout1.xml"/><Relationship Id="rId4" Type="http://schemas.openxmlformats.org/officeDocument/2006/relationships/image" Target="../media/image7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85" name="Google Shape;85;p1"/>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86" name="Google Shape;86;p1"/>
          <p:cNvSpPr txBox="1">
            <a:spLocks noGrp="1"/>
          </p:cNvSpPr>
          <p:nvPr>
            <p:ph type="ctrTitle"/>
          </p:nvPr>
        </p:nvSpPr>
        <p:spPr>
          <a:xfrm>
            <a:off x="381000" y="762000"/>
            <a:ext cx="8382000" cy="3581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3999"/>
              </a:buClr>
              <a:buSzPts val="4400"/>
              <a:buFont typeface="Calibri"/>
              <a:buNone/>
            </a:pPr>
            <a:br>
              <a:rPr lang="en-US">
                <a:solidFill>
                  <a:srgbClr val="003999"/>
                </a:solidFill>
              </a:rPr>
            </a:br>
            <a:r>
              <a:rPr lang="en-US" b="1">
                <a:solidFill>
                  <a:schemeClr val="dk2"/>
                </a:solidFill>
                <a:latin typeface="Calibri"/>
                <a:ea typeface="Calibri"/>
                <a:cs typeface="Calibri"/>
                <a:sym typeface="Calibri"/>
              </a:rPr>
              <a:t>Bài 1</a:t>
            </a:r>
            <a:r>
              <a:rPr lang="en-US" b="1">
                <a:solidFill>
                  <a:schemeClr val="dk2"/>
                </a:solidFill>
              </a:rPr>
              <a:t>. </a:t>
            </a:r>
            <a:br>
              <a:rPr lang="en-US" b="1">
                <a:solidFill>
                  <a:schemeClr val="dk2"/>
                </a:solidFill>
              </a:rPr>
            </a:br>
            <a:r>
              <a:rPr lang="en-US" b="1">
                <a:solidFill>
                  <a:schemeClr val="dk2"/>
                </a:solidFill>
              </a:rPr>
              <a:t>Giới thiệu về Javascript</a:t>
            </a:r>
            <a:endParaRPr sz="4200">
              <a:solidFill>
                <a:schemeClr val="dk2"/>
              </a:solidFill>
              <a:latin typeface="Calibri"/>
              <a:ea typeface="Calibri"/>
              <a:cs typeface="Calibri"/>
              <a:sym typeface="Calibri"/>
            </a:endParaRPr>
          </a:p>
        </p:txBody>
      </p:sp>
      <p:pic>
        <p:nvPicPr>
          <p:cNvPr id="87" name="Google Shape;87;p1"/>
          <p:cNvPicPr preferRelativeResize="0"/>
          <p:nvPr/>
        </p:nvPicPr>
        <p:blipFill rotWithShape="1">
          <a:blip r:embed="rId3">
            <a:alphaModFix/>
          </a:blip>
          <a:srcRect/>
          <a:stretch/>
        </p:blipFill>
        <p:spPr>
          <a:xfrm>
            <a:off x="7373841" y="6206612"/>
            <a:ext cx="1389157" cy="48620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g11dce7f740a_0_0"/>
          <p:cNvSpPr txBox="1">
            <a:spLocks noGrp="1"/>
          </p:cNvSpPr>
          <p:nvPr>
            <p:ph type="subTitle" idx="1"/>
          </p:nvPr>
        </p:nvSpPr>
        <p:spPr>
          <a:xfrm>
            <a:off x="304800" y="6248400"/>
            <a:ext cx="5867400" cy="486300"/>
          </a:xfrm>
          <a:prstGeom prst="rect">
            <a:avLst/>
          </a:prstGeom>
          <a:noFill/>
          <a:ln>
            <a:noFill/>
          </a:ln>
        </p:spPr>
        <p:txBody>
          <a:bodyPr spcFirstLastPara="1" wrap="square" lIns="91425" tIns="45700" rIns="91425" bIns="45700" anchor="t" anchorCtr="0">
            <a:normAutofit fontScale="325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93" name="Google Shape;93;g11dce7f740a_0_0"/>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50"/>
              </a:srgbClr>
            </a:outerShdw>
          </a:effectLst>
        </p:spPr>
      </p:cxnSp>
      <p:sp>
        <p:nvSpPr>
          <p:cNvPr id="94" name="Google Shape;94;g11dce7f740a_0_0"/>
          <p:cNvSpPr txBox="1">
            <a:spLocks noGrp="1"/>
          </p:cNvSpPr>
          <p:nvPr>
            <p:ph type="ctrTitle"/>
          </p:nvPr>
        </p:nvSpPr>
        <p:spPr>
          <a:xfrm>
            <a:off x="381000" y="762000"/>
            <a:ext cx="8382000" cy="3581400"/>
          </a:xfrm>
          <a:prstGeom prst="rect">
            <a:avLst/>
          </a:prstGeom>
          <a:noFill/>
          <a:ln>
            <a:noFill/>
          </a:ln>
        </p:spPr>
        <p:txBody>
          <a:bodyPr spcFirstLastPara="1" wrap="square" lIns="91425" tIns="45700" rIns="91425" bIns="45700" anchor="ctr" anchorCtr="0">
            <a:normAutofit/>
          </a:bodyPr>
          <a:lstStyle/>
          <a:p>
            <a:pPr marL="457200" lvl="0" indent="-406400" algn="l" rtl="0">
              <a:spcBef>
                <a:spcPts val="0"/>
              </a:spcBef>
              <a:spcAft>
                <a:spcPts val="0"/>
              </a:spcAft>
              <a:buClr>
                <a:schemeClr val="dk2"/>
              </a:buClr>
              <a:buSzPts val="2800"/>
              <a:buChar char="●"/>
            </a:pPr>
            <a:r>
              <a:rPr lang="en-US" sz="2800">
                <a:solidFill>
                  <a:schemeClr val="dk2"/>
                </a:solidFill>
                <a:highlight>
                  <a:srgbClr val="FFFFFF"/>
                </a:highlight>
              </a:rPr>
              <a:t>Tổng quan về JavaScript</a:t>
            </a:r>
            <a:endParaRPr sz="2800">
              <a:solidFill>
                <a:schemeClr val="dk2"/>
              </a:solidFill>
              <a:highlight>
                <a:srgbClr val="FFFFFF"/>
              </a:highlight>
            </a:endParaRPr>
          </a:p>
          <a:p>
            <a:pPr marL="457200" lvl="0" indent="-406400" algn="l" rtl="0">
              <a:spcBef>
                <a:spcPts val="0"/>
              </a:spcBef>
              <a:spcAft>
                <a:spcPts val="0"/>
              </a:spcAft>
              <a:buClr>
                <a:schemeClr val="dk2"/>
              </a:buClr>
              <a:buSzPts val="2800"/>
              <a:buChar char="●"/>
            </a:pPr>
            <a:r>
              <a:rPr lang="en-US" sz="2800">
                <a:solidFill>
                  <a:schemeClr val="dk2"/>
                </a:solidFill>
                <a:highlight>
                  <a:srgbClr val="FFFFFF"/>
                </a:highlight>
              </a:rPr>
              <a:t>Biến, kiểu dữ liệu, toán tử</a:t>
            </a:r>
            <a:endParaRPr sz="2800">
              <a:solidFill>
                <a:schemeClr val="dk2"/>
              </a:solidFill>
              <a:highlight>
                <a:srgbClr val="FFFFFF"/>
              </a:highlight>
            </a:endParaRPr>
          </a:p>
          <a:p>
            <a:pPr marL="457200" lvl="0" indent="-406400" algn="l" rtl="0">
              <a:spcBef>
                <a:spcPts val="0"/>
              </a:spcBef>
              <a:spcAft>
                <a:spcPts val="0"/>
              </a:spcAft>
              <a:buClr>
                <a:schemeClr val="dk2"/>
              </a:buClr>
              <a:buSzPts val="2800"/>
              <a:buChar char="●"/>
            </a:pPr>
            <a:r>
              <a:rPr lang="en-US" sz="2800">
                <a:solidFill>
                  <a:schemeClr val="dk2"/>
                </a:solidFill>
                <a:highlight>
                  <a:srgbClr val="FFFFFF"/>
                </a:highlight>
              </a:rPr>
              <a:t>Khái niệm scope </a:t>
            </a:r>
            <a:endParaRPr sz="2800">
              <a:solidFill>
                <a:schemeClr val="dk2"/>
              </a:solidFill>
              <a:highlight>
                <a:srgbClr val="FFFFFF"/>
              </a:highlight>
            </a:endParaRPr>
          </a:p>
          <a:p>
            <a:pPr marL="457200" lvl="0" indent="-406400" algn="l" rtl="0">
              <a:spcBef>
                <a:spcPts val="0"/>
              </a:spcBef>
              <a:spcAft>
                <a:spcPts val="0"/>
              </a:spcAft>
              <a:buClr>
                <a:schemeClr val="dk2"/>
              </a:buClr>
              <a:buSzPts val="2800"/>
              <a:buChar char="●"/>
            </a:pPr>
            <a:r>
              <a:rPr lang="en-US" sz="2800">
                <a:solidFill>
                  <a:schemeClr val="dk2"/>
                </a:solidFill>
                <a:highlight>
                  <a:srgbClr val="FFFFFF"/>
                </a:highlight>
              </a:rPr>
              <a:t>Cấu trúc điều kiện, cấu trúc lặp</a:t>
            </a:r>
            <a:endParaRPr sz="2800">
              <a:solidFill>
                <a:schemeClr val="dk2"/>
              </a:solidFill>
              <a:highlight>
                <a:srgbClr val="FFFFFF"/>
              </a:highlight>
            </a:endParaRPr>
          </a:p>
          <a:p>
            <a:pPr marL="457200" lvl="0" indent="-406400" algn="l" rtl="0">
              <a:spcBef>
                <a:spcPts val="0"/>
              </a:spcBef>
              <a:spcAft>
                <a:spcPts val="0"/>
              </a:spcAft>
              <a:buClr>
                <a:schemeClr val="dk2"/>
              </a:buClr>
              <a:buSzPts val="2800"/>
              <a:buChar char="●"/>
            </a:pPr>
            <a:r>
              <a:rPr lang="en-US" sz="2800">
                <a:solidFill>
                  <a:schemeClr val="dk2"/>
                </a:solidFill>
                <a:highlight>
                  <a:srgbClr val="FFFFFF"/>
                </a:highlight>
              </a:rPr>
              <a:t>Truthy và Falsy</a:t>
            </a:r>
            <a:endParaRPr sz="2800">
              <a:solidFill>
                <a:schemeClr val="dk2"/>
              </a:solidFill>
              <a:highlight>
                <a:srgbClr val="FFFFFF"/>
              </a:highlight>
            </a:endParaRPr>
          </a:p>
        </p:txBody>
      </p:sp>
      <p:pic>
        <p:nvPicPr>
          <p:cNvPr id="95" name="Google Shape;95;g11dce7f740a_0_0"/>
          <p:cNvPicPr preferRelativeResize="0"/>
          <p:nvPr/>
        </p:nvPicPr>
        <p:blipFill rotWithShape="1">
          <a:blip r:embed="rId3">
            <a:alphaModFix/>
          </a:blip>
          <a:srcRect/>
          <a:stretch/>
        </p:blipFill>
        <p:spPr>
          <a:xfrm>
            <a:off x="7373841" y="6206612"/>
            <a:ext cx="1389157" cy="48620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01" name="Google Shape;101;p2"/>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102" name="Google Shape;102;p2"/>
          <p:cNvSpPr txBox="1">
            <a:spLocks noGrp="1"/>
          </p:cNvSpPr>
          <p:nvPr>
            <p:ph type="ctrTitle"/>
          </p:nvPr>
        </p:nvSpPr>
        <p:spPr>
          <a:xfrm>
            <a:off x="609600" y="802742"/>
            <a:ext cx="7924800" cy="73153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200"/>
              <a:buFont typeface="Calibri"/>
              <a:buNone/>
            </a:pPr>
            <a:r>
              <a:rPr lang="en-US" sz="4200">
                <a:solidFill>
                  <a:schemeClr val="dk2"/>
                </a:solidFill>
                <a:latin typeface="Calibri"/>
                <a:ea typeface="Calibri"/>
                <a:cs typeface="Calibri"/>
                <a:sym typeface="Calibri"/>
              </a:rPr>
              <a:t>Javascript là gì?</a:t>
            </a:r>
            <a:endParaRPr/>
          </a:p>
        </p:txBody>
      </p:sp>
      <p:pic>
        <p:nvPicPr>
          <p:cNvPr id="103" name="Google Shape;103;p2"/>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04" name="Google Shape;104;p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2"/>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i="0" u="none" strike="noStrike" cap="none">
                <a:solidFill>
                  <a:schemeClr val="dk2"/>
                </a:solidFill>
                <a:latin typeface="Arial"/>
                <a:ea typeface="Arial"/>
                <a:cs typeface="Arial"/>
                <a:sym typeface="Arial"/>
              </a:rPr>
              <a:t>NỘI DUNG</a:t>
            </a:r>
            <a:endParaRPr/>
          </a:p>
        </p:txBody>
      </p:sp>
      <p:sp>
        <p:nvSpPr>
          <p:cNvPr id="106" name="Google Shape;106;p2"/>
          <p:cNvSpPr txBox="1"/>
          <p:nvPr/>
        </p:nvSpPr>
        <p:spPr>
          <a:xfrm>
            <a:off x="609600" y="2133599"/>
            <a:ext cx="8077200"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0" i="0" u="none" strike="noStrike" cap="none">
                <a:solidFill>
                  <a:schemeClr val="dk2"/>
                </a:solidFill>
                <a:latin typeface="Calibri"/>
                <a:ea typeface="Calibri"/>
                <a:cs typeface="Calibri"/>
                <a:sym typeface="Calibri"/>
              </a:rPr>
              <a:t>“Javascript is a high-level, prototype-base object-oriented, multi-paradigm programming language”</a:t>
            </a:r>
            <a:endParaRPr/>
          </a:p>
        </p:txBody>
      </p:sp>
      <p:sp>
        <p:nvSpPr>
          <p:cNvPr id="107" name="Google Shape;107;p2"/>
          <p:cNvSpPr txBox="1"/>
          <p:nvPr/>
        </p:nvSpPr>
        <p:spPr>
          <a:xfrm>
            <a:off x="609600" y="3429000"/>
            <a:ext cx="7924800" cy="1015800"/>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2"/>
              </a:buClr>
              <a:buSzPts val="2000"/>
              <a:buFont typeface="Arial"/>
              <a:buChar char="•"/>
            </a:pPr>
            <a:r>
              <a:rPr lang="en-US" sz="2000" b="0" i="0" u="none" strike="noStrike" cap="none">
                <a:solidFill>
                  <a:schemeClr val="dk2"/>
                </a:solidFill>
                <a:latin typeface="Calibri"/>
                <a:ea typeface="Calibri"/>
                <a:cs typeface="Calibri"/>
                <a:sym typeface="Calibri"/>
              </a:rPr>
              <a:t>Javascript là ngôn ngữ lập trình bậc cao</a:t>
            </a:r>
            <a:endParaRPr sz="2000" b="0" i="0" u="none" strike="noStrike" cap="none">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000"/>
              <a:buFont typeface="Arial"/>
              <a:buChar char="•"/>
            </a:pPr>
            <a:r>
              <a:rPr lang="en-US" sz="2000" b="0" i="0" u="none" strike="noStrike" cap="none">
                <a:solidFill>
                  <a:schemeClr val="dk2"/>
                </a:solidFill>
                <a:latin typeface="Calibri"/>
                <a:ea typeface="Calibri"/>
                <a:cs typeface="Calibri"/>
                <a:sym typeface="Calibri"/>
              </a:rPr>
              <a:t>Javascript là ngôn ngữ lập trình dựa trên hướng đối tượng</a:t>
            </a:r>
            <a:endParaRPr sz="2000" b="0" i="0" u="none" strike="noStrike" cap="none">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000"/>
              <a:buFont typeface="Arial"/>
              <a:buChar char="•"/>
            </a:pPr>
            <a:r>
              <a:rPr lang="en-US" sz="2000" b="0" i="0" u="none" strike="noStrike" cap="none">
                <a:solidFill>
                  <a:schemeClr val="dk2"/>
                </a:solidFill>
                <a:latin typeface="Calibri"/>
                <a:ea typeface="Calibri"/>
                <a:cs typeface="Calibri"/>
                <a:sym typeface="Calibri"/>
              </a:rPr>
              <a:t>Javascript là ngôn ngữ lập trình đa mô hình</a:t>
            </a:r>
            <a:endParaRPr sz="2000" b="0" i="0" u="none" strike="noStrike" cap="none">
              <a:solidFill>
                <a:schemeClr val="dk2"/>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13" name="Google Shape;113;p3"/>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114" name="Google Shape;114;p3"/>
          <p:cNvSpPr txBox="1">
            <a:spLocks noGrp="1"/>
          </p:cNvSpPr>
          <p:nvPr>
            <p:ph type="ctrTitle"/>
          </p:nvPr>
        </p:nvSpPr>
        <p:spPr>
          <a:xfrm>
            <a:off x="381000" y="762000"/>
            <a:ext cx="8382000" cy="3581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3999"/>
              </a:buClr>
              <a:buSzPts val="4400"/>
              <a:buFont typeface="Calibri"/>
              <a:buNone/>
            </a:pPr>
            <a:br>
              <a:rPr lang="en-US">
                <a:solidFill>
                  <a:srgbClr val="003999"/>
                </a:solidFill>
              </a:rPr>
            </a:br>
            <a:endParaRPr sz="4200">
              <a:solidFill>
                <a:schemeClr val="dk2"/>
              </a:solidFill>
              <a:latin typeface="Calibri"/>
              <a:ea typeface="Calibri"/>
              <a:cs typeface="Calibri"/>
              <a:sym typeface="Calibri"/>
            </a:endParaRPr>
          </a:p>
        </p:txBody>
      </p:sp>
      <p:pic>
        <p:nvPicPr>
          <p:cNvPr id="115" name="Google Shape;115;p3"/>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16" name="Google Shape;116;p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7" name="Google Shape;117;p3"/>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i="0" u="none" strike="noStrike" cap="none">
                <a:solidFill>
                  <a:schemeClr val="dk2"/>
                </a:solidFill>
                <a:latin typeface="Arial"/>
                <a:ea typeface="Arial"/>
                <a:cs typeface="Arial"/>
                <a:sym typeface="Arial"/>
              </a:rPr>
              <a:t>NỘI DUNG</a:t>
            </a:r>
            <a:endParaRPr/>
          </a:p>
        </p:txBody>
      </p:sp>
      <p:sp>
        <p:nvSpPr>
          <p:cNvPr id="118" name="Google Shape;118;p3"/>
          <p:cNvSpPr txBox="1"/>
          <p:nvPr/>
        </p:nvSpPr>
        <p:spPr>
          <a:xfrm>
            <a:off x="342900" y="1094885"/>
            <a:ext cx="8458200" cy="3170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a:solidFill>
                  <a:schemeClr val="dk2"/>
                </a:solidFill>
                <a:latin typeface="Calibri"/>
                <a:ea typeface="Calibri"/>
                <a:cs typeface="Calibri"/>
                <a:sym typeface="Calibri"/>
              </a:rPr>
              <a:t>High-level Programming language</a:t>
            </a:r>
            <a:endParaRPr/>
          </a:p>
          <a:p>
            <a:pPr marL="0" marR="0" lvl="0" indent="0" algn="l" rtl="0">
              <a:spcBef>
                <a:spcPts val="0"/>
              </a:spcBef>
              <a:spcAft>
                <a:spcPts val="0"/>
              </a:spcAft>
              <a:buNone/>
            </a:pPr>
            <a:r>
              <a:rPr lang="en-US" sz="2000">
                <a:solidFill>
                  <a:schemeClr val="dk2"/>
                </a:solidFill>
                <a:latin typeface="Calibri"/>
                <a:ea typeface="Calibri"/>
                <a:cs typeface="Calibri"/>
                <a:sym typeface="Calibri"/>
              </a:rPr>
              <a:t>Ngôn ngữ lập trình bậc cao</a:t>
            </a:r>
            <a:endParaRPr sz="20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000"/>
              <a:buFont typeface="Arial"/>
              <a:buChar char="•"/>
            </a:pPr>
            <a:r>
              <a:rPr lang="en-US" sz="2000">
                <a:solidFill>
                  <a:schemeClr val="dk2"/>
                </a:solidFill>
                <a:latin typeface="Calibri"/>
                <a:ea typeface="Calibri"/>
                <a:cs typeface="Calibri"/>
                <a:sym typeface="Calibri"/>
              </a:rPr>
              <a:t>Mang tính trừu tượng, gần giống với ngôn ngữ tự nhiên của con người nhất.</a:t>
            </a:r>
            <a:endParaRPr sz="2000">
              <a:solidFill>
                <a:schemeClr val="dk2"/>
              </a:solidFill>
              <a:latin typeface="Calibri"/>
              <a:ea typeface="Calibri"/>
              <a:cs typeface="Calibri"/>
              <a:sym typeface="Calibri"/>
            </a:endParaRPr>
          </a:p>
          <a:p>
            <a:pPr marL="0" marR="0" lvl="0" indent="0" algn="l" rtl="0">
              <a:spcBef>
                <a:spcPts val="0"/>
              </a:spcBef>
              <a:spcAft>
                <a:spcPts val="0"/>
              </a:spcAft>
              <a:buNone/>
            </a:pPr>
            <a:r>
              <a:rPr lang="en-US" sz="2000">
                <a:solidFill>
                  <a:schemeClr val="dk2"/>
                </a:solidFill>
                <a:latin typeface="Calibri"/>
                <a:ea typeface="Calibri"/>
                <a:cs typeface="Calibri"/>
                <a:sym typeface="Calibri"/>
              </a:rPr>
              <a:t>Object-Oriented Programming language</a:t>
            </a:r>
            <a:endParaRPr/>
          </a:p>
          <a:p>
            <a:pPr marL="0" marR="0" lvl="0" indent="0" algn="l" rtl="0">
              <a:spcBef>
                <a:spcPts val="0"/>
              </a:spcBef>
              <a:spcAft>
                <a:spcPts val="0"/>
              </a:spcAft>
              <a:buNone/>
            </a:pPr>
            <a:r>
              <a:rPr lang="en-US" sz="2000">
                <a:solidFill>
                  <a:schemeClr val="dk2"/>
                </a:solidFill>
                <a:latin typeface="Calibri"/>
                <a:ea typeface="Calibri"/>
                <a:cs typeface="Calibri"/>
                <a:sym typeface="Calibri"/>
              </a:rPr>
              <a:t>Ngôn ngữ lập trình hướng đối tượng</a:t>
            </a:r>
            <a:endParaRPr sz="20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000"/>
              <a:buFont typeface="Arial"/>
              <a:buChar char="•"/>
            </a:pPr>
            <a:r>
              <a:rPr lang="en-US" sz="2000">
                <a:solidFill>
                  <a:schemeClr val="dk2"/>
                </a:solidFill>
                <a:latin typeface="Calibri"/>
                <a:ea typeface="Calibri"/>
                <a:cs typeface="Calibri"/>
                <a:sym typeface="Calibri"/>
              </a:rPr>
              <a:t>Cho phép tạo ra các đối tượng, trừu tượng hóa đối tượng bằng mã code</a:t>
            </a:r>
            <a:endParaRPr sz="2000">
              <a:solidFill>
                <a:schemeClr val="dk2"/>
              </a:solidFill>
              <a:latin typeface="Calibri"/>
              <a:ea typeface="Calibri"/>
              <a:cs typeface="Calibri"/>
              <a:sym typeface="Calibri"/>
            </a:endParaRPr>
          </a:p>
          <a:p>
            <a:pPr marL="0" marR="0" lvl="0" indent="0" algn="l" rtl="0">
              <a:spcBef>
                <a:spcPts val="0"/>
              </a:spcBef>
              <a:spcAft>
                <a:spcPts val="0"/>
              </a:spcAft>
              <a:buNone/>
            </a:pPr>
            <a:r>
              <a:rPr lang="en-US" sz="2000">
                <a:solidFill>
                  <a:schemeClr val="dk2"/>
                </a:solidFill>
                <a:latin typeface="Calibri"/>
                <a:ea typeface="Calibri"/>
                <a:cs typeface="Calibri"/>
                <a:sym typeface="Calibri"/>
              </a:rPr>
              <a:t>Multi-paradigm Programming language</a:t>
            </a:r>
            <a:endParaRPr/>
          </a:p>
          <a:p>
            <a:pPr marL="0" marR="0" lvl="0" indent="0" algn="l" rtl="0">
              <a:spcBef>
                <a:spcPts val="0"/>
              </a:spcBef>
              <a:spcAft>
                <a:spcPts val="0"/>
              </a:spcAft>
              <a:buNone/>
            </a:pPr>
            <a:r>
              <a:rPr lang="en-US" sz="2000">
                <a:solidFill>
                  <a:schemeClr val="dk2"/>
                </a:solidFill>
                <a:latin typeface="Calibri"/>
                <a:ea typeface="Calibri"/>
                <a:cs typeface="Calibri"/>
                <a:sym typeface="Calibri"/>
              </a:rPr>
              <a:t>Ngôn ngữ đa mô hình</a:t>
            </a:r>
            <a:endParaRPr sz="20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000"/>
              <a:buFont typeface="Arial"/>
              <a:buChar char="•"/>
            </a:pPr>
            <a:r>
              <a:rPr lang="en-US" sz="2000">
                <a:solidFill>
                  <a:schemeClr val="dk2"/>
                </a:solidFill>
                <a:latin typeface="Calibri"/>
                <a:ea typeface="Calibri"/>
                <a:cs typeface="Calibri"/>
                <a:sym typeface="Calibri"/>
              </a:rPr>
              <a:t>Là sự kết hợp giữa lập trình hướng đối tượng và lập trình thủ tục, lập trình hàm</a:t>
            </a:r>
            <a:endParaRPr sz="2000">
              <a:solidFill>
                <a:schemeClr val="dk2"/>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2"/>
        <p:cNvGrpSpPr/>
        <p:nvPr/>
      </p:nvGrpSpPr>
      <p:grpSpPr>
        <a:xfrm>
          <a:off x="0" y="0"/>
          <a:ext cx="0" cy="0"/>
          <a:chOff x="0" y="0"/>
          <a:chExt cx="0" cy="0"/>
        </a:xfrm>
      </p:grpSpPr>
      <p:sp>
        <p:nvSpPr>
          <p:cNvPr id="123" name="Google Shape;123;p4"/>
          <p:cNvSpPr txBox="1">
            <a:spLocks noGrp="1"/>
          </p:cNvSpPr>
          <p:nvPr>
            <p:ph type="ctrTitle"/>
          </p:nvPr>
        </p:nvSpPr>
        <p:spPr>
          <a:xfrm>
            <a:off x="381000" y="762000"/>
            <a:ext cx="8382000" cy="3581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3999"/>
              </a:buClr>
              <a:buSzPts val="4400"/>
              <a:buFont typeface="Calibri"/>
              <a:buNone/>
            </a:pPr>
            <a:br>
              <a:rPr lang="en-US">
                <a:solidFill>
                  <a:srgbClr val="003999"/>
                </a:solidFill>
              </a:rPr>
            </a:br>
            <a:endParaRPr sz="4200">
              <a:solidFill>
                <a:schemeClr val="dk2"/>
              </a:solidFill>
              <a:latin typeface="Calibri"/>
              <a:ea typeface="Calibri"/>
              <a:cs typeface="Calibri"/>
              <a:sym typeface="Calibri"/>
            </a:endParaRPr>
          </a:p>
        </p:txBody>
      </p:sp>
      <p:sp>
        <p:nvSpPr>
          <p:cNvPr id="124" name="Google Shape;124;p4"/>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25" name="Google Shape;125;p4"/>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126" name="Google Shape;126;p4"/>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27" name="Google Shape;127;p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8" name="Google Shape;128;p4"/>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29" name="Google Shape;129;p4"/>
          <p:cNvSpPr txBox="1"/>
          <p:nvPr/>
        </p:nvSpPr>
        <p:spPr>
          <a:xfrm>
            <a:off x="342901" y="650343"/>
            <a:ext cx="8458200" cy="5448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Lịch sử và sự phát triển của JavaScript</a:t>
            </a:r>
            <a:endParaRPr sz="2800">
              <a:solidFill>
                <a:schemeClr val="dk2"/>
              </a:solidFill>
              <a:latin typeface="Calibri"/>
              <a:ea typeface="Calibri"/>
              <a:cs typeface="Calibri"/>
              <a:sym typeface="Calibri"/>
            </a:endParaRPr>
          </a:p>
          <a:p>
            <a:pPr marL="0" marR="0" lvl="0" indent="0" algn="l" rtl="0">
              <a:spcBef>
                <a:spcPts val="0"/>
              </a:spcBef>
              <a:spcAft>
                <a:spcPts val="0"/>
              </a:spcAft>
              <a:buNone/>
            </a:pPr>
            <a:endParaRPr sz="2000">
              <a:solidFill>
                <a:schemeClr val="dk2"/>
              </a:solidFill>
              <a:latin typeface="Calibri"/>
              <a:ea typeface="Calibri"/>
              <a:cs typeface="Calibri"/>
              <a:sym typeface="Calibri"/>
            </a:endParaRPr>
          </a:p>
          <a:p>
            <a:pPr marL="0" marR="0" lvl="0" indent="0" algn="l" rtl="0">
              <a:spcBef>
                <a:spcPts val="0"/>
              </a:spcBef>
              <a:spcAft>
                <a:spcPts val="0"/>
              </a:spcAft>
              <a:buNone/>
            </a:pPr>
            <a:r>
              <a:rPr lang="en-US" sz="2000">
                <a:solidFill>
                  <a:schemeClr val="dk2"/>
                </a:solidFill>
                <a:latin typeface="Calibri"/>
                <a:ea typeface="Calibri"/>
                <a:cs typeface="Calibri"/>
                <a:sym typeface="Calibri"/>
              </a:rPr>
              <a:t>1995: Brendan Eich tạo ra phiên bản đầu tiên của Javascript, gọi là Mocha</a:t>
            </a:r>
            <a:endParaRPr/>
          </a:p>
          <a:p>
            <a:pPr marL="0" marR="0" lvl="0" indent="0" algn="l" rtl="0">
              <a:spcBef>
                <a:spcPts val="0"/>
              </a:spcBef>
              <a:spcAft>
                <a:spcPts val="0"/>
              </a:spcAft>
              <a:buNone/>
            </a:pPr>
            <a:endParaRPr sz="2000">
              <a:solidFill>
                <a:schemeClr val="dk2"/>
              </a:solidFill>
              <a:latin typeface="Calibri"/>
              <a:ea typeface="Calibri"/>
              <a:cs typeface="Calibri"/>
              <a:sym typeface="Calibri"/>
            </a:endParaRPr>
          </a:p>
          <a:p>
            <a:pPr marL="0" marR="0" lvl="0" indent="0" algn="l" rtl="0">
              <a:spcBef>
                <a:spcPts val="0"/>
              </a:spcBef>
              <a:spcAft>
                <a:spcPts val="0"/>
              </a:spcAft>
              <a:buNone/>
            </a:pPr>
            <a:r>
              <a:rPr lang="en-US" sz="2000">
                <a:solidFill>
                  <a:schemeClr val="dk2"/>
                </a:solidFill>
                <a:latin typeface="Calibri"/>
                <a:ea typeface="Calibri"/>
                <a:cs typeface="Calibri"/>
                <a:sym typeface="Calibri"/>
              </a:rPr>
              <a:t>1996: Mocha đổi tên LiveScript sau đó đổi thành JavaScript, chủ yếu là để gây chú ý đến cộng đồng ngôn ngữ Java. Cùng năm Microsoft cho ra lò IE, và họ đã sao chép Javascript và gọi là Jscript</a:t>
            </a:r>
            <a:endParaRPr/>
          </a:p>
          <a:p>
            <a:pPr marL="0" marR="0" lvl="0" indent="0" algn="l" rtl="0">
              <a:spcBef>
                <a:spcPts val="0"/>
              </a:spcBef>
              <a:spcAft>
                <a:spcPts val="0"/>
              </a:spcAft>
              <a:buNone/>
            </a:pPr>
            <a:endParaRPr sz="2000">
              <a:solidFill>
                <a:schemeClr val="dk2"/>
              </a:solidFill>
              <a:latin typeface="Calibri"/>
              <a:ea typeface="Calibri"/>
              <a:cs typeface="Calibri"/>
              <a:sym typeface="Calibri"/>
            </a:endParaRPr>
          </a:p>
          <a:p>
            <a:pPr marL="0" marR="0" lvl="0" indent="0" algn="l" rtl="0">
              <a:spcBef>
                <a:spcPts val="0"/>
              </a:spcBef>
              <a:spcAft>
                <a:spcPts val="0"/>
              </a:spcAft>
              <a:buNone/>
            </a:pPr>
            <a:r>
              <a:rPr lang="en-US" sz="2000">
                <a:solidFill>
                  <a:schemeClr val="dk2"/>
                </a:solidFill>
                <a:latin typeface="Calibri"/>
                <a:ea typeface="Calibri"/>
                <a:cs typeface="Calibri"/>
                <a:sym typeface="Calibri"/>
              </a:rPr>
              <a:t>1997: Vì cần chuẩn hóa ngôn ngữ, ECMA cho ra đời ECMAScript (ES1), chuẩn hóa đầu tiên của Javascript</a:t>
            </a:r>
            <a:endParaRPr sz="2000">
              <a:solidFill>
                <a:schemeClr val="dk2"/>
              </a:solidFill>
              <a:latin typeface="Calibri"/>
              <a:ea typeface="Calibri"/>
              <a:cs typeface="Calibri"/>
              <a:sym typeface="Calibri"/>
            </a:endParaRPr>
          </a:p>
          <a:p>
            <a:pPr marL="0" marR="0" lvl="0" indent="0" algn="l" rtl="0">
              <a:spcBef>
                <a:spcPts val="0"/>
              </a:spcBef>
              <a:spcAft>
                <a:spcPts val="0"/>
              </a:spcAft>
              <a:buNone/>
            </a:pPr>
            <a:endParaRPr sz="2000">
              <a:solidFill>
                <a:schemeClr val="dk2"/>
              </a:solidFill>
              <a:latin typeface="Calibri"/>
              <a:ea typeface="Calibri"/>
              <a:cs typeface="Calibri"/>
              <a:sym typeface="Calibri"/>
            </a:endParaRPr>
          </a:p>
          <a:p>
            <a:pPr marL="0" marR="0" lvl="0" indent="0" algn="l" rtl="0">
              <a:spcBef>
                <a:spcPts val="0"/>
              </a:spcBef>
              <a:spcAft>
                <a:spcPts val="0"/>
              </a:spcAft>
              <a:buNone/>
            </a:pPr>
            <a:r>
              <a:rPr lang="en-US" sz="2000">
                <a:solidFill>
                  <a:schemeClr val="dk2"/>
                </a:solidFill>
                <a:latin typeface="Calibri"/>
                <a:ea typeface="Calibri"/>
                <a:cs typeface="Calibri"/>
                <a:sym typeface="Calibri"/>
              </a:rPr>
              <a:t>2009: ES5 ra đời cùng với rất nhiều tính năng mới đột phá</a:t>
            </a:r>
            <a:endParaRPr sz="2000">
              <a:solidFill>
                <a:schemeClr val="dk2"/>
              </a:solidFill>
              <a:latin typeface="Calibri"/>
              <a:ea typeface="Calibri"/>
              <a:cs typeface="Calibri"/>
              <a:sym typeface="Calibri"/>
            </a:endParaRPr>
          </a:p>
          <a:p>
            <a:pPr marL="0" marR="0" lvl="0" indent="0" algn="l" rtl="0">
              <a:spcBef>
                <a:spcPts val="0"/>
              </a:spcBef>
              <a:spcAft>
                <a:spcPts val="0"/>
              </a:spcAft>
              <a:buNone/>
            </a:pPr>
            <a:endParaRPr sz="2000">
              <a:solidFill>
                <a:schemeClr val="dk2"/>
              </a:solidFill>
              <a:latin typeface="Calibri"/>
              <a:ea typeface="Calibri"/>
              <a:cs typeface="Calibri"/>
              <a:sym typeface="Calibri"/>
            </a:endParaRPr>
          </a:p>
          <a:p>
            <a:pPr marL="0" marR="0" lvl="0" indent="0" algn="l" rtl="0">
              <a:spcBef>
                <a:spcPts val="0"/>
              </a:spcBef>
              <a:spcAft>
                <a:spcPts val="0"/>
              </a:spcAft>
              <a:buNone/>
            </a:pPr>
            <a:r>
              <a:rPr lang="en-US" sz="2000">
                <a:solidFill>
                  <a:schemeClr val="dk2"/>
                </a:solidFill>
                <a:latin typeface="Calibri"/>
                <a:ea typeface="Calibri"/>
                <a:cs typeface="Calibri"/>
                <a:sym typeface="Calibri"/>
              </a:rPr>
              <a:t>2015: ES6/ES2015 ra đời mang tới nhiều sự thay đổi và tính năng hiện đại</a:t>
            </a:r>
            <a:endParaRPr sz="2000">
              <a:solidFill>
                <a:schemeClr val="dk2"/>
              </a:solidFill>
              <a:latin typeface="Calibri"/>
              <a:ea typeface="Calibri"/>
              <a:cs typeface="Calibri"/>
              <a:sym typeface="Calibri"/>
            </a:endParaRPr>
          </a:p>
          <a:p>
            <a:pPr marL="0" marR="0" lvl="0" indent="0" algn="l" rtl="0">
              <a:spcBef>
                <a:spcPts val="0"/>
              </a:spcBef>
              <a:spcAft>
                <a:spcPts val="0"/>
              </a:spcAft>
              <a:buNone/>
            </a:pPr>
            <a:endParaRPr sz="2000">
              <a:solidFill>
                <a:schemeClr val="dk2"/>
              </a:solidFill>
              <a:latin typeface="Calibri"/>
              <a:ea typeface="Calibri"/>
              <a:cs typeface="Calibri"/>
              <a:sym typeface="Calibri"/>
            </a:endParaRPr>
          </a:p>
          <a:p>
            <a:pPr marL="0" marR="0" lvl="0" indent="0" algn="l" rtl="0">
              <a:spcBef>
                <a:spcPts val="0"/>
              </a:spcBef>
              <a:spcAft>
                <a:spcPts val="0"/>
              </a:spcAft>
              <a:buNone/>
            </a:pPr>
            <a:r>
              <a:rPr lang="en-US" sz="2000">
                <a:solidFill>
                  <a:schemeClr val="dk2"/>
                </a:solidFill>
                <a:latin typeface="Calibri"/>
                <a:ea typeface="Calibri"/>
                <a:cs typeface="Calibri"/>
                <a:sym typeface="Calibri"/>
              </a:rPr>
              <a:t>2016-nay: Các bản cập nhập và nâng cấp tính năng được update liên tục theo năm(ES2016 / ES2017 / ES2018 / ES2019 / ES2020 / ES2021 /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3"/>
        <p:cNvGrpSpPr/>
        <p:nvPr/>
      </p:nvGrpSpPr>
      <p:grpSpPr>
        <a:xfrm>
          <a:off x="0" y="0"/>
          <a:ext cx="0" cy="0"/>
          <a:chOff x="0" y="0"/>
          <a:chExt cx="0" cy="0"/>
        </a:xfrm>
      </p:grpSpPr>
      <p:sp>
        <p:nvSpPr>
          <p:cNvPr id="134" name="Google Shape;134;p5"/>
          <p:cNvSpPr txBox="1">
            <a:spLocks noGrp="1"/>
          </p:cNvSpPr>
          <p:nvPr>
            <p:ph type="ctrTitle"/>
          </p:nvPr>
        </p:nvSpPr>
        <p:spPr>
          <a:xfrm>
            <a:off x="381000" y="762000"/>
            <a:ext cx="8382000" cy="3581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3999"/>
              </a:buClr>
              <a:buSzPts val="4400"/>
              <a:buFont typeface="Calibri"/>
              <a:buNone/>
            </a:pPr>
            <a:br>
              <a:rPr lang="en-US">
                <a:solidFill>
                  <a:srgbClr val="003999"/>
                </a:solidFill>
              </a:rPr>
            </a:br>
            <a:endParaRPr sz="4200">
              <a:solidFill>
                <a:schemeClr val="dk2"/>
              </a:solidFill>
              <a:latin typeface="Calibri"/>
              <a:ea typeface="Calibri"/>
              <a:cs typeface="Calibri"/>
              <a:sym typeface="Calibri"/>
            </a:endParaRPr>
          </a:p>
        </p:txBody>
      </p:sp>
      <p:sp>
        <p:nvSpPr>
          <p:cNvPr id="135" name="Google Shape;135;p5"/>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36" name="Google Shape;136;p5"/>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137" name="Google Shape;137;p5"/>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38" name="Google Shape;138;p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9" name="Google Shape;139;p5"/>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40" name="Google Shape;140;p5"/>
          <p:cNvSpPr txBox="1"/>
          <p:nvPr/>
        </p:nvSpPr>
        <p:spPr>
          <a:xfrm>
            <a:off x="380999" y="731518"/>
            <a:ext cx="838199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Lịch sử và sự phát triển của Javascipt</a:t>
            </a:r>
            <a:endParaRPr sz="2800">
              <a:solidFill>
                <a:schemeClr val="dk2"/>
              </a:solidFill>
              <a:latin typeface="Calibri"/>
              <a:ea typeface="Calibri"/>
              <a:cs typeface="Calibri"/>
              <a:sym typeface="Calibri"/>
            </a:endParaRPr>
          </a:p>
        </p:txBody>
      </p:sp>
      <p:pic>
        <p:nvPicPr>
          <p:cNvPr id="141" name="Google Shape;141;p5"/>
          <p:cNvPicPr preferRelativeResize="0"/>
          <p:nvPr/>
        </p:nvPicPr>
        <p:blipFill rotWithShape="1">
          <a:blip r:embed="rId4">
            <a:alphaModFix/>
          </a:blip>
          <a:srcRect/>
          <a:stretch/>
        </p:blipFill>
        <p:spPr>
          <a:xfrm>
            <a:off x="0" y="2339443"/>
            <a:ext cx="9144000" cy="217911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5"/>
        <p:cNvGrpSpPr/>
        <p:nvPr/>
      </p:nvGrpSpPr>
      <p:grpSpPr>
        <a:xfrm>
          <a:off x="0" y="0"/>
          <a:ext cx="0" cy="0"/>
          <a:chOff x="0" y="0"/>
          <a:chExt cx="0" cy="0"/>
        </a:xfrm>
      </p:grpSpPr>
      <p:sp>
        <p:nvSpPr>
          <p:cNvPr id="146" name="Google Shape;146;p6"/>
          <p:cNvSpPr txBox="1">
            <a:spLocks noGrp="1"/>
          </p:cNvSpPr>
          <p:nvPr>
            <p:ph type="ctrTitle"/>
          </p:nvPr>
        </p:nvSpPr>
        <p:spPr>
          <a:xfrm>
            <a:off x="381000" y="762000"/>
            <a:ext cx="8382000" cy="3581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3999"/>
              </a:buClr>
              <a:buSzPts val="4400"/>
              <a:buFont typeface="Calibri"/>
              <a:buNone/>
            </a:pPr>
            <a:br>
              <a:rPr lang="en-US">
                <a:solidFill>
                  <a:srgbClr val="003999"/>
                </a:solidFill>
              </a:rPr>
            </a:br>
            <a:endParaRPr sz="4200">
              <a:solidFill>
                <a:schemeClr val="dk2"/>
              </a:solidFill>
              <a:latin typeface="Calibri"/>
              <a:ea typeface="Calibri"/>
              <a:cs typeface="Calibri"/>
              <a:sym typeface="Calibri"/>
            </a:endParaRPr>
          </a:p>
        </p:txBody>
      </p:sp>
      <p:sp>
        <p:nvSpPr>
          <p:cNvPr id="147" name="Google Shape;147;p6"/>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48" name="Google Shape;148;p6"/>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149" name="Google Shape;149;p6"/>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50" name="Google Shape;150;p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 name="Google Shape;151;p6"/>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52" name="Google Shape;152;p6"/>
          <p:cNvSpPr txBox="1"/>
          <p:nvPr/>
        </p:nvSpPr>
        <p:spPr>
          <a:xfrm>
            <a:off x="380999" y="731518"/>
            <a:ext cx="838199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Ứng dụng của Javascript</a:t>
            </a:r>
            <a:endParaRPr sz="2800">
              <a:solidFill>
                <a:schemeClr val="dk2"/>
              </a:solidFill>
              <a:latin typeface="Calibri"/>
              <a:ea typeface="Calibri"/>
              <a:cs typeface="Calibri"/>
              <a:sym typeface="Calibri"/>
            </a:endParaRPr>
          </a:p>
        </p:txBody>
      </p:sp>
      <p:pic>
        <p:nvPicPr>
          <p:cNvPr id="153" name="Google Shape;153;p6"/>
          <p:cNvPicPr preferRelativeResize="0"/>
          <p:nvPr/>
        </p:nvPicPr>
        <p:blipFill rotWithShape="1">
          <a:blip r:embed="rId4">
            <a:alphaModFix/>
          </a:blip>
          <a:srcRect/>
          <a:stretch/>
        </p:blipFill>
        <p:spPr>
          <a:xfrm>
            <a:off x="23567" y="1285220"/>
            <a:ext cx="9144000" cy="481849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7"/>
        <p:cNvGrpSpPr/>
        <p:nvPr/>
      </p:nvGrpSpPr>
      <p:grpSpPr>
        <a:xfrm>
          <a:off x="0" y="0"/>
          <a:ext cx="0" cy="0"/>
          <a:chOff x="0" y="0"/>
          <a:chExt cx="0" cy="0"/>
        </a:xfrm>
      </p:grpSpPr>
      <p:sp>
        <p:nvSpPr>
          <p:cNvPr id="158" name="Google Shape;158;p7"/>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59" name="Google Shape;159;p7"/>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160" name="Google Shape;160;p7"/>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61" name="Google Shape;161;p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2" name="Google Shape;162;p7"/>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pic>
        <p:nvPicPr>
          <p:cNvPr id="163" name="Google Shape;163;p7"/>
          <p:cNvPicPr preferRelativeResize="0"/>
          <p:nvPr/>
        </p:nvPicPr>
        <p:blipFill rotWithShape="1">
          <a:blip r:embed="rId4">
            <a:alphaModFix/>
          </a:blip>
          <a:srcRect/>
          <a:stretch/>
        </p:blipFill>
        <p:spPr>
          <a:xfrm>
            <a:off x="0" y="2027851"/>
            <a:ext cx="9144000" cy="3887954"/>
          </a:xfrm>
          <a:prstGeom prst="rect">
            <a:avLst/>
          </a:prstGeom>
          <a:noFill/>
          <a:ln>
            <a:noFill/>
          </a:ln>
        </p:spPr>
      </p:pic>
      <p:sp>
        <p:nvSpPr>
          <p:cNvPr id="164" name="Google Shape;164;p7"/>
          <p:cNvSpPr txBox="1"/>
          <p:nvPr/>
        </p:nvSpPr>
        <p:spPr>
          <a:xfrm>
            <a:off x="304797" y="647726"/>
            <a:ext cx="8458200"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Có 2 cách để nhúng Javascript vào HTML</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Cách 1: Sử dụng thẻ &lt;script&gt; và viết trực tiếp code js</a:t>
            </a:r>
            <a:endParaRPr sz="2800">
              <a:solidFill>
                <a:schemeClr val="dk2"/>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8"/>
        <p:cNvGrpSpPr/>
        <p:nvPr/>
      </p:nvGrpSpPr>
      <p:grpSpPr>
        <a:xfrm>
          <a:off x="0" y="0"/>
          <a:ext cx="0" cy="0"/>
          <a:chOff x="0" y="0"/>
          <a:chExt cx="0" cy="0"/>
        </a:xfrm>
      </p:grpSpPr>
      <p:sp>
        <p:nvSpPr>
          <p:cNvPr id="169" name="Google Shape;169;p8"/>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70" name="Google Shape;170;p8"/>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171" name="Google Shape;171;p8"/>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72" name="Google Shape;172;p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3" name="Google Shape;173;p8"/>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74" name="Google Shape;174;p8"/>
          <p:cNvSpPr txBox="1"/>
          <p:nvPr/>
        </p:nvSpPr>
        <p:spPr>
          <a:xfrm>
            <a:off x="304797" y="647726"/>
            <a:ext cx="8458200"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Có 2 cách để nhúng Javascript vào HTML</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Cách 2: Sử dụng thẻ &lt;script&gt; và trỏ đường dẫn đến file js riêng biệt</a:t>
            </a:r>
            <a:endParaRPr sz="2800">
              <a:solidFill>
                <a:schemeClr val="dk2"/>
              </a:solidFill>
              <a:latin typeface="Calibri"/>
              <a:ea typeface="Calibri"/>
              <a:cs typeface="Calibri"/>
              <a:sym typeface="Calibri"/>
            </a:endParaRPr>
          </a:p>
        </p:txBody>
      </p:sp>
      <p:pic>
        <p:nvPicPr>
          <p:cNvPr id="175" name="Google Shape;175;p8"/>
          <p:cNvPicPr preferRelativeResize="0"/>
          <p:nvPr/>
        </p:nvPicPr>
        <p:blipFill rotWithShape="1">
          <a:blip r:embed="rId4">
            <a:alphaModFix/>
          </a:blip>
          <a:srcRect/>
          <a:stretch/>
        </p:blipFill>
        <p:spPr>
          <a:xfrm>
            <a:off x="0" y="1981200"/>
            <a:ext cx="9144000" cy="3537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9"/>
        <p:cNvGrpSpPr/>
        <p:nvPr/>
      </p:nvGrpSpPr>
      <p:grpSpPr>
        <a:xfrm>
          <a:off x="0" y="0"/>
          <a:ext cx="0" cy="0"/>
          <a:chOff x="0" y="0"/>
          <a:chExt cx="0" cy="0"/>
        </a:xfrm>
      </p:grpSpPr>
      <p:sp>
        <p:nvSpPr>
          <p:cNvPr id="180" name="Google Shape;180;p9"/>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81" name="Google Shape;181;p9"/>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182" name="Google Shape;182;p9"/>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83" name="Google Shape;183;p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4" name="Google Shape;184;p9"/>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85" name="Google Shape;185;p9"/>
          <p:cNvSpPr txBox="1"/>
          <p:nvPr/>
        </p:nvSpPr>
        <p:spPr>
          <a:xfrm>
            <a:off x="538900" y="3009209"/>
            <a:ext cx="84582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Hướng dẫn sử dụng Javascript console trên browser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9"/>
        <p:cNvGrpSpPr/>
        <p:nvPr/>
      </p:nvGrpSpPr>
      <p:grpSpPr>
        <a:xfrm>
          <a:off x="0" y="0"/>
          <a:ext cx="0" cy="0"/>
          <a:chOff x="0" y="0"/>
          <a:chExt cx="0" cy="0"/>
        </a:xfrm>
      </p:grpSpPr>
      <p:sp>
        <p:nvSpPr>
          <p:cNvPr id="190" name="Google Shape;190;p10"/>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91" name="Google Shape;191;p10"/>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192" name="Google Shape;192;p10"/>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93" name="Google Shape;193;p1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4" name="Google Shape;194;p10"/>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95" name="Google Shape;195;p10"/>
          <p:cNvSpPr txBox="1"/>
          <p:nvPr/>
        </p:nvSpPr>
        <p:spPr>
          <a:xfrm>
            <a:off x="609600" y="826309"/>
            <a:ext cx="84582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Biến và khai báo biến</a:t>
            </a:r>
            <a:endParaRPr sz="2800">
              <a:solidFill>
                <a:schemeClr val="dk2"/>
              </a:solidFill>
              <a:latin typeface="Calibri"/>
              <a:ea typeface="Calibri"/>
              <a:cs typeface="Calibri"/>
              <a:sym typeface="Calibri"/>
            </a:endParaRPr>
          </a:p>
        </p:txBody>
      </p:sp>
      <p:sp>
        <p:nvSpPr>
          <p:cNvPr id="196" name="Google Shape;196;p10"/>
          <p:cNvSpPr txBox="1"/>
          <p:nvPr/>
        </p:nvSpPr>
        <p:spPr>
          <a:xfrm>
            <a:off x="609600" y="1688369"/>
            <a:ext cx="8077197"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FF0000"/>
                </a:solidFill>
                <a:latin typeface="Calibri"/>
                <a:ea typeface="Calibri"/>
                <a:cs typeface="Calibri"/>
                <a:sym typeface="Calibri"/>
              </a:rPr>
              <a:t>Biến </a:t>
            </a:r>
            <a:r>
              <a:rPr lang="en-US" sz="2000">
                <a:solidFill>
                  <a:schemeClr val="dk2"/>
                </a:solidFill>
                <a:latin typeface="Calibri"/>
                <a:ea typeface="Calibri"/>
                <a:cs typeface="Calibri"/>
                <a:sym typeface="Calibri"/>
              </a:rPr>
              <a:t>dùng để lưu trữ giá trị các dữ liệu, hay các đối tượng.</a:t>
            </a:r>
            <a:endParaRPr/>
          </a:p>
          <a:p>
            <a:pPr marL="0" marR="0" lvl="0" indent="0" algn="l" rtl="0">
              <a:spcBef>
                <a:spcPts val="0"/>
              </a:spcBef>
              <a:spcAft>
                <a:spcPts val="0"/>
              </a:spcAft>
              <a:buNone/>
            </a:pPr>
            <a:r>
              <a:rPr lang="en-US" sz="2000">
                <a:solidFill>
                  <a:schemeClr val="dk2"/>
                </a:solidFill>
                <a:latin typeface="Calibri"/>
                <a:ea typeface="Calibri"/>
                <a:cs typeface="Calibri"/>
                <a:sym typeface="Calibri"/>
              </a:rPr>
              <a:t>Các biến có thể được coi là các thùng chứa có tên. </a:t>
            </a:r>
            <a:endParaRPr/>
          </a:p>
          <a:p>
            <a:pPr marL="0" marR="0" lvl="0" indent="0" algn="l" rtl="0">
              <a:spcBef>
                <a:spcPts val="0"/>
              </a:spcBef>
              <a:spcAft>
                <a:spcPts val="0"/>
              </a:spcAft>
              <a:buNone/>
            </a:pPr>
            <a:r>
              <a:rPr lang="en-US" sz="2000">
                <a:solidFill>
                  <a:schemeClr val="dk2"/>
                </a:solidFill>
                <a:latin typeface="Calibri"/>
                <a:ea typeface="Calibri"/>
                <a:cs typeface="Calibri"/>
                <a:sym typeface="Calibri"/>
              </a:rPr>
              <a:t>Bạn có thể đặt dữ liệu vào các vùng chứa này và sau đó tham khảo dữ liệu chỉ bằng cách đặt tên vùng chứa.</a:t>
            </a:r>
            <a:endParaRPr sz="2000">
              <a:solidFill>
                <a:schemeClr val="dk2"/>
              </a:solidFill>
              <a:latin typeface="Calibri"/>
              <a:ea typeface="Calibri"/>
              <a:cs typeface="Calibri"/>
              <a:sym typeface="Calibri"/>
            </a:endParaRPr>
          </a:p>
        </p:txBody>
      </p:sp>
      <p:pic>
        <p:nvPicPr>
          <p:cNvPr id="197" name="Google Shape;197;p10"/>
          <p:cNvPicPr preferRelativeResize="0"/>
          <p:nvPr/>
        </p:nvPicPr>
        <p:blipFill rotWithShape="1">
          <a:blip r:embed="rId4">
            <a:alphaModFix/>
          </a:blip>
          <a:srcRect/>
          <a:stretch/>
        </p:blipFill>
        <p:spPr>
          <a:xfrm>
            <a:off x="1302543" y="3297171"/>
            <a:ext cx="6538913" cy="244590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1"/>
        <p:cNvGrpSpPr/>
        <p:nvPr/>
      </p:nvGrpSpPr>
      <p:grpSpPr>
        <a:xfrm>
          <a:off x="0" y="0"/>
          <a:ext cx="0" cy="0"/>
          <a:chOff x="0" y="0"/>
          <a:chExt cx="0" cy="0"/>
        </a:xfrm>
      </p:grpSpPr>
      <p:sp>
        <p:nvSpPr>
          <p:cNvPr id="202" name="Google Shape;202;p11"/>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03" name="Google Shape;203;p11"/>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204" name="Google Shape;204;p11"/>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05" name="Google Shape;205;p1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11"/>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07" name="Google Shape;207;p11"/>
          <p:cNvSpPr txBox="1"/>
          <p:nvPr/>
        </p:nvSpPr>
        <p:spPr>
          <a:xfrm>
            <a:off x="609600" y="826309"/>
            <a:ext cx="84582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Biến và khai báo biến</a:t>
            </a:r>
            <a:endParaRPr sz="2800">
              <a:solidFill>
                <a:schemeClr val="dk2"/>
              </a:solidFill>
              <a:latin typeface="Calibri"/>
              <a:ea typeface="Calibri"/>
              <a:cs typeface="Calibri"/>
              <a:sym typeface="Calibri"/>
            </a:endParaRPr>
          </a:p>
        </p:txBody>
      </p:sp>
      <p:sp>
        <p:nvSpPr>
          <p:cNvPr id="208" name="Google Shape;208;p11"/>
          <p:cNvSpPr txBox="1"/>
          <p:nvPr/>
        </p:nvSpPr>
        <p:spPr>
          <a:xfrm>
            <a:off x="609600" y="1688369"/>
            <a:ext cx="8077197"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2"/>
                </a:solidFill>
                <a:latin typeface="Calibri"/>
                <a:ea typeface="Calibri"/>
                <a:cs typeface="Calibri"/>
                <a:sym typeface="Calibri"/>
              </a:rPr>
              <a:t>Để khai báo biến trong Javascript ta sử dụng từ khóa </a:t>
            </a:r>
            <a:r>
              <a:rPr lang="en-US" sz="2000">
                <a:solidFill>
                  <a:srgbClr val="FF0000"/>
                </a:solidFill>
                <a:latin typeface="Calibri"/>
                <a:ea typeface="Calibri"/>
                <a:cs typeface="Calibri"/>
                <a:sym typeface="Calibri"/>
              </a:rPr>
              <a:t>var</a:t>
            </a:r>
            <a:r>
              <a:rPr lang="en-US" sz="2000">
                <a:solidFill>
                  <a:schemeClr val="dk2"/>
                </a:solidFill>
                <a:latin typeface="Calibri"/>
                <a:ea typeface="Calibri"/>
                <a:cs typeface="Calibri"/>
                <a:sym typeface="Calibri"/>
              </a:rPr>
              <a:t> – </a:t>
            </a:r>
            <a:r>
              <a:rPr lang="en-US" sz="2000">
                <a:solidFill>
                  <a:srgbClr val="FF0000"/>
                </a:solidFill>
                <a:latin typeface="Calibri"/>
                <a:ea typeface="Calibri"/>
                <a:cs typeface="Calibri"/>
                <a:sym typeface="Calibri"/>
              </a:rPr>
              <a:t>let</a:t>
            </a:r>
            <a:r>
              <a:rPr lang="en-US" sz="2000">
                <a:solidFill>
                  <a:schemeClr val="dk2"/>
                </a:solidFill>
                <a:latin typeface="Calibri"/>
                <a:ea typeface="Calibri"/>
                <a:cs typeface="Calibri"/>
                <a:sym typeface="Calibri"/>
              </a:rPr>
              <a:t> – </a:t>
            </a:r>
            <a:r>
              <a:rPr lang="en-US" sz="2000">
                <a:solidFill>
                  <a:srgbClr val="FF0000"/>
                </a:solidFill>
                <a:latin typeface="Calibri"/>
                <a:ea typeface="Calibri"/>
                <a:cs typeface="Calibri"/>
                <a:sym typeface="Calibri"/>
              </a:rPr>
              <a:t>const</a:t>
            </a:r>
            <a:endParaRPr/>
          </a:p>
        </p:txBody>
      </p:sp>
      <p:pic>
        <p:nvPicPr>
          <p:cNvPr id="209" name="Google Shape;209;p11"/>
          <p:cNvPicPr preferRelativeResize="0"/>
          <p:nvPr/>
        </p:nvPicPr>
        <p:blipFill rotWithShape="1">
          <a:blip r:embed="rId4">
            <a:alphaModFix/>
          </a:blip>
          <a:srcRect/>
          <a:stretch/>
        </p:blipFill>
        <p:spPr>
          <a:xfrm>
            <a:off x="2076450" y="2524358"/>
            <a:ext cx="4991100" cy="1171575"/>
          </a:xfrm>
          <a:prstGeom prst="rect">
            <a:avLst/>
          </a:prstGeom>
          <a:noFill/>
          <a:ln>
            <a:noFill/>
          </a:ln>
        </p:spPr>
      </p:pic>
      <p:sp>
        <p:nvSpPr>
          <p:cNvPr id="210" name="Google Shape;210;p11"/>
          <p:cNvSpPr txBox="1"/>
          <p:nvPr/>
        </p:nvSpPr>
        <p:spPr>
          <a:xfrm>
            <a:off x="609600" y="4131812"/>
            <a:ext cx="7943847" cy="25545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2"/>
                </a:solidFill>
                <a:latin typeface="Calibri"/>
                <a:ea typeface="Calibri"/>
                <a:cs typeface="Calibri"/>
                <a:sym typeface="Calibri"/>
              </a:rPr>
              <a:t>Trước ECMAScript 2015 (ES 2015 hay ES6) thì </a:t>
            </a:r>
            <a:r>
              <a:rPr lang="en-US" sz="2000">
                <a:solidFill>
                  <a:srgbClr val="FF0000"/>
                </a:solidFill>
                <a:latin typeface="Calibri"/>
                <a:ea typeface="Calibri"/>
                <a:cs typeface="Calibri"/>
                <a:sym typeface="Calibri"/>
              </a:rPr>
              <a:t>var</a:t>
            </a:r>
            <a:r>
              <a:rPr lang="en-US" sz="2000">
                <a:solidFill>
                  <a:schemeClr val="dk2"/>
                </a:solidFill>
                <a:latin typeface="Calibri"/>
                <a:ea typeface="Calibri"/>
                <a:cs typeface="Calibri"/>
                <a:sym typeface="Calibri"/>
              </a:rPr>
              <a:t> là từ khóa duy nhất được sử dụng để khai báo biến trong JavaScript. Kể từ sau ES6 được ra mắt thì JavaScript được bổ sung thêm từ khóa </a:t>
            </a:r>
            <a:r>
              <a:rPr lang="en-US" sz="2000">
                <a:solidFill>
                  <a:srgbClr val="FF0000"/>
                </a:solidFill>
                <a:latin typeface="Calibri"/>
                <a:ea typeface="Calibri"/>
                <a:cs typeface="Calibri"/>
                <a:sym typeface="Calibri"/>
              </a:rPr>
              <a:t>let</a:t>
            </a:r>
            <a:r>
              <a:rPr lang="en-US" sz="2000">
                <a:solidFill>
                  <a:schemeClr val="dk2"/>
                </a:solidFill>
                <a:latin typeface="Calibri"/>
                <a:ea typeface="Calibri"/>
                <a:cs typeface="Calibri"/>
                <a:sym typeface="Calibri"/>
              </a:rPr>
              <a:t> và </a:t>
            </a:r>
            <a:r>
              <a:rPr lang="en-US" sz="2000">
                <a:solidFill>
                  <a:srgbClr val="FF0000"/>
                </a:solidFill>
                <a:latin typeface="Calibri"/>
                <a:ea typeface="Calibri"/>
                <a:cs typeface="Calibri"/>
                <a:sym typeface="Calibri"/>
              </a:rPr>
              <a:t>const</a:t>
            </a:r>
            <a:r>
              <a:rPr lang="en-US" sz="2000">
                <a:solidFill>
                  <a:schemeClr val="dk2"/>
                </a:solidFill>
                <a:latin typeface="Calibri"/>
                <a:ea typeface="Calibri"/>
                <a:cs typeface="Calibri"/>
                <a:sym typeface="Calibri"/>
              </a:rPr>
              <a:t> cho việc khai báo biến.</a:t>
            </a:r>
          </a:p>
          <a:p>
            <a:pPr marL="0" marR="0" lvl="0" indent="0" algn="l" rtl="0">
              <a:spcBef>
                <a:spcPts val="0"/>
              </a:spcBef>
              <a:spcAft>
                <a:spcPts val="0"/>
              </a:spcAft>
              <a:buNone/>
            </a:pPr>
            <a:endParaRPr lang="en-US" sz="2000">
              <a:solidFill>
                <a:schemeClr val="dk2"/>
              </a:solidFill>
              <a:latin typeface="Calibri"/>
              <a:ea typeface="Calibri"/>
              <a:cs typeface="Calibri"/>
              <a:sym typeface="Calibri"/>
            </a:endParaRPr>
          </a:p>
          <a:p>
            <a:pPr marL="0" marR="0" lvl="0" indent="0" algn="l" rtl="0">
              <a:spcBef>
                <a:spcPts val="0"/>
              </a:spcBef>
              <a:spcAft>
                <a:spcPts val="0"/>
              </a:spcAft>
              <a:buNone/>
            </a:pPr>
            <a:r>
              <a:rPr lang="en-US" sz="2000" b="1" i="1">
                <a:solidFill>
                  <a:srgbClr val="FF0000"/>
                </a:solidFill>
                <a:latin typeface="Calibri"/>
                <a:ea typeface="Calibri"/>
                <a:cs typeface="Calibri"/>
                <a:sym typeface="Calibri"/>
              </a:rPr>
              <a:t>Var: global/ function </a:t>
            </a:r>
            <a:r>
              <a:rPr lang="vi-VN" sz="2000" b="1" i="1">
                <a:solidFill>
                  <a:srgbClr val="FF0000"/>
                </a:solidFill>
                <a:latin typeface="Calibri"/>
                <a:ea typeface="Calibri"/>
                <a:cs typeface="Calibri"/>
                <a:sym typeface="Calibri"/>
              </a:rPr>
              <a:t>scope( không nên dùng)( có thể định nghĩa lại)</a:t>
            </a:r>
            <a:endParaRPr lang="en-US" sz="2000" b="1" i="1">
              <a:solidFill>
                <a:srgbClr val="FF0000"/>
              </a:solidFill>
              <a:latin typeface="Calibri"/>
              <a:ea typeface="Calibri"/>
              <a:cs typeface="Calibri"/>
              <a:sym typeface="Calibri"/>
            </a:endParaRPr>
          </a:p>
          <a:p>
            <a:pPr marL="0" marR="0" lvl="0" indent="0" algn="l" rtl="0">
              <a:spcBef>
                <a:spcPts val="0"/>
              </a:spcBef>
              <a:spcAft>
                <a:spcPts val="0"/>
              </a:spcAft>
              <a:buNone/>
            </a:pPr>
            <a:r>
              <a:rPr lang="en-US" sz="2000" b="1" i="1">
                <a:solidFill>
                  <a:srgbClr val="FF0000"/>
                </a:solidFill>
                <a:latin typeface="Calibri"/>
                <a:ea typeface="Calibri"/>
                <a:cs typeface="Calibri"/>
                <a:sym typeface="Calibri"/>
              </a:rPr>
              <a:t>Let: block scope(</a:t>
            </a:r>
            <a:r>
              <a:rPr lang="vi-VN" sz="2000" b="1" i="1">
                <a:solidFill>
                  <a:srgbClr val="FF0000"/>
                </a:solidFill>
                <a:latin typeface="Calibri"/>
                <a:ea typeface="Calibri"/>
                <a:cs typeface="Calibri"/>
                <a:sym typeface="Calibri"/>
              </a:rPr>
              <a:t>chỉ nhìn thấy trong 1 khối lệnh, dù trong 1 function)</a:t>
            </a:r>
          </a:p>
          <a:p>
            <a:pPr marL="0" marR="0" lvl="0" indent="0" algn="l" rtl="0">
              <a:spcBef>
                <a:spcPts val="0"/>
              </a:spcBef>
              <a:spcAft>
                <a:spcPts val="0"/>
              </a:spcAft>
              <a:buNone/>
            </a:pPr>
            <a:endParaRPr lang="en-US" sz="2000" b="1" i="1">
              <a:solidFill>
                <a:srgbClr val="FF0000"/>
              </a:solidFill>
              <a:latin typeface="Calibri"/>
              <a:ea typeface="Calibri"/>
              <a:cs typeface="Calibri"/>
              <a:sym typeface="Calibri"/>
            </a:endParaRPr>
          </a:p>
          <a:p>
            <a:pPr marL="0" marR="0" lvl="0" indent="0" algn="l" rtl="0">
              <a:spcBef>
                <a:spcPts val="0"/>
              </a:spcBef>
              <a:spcAft>
                <a:spcPts val="0"/>
              </a:spcAft>
              <a:buNone/>
            </a:pPr>
            <a:endParaRPr sz="2000">
              <a:solidFill>
                <a:schemeClr val="dk2"/>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4"/>
        <p:cNvGrpSpPr/>
        <p:nvPr/>
      </p:nvGrpSpPr>
      <p:grpSpPr>
        <a:xfrm>
          <a:off x="0" y="0"/>
          <a:ext cx="0" cy="0"/>
          <a:chOff x="0" y="0"/>
          <a:chExt cx="0" cy="0"/>
        </a:xfrm>
      </p:grpSpPr>
      <p:sp>
        <p:nvSpPr>
          <p:cNvPr id="215" name="Google Shape;215;p12"/>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16" name="Google Shape;216;p12"/>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217" name="Google Shape;217;p12"/>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18" name="Google Shape;218;p1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 name="Google Shape;219;p12"/>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20" name="Google Shape;220;p12"/>
          <p:cNvSpPr txBox="1"/>
          <p:nvPr/>
        </p:nvSpPr>
        <p:spPr>
          <a:xfrm>
            <a:off x="609600" y="826309"/>
            <a:ext cx="84582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Toán tử trong Javascript</a:t>
            </a:r>
            <a:endParaRPr sz="2800">
              <a:solidFill>
                <a:schemeClr val="dk2"/>
              </a:solidFill>
              <a:latin typeface="Calibri"/>
              <a:ea typeface="Calibri"/>
              <a:cs typeface="Calibri"/>
              <a:sym typeface="Calibri"/>
            </a:endParaRPr>
          </a:p>
        </p:txBody>
      </p:sp>
      <p:sp>
        <p:nvSpPr>
          <p:cNvPr id="221" name="Google Shape;221;p12"/>
          <p:cNvSpPr txBox="1"/>
          <p:nvPr/>
        </p:nvSpPr>
        <p:spPr>
          <a:xfrm>
            <a:off x="609600" y="1688369"/>
            <a:ext cx="8077200" cy="2678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Các loại toán tử trong JavaScript:</a:t>
            </a:r>
            <a:endParaRPr sz="2400">
              <a:solidFill>
                <a:srgbClr val="FF0000"/>
              </a:solidFill>
              <a:latin typeface="Calibri"/>
              <a:ea typeface="Calibri"/>
              <a:cs typeface="Calibri"/>
              <a:sym typeface="Calibri"/>
            </a:endParaRPr>
          </a:p>
          <a:p>
            <a:pPr marL="457200" marR="0" lvl="0" indent="-304800" algn="l" rtl="0">
              <a:spcBef>
                <a:spcPts val="0"/>
              </a:spcBef>
              <a:spcAft>
                <a:spcPts val="0"/>
              </a:spcAft>
              <a:buClr>
                <a:schemeClr val="dk1"/>
              </a:buClr>
              <a:buSzPts val="2400"/>
              <a:buFont typeface="Calibri"/>
              <a:buNone/>
            </a:pPr>
            <a:endParaRPr sz="2400">
              <a:solidFill>
                <a:srgbClr val="FF0000"/>
              </a:solidFill>
              <a:latin typeface="Calibri"/>
              <a:ea typeface="Calibri"/>
              <a:cs typeface="Calibri"/>
              <a:sym typeface="Calibri"/>
            </a:endParaRPr>
          </a:p>
          <a:p>
            <a:pPr marL="457200" marR="0" lvl="0" indent="-457200" algn="l" rtl="0">
              <a:spcBef>
                <a:spcPts val="0"/>
              </a:spcBef>
              <a:spcAft>
                <a:spcPts val="0"/>
              </a:spcAft>
              <a:buClr>
                <a:schemeClr val="dk2"/>
              </a:buClr>
              <a:buSzPts val="2400"/>
              <a:buFont typeface="Calibri"/>
              <a:buAutoNum type="arabicPeriod"/>
            </a:pPr>
            <a:r>
              <a:rPr lang="en-US" sz="2400">
                <a:solidFill>
                  <a:schemeClr val="dk2"/>
                </a:solidFill>
                <a:latin typeface="Calibri"/>
                <a:ea typeface="Calibri"/>
                <a:cs typeface="Calibri"/>
                <a:sym typeface="Calibri"/>
              </a:rPr>
              <a:t>Toán tử số học – Arithmetic Operators</a:t>
            </a:r>
            <a:endParaRPr/>
          </a:p>
          <a:p>
            <a:pPr marL="457200" marR="0" lvl="0" indent="-457200" algn="l" rtl="0">
              <a:spcBef>
                <a:spcPts val="0"/>
              </a:spcBef>
              <a:spcAft>
                <a:spcPts val="0"/>
              </a:spcAft>
              <a:buClr>
                <a:schemeClr val="dk2"/>
              </a:buClr>
              <a:buSzPts val="2400"/>
              <a:buFont typeface="Calibri"/>
              <a:buAutoNum type="arabicPeriod"/>
            </a:pPr>
            <a:r>
              <a:rPr lang="en-US" sz="2400">
                <a:solidFill>
                  <a:schemeClr val="dk2"/>
                </a:solidFill>
                <a:latin typeface="Calibri"/>
                <a:ea typeface="Calibri"/>
                <a:cs typeface="Calibri"/>
                <a:sym typeface="Calibri"/>
              </a:rPr>
              <a:t>Toán tử so sánh – Comparison Operators</a:t>
            </a:r>
            <a:endParaRPr sz="2400">
              <a:solidFill>
                <a:schemeClr val="dk2"/>
              </a:solidFill>
              <a:latin typeface="Calibri"/>
              <a:ea typeface="Calibri"/>
              <a:cs typeface="Calibri"/>
              <a:sym typeface="Calibri"/>
            </a:endParaRPr>
          </a:p>
          <a:p>
            <a:pPr marL="457200" marR="0" lvl="0" indent="-457200" algn="l" rtl="0">
              <a:spcBef>
                <a:spcPts val="0"/>
              </a:spcBef>
              <a:spcAft>
                <a:spcPts val="0"/>
              </a:spcAft>
              <a:buClr>
                <a:schemeClr val="dk2"/>
              </a:buClr>
              <a:buSzPts val="2400"/>
              <a:buFont typeface="Calibri"/>
              <a:buAutoNum type="arabicPeriod"/>
            </a:pPr>
            <a:r>
              <a:rPr lang="en-US" sz="2400">
                <a:solidFill>
                  <a:schemeClr val="dk2"/>
                </a:solidFill>
                <a:latin typeface="Calibri"/>
                <a:ea typeface="Calibri"/>
                <a:cs typeface="Calibri"/>
                <a:sym typeface="Calibri"/>
              </a:rPr>
              <a:t>Toán tử logic – Logical Operators</a:t>
            </a:r>
            <a:endParaRPr sz="2400">
              <a:solidFill>
                <a:schemeClr val="dk2"/>
              </a:solidFill>
              <a:latin typeface="Calibri"/>
              <a:ea typeface="Calibri"/>
              <a:cs typeface="Calibri"/>
              <a:sym typeface="Calibri"/>
            </a:endParaRPr>
          </a:p>
          <a:p>
            <a:pPr marL="457200" marR="0" lvl="0" indent="-457200" algn="l" rtl="0">
              <a:spcBef>
                <a:spcPts val="0"/>
              </a:spcBef>
              <a:spcAft>
                <a:spcPts val="0"/>
              </a:spcAft>
              <a:buClr>
                <a:schemeClr val="dk2"/>
              </a:buClr>
              <a:buSzPts val="2400"/>
              <a:buFont typeface="Calibri"/>
              <a:buAutoNum type="arabicPeriod"/>
            </a:pPr>
            <a:r>
              <a:rPr lang="en-US" sz="2400">
                <a:solidFill>
                  <a:schemeClr val="dk2"/>
                </a:solidFill>
                <a:latin typeface="Calibri"/>
                <a:ea typeface="Calibri"/>
                <a:cs typeface="Calibri"/>
                <a:sym typeface="Calibri"/>
              </a:rPr>
              <a:t>Toán tử gán – Assignment Operators</a:t>
            </a:r>
            <a:endParaRPr sz="2400">
              <a:solidFill>
                <a:schemeClr val="dk2"/>
              </a:solidFill>
              <a:latin typeface="Calibri"/>
              <a:ea typeface="Calibri"/>
              <a:cs typeface="Calibri"/>
              <a:sym typeface="Calibri"/>
            </a:endParaRPr>
          </a:p>
          <a:p>
            <a:pPr marL="457200" marR="0" lvl="0" indent="-457200" algn="l" rtl="0">
              <a:spcBef>
                <a:spcPts val="0"/>
              </a:spcBef>
              <a:spcAft>
                <a:spcPts val="0"/>
              </a:spcAft>
              <a:buClr>
                <a:schemeClr val="dk2"/>
              </a:buClr>
              <a:buSzPts val="2400"/>
              <a:buFont typeface="Calibri"/>
              <a:buAutoNum type="arabicPeriod"/>
            </a:pPr>
            <a:r>
              <a:rPr lang="en-US" sz="2400">
                <a:solidFill>
                  <a:schemeClr val="dk2"/>
                </a:solidFill>
                <a:latin typeface="Calibri"/>
                <a:ea typeface="Calibri"/>
                <a:cs typeface="Calibri"/>
                <a:sym typeface="Calibri"/>
              </a:rPr>
              <a:t>Toán tử ba ngôi – Conditional Operators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5"/>
        <p:cNvGrpSpPr/>
        <p:nvPr/>
      </p:nvGrpSpPr>
      <p:grpSpPr>
        <a:xfrm>
          <a:off x="0" y="0"/>
          <a:ext cx="0" cy="0"/>
          <a:chOff x="0" y="0"/>
          <a:chExt cx="0" cy="0"/>
        </a:xfrm>
      </p:grpSpPr>
      <p:sp>
        <p:nvSpPr>
          <p:cNvPr id="226" name="Google Shape;226;p13"/>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27" name="Google Shape;227;p13"/>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228" name="Google Shape;228;p13"/>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29" name="Google Shape;229;p1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0" name="Google Shape;230;p13"/>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31" name="Google Shape;231;p13"/>
          <p:cNvSpPr txBox="1"/>
          <p:nvPr/>
        </p:nvSpPr>
        <p:spPr>
          <a:xfrm>
            <a:off x="609600" y="826309"/>
            <a:ext cx="84582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Toán tử trong Javascript</a:t>
            </a:r>
            <a:endParaRPr sz="2800">
              <a:solidFill>
                <a:schemeClr val="dk2"/>
              </a:solidFill>
              <a:latin typeface="Calibri"/>
              <a:ea typeface="Calibri"/>
              <a:cs typeface="Calibri"/>
              <a:sym typeface="Calibri"/>
            </a:endParaRPr>
          </a:p>
        </p:txBody>
      </p:sp>
      <p:sp>
        <p:nvSpPr>
          <p:cNvPr id="232" name="Google Shape;232;p13"/>
          <p:cNvSpPr txBox="1"/>
          <p:nvPr/>
        </p:nvSpPr>
        <p:spPr>
          <a:xfrm>
            <a:off x="609600" y="1688369"/>
            <a:ext cx="8077197"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1. Toán tử số học – Arithmetic Operators</a:t>
            </a:r>
            <a:endParaRPr sz="2400">
              <a:solidFill>
                <a:srgbClr val="FF0000"/>
              </a:solidFill>
              <a:latin typeface="Calibri"/>
              <a:ea typeface="Calibri"/>
              <a:cs typeface="Calibri"/>
              <a:sym typeface="Calibri"/>
            </a:endParaRPr>
          </a:p>
          <a:p>
            <a:pPr marL="0" marR="0" lvl="0" indent="0" algn="l" rtl="0">
              <a:spcBef>
                <a:spcPts val="0"/>
              </a:spcBef>
              <a:spcAft>
                <a:spcPts val="0"/>
              </a:spcAft>
              <a:buNone/>
            </a:pPr>
            <a:endParaRPr sz="2400">
              <a:solidFill>
                <a:srgbClr val="FF0000"/>
              </a:solidFill>
              <a:latin typeface="Calibri"/>
              <a:ea typeface="Calibri"/>
              <a:cs typeface="Calibri"/>
              <a:sym typeface="Calibri"/>
            </a:endParaRPr>
          </a:p>
        </p:txBody>
      </p:sp>
      <p:graphicFrame>
        <p:nvGraphicFramePr>
          <p:cNvPr id="233" name="Google Shape;233;p13"/>
          <p:cNvGraphicFramePr/>
          <p:nvPr/>
        </p:nvGraphicFramePr>
        <p:xfrm>
          <a:off x="630810" y="2362200"/>
          <a:ext cx="7010400" cy="3337650"/>
        </p:xfrm>
        <a:graphic>
          <a:graphicData uri="http://schemas.openxmlformats.org/drawingml/2006/table">
            <a:tbl>
              <a:tblPr firstRow="1" bandRow="1">
                <a:noFill/>
                <a:tableStyleId>{35B9831B-DEB4-427B-B906-03422F021740}</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None/>
                      </a:pPr>
                      <a:r>
                        <a:rPr lang="en-US" sz="1800" u="none" strike="noStrike" cap="none"/>
                        <a:t>Toán tử</a:t>
                      </a:r>
                      <a:endParaRPr sz="1800" u="none" strike="noStrike" cap="none"/>
                    </a:p>
                  </a:txBody>
                  <a:tcPr marL="91450" marR="91450" marT="45725" marB="45725"/>
                </a:tc>
                <a:tc>
                  <a:txBody>
                    <a:bodyPr/>
                    <a:lstStyle/>
                    <a:p>
                      <a:pPr marL="0" marR="0" lvl="0" indent="0" algn="ctr" rtl="0">
                        <a:spcBef>
                          <a:spcPts val="0"/>
                        </a:spcBef>
                        <a:spcAft>
                          <a:spcPts val="0"/>
                        </a:spcAft>
                        <a:buNone/>
                      </a:pPr>
                      <a:r>
                        <a:rPr lang="en-US" sz="1800" u="none" strike="noStrike" cap="none"/>
                        <a:t>Mô tả</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None/>
                      </a:pPr>
                      <a:r>
                        <a:rPr lang="en-US" sz="1800" u="none" strike="noStrike" cap="none"/>
                        <a:t>+</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Cộng</a:t>
                      </a:r>
                      <a:endParaRPr sz="1800" u="none" strike="noStrike" cap="none"/>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None/>
                      </a:pPr>
                      <a:r>
                        <a:rPr lang="en-US" sz="1800" u="none" strike="noStrike" cap="none"/>
                        <a:t>-</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Trừ</a:t>
                      </a:r>
                      <a:endParaRPr sz="1800" u="none" strike="noStrike" cap="none"/>
                    </a:p>
                  </a:txBody>
                  <a:tcPr marL="91450" marR="91450" marT="45725" marB="45725"/>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r>
                        <a:rPr lang="en-US" sz="1800" u="none" strike="noStrike" cap="none"/>
                        <a:t>*</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Nhân</a:t>
                      </a:r>
                      <a:endParaRPr sz="1800" u="none" strike="noStrike" cap="none"/>
                    </a:p>
                  </a:txBody>
                  <a:tcPr marL="91450" marR="91450" marT="45725" marB="45725"/>
                </a:tc>
                <a:extLst>
                  <a:ext uri="{0D108BD9-81ED-4DB2-BD59-A6C34878D82A}">
                    <a16:rowId xmlns:a16="http://schemas.microsoft.com/office/drawing/2014/main" val="10003"/>
                  </a:ext>
                </a:extLst>
              </a:tr>
              <a:tr h="370850">
                <a:tc>
                  <a:txBody>
                    <a:bodyPr/>
                    <a:lstStyle/>
                    <a:p>
                      <a:pPr marL="0" marR="0" lvl="0" indent="0" algn="ctr" rtl="0">
                        <a:spcBef>
                          <a:spcPts val="0"/>
                        </a:spcBef>
                        <a:spcAft>
                          <a:spcPts val="0"/>
                        </a:spcAft>
                        <a:buNone/>
                      </a:pPr>
                      <a:r>
                        <a:rPr lang="en-US" sz="1800" u="none" strike="noStrike" cap="none"/>
                        <a:t>**</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Lũy thừa (ES6)</a:t>
                      </a:r>
                      <a:endParaRPr/>
                    </a:p>
                  </a:txBody>
                  <a:tcPr marL="91450" marR="91450" marT="45725" marB="45725"/>
                </a:tc>
                <a:extLst>
                  <a:ext uri="{0D108BD9-81ED-4DB2-BD59-A6C34878D82A}">
                    <a16:rowId xmlns:a16="http://schemas.microsoft.com/office/drawing/2014/main" val="10004"/>
                  </a:ext>
                </a:extLst>
              </a:tr>
              <a:tr h="370850">
                <a:tc>
                  <a:txBody>
                    <a:bodyPr/>
                    <a:lstStyle/>
                    <a:p>
                      <a:pPr marL="0" marR="0" lvl="0" indent="0" algn="ctr" rtl="0">
                        <a:spcBef>
                          <a:spcPts val="0"/>
                        </a:spcBef>
                        <a:spcAft>
                          <a:spcPts val="0"/>
                        </a:spcAft>
                        <a:buNone/>
                      </a:pPr>
                      <a:r>
                        <a:rPr lang="en-US" sz="1800" u="none" strike="noStrike" cap="none"/>
                        <a:t>/</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Chia</a:t>
                      </a:r>
                      <a:endParaRPr/>
                    </a:p>
                  </a:txBody>
                  <a:tcPr marL="91450" marR="91450" marT="45725" marB="45725"/>
                </a:tc>
                <a:extLst>
                  <a:ext uri="{0D108BD9-81ED-4DB2-BD59-A6C34878D82A}">
                    <a16:rowId xmlns:a16="http://schemas.microsoft.com/office/drawing/2014/main" val="10005"/>
                  </a:ext>
                </a:extLst>
              </a:tr>
              <a:tr h="370850">
                <a:tc>
                  <a:txBody>
                    <a:bodyPr/>
                    <a:lstStyle/>
                    <a:p>
                      <a:pPr marL="0" marR="0" lvl="0" indent="0" algn="ctr" rtl="0">
                        <a:spcBef>
                          <a:spcPts val="0"/>
                        </a:spcBef>
                        <a:spcAft>
                          <a:spcPts val="0"/>
                        </a:spcAft>
                        <a:buNone/>
                      </a:pPr>
                      <a:r>
                        <a:rPr lang="en-US" sz="1800" u="none" strike="noStrike" cap="none"/>
                        <a:t>%</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Phép chia lấy phần dư</a:t>
                      </a:r>
                      <a:endParaRPr sz="1800" u="none" strike="noStrike" cap="none"/>
                    </a:p>
                  </a:txBody>
                  <a:tcPr marL="91450" marR="91450" marT="45725" marB="45725"/>
                </a:tc>
                <a:extLst>
                  <a:ext uri="{0D108BD9-81ED-4DB2-BD59-A6C34878D82A}">
                    <a16:rowId xmlns:a16="http://schemas.microsoft.com/office/drawing/2014/main" val="10006"/>
                  </a:ext>
                </a:extLst>
              </a:tr>
              <a:tr h="370850">
                <a:tc>
                  <a:txBody>
                    <a:bodyPr/>
                    <a:lstStyle/>
                    <a:p>
                      <a:pPr marL="0" marR="0" lvl="0" indent="0" algn="ctr" rtl="0">
                        <a:spcBef>
                          <a:spcPts val="0"/>
                        </a:spcBef>
                        <a:spcAft>
                          <a:spcPts val="0"/>
                        </a:spcAft>
                        <a:buNone/>
                      </a:pPr>
                      <a:r>
                        <a:rPr lang="en-US" sz="1800" u="none" strike="noStrike" cap="none"/>
                        <a:t>++</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Tăng một giá trị</a:t>
                      </a:r>
                      <a:endParaRPr sz="1800" u="none" strike="noStrike" cap="none"/>
                    </a:p>
                  </a:txBody>
                  <a:tcPr marL="91450" marR="91450" marT="45725" marB="45725"/>
                </a:tc>
                <a:extLst>
                  <a:ext uri="{0D108BD9-81ED-4DB2-BD59-A6C34878D82A}">
                    <a16:rowId xmlns:a16="http://schemas.microsoft.com/office/drawing/2014/main" val="10007"/>
                  </a:ext>
                </a:extLst>
              </a:tr>
              <a:tr h="370850">
                <a:tc>
                  <a:txBody>
                    <a:bodyPr/>
                    <a:lstStyle/>
                    <a:p>
                      <a:pPr marL="0" marR="0" lvl="0" indent="0" algn="ctr" rtl="0">
                        <a:spcBef>
                          <a:spcPts val="0"/>
                        </a:spcBef>
                        <a:spcAft>
                          <a:spcPts val="0"/>
                        </a:spcAft>
                        <a:buNone/>
                      </a:pPr>
                      <a:r>
                        <a:rPr lang="en-US" sz="1800" u="none" strike="noStrike" cap="none"/>
                        <a:t>--</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Giảm một giá trị</a:t>
                      </a:r>
                      <a:endParaRPr sz="1800" u="none" strike="noStrike" cap="none"/>
                    </a:p>
                  </a:txBody>
                  <a:tcPr marL="91450" marR="91450" marT="45725" marB="45725"/>
                </a:tc>
                <a:extLst>
                  <a:ext uri="{0D108BD9-81ED-4DB2-BD59-A6C34878D82A}">
                    <a16:rowId xmlns:a16="http://schemas.microsoft.com/office/drawing/2014/main" val="10008"/>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7"/>
        <p:cNvGrpSpPr/>
        <p:nvPr/>
      </p:nvGrpSpPr>
      <p:grpSpPr>
        <a:xfrm>
          <a:off x="0" y="0"/>
          <a:ext cx="0" cy="0"/>
          <a:chOff x="0" y="0"/>
          <a:chExt cx="0" cy="0"/>
        </a:xfrm>
      </p:grpSpPr>
      <p:sp>
        <p:nvSpPr>
          <p:cNvPr id="238" name="Google Shape;238;p14"/>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39" name="Google Shape;239;p14"/>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240" name="Google Shape;240;p14"/>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41" name="Google Shape;241;p1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2" name="Google Shape;242;p14"/>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43" name="Google Shape;243;p14"/>
          <p:cNvSpPr txBox="1"/>
          <p:nvPr/>
        </p:nvSpPr>
        <p:spPr>
          <a:xfrm>
            <a:off x="609600" y="826309"/>
            <a:ext cx="84582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Toán tử trong Javascript</a:t>
            </a:r>
            <a:endParaRPr sz="2800">
              <a:solidFill>
                <a:schemeClr val="dk2"/>
              </a:solidFill>
              <a:latin typeface="Calibri"/>
              <a:ea typeface="Calibri"/>
              <a:cs typeface="Calibri"/>
              <a:sym typeface="Calibri"/>
            </a:endParaRPr>
          </a:p>
        </p:txBody>
      </p:sp>
      <p:sp>
        <p:nvSpPr>
          <p:cNvPr id="244" name="Google Shape;244;p14"/>
          <p:cNvSpPr txBox="1"/>
          <p:nvPr/>
        </p:nvSpPr>
        <p:spPr>
          <a:xfrm>
            <a:off x="609600" y="1688369"/>
            <a:ext cx="807719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2. Toán tử so sánh – Comparison Operators</a:t>
            </a:r>
            <a:endParaRPr sz="2400">
              <a:solidFill>
                <a:srgbClr val="FF0000"/>
              </a:solidFill>
              <a:latin typeface="Calibri"/>
              <a:ea typeface="Calibri"/>
              <a:cs typeface="Calibri"/>
              <a:sym typeface="Calibri"/>
            </a:endParaRPr>
          </a:p>
        </p:txBody>
      </p:sp>
      <p:graphicFrame>
        <p:nvGraphicFramePr>
          <p:cNvPr id="245" name="Google Shape;245;p14"/>
          <p:cNvGraphicFramePr/>
          <p:nvPr>
            <p:extLst>
              <p:ext uri="{D42A27DB-BD31-4B8C-83A1-F6EECF244321}">
                <p14:modId xmlns:p14="http://schemas.microsoft.com/office/powerpoint/2010/main" val="1835944355"/>
              </p:ext>
            </p:extLst>
          </p:nvPr>
        </p:nvGraphicFramePr>
        <p:xfrm>
          <a:off x="640237" y="2235797"/>
          <a:ext cx="7010400" cy="3774520"/>
        </p:xfrm>
        <a:graphic>
          <a:graphicData uri="http://schemas.openxmlformats.org/drawingml/2006/table">
            <a:tbl>
              <a:tblPr firstRow="1" bandRow="1">
                <a:noFill/>
                <a:tableStyleId>{35B9831B-DEB4-427B-B906-03422F021740}</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None/>
                      </a:pPr>
                      <a:r>
                        <a:rPr lang="en-US" sz="1800" u="none" strike="noStrike" cap="none"/>
                        <a:t>Toán tử</a:t>
                      </a:r>
                      <a:endParaRPr sz="1800" u="none" strike="noStrike" cap="none"/>
                    </a:p>
                  </a:txBody>
                  <a:tcPr marL="91450" marR="91450" marT="45725" marB="45725"/>
                </a:tc>
                <a:tc>
                  <a:txBody>
                    <a:bodyPr/>
                    <a:lstStyle/>
                    <a:p>
                      <a:pPr marL="0" marR="0" lvl="0" indent="0" algn="ctr" rtl="0">
                        <a:spcBef>
                          <a:spcPts val="0"/>
                        </a:spcBef>
                        <a:spcAft>
                          <a:spcPts val="0"/>
                        </a:spcAft>
                        <a:buNone/>
                      </a:pPr>
                      <a:r>
                        <a:rPr lang="en-US" sz="1800" u="none" strike="noStrike" cap="none"/>
                        <a:t>Mô tả</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None/>
                      </a:pPr>
                      <a:r>
                        <a:rPr lang="en-US" sz="1800" u="none" strike="noStrike" cap="none">
                          <a:solidFill>
                            <a:srgbClr val="FF0000"/>
                          </a:solidFill>
                        </a:rPr>
                        <a:t>==</a:t>
                      </a:r>
                      <a:endParaRPr>
                        <a:solidFill>
                          <a:srgbClr val="FF0000"/>
                        </a:solidFill>
                      </a:endParaRPr>
                    </a:p>
                  </a:txBody>
                  <a:tcPr marL="91450" marR="91450" marT="45725" marB="45725"/>
                </a:tc>
                <a:tc>
                  <a:txBody>
                    <a:bodyPr/>
                    <a:lstStyle/>
                    <a:p>
                      <a:pPr marL="0" marR="0" lvl="0" indent="0" algn="ctr" rtl="0">
                        <a:spcBef>
                          <a:spcPts val="0"/>
                        </a:spcBef>
                        <a:spcAft>
                          <a:spcPts val="0"/>
                        </a:spcAft>
                        <a:buNone/>
                      </a:pPr>
                      <a:r>
                        <a:rPr lang="en-US" sz="1800" u="none" strike="noStrike" cap="none">
                          <a:solidFill>
                            <a:srgbClr val="FF0000"/>
                          </a:solidFill>
                        </a:rPr>
                        <a:t>So sánh bằng giá trị</a:t>
                      </a:r>
                      <a:endParaRPr sz="1800" u="none" strike="noStrike" cap="none">
                        <a:solidFill>
                          <a:srgbClr val="FF0000"/>
                        </a:solidFill>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None/>
                      </a:pPr>
                      <a:r>
                        <a:rPr lang="en-US" sz="1800" u="none" strike="noStrike" cap="none">
                          <a:solidFill>
                            <a:srgbClr val="FF0000"/>
                          </a:solidFill>
                        </a:rPr>
                        <a:t>===</a:t>
                      </a:r>
                      <a:endParaRPr>
                        <a:solidFill>
                          <a:srgbClr val="FF0000"/>
                        </a:solidFill>
                      </a:endParaRPr>
                    </a:p>
                  </a:txBody>
                  <a:tcPr marL="91450" marR="91450" marT="45725" marB="45725"/>
                </a:tc>
                <a:tc>
                  <a:txBody>
                    <a:bodyPr/>
                    <a:lstStyle/>
                    <a:p>
                      <a:pPr marL="0" marR="0" lvl="0" indent="0" algn="ctr" rtl="0">
                        <a:spcBef>
                          <a:spcPts val="0"/>
                        </a:spcBef>
                        <a:spcAft>
                          <a:spcPts val="0"/>
                        </a:spcAft>
                        <a:buNone/>
                      </a:pPr>
                      <a:r>
                        <a:rPr lang="en-US" sz="1800" u="none" strike="noStrike" cap="none">
                          <a:solidFill>
                            <a:srgbClr val="FF0000"/>
                          </a:solidFill>
                        </a:rPr>
                        <a:t>So sánh bằng giá trị &amp; kiểu dữ liệu</a:t>
                      </a:r>
                      <a:endParaRPr sz="1800" u="none" strike="noStrike" cap="none">
                        <a:solidFill>
                          <a:srgbClr val="FF0000"/>
                        </a:solidFill>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r>
                        <a:rPr lang="en-US" sz="1800" u="none" strike="noStrike" cap="none"/>
                        <a:t>!=</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So sánh không bằng giá trị</a:t>
                      </a:r>
                      <a:endParaRPr sz="1800" u="none" strike="noStrike" cap="none"/>
                    </a:p>
                  </a:txBody>
                  <a:tcPr marL="91450" marR="91450" marT="45725" marB="45725"/>
                </a:tc>
                <a:extLst>
                  <a:ext uri="{0D108BD9-81ED-4DB2-BD59-A6C34878D82A}">
                    <a16:rowId xmlns:a16="http://schemas.microsoft.com/office/drawing/2014/main" val="10003"/>
                  </a:ext>
                </a:extLst>
              </a:tr>
              <a:tr h="370850">
                <a:tc>
                  <a:txBody>
                    <a:bodyPr/>
                    <a:lstStyle/>
                    <a:p>
                      <a:pPr marL="0" marR="0" lvl="0" indent="0" algn="ctr" rtl="0">
                        <a:spcBef>
                          <a:spcPts val="0"/>
                        </a:spcBef>
                        <a:spcAft>
                          <a:spcPts val="0"/>
                        </a:spcAft>
                        <a:buNone/>
                      </a:pPr>
                      <a:r>
                        <a:rPr lang="en-US" sz="1800" u="none" strike="noStrike" cap="none"/>
                        <a:t>!==</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So sánh không bằng giá trị &amp; kiểu dữ liệu</a:t>
                      </a:r>
                      <a:endParaRPr sz="1800" u="none" strike="noStrike" cap="none"/>
                    </a:p>
                  </a:txBody>
                  <a:tcPr marL="91450" marR="91450" marT="45725" marB="45725"/>
                </a:tc>
                <a:extLst>
                  <a:ext uri="{0D108BD9-81ED-4DB2-BD59-A6C34878D82A}">
                    <a16:rowId xmlns:a16="http://schemas.microsoft.com/office/drawing/2014/main" val="10004"/>
                  </a:ext>
                </a:extLst>
              </a:tr>
              <a:tr h="370850">
                <a:tc>
                  <a:txBody>
                    <a:bodyPr/>
                    <a:lstStyle/>
                    <a:p>
                      <a:pPr marL="0" marR="0" lvl="0" indent="0" algn="ctr" rtl="0">
                        <a:spcBef>
                          <a:spcPts val="0"/>
                        </a:spcBef>
                        <a:spcAft>
                          <a:spcPts val="0"/>
                        </a:spcAft>
                        <a:buNone/>
                      </a:pPr>
                      <a:r>
                        <a:rPr lang="en-US" sz="1800" u="none" strike="noStrike" cap="none"/>
                        <a:t>&gt;, &gt;=</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So sánh lớn hơn, lớn hơn hoặc bằng</a:t>
                      </a:r>
                      <a:endParaRPr sz="1800" u="none" strike="noStrike" cap="none"/>
                    </a:p>
                  </a:txBody>
                  <a:tcPr marL="91450" marR="91450" marT="45725" marB="45725"/>
                </a:tc>
                <a:extLst>
                  <a:ext uri="{0D108BD9-81ED-4DB2-BD59-A6C34878D82A}">
                    <a16:rowId xmlns:a16="http://schemas.microsoft.com/office/drawing/2014/main" val="10005"/>
                  </a:ext>
                </a:extLst>
              </a:tr>
              <a:tr h="370850">
                <a:tc>
                  <a:txBody>
                    <a:bodyPr/>
                    <a:lstStyle/>
                    <a:p>
                      <a:pPr marL="0" marR="0" lvl="0" indent="0" algn="ctr" rtl="0">
                        <a:spcBef>
                          <a:spcPts val="0"/>
                        </a:spcBef>
                        <a:spcAft>
                          <a:spcPts val="0"/>
                        </a:spcAft>
                        <a:buNone/>
                      </a:pPr>
                      <a:r>
                        <a:rPr lang="en-US" sz="1800" u="none" strike="noStrike" cap="none"/>
                        <a:t>&lt;, &lt;=</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So sánh nhỏ hơn, nhỏ hơn hoặc bằng</a:t>
                      </a:r>
                      <a:endParaRPr sz="1800" u="none" strike="noStrike" cap="none"/>
                    </a:p>
                  </a:txBody>
                  <a:tcPr marL="91450" marR="91450" marT="45725" marB="45725"/>
                </a:tc>
                <a:extLst>
                  <a:ext uri="{0D108BD9-81ED-4DB2-BD59-A6C34878D82A}">
                    <a16:rowId xmlns:a16="http://schemas.microsoft.com/office/drawing/2014/main" val="10006"/>
                  </a:ext>
                </a:extLst>
              </a:tr>
              <a:tr h="370850">
                <a:tc>
                  <a:txBody>
                    <a:bodyPr/>
                    <a:lstStyle/>
                    <a:p>
                      <a:pPr marL="0" marR="0" lvl="0" indent="0" algn="ctr" rtl="0">
                        <a:spcBef>
                          <a:spcPts val="0"/>
                        </a:spcBef>
                        <a:spcAft>
                          <a:spcPts val="0"/>
                        </a:spcAft>
                        <a:buNone/>
                      </a:pPr>
                      <a:r>
                        <a:rPr lang="en-US" sz="1800" u="none" strike="noStrike" cap="none"/>
                        <a:t>?</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Toán tử ba ngôi</a:t>
                      </a:r>
                      <a:endParaRPr sz="1800" u="none" strike="noStrike" cap="none"/>
                    </a:p>
                  </a:txBody>
                  <a:tcPr marL="91450" marR="91450" marT="45725" marB="45725"/>
                </a:tc>
                <a:extLst>
                  <a:ext uri="{0D108BD9-81ED-4DB2-BD59-A6C34878D82A}">
                    <a16:rowId xmlns:a16="http://schemas.microsoft.com/office/drawing/2014/main" val="10007"/>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9"/>
        <p:cNvGrpSpPr/>
        <p:nvPr/>
      </p:nvGrpSpPr>
      <p:grpSpPr>
        <a:xfrm>
          <a:off x="0" y="0"/>
          <a:ext cx="0" cy="0"/>
          <a:chOff x="0" y="0"/>
          <a:chExt cx="0" cy="0"/>
        </a:xfrm>
      </p:grpSpPr>
      <p:sp>
        <p:nvSpPr>
          <p:cNvPr id="250" name="Google Shape;250;p15"/>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51" name="Google Shape;251;p15"/>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252" name="Google Shape;252;p15"/>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53" name="Google Shape;253;p1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4" name="Google Shape;254;p15"/>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55" name="Google Shape;255;p15"/>
          <p:cNvSpPr txBox="1"/>
          <p:nvPr/>
        </p:nvSpPr>
        <p:spPr>
          <a:xfrm>
            <a:off x="609600" y="826309"/>
            <a:ext cx="84582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Toán tử trong Javascript</a:t>
            </a:r>
            <a:endParaRPr sz="2800">
              <a:solidFill>
                <a:schemeClr val="dk2"/>
              </a:solidFill>
              <a:latin typeface="Calibri"/>
              <a:ea typeface="Calibri"/>
              <a:cs typeface="Calibri"/>
              <a:sym typeface="Calibri"/>
            </a:endParaRPr>
          </a:p>
        </p:txBody>
      </p:sp>
      <p:sp>
        <p:nvSpPr>
          <p:cNvPr id="256" name="Google Shape;256;p15"/>
          <p:cNvSpPr txBox="1"/>
          <p:nvPr/>
        </p:nvSpPr>
        <p:spPr>
          <a:xfrm>
            <a:off x="609600" y="1688369"/>
            <a:ext cx="807719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3. Toán tử logic – Logical Operators</a:t>
            </a:r>
            <a:endParaRPr sz="2400">
              <a:solidFill>
                <a:srgbClr val="FF0000"/>
              </a:solidFill>
              <a:latin typeface="Calibri"/>
              <a:ea typeface="Calibri"/>
              <a:cs typeface="Calibri"/>
              <a:sym typeface="Calibri"/>
            </a:endParaRPr>
          </a:p>
        </p:txBody>
      </p:sp>
      <p:graphicFrame>
        <p:nvGraphicFramePr>
          <p:cNvPr id="257" name="Google Shape;257;p15"/>
          <p:cNvGraphicFramePr/>
          <p:nvPr/>
        </p:nvGraphicFramePr>
        <p:xfrm>
          <a:off x="609600" y="2819400"/>
          <a:ext cx="7010400" cy="1483400"/>
        </p:xfrm>
        <a:graphic>
          <a:graphicData uri="http://schemas.openxmlformats.org/drawingml/2006/table">
            <a:tbl>
              <a:tblPr firstRow="1" bandRow="1">
                <a:noFill/>
                <a:tableStyleId>{35B9831B-DEB4-427B-B906-03422F021740}</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None/>
                      </a:pPr>
                      <a:r>
                        <a:rPr lang="en-US" sz="1800" u="none" strike="noStrike" cap="none"/>
                        <a:t>Toán tử</a:t>
                      </a:r>
                      <a:endParaRPr sz="1800" u="none" strike="noStrike" cap="none"/>
                    </a:p>
                  </a:txBody>
                  <a:tcPr marL="91450" marR="91450" marT="45725" marB="45725"/>
                </a:tc>
                <a:tc>
                  <a:txBody>
                    <a:bodyPr/>
                    <a:lstStyle/>
                    <a:p>
                      <a:pPr marL="0" marR="0" lvl="0" indent="0" algn="ctr" rtl="0">
                        <a:spcBef>
                          <a:spcPts val="0"/>
                        </a:spcBef>
                        <a:spcAft>
                          <a:spcPts val="0"/>
                        </a:spcAft>
                        <a:buNone/>
                      </a:pPr>
                      <a:r>
                        <a:rPr lang="en-US" sz="1800" u="none" strike="noStrike" cap="none"/>
                        <a:t>Mô tả</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None/>
                      </a:pPr>
                      <a:r>
                        <a:rPr lang="en-US" sz="1800" u="none" strike="noStrike" cap="none"/>
                        <a:t>&amp;&amp;</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Toán tử và (AND)</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None/>
                      </a:pPr>
                      <a:r>
                        <a:rPr lang="en-US" sz="1800" u="none" strike="noStrike" cap="none"/>
                        <a:t>||</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Toán tử hoặc (OR)</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r>
                        <a:rPr lang="en-US" sz="1800" u="none" strike="noStrike" cap="none"/>
                        <a:t>!</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Toán tử phủ định</a:t>
                      </a:r>
                      <a:endParaRPr sz="1800" u="none" strike="noStrike" cap="none"/>
                    </a:p>
                  </a:txBody>
                  <a:tcPr marL="91450" marR="91450" marT="45725" marB="45725"/>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1"/>
        <p:cNvGrpSpPr/>
        <p:nvPr/>
      </p:nvGrpSpPr>
      <p:grpSpPr>
        <a:xfrm>
          <a:off x="0" y="0"/>
          <a:ext cx="0" cy="0"/>
          <a:chOff x="0" y="0"/>
          <a:chExt cx="0" cy="0"/>
        </a:xfrm>
      </p:grpSpPr>
      <p:sp>
        <p:nvSpPr>
          <p:cNvPr id="262" name="Google Shape;262;p16"/>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63" name="Google Shape;263;p16"/>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264" name="Google Shape;264;p16"/>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65" name="Google Shape;265;p1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6" name="Google Shape;266;p16"/>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67" name="Google Shape;267;p16"/>
          <p:cNvSpPr txBox="1"/>
          <p:nvPr/>
        </p:nvSpPr>
        <p:spPr>
          <a:xfrm>
            <a:off x="609600" y="826309"/>
            <a:ext cx="84582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Toán tử trong Javascript</a:t>
            </a:r>
            <a:endParaRPr sz="2800">
              <a:solidFill>
                <a:schemeClr val="dk2"/>
              </a:solidFill>
              <a:latin typeface="Calibri"/>
              <a:ea typeface="Calibri"/>
              <a:cs typeface="Calibri"/>
              <a:sym typeface="Calibri"/>
            </a:endParaRPr>
          </a:p>
        </p:txBody>
      </p:sp>
      <p:sp>
        <p:nvSpPr>
          <p:cNvPr id="268" name="Google Shape;268;p16"/>
          <p:cNvSpPr txBox="1"/>
          <p:nvPr/>
        </p:nvSpPr>
        <p:spPr>
          <a:xfrm>
            <a:off x="609600" y="1688369"/>
            <a:ext cx="807719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4. Toán tử gán – Assignment Operators</a:t>
            </a:r>
            <a:endParaRPr sz="2400">
              <a:solidFill>
                <a:srgbClr val="FF0000"/>
              </a:solidFill>
              <a:latin typeface="Calibri"/>
              <a:ea typeface="Calibri"/>
              <a:cs typeface="Calibri"/>
              <a:sym typeface="Calibri"/>
            </a:endParaRPr>
          </a:p>
        </p:txBody>
      </p:sp>
      <p:graphicFrame>
        <p:nvGraphicFramePr>
          <p:cNvPr id="269" name="Google Shape;269;p16"/>
          <p:cNvGraphicFramePr/>
          <p:nvPr/>
        </p:nvGraphicFramePr>
        <p:xfrm>
          <a:off x="685800" y="2488874"/>
          <a:ext cx="7010400" cy="2966800"/>
        </p:xfrm>
        <a:graphic>
          <a:graphicData uri="http://schemas.openxmlformats.org/drawingml/2006/table">
            <a:tbl>
              <a:tblPr firstRow="1" bandRow="1">
                <a:noFill/>
                <a:tableStyleId>{35B9831B-DEB4-427B-B906-03422F021740}</a:tableStyleId>
              </a:tblPr>
              <a:tblGrid>
                <a:gridCol w="233680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gridCol w="2336800">
                  <a:extLst>
                    <a:ext uri="{9D8B030D-6E8A-4147-A177-3AD203B41FA5}">
                      <a16:colId xmlns:a16="http://schemas.microsoft.com/office/drawing/2014/main" val="20002"/>
                    </a:ext>
                  </a:extLst>
                </a:gridCol>
              </a:tblGrid>
              <a:tr h="370850">
                <a:tc>
                  <a:txBody>
                    <a:bodyPr/>
                    <a:lstStyle/>
                    <a:p>
                      <a:pPr marL="0" marR="0" lvl="0" indent="0" algn="ctr" rtl="0">
                        <a:spcBef>
                          <a:spcPts val="0"/>
                        </a:spcBef>
                        <a:spcAft>
                          <a:spcPts val="0"/>
                        </a:spcAft>
                        <a:buNone/>
                      </a:pPr>
                      <a:r>
                        <a:rPr lang="en-US" sz="1800" u="none" strike="noStrike" cap="none"/>
                        <a:t>Toán tử</a:t>
                      </a:r>
                      <a:endParaRPr sz="1800" u="none" strike="noStrike" cap="none"/>
                    </a:p>
                  </a:txBody>
                  <a:tcPr marL="91450" marR="91450" marT="45725" marB="45725"/>
                </a:tc>
                <a:tc>
                  <a:txBody>
                    <a:bodyPr/>
                    <a:lstStyle/>
                    <a:p>
                      <a:pPr marL="0" marR="0" lvl="0" indent="0" algn="ctr" rtl="0">
                        <a:spcBef>
                          <a:spcPts val="0"/>
                        </a:spcBef>
                        <a:spcAft>
                          <a:spcPts val="0"/>
                        </a:spcAft>
                        <a:buNone/>
                      </a:pPr>
                      <a:r>
                        <a:rPr lang="en-US" sz="1800" u="none" strike="noStrike" cap="none"/>
                        <a:t>Ví dụ</a:t>
                      </a:r>
                      <a:endParaRPr sz="1800" u="none" strike="noStrike" cap="none"/>
                    </a:p>
                  </a:txBody>
                  <a:tcPr marL="91450" marR="91450" marT="45725" marB="45725"/>
                </a:tc>
                <a:tc>
                  <a:txBody>
                    <a:bodyPr/>
                    <a:lstStyle/>
                    <a:p>
                      <a:pPr marL="0" marR="0" lvl="0" indent="0" algn="ctr" rtl="0">
                        <a:spcBef>
                          <a:spcPts val="0"/>
                        </a:spcBef>
                        <a:spcAft>
                          <a:spcPts val="0"/>
                        </a:spcAft>
                        <a:buNone/>
                      </a:pPr>
                      <a:r>
                        <a:rPr lang="en-US" sz="1800" u="none" strike="noStrike" cap="none"/>
                        <a:t>Tương đương</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None/>
                      </a:pPr>
                      <a:r>
                        <a:rPr lang="en-US" sz="1800" u="none" strike="noStrike" cap="none"/>
                        <a:t>=</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a = b</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Calibri"/>
                        <a:buNone/>
                      </a:pPr>
                      <a:r>
                        <a:rPr lang="en-US" sz="1800" u="none" strike="noStrike" cap="none"/>
                        <a:t>a = b</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None/>
                      </a:pPr>
                      <a:r>
                        <a:rPr lang="en-US" sz="1800" u="none" strike="noStrike" cap="none"/>
                        <a:t>+=</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a += b</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Calibri"/>
                        <a:buNone/>
                      </a:pPr>
                      <a:r>
                        <a:rPr lang="en-US" sz="1800" u="none" strike="noStrike" cap="none"/>
                        <a:t>a = a + b</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r>
                        <a:rPr lang="en-US" sz="1800" u="none" strike="noStrike" cap="none"/>
                        <a:t>-=</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a -= b</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Calibri"/>
                        <a:buNone/>
                      </a:pPr>
                      <a:r>
                        <a:rPr lang="en-US" sz="1800" u="none" strike="noStrike" cap="none"/>
                        <a:t>a = a - b</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ctr" rtl="0">
                        <a:spcBef>
                          <a:spcPts val="0"/>
                        </a:spcBef>
                        <a:spcAft>
                          <a:spcPts val="0"/>
                        </a:spcAft>
                        <a:buNone/>
                      </a:pPr>
                      <a:r>
                        <a:rPr lang="en-US" sz="1800" u="none" strike="noStrike" cap="none"/>
                        <a:t>*=</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Calibri"/>
                        <a:buNone/>
                      </a:pPr>
                      <a:r>
                        <a:rPr lang="en-US" sz="1800" u="none" strike="noStrike" cap="none"/>
                        <a:t>a *= b</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Calibri"/>
                        <a:buNone/>
                      </a:pPr>
                      <a:r>
                        <a:rPr lang="en-US" sz="1800" u="none" strike="noStrike" cap="none"/>
                        <a:t>a = a * b</a:t>
                      </a:r>
                      <a:endParaRPr/>
                    </a:p>
                  </a:txBody>
                  <a:tcPr marL="91450" marR="91450" marT="45725" marB="45725"/>
                </a:tc>
                <a:extLst>
                  <a:ext uri="{0D108BD9-81ED-4DB2-BD59-A6C34878D82A}">
                    <a16:rowId xmlns:a16="http://schemas.microsoft.com/office/drawing/2014/main" val="10004"/>
                  </a:ext>
                </a:extLst>
              </a:tr>
              <a:tr h="370850">
                <a:tc>
                  <a:txBody>
                    <a:bodyPr/>
                    <a:lstStyle/>
                    <a:p>
                      <a:pPr marL="0" marR="0" lvl="0" indent="0" algn="ctr" rtl="0">
                        <a:spcBef>
                          <a:spcPts val="0"/>
                        </a:spcBef>
                        <a:spcAft>
                          <a:spcPts val="0"/>
                        </a:spcAft>
                        <a:buNone/>
                      </a:pPr>
                      <a:r>
                        <a:rPr lang="en-US" sz="1800" u="none" strike="noStrike" cap="none"/>
                        <a:t>/=</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Calibri"/>
                        <a:buNone/>
                      </a:pPr>
                      <a:r>
                        <a:rPr lang="en-US" sz="1800" u="none" strike="noStrike" cap="none"/>
                        <a:t>a /= b</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Calibri"/>
                        <a:buNone/>
                      </a:pPr>
                      <a:r>
                        <a:rPr lang="en-US" sz="1800" u="none" strike="noStrike" cap="none"/>
                        <a:t>a = a / b</a:t>
                      </a:r>
                      <a:endParaRPr/>
                    </a:p>
                  </a:txBody>
                  <a:tcPr marL="91450" marR="91450" marT="45725" marB="45725"/>
                </a:tc>
                <a:extLst>
                  <a:ext uri="{0D108BD9-81ED-4DB2-BD59-A6C34878D82A}">
                    <a16:rowId xmlns:a16="http://schemas.microsoft.com/office/drawing/2014/main" val="10005"/>
                  </a:ext>
                </a:extLst>
              </a:tr>
              <a:tr h="370850">
                <a:tc>
                  <a:txBody>
                    <a:bodyPr/>
                    <a:lstStyle/>
                    <a:p>
                      <a:pPr marL="0" marR="0" lvl="0" indent="0" algn="ctr" rtl="0">
                        <a:spcBef>
                          <a:spcPts val="0"/>
                        </a:spcBef>
                        <a:spcAft>
                          <a:spcPts val="0"/>
                        </a:spcAft>
                        <a:buNone/>
                      </a:pPr>
                      <a:r>
                        <a:rPr lang="en-US" sz="1800" u="none" strike="noStrike" cap="none"/>
                        <a:t>%=</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Calibri"/>
                        <a:buNone/>
                      </a:pPr>
                      <a:r>
                        <a:rPr lang="en-US" sz="1800" u="none" strike="noStrike" cap="none"/>
                        <a:t>a %= b</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Calibri"/>
                        <a:buNone/>
                      </a:pPr>
                      <a:r>
                        <a:rPr lang="en-US" sz="1800" u="none" strike="noStrike" cap="none"/>
                        <a:t>a = a % b</a:t>
                      </a:r>
                      <a:endParaRPr/>
                    </a:p>
                  </a:txBody>
                  <a:tcPr marL="91450" marR="91450" marT="45725" marB="45725"/>
                </a:tc>
                <a:extLst>
                  <a:ext uri="{0D108BD9-81ED-4DB2-BD59-A6C34878D82A}">
                    <a16:rowId xmlns:a16="http://schemas.microsoft.com/office/drawing/2014/main" val="10006"/>
                  </a:ext>
                </a:extLst>
              </a:tr>
              <a:tr h="370850">
                <a:tc>
                  <a:txBody>
                    <a:bodyPr/>
                    <a:lstStyle/>
                    <a:p>
                      <a:pPr marL="0" marR="0" lvl="0" indent="0" algn="ctr" rtl="0">
                        <a:spcBef>
                          <a:spcPts val="0"/>
                        </a:spcBef>
                        <a:spcAft>
                          <a:spcPts val="0"/>
                        </a:spcAft>
                        <a:buNone/>
                      </a:pPr>
                      <a:r>
                        <a:rPr lang="en-US" sz="1800" u="none" strike="noStrike" cap="none"/>
                        <a:t>**=</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Calibri"/>
                        <a:buNone/>
                      </a:pPr>
                      <a:r>
                        <a:rPr lang="en-US" sz="1800" u="none" strike="noStrike" cap="none"/>
                        <a:t>a **= b</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Calibri"/>
                        <a:buNone/>
                      </a:pPr>
                      <a:r>
                        <a:rPr lang="en-US" sz="1800" u="none" strike="noStrike" cap="none"/>
                        <a:t>a = a**b</a:t>
                      </a:r>
                      <a:endParaRPr/>
                    </a:p>
                  </a:txBody>
                  <a:tcPr marL="91450" marR="91450" marT="45725" marB="45725"/>
                </a:tc>
                <a:extLst>
                  <a:ext uri="{0D108BD9-81ED-4DB2-BD59-A6C34878D82A}">
                    <a16:rowId xmlns:a16="http://schemas.microsoft.com/office/drawing/2014/main" val="10007"/>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3"/>
        <p:cNvGrpSpPr/>
        <p:nvPr/>
      </p:nvGrpSpPr>
      <p:grpSpPr>
        <a:xfrm>
          <a:off x="0" y="0"/>
          <a:ext cx="0" cy="0"/>
          <a:chOff x="0" y="0"/>
          <a:chExt cx="0" cy="0"/>
        </a:xfrm>
      </p:grpSpPr>
      <p:sp>
        <p:nvSpPr>
          <p:cNvPr id="274" name="Google Shape;274;p17"/>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75" name="Google Shape;275;p17"/>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276" name="Google Shape;276;p17"/>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77" name="Google Shape;277;p1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8" name="Google Shape;278;p17"/>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79" name="Google Shape;279;p17"/>
          <p:cNvSpPr txBox="1"/>
          <p:nvPr/>
        </p:nvSpPr>
        <p:spPr>
          <a:xfrm>
            <a:off x="609600" y="826309"/>
            <a:ext cx="84582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Toán tử trong Javascript</a:t>
            </a:r>
            <a:endParaRPr sz="2800">
              <a:solidFill>
                <a:schemeClr val="dk2"/>
              </a:solidFill>
              <a:latin typeface="Calibri"/>
              <a:ea typeface="Calibri"/>
              <a:cs typeface="Calibri"/>
              <a:sym typeface="Calibri"/>
            </a:endParaRPr>
          </a:p>
        </p:txBody>
      </p:sp>
      <p:sp>
        <p:nvSpPr>
          <p:cNvPr id="280" name="Google Shape;280;p17"/>
          <p:cNvSpPr txBox="1"/>
          <p:nvPr/>
        </p:nvSpPr>
        <p:spPr>
          <a:xfrm>
            <a:off x="609600" y="1688369"/>
            <a:ext cx="8077197"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5. Toán tử ba ngôi – Conditional Operators</a:t>
            </a:r>
            <a:endParaRPr/>
          </a:p>
          <a:p>
            <a:pPr marL="0" marR="0" lvl="0" indent="0" algn="l" rtl="0">
              <a:spcBef>
                <a:spcPts val="0"/>
              </a:spcBef>
              <a:spcAft>
                <a:spcPts val="0"/>
              </a:spcAft>
              <a:buNone/>
            </a:pPr>
            <a:endParaRPr sz="2400">
              <a:solidFill>
                <a:srgbClr val="FF0000"/>
              </a:solidFill>
              <a:latin typeface="Calibri"/>
              <a:ea typeface="Calibri"/>
              <a:cs typeface="Calibri"/>
              <a:sym typeface="Calibri"/>
            </a:endParaRPr>
          </a:p>
        </p:txBody>
      </p:sp>
      <p:graphicFrame>
        <p:nvGraphicFramePr>
          <p:cNvPr id="281" name="Google Shape;281;p17"/>
          <p:cNvGraphicFramePr/>
          <p:nvPr/>
        </p:nvGraphicFramePr>
        <p:xfrm>
          <a:off x="685800" y="2519366"/>
          <a:ext cx="7010400" cy="734050"/>
        </p:xfrm>
        <a:graphic>
          <a:graphicData uri="http://schemas.openxmlformats.org/drawingml/2006/table">
            <a:tbl>
              <a:tblPr firstRow="1" bandRow="1">
                <a:noFill/>
                <a:tableStyleId>{35B9831B-DEB4-427B-B906-03422F021740}</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tblGrid>
              <a:tr h="367025">
                <a:tc>
                  <a:txBody>
                    <a:bodyPr/>
                    <a:lstStyle/>
                    <a:p>
                      <a:pPr marL="0" marR="0" lvl="0" indent="0" algn="ctr" rtl="0">
                        <a:spcBef>
                          <a:spcPts val="0"/>
                        </a:spcBef>
                        <a:spcAft>
                          <a:spcPts val="0"/>
                        </a:spcAft>
                        <a:buNone/>
                      </a:pPr>
                      <a:r>
                        <a:rPr lang="en-US" sz="1800" u="none" strike="noStrike" cap="none"/>
                        <a:t>Toán tử</a:t>
                      </a:r>
                      <a:endParaRPr sz="1800" u="none" strike="noStrike" cap="none"/>
                    </a:p>
                  </a:txBody>
                  <a:tcPr marL="91450" marR="91450" marT="45725" marB="45725"/>
                </a:tc>
                <a:tc>
                  <a:txBody>
                    <a:bodyPr/>
                    <a:lstStyle/>
                    <a:p>
                      <a:pPr marL="0" marR="0" lvl="0" indent="0" algn="ctr" rtl="0">
                        <a:spcBef>
                          <a:spcPts val="0"/>
                        </a:spcBef>
                        <a:spcAft>
                          <a:spcPts val="0"/>
                        </a:spcAft>
                        <a:buNone/>
                      </a:pPr>
                      <a:r>
                        <a:rPr lang="en-US" sz="1800" u="none" strike="noStrike" cap="none"/>
                        <a:t>Mô tả</a:t>
                      </a:r>
                      <a:endParaRPr sz="1800" u="none" strike="noStrike" cap="none"/>
                    </a:p>
                  </a:txBody>
                  <a:tcPr marL="91450" marR="91450" marT="45725" marB="45725"/>
                </a:tc>
                <a:extLst>
                  <a:ext uri="{0D108BD9-81ED-4DB2-BD59-A6C34878D82A}">
                    <a16:rowId xmlns:a16="http://schemas.microsoft.com/office/drawing/2014/main" val="10000"/>
                  </a:ext>
                </a:extLst>
              </a:tr>
              <a:tr h="367025">
                <a:tc>
                  <a:txBody>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 :</a:t>
                      </a:r>
                      <a:endParaRPr sz="1800" u="none" strike="noStrike" cap="none"/>
                    </a:p>
                  </a:txBody>
                  <a:tcPr marL="91450" marR="91450" marT="45725" marB="45725"/>
                </a:tc>
                <a:tc>
                  <a:txBody>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Điều kiện ? giá trị 1 : giá trị 2</a:t>
                      </a:r>
                      <a:endParaRPr sz="1800" u="none" strike="noStrike" cap="none"/>
                    </a:p>
                  </a:txBody>
                  <a:tcPr marL="91450" marR="91450" marT="45725" marB="45725"/>
                </a:tc>
                <a:extLst>
                  <a:ext uri="{0D108BD9-81ED-4DB2-BD59-A6C34878D82A}">
                    <a16:rowId xmlns:a16="http://schemas.microsoft.com/office/drawing/2014/main" val="10001"/>
                  </a:ext>
                </a:extLst>
              </a:tr>
            </a:tbl>
          </a:graphicData>
        </a:graphic>
      </p:graphicFrame>
      <p:pic>
        <p:nvPicPr>
          <p:cNvPr id="282" name="Google Shape;282;p17"/>
          <p:cNvPicPr preferRelativeResize="0"/>
          <p:nvPr/>
        </p:nvPicPr>
        <p:blipFill rotWithShape="1">
          <a:blip r:embed="rId4">
            <a:alphaModFix/>
          </a:blip>
          <a:srcRect/>
          <a:stretch/>
        </p:blipFill>
        <p:spPr>
          <a:xfrm>
            <a:off x="679515" y="3912331"/>
            <a:ext cx="6486525" cy="12573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6"/>
        <p:cNvGrpSpPr/>
        <p:nvPr/>
      </p:nvGrpSpPr>
      <p:grpSpPr>
        <a:xfrm>
          <a:off x="0" y="0"/>
          <a:ext cx="0" cy="0"/>
          <a:chOff x="0" y="0"/>
          <a:chExt cx="0" cy="0"/>
        </a:xfrm>
      </p:grpSpPr>
      <p:sp>
        <p:nvSpPr>
          <p:cNvPr id="287" name="Google Shape;287;p18"/>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88" name="Google Shape;288;p18"/>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289" name="Google Shape;289;p18"/>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90" name="Google Shape;290;p1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1" name="Google Shape;291;p18"/>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92" name="Google Shape;292;p18"/>
          <p:cNvSpPr txBox="1"/>
          <p:nvPr/>
        </p:nvSpPr>
        <p:spPr>
          <a:xfrm>
            <a:off x="609600" y="826309"/>
            <a:ext cx="84582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Toán tử trong Javascript</a:t>
            </a:r>
            <a:endParaRPr sz="2800">
              <a:solidFill>
                <a:schemeClr val="dk2"/>
              </a:solidFill>
              <a:latin typeface="Calibri"/>
              <a:ea typeface="Calibri"/>
              <a:cs typeface="Calibri"/>
              <a:sym typeface="Calibri"/>
            </a:endParaRPr>
          </a:p>
        </p:txBody>
      </p:sp>
      <p:sp>
        <p:nvSpPr>
          <p:cNvPr id="293" name="Google Shape;293;p18"/>
          <p:cNvSpPr txBox="1"/>
          <p:nvPr/>
        </p:nvSpPr>
        <p:spPr>
          <a:xfrm>
            <a:off x="609600" y="1688369"/>
            <a:ext cx="8077197"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6. Toán tử phân tách – Spread Operator</a:t>
            </a:r>
            <a:endParaRPr/>
          </a:p>
          <a:p>
            <a:pPr marL="0" marR="0" lvl="0" indent="0" algn="l" rtl="0">
              <a:spcBef>
                <a:spcPts val="0"/>
              </a:spcBef>
              <a:spcAft>
                <a:spcPts val="0"/>
              </a:spcAft>
              <a:buNone/>
            </a:pPr>
            <a:endParaRPr sz="2400">
              <a:solidFill>
                <a:srgbClr val="FF0000"/>
              </a:solidFill>
              <a:latin typeface="Calibri"/>
              <a:ea typeface="Calibri"/>
              <a:cs typeface="Calibri"/>
              <a:sym typeface="Calibri"/>
            </a:endParaRPr>
          </a:p>
        </p:txBody>
      </p:sp>
      <p:graphicFrame>
        <p:nvGraphicFramePr>
          <p:cNvPr id="294" name="Google Shape;294;p18"/>
          <p:cNvGraphicFramePr/>
          <p:nvPr/>
        </p:nvGraphicFramePr>
        <p:xfrm>
          <a:off x="685800" y="2519366"/>
          <a:ext cx="7010400" cy="734050"/>
        </p:xfrm>
        <a:graphic>
          <a:graphicData uri="http://schemas.openxmlformats.org/drawingml/2006/table">
            <a:tbl>
              <a:tblPr firstRow="1" bandRow="1">
                <a:noFill/>
                <a:tableStyleId>{35B9831B-DEB4-427B-B906-03422F021740}</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tblGrid>
              <a:tr h="367025">
                <a:tc>
                  <a:txBody>
                    <a:bodyPr/>
                    <a:lstStyle/>
                    <a:p>
                      <a:pPr marL="0" marR="0" lvl="0" indent="0" algn="ctr" rtl="0">
                        <a:spcBef>
                          <a:spcPts val="0"/>
                        </a:spcBef>
                        <a:spcAft>
                          <a:spcPts val="0"/>
                        </a:spcAft>
                        <a:buNone/>
                      </a:pPr>
                      <a:r>
                        <a:rPr lang="en-US" sz="1800" u="none" strike="noStrike" cap="none"/>
                        <a:t>Toán tử</a:t>
                      </a:r>
                      <a:endParaRPr sz="1800" u="none" strike="noStrike" cap="none"/>
                    </a:p>
                  </a:txBody>
                  <a:tcPr marL="91450" marR="91450" marT="45725" marB="45725"/>
                </a:tc>
                <a:tc>
                  <a:txBody>
                    <a:bodyPr/>
                    <a:lstStyle/>
                    <a:p>
                      <a:pPr marL="0" marR="0" lvl="0" indent="0" algn="ctr" rtl="0">
                        <a:spcBef>
                          <a:spcPts val="0"/>
                        </a:spcBef>
                        <a:spcAft>
                          <a:spcPts val="0"/>
                        </a:spcAft>
                        <a:buNone/>
                      </a:pPr>
                      <a:r>
                        <a:rPr lang="en-US" sz="1800" u="none" strike="noStrike" cap="none"/>
                        <a:t>Mô tả</a:t>
                      </a:r>
                      <a:endParaRPr sz="1800" u="none" strike="noStrike" cap="none"/>
                    </a:p>
                  </a:txBody>
                  <a:tcPr marL="91450" marR="91450" marT="45725" marB="45725"/>
                </a:tc>
                <a:extLst>
                  <a:ext uri="{0D108BD9-81ED-4DB2-BD59-A6C34878D82A}">
                    <a16:rowId xmlns:a16="http://schemas.microsoft.com/office/drawing/2014/main" val="10000"/>
                  </a:ext>
                </a:extLst>
              </a:tr>
              <a:tr h="367025">
                <a:tc>
                  <a:txBody>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a:t>
                      </a:r>
                      <a:endParaRPr sz="1800" u="none" strike="noStrike" cap="none"/>
                    </a:p>
                  </a:txBody>
                  <a:tcPr marL="91450" marR="91450" marT="45725" marB="45725"/>
                </a:tc>
                <a:tc>
                  <a:txBody>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Điều kiện ? giá trị 1 : giá trị 2</a:t>
                      </a:r>
                      <a:endParaRPr sz="1800" u="none" strike="noStrike" cap="none"/>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8"/>
        <p:cNvGrpSpPr/>
        <p:nvPr/>
      </p:nvGrpSpPr>
      <p:grpSpPr>
        <a:xfrm>
          <a:off x="0" y="0"/>
          <a:ext cx="0" cy="0"/>
          <a:chOff x="0" y="0"/>
          <a:chExt cx="0" cy="0"/>
        </a:xfrm>
      </p:grpSpPr>
      <p:sp>
        <p:nvSpPr>
          <p:cNvPr id="299" name="Google Shape;299;p19"/>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00" name="Google Shape;300;p19"/>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301" name="Google Shape;301;p19"/>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02" name="Google Shape;302;p1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3" name="Google Shape;303;p19"/>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04" name="Google Shape;304;p19"/>
          <p:cNvSpPr txBox="1"/>
          <p:nvPr/>
        </p:nvSpPr>
        <p:spPr>
          <a:xfrm>
            <a:off x="533400" y="761999"/>
            <a:ext cx="822959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Các kiểu dữ liệu trong Javascript</a:t>
            </a:r>
            <a:endParaRPr sz="2800">
              <a:solidFill>
                <a:schemeClr val="dk2"/>
              </a:solidFill>
              <a:latin typeface="Calibri"/>
              <a:ea typeface="Calibri"/>
              <a:cs typeface="Calibri"/>
              <a:sym typeface="Calibri"/>
            </a:endParaRPr>
          </a:p>
        </p:txBody>
      </p:sp>
      <p:pic>
        <p:nvPicPr>
          <p:cNvPr id="305" name="Google Shape;305;p19"/>
          <p:cNvPicPr preferRelativeResize="0"/>
          <p:nvPr/>
        </p:nvPicPr>
        <p:blipFill rotWithShape="1">
          <a:blip r:embed="rId4">
            <a:alphaModFix/>
          </a:blip>
          <a:srcRect/>
          <a:stretch/>
        </p:blipFill>
        <p:spPr>
          <a:xfrm>
            <a:off x="1520751" y="1428824"/>
            <a:ext cx="6157913" cy="45882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9"/>
        <p:cNvGrpSpPr/>
        <p:nvPr/>
      </p:nvGrpSpPr>
      <p:grpSpPr>
        <a:xfrm>
          <a:off x="0" y="0"/>
          <a:ext cx="0" cy="0"/>
          <a:chOff x="0" y="0"/>
          <a:chExt cx="0" cy="0"/>
        </a:xfrm>
      </p:grpSpPr>
      <p:sp>
        <p:nvSpPr>
          <p:cNvPr id="310" name="Google Shape;310;p20"/>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11" name="Google Shape;311;p20"/>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312" name="Google Shape;312;p20"/>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13" name="Google Shape;313;p2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4" name="Google Shape;314;p20"/>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15" name="Google Shape;315;p20"/>
          <p:cNvSpPr txBox="1"/>
          <p:nvPr/>
        </p:nvSpPr>
        <p:spPr>
          <a:xfrm>
            <a:off x="533400" y="761999"/>
            <a:ext cx="822959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Các kiểu dữ liệu trong Javascript</a:t>
            </a:r>
            <a:endParaRPr sz="2800">
              <a:solidFill>
                <a:schemeClr val="dk2"/>
              </a:solidFill>
              <a:latin typeface="Calibri"/>
              <a:ea typeface="Calibri"/>
              <a:cs typeface="Calibri"/>
              <a:sym typeface="Calibri"/>
            </a:endParaRPr>
          </a:p>
        </p:txBody>
      </p:sp>
      <p:sp>
        <p:nvSpPr>
          <p:cNvPr id="316" name="Google Shape;316;p20"/>
          <p:cNvSpPr txBox="1"/>
          <p:nvPr/>
        </p:nvSpPr>
        <p:spPr>
          <a:xfrm>
            <a:off x="609600" y="1600200"/>
            <a:ext cx="8153400" cy="4094400"/>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2"/>
              </a:buClr>
              <a:buSzPts val="2000"/>
              <a:buFont typeface="Calibri"/>
              <a:buAutoNum type="arabicPeriod"/>
            </a:pPr>
            <a:r>
              <a:rPr lang="en-US" sz="2000">
                <a:solidFill>
                  <a:schemeClr val="dk2"/>
                </a:solidFill>
                <a:latin typeface="Calibri"/>
                <a:ea typeface="Calibri"/>
                <a:cs typeface="Calibri"/>
                <a:sym typeface="Calibri"/>
              </a:rPr>
              <a:t>Number: Dữ liệu số bao gồm int và float</a:t>
            </a:r>
            <a:endParaRPr/>
          </a:p>
          <a:p>
            <a:pPr marL="342900" marR="0" lvl="0" indent="-215900" algn="l" rtl="0">
              <a:spcBef>
                <a:spcPts val="0"/>
              </a:spcBef>
              <a:spcAft>
                <a:spcPts val="0"/>
              </a:spcAft>
              <a:buClr>
                <a:schemeClr val="dk1"/>
              </a:buClr>
              <a:buSzPts val="2000"/>
              <a:buFont typeface="Calibri"/>
              <a:buNone/>
            </a:pPr>
            <a:endParaRPr sz="20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000"/>
              <a:buFont typeface="Calibri"/>
              <a:buAutoNum type="arabicPeriod"/>
            </a:pPr>
            <a:r>
              <a:rPr lang="en-US" sz="2000">
                <a:solidFill>
                  <a:schemeClr val="dk2"/>
                </a:solidFill>
                <a:latin typeface="Calibri"/>
                <a:ea typeface="Calibri"/>
                <a:cs typeface="Calibri"/>
                <a:sym typeface="Calibri"/>
              </a:rPr>
              <a:t>String: Dữ liệu bao gồm chuỗi các ký tự</a:t>
            </a:r>
            <a:endParaRPr sz="2000">
              <a:solidFill>
                <a:schemeClr val="dk2"/>
              </a:solidFill>
              <a:latin typeface="Calibri"/>
              <a:ea typeface="Calibri"/>
              <a:cs typeface="Calibri"/>
              <a:sym typeface="Calibri"/>
            </a:endParaRPr>
          </a:p>
          <a:p>
            <a:pPr marL="342900" marR="0" lvl="0" indent="-215900" algn="l" rtl="0">
              <a:spcBef>
                <a:spcPts val="0"/>
              </a:spcBef>
              <a:spcAft>
                <a:spcPts val="0"/>
              </a:spcAft>
              <a:buClr>
                <a:schemeClr val="dk1"/>
              </a:buClr>
              <a:buSzPts val="2000"/>
              <a:buFont typeface="Calibri"/>
              <a:buNone/>
            </a:pPr>
            <a:endParaRPr sz="20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000"/>
              <a:buFont typeface="Calibri"/>
              <a:buAutoNum type="arabicPeriod"/>
            </a:pPr>
            <a:r>
              <a:rPr lang="en-US" sz="2000">
                <a:solidFill>
                  <a:schemeClr val="dk2"/>
                </a:solidFill>
                <a:latin typeface="Calibri"/>
                <a:ea typeface="Calibri"/>
                <a:cs typeface="Calibri"/>
                <a:sym typeface="Calibri"/>
              </a:rPr>
              <a:t>Boolean: Dữ liệu Logical dạng true hoặc false</a:t>
            </a:r>
            <a:endParaRPr/>
          </a:p>
          <a:p>
            <a:pPr marL="342900" marR="0" lvl="0" indent="-215900" algn="l" rtl="0">
              <a:spcBef>
                <a:spcPts val="0"/>
              </a:spcBef>
              <a:spcAft>
                <a:spcPts val="0"/>
              </a:spcAft>
              <a:buClr>
                <a:schemeClr val="dk1"/>
              </a:buClr>
              <a:buSzPts val="2000"/>
              <a:buFont typeface="Calibri"/>
              <a:buNone/>
            </a:pPr>
            <a:endParaRPr sz="20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000"/>
              <a:buFont typeface="Calibri"/>
              <a:buAutoNum type="arabicPeriod"/>
            </a:pPr>
            <a:r>
              <a:rPr lang="en-US" sz="2000">
                <a:solidFill>
                  <a:schemeClr val="dk2"/>
                </a:solidFill>
                <a:latin typeface="Calibri"/>
                <a:ea typeface="Calibri"/>
                <a:cs typeface="Calibri"/>
                <a:sym typeface="Calibri"/>
              </a:rPr>
              <a:t>Undefined: Giá trị của một biến khi chưa gán hay khai báo</a:t>
            </a:r>
            <a:endParaRPr sz="2000">
              <a:solidFill>
                <a:schemeClr val="dk2"/>
              </a:solidFill>
              <a:latin typeface="Calibri"/>
              <a:ea typeface="Calibri"/>
              <a:cs typeface="Calibri"/>
              <a:sym typeface="Calibri"/>
            </a:endParaRPr>
          </a:p>
          <a:p>
            <a:pPr marL="342900" marR="0" lvl="0" indent="-215900" algn="l" rtl="0">
              <a:spcBef>
                <a:spcPts val="0"/>
              </a:spcBef>
              <a:spcAft>
                <a:spcPts val="0"/>
              </a:spcAft>
              <a:buClr>
                <a:schemeClr val="dk1"/>
              </a:buClr>
              <a:buSzPts val="2000"/>
              <a:buFont typeface="Calibri"/>
              <a:buNone/>
            </a:pPr>
            <a:endParaRPr sz="20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000"/>
              <a:buFont typeface="Calibri"/>
              <a:buAutoNum type="arabicPeriod"/>
            </a:pPr>
            <a:r>
              <a:rPr lang="en-US" sz="2000">
                <a:solidFill>
                  <a:schemeClr val="dk2"/>
                </a:solidFill>
                <a:latin typeface="Calibri"/>
                <a:ea typeface="Calibri"/>
                <a:cs typeface="Calibri"/>
                <a:sym typeface="Calibri"/>
              </a:rPr>
              <a:t>Null: Giá trị rỗng</a:t>
            </a:r>
            <a:endParaRPr sz="2000">
              <a:solidFill>
                <a:schemeClr val="dk2"/>
              </a:solidFill>
              <a:latin typeface="Calibri"/>
              <a:ea typeface="Calibri"/>
              <a:cs typeface="Calibri"/>
              <a:sym typeface="Calibri"/>
            </a:endParaRPr>
          </a:p>
          <a:p>
            <a:pPr marL="342900" marR="0" lvl="0" indent="-215900" algn="l" rtl="0">
              <a:spcBef>
                <a:spcPts val="0"/>
              </a:spcBef>
              <a:spcAft>
                <a:spcPts val="0"/>
              </a:spcAft>
              <a:buClr>
                <a:schemeClr val="dk1"/>
              </a:buClr>
              <a:buSzPts val="2000"/>
              <a:buFont typeface="Calibri"/>
              <a:buNone/>
            </a:pPr>
            <a:endParaRPr sz="20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000"/>
              <a:buFont typeface="Calibri"/>
              <a:buAutoNum type="arabicPeriod"/>
            </a:pPr>
            <a:r>
              <a:rPr lang="en-US" sz="2000">
                <a:solidFill>
                  <a:schemeClr val="dk2"/>
                </a:solidFill>
                <a:latin typeface="Calibri"/>
                <a:ea typeface="Calibri"/>
                <a:cs typeface="Calibri"/>
                <a:sym typeface="Calibri"/>
              </a:rPr>
              <a:t>Symbol (ES2015): Giá trị duy nhất và bất biến</a:t>
            </a:r>
            <a:endParaRPr sz="2000">
              <a:solidFill>
                <a:schemeClr val="dk2"/>
              </a:solidFill>
              <a:latin typeface="Calibri"/>
              <a:ea typeface="Calibri"/>
              <a:cs typeface="Calibri"/>
              <a:sym typeface="Calibri"/>
            </a:endParaRPr>
          </a:p>
          <a:p>
            <a:pPr marL="342900" marR="0" lvl="0" indent="-215900" algn="l" rtl="0">
              <a:spcBef>
                <a:spcPts val="0"/>
              </a:spcBef>
              <a:spcAft>
                <a:spcPts val="0"/>
              </a:spcAft>
              <a:buClr>
                <a:schemeClr val="dk1"/>
              </a:buClr>
              <a:buSzPts val="2000"/>
              <a:buFont typeface="Calibri"/>
              <a:buNone/>
            </a:pPr>
            <a:endParaRPr sz="20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000"/>
              <a:buFont typeface="Calibri"/>
              <a:buAutoNum type="arabicPeriod"/>
            </a:pPr>
            <a:r>
              <a:rPr lang="en-US" sz="2000">
                <a:solidFill>
                  <a:schemeClr val="dk2"/>
                </a:solidFill>
                <a:latin typeface="Calibri"/>
                <a:ea typeface="Calibri"/>
                <a:cs typeface="Calibri"/>
                <a:sym typeface="Calibri"/>
              </a:rPr>
              <a:t>BigInt (ES2020): Số nguyên lớn </a:t>
            </a:r>
            <a:endParaRPr/>
          </a:p>
        </p:txBody>
      </p:sp>
      <p:pic>
        <p:nvPicPr>
          <p:cNvPr id="317" name="Google Shape;317;p20"/>
          <p:cNvPicPr preferRelativeResize="0"/>
          <p:nvPr/>
        </p:nvPicPr>
        <p:blipFill rotWithShape="1">
          <a:blip r:embed="rId4">
            <a:alphaModFix/>
          </a:blip>
          <a:srcRect/>
          <a:stretch/>
        </p:blipFill>
        <p:spPr>
          <a:xfrm>
            <a:off x="5491162" y="1600200"/>
            <a:ext cx="1362075" cy="400050"/>
          </a:xfrm>
          <a:prstGeom prst="rect">
            <a:avLst/>
          </a:prstGeom>
          <a:noFill/>
          <a:ln>
            <a:noFill/>
          </a:ln>
        </p:spPr>
      </p:pic>
      <p:pic>
        <p:nvPicPr>
          <p:cNvPr id="318" name="Google Shape;318;p20"/>
          <p:cNvPicPr preferRelativeResize="0"/>
          <p:nvPr/>
        </p:nvPicPr>
        <p:blipFill rotWithShape="1">
          <a:blip r:embed="rId5">
            <a:alphaModFix/>
          </a:blip>
          <a:srcRect/>
          <a:stretch/>
        </p:blipFill>
        <p:spPr>
          <a:xfrm>
            <a:off x="5491162" y="2235308"/>
            <a:ext cx="2362200" cy="381000"/>
          </a:xfrm>
          <a:prstGeom prst="rect">
            <a:avLst/>
          </a:prstGeom>
          <a:noFill/>
          <a:ln>
            <a:noFill/>
          </a:ln>
        </p:spPr>
      </p:pic>
      <p:pic>
        <p:nvPicPr>
          <p:cNvPr id="319" name="Google Shape;319;p20"/>
          <p:cNvPicPr preferRelativeResize="0"/>
          <p:nvPr/>
        </p:nvPicPr>
        <p:blipFill rotWithShape="1">
          <a:blip r:embed="rId6">
            <a:alphaModFix/>
          </a:blip>
          <a:srcRect/>
          <a:stretch/>
        </p:blipFill>
        <p:spPr>
          <a:xfrm>
            <a:off x="5934074" y="2839582"/>
            <a:ext cx="1838325" cy="3905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3"/>
        <p:cNvGrpSpPr/>
        <p:nvPr/>
      </p:nvGrpSpPr>
      <p:grpSpPr>
        <a:xfrm>
          <a:off x="0" y="0"/>
          <a:ext cx="0" cy="0"/>
          <a:chOff x="0" y="0"/>
          <a:chExt cx="0" cy="0"/>
        </a:xfrm>
      </p:grpSpPr>
      <p:sp>
        <p:nvSpPr>
          <p:cNvPr id="324" name="Google Shape;324;p21"/>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25" name="Google Shape;325;p21"/>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326" name="Google Shape;326;p21"/>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27" name="Google Shape;327;p2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8" name="Google Shape;328;p21"/>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29" name="Google Shape;329;p21"/>
          <p:cNvSpPr txBox="1"/>
          <p:nvPr/>
        </p:nvSpPr>
        <p:spPr>
          <a:xfrm>
            <a:off x="533400" y="761999"/>
            <a:ext cx="8229597" cy="8925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Cấu trúc câu lệnh điều khiển</a:t>
            </a: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if… else</a:t>
            </a:r>
            <a:endParaRPr/>
          </a:p>
        </p:txBody>
      </p:sp>
      <p:pic>
        <p:nvPicPr>
          <p:cNvPr id="330" name="Google Shape;330;p21"/>
          <p:cNvPicPr preferRelativeResize="0"/>
          <p:nvPr/>
        </p:nvPicPr>
        <p:blipFill rotWithShape="1">
          <a:blip r:embed="rId4">
            <a:alphaModFix/>
          </a:blip>
          <a:srcRect/>
          <a:stretch/>
        </p:blipFill>
        <p:spPr>
          <a:xfrm>
            <a:off x="609600" y="1717713"/>
            <a:ext cx="4867275" cy="1571625"/>
          </a:xfrm>
          <a:prstGeom prst="rect">
            <a:avLst/>
          </a:prstGeom>
          <a:noFill/>
          <a:ln>
            <a:noFill/>
          </a:ln>
        </p:spPr>
      </p:pic>
      <p:pic>
        <p:nvPicPr>
          <p:cNvPr id="331" name="Google Shape;331;p21"/>
          <p:cNvPicPr preferRelativeResize="0"/>
          <p:nvPr/>
        </p:nvPicPr>
        <p:blipFill rotWithShape="1">
          <a:blip r:embed="rId5">
            <a:alphaModFix/>
          </a:blip>
          <a:srcRect/>
          <a:stretch/>
        </p:blipFill>
        <p:spPr>
          <a:xfrm>
            <a:off x="3886200" y="3518414"/>
            <a:ext cx="5048250" cy="2466975"/>
          </a:xfrm>
          <a:prstGeom prst="rect">
            <a:avLst/>
          </a:prstGeom>
          <a:noFill/>
          <a:ln>
            <a:noFill/>
          </a:ln>
        </p:spPr>
      </p:pic>
      <p:sp>
        <p:nvSpPr>
          <p:cNvPr id="332" name="Google Shape;332;p21"/>
          <p:cNvSpPr txBox="1"/>
          <p:nvPr/>
        </p:nvSpPr>
        <p:spPr>
          <a:xfrm>
            <a:off x="2667000" y="4521068"/>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Ví dụ:</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6"/>
        <p:cNvGrpSpPr/>
        <p:nvPr/>
      </p:nvGrpSpPr>
      <p:grpSpPr>
        <a:xfrm>
          <a:off x="0" y="0"/>
          <a:ext cx="0" cy="0"/>
          <a:chOff x="0" y="0"/>
          <a:chExt cx="0" cy="0"/>
        </a:xfrm>
      </p:grpSpPr>
      <p:sp>
        <p:nvSpPr>
          <p:cNvPr id="337" name="Google Shape;337;p22"/>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38" name="Google Shape;338;p22"/>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339" name="Google Shape;339;p22"/>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40" name="Google Shape;340;p2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1" name="Google Shape;341;p22"/>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42" name="Google Shape;342;p22"/>
          <p:cNvSpPr txBox="1"/>
          <p:nvPr/>
        </p:nvSpPr>
        <p:spPr>
          <a:xfrm>
            <a:off x="533400" y="761999"/>
            <a:ext cx="8229597" cy="8925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Cấu trúc câu lệnh điều khiển</a:t>
            </a: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if… else lồng nhau</a:t>
            </a:r>
            <a:endParaRPr sz="2400">
              <a:solidFill>
                <a:schemeClr val="dk2"/>
              </a:solidFill>
              <a:latin typeface="Calibri"/>
              <a:ea typeface="Calibri"/>
              <a:cs typeface="Calibri"/>
              <a:sym typeface="Calibri"/>
            </a:endParaRPr>
          </a:p>
        </p:txBody>
      </p:sp>
      <p:sp>
        <p:nvSpPr>
          <p:cNvPr id="343" name="Google Shape;343;p22"/>
          <p:cNvSpPr txBox="1"/>
          <p:nvPr/>
        </p:nvSpPr>
        <p:spPr>
          <a:xfrm>
            <a:off x="1371600" y="3573719"/>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Ví dụ:</a:t>
            </a:r>
            <a:endParaRPr/>
          </a:p>
        </p:txBody>
      </p:sp>
      <p:pic>
        <p:nvPicPr>
          <p:cNvPr id="344" name="Google Shape;344;p22"/>
          <p:cNvPicPr preferRelativeResize="0"/>
          <p:nvPr/>
        </p:nvPicPr>
        <p:blipFill rotWithShape="1">
          <a:blip r:embed="rId4">
            <a:alphaModFix/>
          </a:blip>
          <a:srcRect/>
          <a:stretch/>
        </p:blipFill>
        <p:spPr>
          <a:xfrm>
            <a:off x="2847975" y="2314306"/>
            <a:ext cx="4924425" cy="3552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8"/>
        <p:cNvGrpSpPr/>
        <p:nvPr/>
      </p:nvGrpSpPr>
      <p:grpSpPr>
        <a:xfrm>
          <a:off x="0" y="0"/>
          <a:ext cx="0" cy="0"/>
          <a:chOff x="0" y="0"/>
          <a:chExt cx="0" cy="0"/>
        </a:xfrm>
      </p:grpSpPr>
      <p:sp>
        <p:nvSpPr>
          <p:cNvPr id="349" name="Google Shape;349;p23"/>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50" name="Google Shape;350;p23"/>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351" name="Google Shape;351;p23"/>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52" name="Google Shape;352;p2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3" name="Google Shape;353;p23"/>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54" name="Google Shape;354;p23"/>
          <p:cNvSpPr txBox="1"/>
          <p:nvPr/>
        </p:nvSpPr>
        <p:spPr>
          <a:xfrm>
            <a:off x="533400" y="761999"/>
            <a:ext cx="8229597" cy="8925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Cấu trúc câu lệnh điều khiển</a:t>
            </a: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if… else rút gọn (Toán tử 3 ngôi)</a:t>
            </a:r>
            <a:endParaRPr/>
          </a:p>
        </p:txBody>
      </p:sp>
      <p:pic>
        <p:nvPicPr>
          <p:cNvPr id="355" name="Google Shape;355;p23"/>
          <p:cNvPicPr preferRelativeResize="0"/>
          <p:nvPr/>
        </p:nvPicPr>
        <p:blipFill rotWithShape="1">
          <a:blip r:embed="rId4">
            <a:alphaModFix/>
          </a:blip>
          <a:srcRect/>
          <a:stretch/>
        </p:blipFill>
        <p:spPr>
          <a:xfrm>
            <a:off x="553037" y="2559894"/>
            <a:ext cx="7277100" cy="10001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9"/>
        <p:cNvGrpSpPr/>
        <p:nvPr/>
      </p:nvGrpSpPr>
      <p:grpSpPr>
        <a:xfrm>
          <a:off x="0" y="0"/>
          <a:ext cx="0" cy="0"/>
          <a:chOff x="0" y="0"/>
          <a:chExt cx="0" cy="0"/>
        </a:xfrm>
      </p:grpSpPr>
      <p:sp>
        <p:nvSpPr>
          <p:cNvPr id="360" name="Google Shape;360;p24"/>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61" name="Google Shape;361;p24"/>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362" name="Google Shape;362;p24"/>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63" name="Google Shape;363;p2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4" name="Google Shape;364;p24"/>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65" name="Google Shape;365;p24"/>
          <p:cNvSpPr txBox="1"/>
          <p:nvPr/>
        </p:nvSpPr>
        <p:spPr>
          <a:xfrm>
            <a:off x="533400" y="761999"/>
            <a:ext cx="8229597" cy="8925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Cấu trúc câu lệnh điều khiển</a:t>
            </a: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switch…case</a:t>
            </a:r>
            <a:endParaRPr/>
          </a:p>
        </p:txBody>
      </p:sp>
      <p:pic>
        <p:nvPicPr>
          <p:cNvPr id="366" name="Google Shape;366;p24"/>
          <p:cNvPicPr preferRelativeResize="0"/>
          <p:nvPr/>
        </p:nvPicPr>
        <p:blipFill rotWithShape="1">
          <a:blip r:embed="rId4">
            <a:alphaModFix/>
          </a:blip>
          <a:srcRect/>
          <a:stretch/>
        </p:blipFill>
        <p:spPr>
          <a:xfrm>
            <a:off x="609600" y="1659137"/>
            <a:ext cx="3257550" cy="4057650"/>
          </a:xfrm>
          <a:prstGeom prst="rect">
            <a:avLst/>
          </a:prstGeom>
          <a:noFill/>
          <a:ln>
            <a:noFill/>
          </a:ln>
        </p:spPr>
      </p:pic>
      <p:sp>
        <p:nvSpPr>
          <p:cNvPr id="367" name="Google Shape;367;p24"/>
          <p:cNvSpPr txBox="1"/>
          <p:nvPr/>
        </p:nvSpPr>
        <p:spPr>
          <a:xfrm>
            <a:off x="4191000" y="1752600"/>
            <a:ext cx="4571997" cy="3816429"/>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2"/>
              </a:buClr>
              <a:buSzPts val="2200"/>
              <a:buFont typeface="Arial"/>
              <a:buChar char="•"/>
            </a:pPr>
            <a:r>
              <a:rPr lang="en-US" sz="2200">
                <a:solidFill>
                  <a:schemeClr val="dk2"/>
                </a:solidFill>
                <a:latin typeface="Calibri"/>
                <a:ea typeface="Calibri"/>
                <a:cs typeface="Calibri"/>
                <a:sym typeface="Calibri"/>
              </a:rPr>
              <a:t>condition: là biến cần kiểm tra</a:t>
            </a:r>
            <a:endParaRPr sz="2200">
              <a:solidFill>
                <a:schemeClr val="dk2"/>
              </a:solidFill>
              <a:latin typeface="Calibri"/>
              <a:ea typeface="Calibri"/>
              <a:cs typeface="Calibri"/>
              <a:sym typeface="Calibri"/>
            </a:endParaRPr>
          </a:p>
          <a:p>
            <a:pPr marL="342900" marR="0" lvl="0" indent="-203200" algn="l" rtl="0">
              <a:spcBef>
                <a:spcPts val="0"/>
              </a:spcBef>
              <a:spcAft>
                <a:spcPts val="0"/>
              </a:spcAft>
              <a:buClr>
                <a:schemeClr val="dk1"/>
              </a:buClr>
              <a:buSzPts val="2200"/>
              <a:buFont typeface="Arial"/>
              <a:buNone/>
            </a:pPr>
            <a:endParaRPr sz="22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200"/>
              <a:buFont typeface="Arial"/>
              <a:buChar char="•"/>
            </a:pPr>
            <a:r>
              <a:rPr lang="en-US" sz="2200">
                <a:solidFill>
                  <a:schemeClr val="dk2"/>
                </a:solidFill>
                <a:latin typeface="Calibri"/>
                <a:ea typeface="Calibri"/>
                <a:cs typeface="Calibri"/>
                <a:sym typeface="Calibri"/>
              </a:rPr>
              <a:t>value 1, value 2: là giá trị điều kiện cần kiểm tra</a:t>
            </a:r>
            <a:endParaRPr sz="2200">
              <a:solidFill>
                <a:schemeClr val="dk2"/>
              </a:solidFill>
              <a:latin typeface="Calibri"/>
              <a:ea typeface="Calibri"/>
              <a:cs typeface="Calibri"/>
              <a:sym typeface="Calibri"/>
            </a:endParaRPr>
          </a:p>
          <a:p>
            <a:pPr marL="342900" marR="0" lvl="0" indent="-203200" algn="l" rtl="0">
              <a:spcBef>
                <a:spcPts val="0"/>
              </a:spcBef>
              <a:spcAft>
                <a:spcPts val="0"/>
              </a:spcAft>
              <a:buClr>
                <a:schemeClr val="dk1"/>
              </a:buClr>
              <a:buSzPts val="2200"/>
              <a:buFont typeface="Arial"/>
              <a:buNone/>
            </a:pPr>
            <a:endParaRPr sz="22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200"/>
              <a:buFont typeface="Arial"/>
              <a:buChar char="•"/>
            </a:pPr>
            <a:r>
              <a:rPr lang="en-US" sz="2200">
                <a:solidFill>
                  <a:schemeClr val="dk2"/>
                </a:solidFill>
                <a:latin typeface="Calibri"/>
                <a:ea typeface="Calibri"/>
                <a:cs typeface="Calibri"/>
                <a:sym typeface="Calibri"/>
              </a:rPr>
              <a:t>default: trường hợp mặc định trả về nếu không thỏa mãn các case trên</a:t>
            </a:r>
            <a:endParaRPr sz="2200">
              <a:solidFill>
                <a:schemeClr val="dk2"/>
              </a:solidFill>
              <a:latin typeface="Calibri"/>
              <a:ea typeface="Calibri"/>
              <a:cs typeface="Calibri"/>
              <a:sym typeface="Calibri"/>
            </a:endParaRPr>
          </a:p>
          <a:p>
            <a:pPr marL="342900" marR="0" lvl="0" indent="-203200" algn="l" rtl="0">
              <a:spcBef>
                <a:spcPts val="0"/>
              </a:spcBef>
              <a:spcAft>
                <a:spcPts val="0"/>
              </a:spcAft>
              <a:buClr>
                <a:schemeClr val="dk1"/>
              </a:buClr>
              <a:buSzPts val="2200"/>
              <a:buFont typeface="Arial"/>
              <a:buNone/>
            </a:pPr>
            <a:endParaRPr sz="22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200"/>
              <a:buFont typeface="Arial"/>
              <a:buChar char="•"/>
            </a:pPr>
            <a:r>
              <a:rPr lang="en-US" sz="2200">
                <a:solidFill>
                  <a:schemeClr val="dk2"/>
                </a:solidFill>
                <a:latin typeface="Calibri"/>
                <a:ea typeface="Calibri"/>
                <a:cs typeface="Calibri"/>
                <a:sym typeface="Calibri"/>
              </a:rPr>
              <a:t>break: có tác dụng dừng và thoát khỏi khối lệnh</a:t>
            </a:r>
            <a:endParaRPr sz="2200">
              <a:solidFill>
                <a:schemeClr val="dk2"/>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1"/>
        <p:cNvGrpSpPr/>
        <p:nvPr/>
      </p:nvGrpSpPr>
      <p:grpSpPr>
        <a:xfrm>
          <a:off x="0" y="0"/>
          <a:ext cx="0" cy="0"/>
          <a:chOff x="0" y="0"/>
          <a:chExt cx="0" cy="0"/>
        </a:xfrm>
      </p:grpSpPr>
      <p:sp>
        <p:nvSpPr>
          <p:cNvPr id="372" name="Google Shape;372;p25"/>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73" name="Google Shape;373;p25"/>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374" name="Google Shape;374;p25"/>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75" name="Google Shape;375;p2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6" name="Google Shape;376;p25"/>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77" name="Google Shape;377;p25"/>
          <p:cNvSpPr txBox="1"/>
          <p:nvPr/>
        </p:nvSpPr>
        <p:spPr>
          <a:xfrm>
            <a:off x="533400" y="761999"/>
            <a:ext cx="8229600" cy="3170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Scope &amp; Hoisting</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Scope: là phạm vi của một biến được khai báo mà ta có thể truy cập được. Trước ES6 chỉ có 2 loại scope là </a:t>
            </a:r>
            <a:r>
              <a:rPr lang="en-US" sz="2400">
                <a:solidFill>
                  <a:srgbClr val="FF0000"/>
                </a:solidFill>
                <a:latin typeface="Calibri"/>
                <a:ea typeface="Calibri"/>
                <a:cs typeface="Calibri"/>
                <a:sym typeface="Calibri"/>
              </a:rPr>
              <a:t>Global scope </a:t>
            </a:r>
            <a:r>
              <a:rPr lang="en-US" sz="2400">
                <a:solidFill>
                  <a:schemeClr val="dk2"/>
                </a:solidFill>
                <a:latin typeface="Calibri"/>
                <a:ea typeface="Calibri"/>
                <a:cs typeface="Calibri"/>
                <a:sym typeface="Calibri"/>
              </a:rPr>
              <a:t>và </a:t>
            </a:r>
            <a:r>
              <a:rPr lang="en-US" sz="2400">
                <a:solidFill>
                  <a:srgbClr val="FF0000"/>
                </a:solidFill>
                <a:latin typeface="Calibri"/>
                <a:ea typeface="Calibri"/>
                <a:cs typeface="Calibri"/>
                <a:sym typeface="Calibri"/>
              </a:rPr>
              <a:t>Function scope</a:t>
            </a:r>
            <a:r>
              <a:rPr lang="en-US" sz="2400">
                <a:solidFill>
                  <a:schemeClr val="dk2"/>
                </a:solidFill>
                <a:latin typeface="Calibri"/>
                <a:ea typeface="Calibri"/>
                <a:cs typeface="Calibri"/>
                <a:sym typeface="Calibri"/>
              </a:rPr>
              <a:t>, ES6 có thêm 1 loại là </a:t>
            </a:r>
            <a:r>
              <a:rPr lang="en-US" sz="2400">
                <a:solidFill>
                  <a:srgbClr val="FF0000"/>
                </a:solidFill>
                <a:latin typeface="Calibri"/>
                <a:ea typeface="Calibri"/>
                <a:cs typeface="Calibri"/>
                <a:sym typeface="Calibri"/>
              </a:rPr>
              <a:t>Block scope</a:t>
            </a:r>
            <a:endParaRPr/>
          </a:p>
          <a:p>
            <a:pPr marL="342900" marR="0" lvl="0" indent="-190500" algn="l" rtl="0">
              <a:spcBef>
                <a:spcPts val="0"/>
              </a:spcBef>
              <a:spcAft>
                <a:spcPts val="0"/>
              </a:spcAft>
              <a:buClr>
                <a:schemeClr val="dk1"/>
              </a:buClr>
              <a:buSzPts val="2400"/>
              <a:buFont typeface="Arial"/>
              <a:buNone/>
            </a:pPr>
            <a:endParaRPr sz="24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Hoisting: là cơ chế của JavaScript sẽ đưa các khai báo biến hoặc function lên trên cùng trước khi thực thi các lệnh</a:t>
            </a:r>
            <a:endParaRPr sz="2400">
              <a:solidFill>
                <a:schemeClr val="dk2"/>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1"/>
        <p:cNvGrpSpPr/>
        <p:nvPr/>
      </p:nvGrpSpPr>
      <p:grpSpPr>
        <a:xfrm>
          <a:off x="0" y="0"/>
          <a:ext cx="0" cy="0"/>
          <a:chOff x="0" y="0"/>
          <a:chExt cx="0" cy="0"/>
        </a:xfrm>
      </p:grpSpPr>
      <p:sp>
        <p:nvSpPr>
          <p:cNvPr id="382" name="Google Shape;382;p26"/>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83" name="Google Shape;383;p26"/>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384" name="Google Shape;384;p26"/>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85" name="Google Shape;385;p2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6" name="Google Shape;386;p26"/>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87" name="Google Shape;387;p26"/>
          <p:cNvSpPr txBox="1"/>
          <p:nvPr/>
        </p:nvSpPr>
        <p:spPr>
          <a:xfrm>
            <a:off x="533400" y="761999"/>
            <a:ext cx="8229597" cy="24314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Global Scope</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Các biến được khai báo bên ngoài bất kỳ một function nào đều thuộc Global Scope</a:t>
            </a:r>
            <a:endParaRPr/>
          </a:p>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Các biến thuộc Global Scope đều có thể truy cập được từ bất cứ đâu trong chương trình JavaScript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1"/>
        <p:cNvGrpSpPr/>
        <p:nvPr/>
      </p:nvGrpSpPr>
      <p:grpSpPr>
        <a:xfrm>
          <a:off x="0" y="0"/>
          <a:ext cx="0" cy="0"/>
          <a:chOff x="0" y="0"/>
          <a:chExt cx="0" cy="0"/>
        </a:xfrm>
      </p:grpSpPr>
      <p:sp>
        <p:nvSpPr>
          <p:cNvPr id="392" name="Google Shape;392;p27"/>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93" name="Google Shape;393;p27"/>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394" name="Google Shape;394;p27"/>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95" name="Google Shape;395;p2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6" name="Google Shape;396;p27"/>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97" name="Google Shape;397;p27"/>
          <p:cNvSpPr txBox="1"/>
          <p:nvPr/>
        </p:nvSpPr>
        <p:spPr>
          <a:xfrm>
            <a:off x="533400" y="761999"/>
            <a:ext cx="8229597" cy="16927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Global Scope</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Khi khai báo biến với từ khóa var, thì biến đó sẽ có scope là </a:t>
            </a:r>
            <a:r>
              <a:rPr lang="en-US" sz="2400">
                <a:solidFill>
                  <a:srgbClr val="FF0000"/>
                </a:solidFill>
                <a:latin typeface="Calibri"/>
                <a:ea typeface="Calibri"/>
                <a:cs typeface="Calibri"/>
                <a:sym typeface="Calibri"/>
              </a:rPr>
              <a:t>globally scope</a:t>
            </a:r>
            <a:endParaRPr/>
          </a:p>
        </p:txBody>
      </p:sp>
      <p:pic>
        <p:nvPicPr>
          <p:cNvPr id="398" name="Google Shape;398;p27"/>
          <p:cNvPicPr preferRelativeResize="0"/>
          <p:nvPr/>
        </p:nvPicPr>
        <p:blipFill rotWithShape="1">
          <a:blip r:embed="rId4">
            <a:alphaModFix/>
          </a:blip>
          <a:srcRect/>
          <a:stretch/>
        </p:blipFill>
        <p:spPr>
          <a:xfrm>
            <a:off x="609600" y="2876551"/>
            <a:ext cx="5715000" cy="2095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2"/>
        <p:cNvGrpSpPr/>
        <p:nvPr/>
      </p:nvGrpSpPr>
      <p:grpSpPr>
        <a:xfrm>
          <a:off x="0" y="0"/>
          <a:ext cx="0" cy="0"/>
          <a:chOff x="0" y="0"/>
          <a:chExt cx="0" cy="0"/>
        </a:xfrm>
      </p:grpSpPr>
      <p:sp>
        <p:nvSpPr>
          <p:cNvPr id="403" name="Google Shape;403;p28"/>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04" name="Google Shape;404;p28"/>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405" name="Google Shape;405;p28"/>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06" name="Google Shape;406;p2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7" name="Google Shape;407;p28"/>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08" name="Google Shape;408;p28"/>
          <p:cNvSpPr txBox="1"/>
          <p:nvPr/>
        </p:nvSpPr>
        <p:spPr>
          <a:xfrm>
            <a:off x="533400" y="761999"/>
            <a:ext cx="8229597" cy="28007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Block Scope</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Các biến được khai báo bên trong bất kỳ một khối lệnh ( bên trong cặp dấu </a:t>
            </a:r>
            <a:r>
              <a:rPr lang="en-US" sz="2400">
                <a:solidFill>
                  <a:srgbClr val="FF0000"/>
                </a:solidFill>
                <a:latin typeface="Calibri"/>
                <a:ea typeface="Calibri"/>
                <a:cs typeface="Calibri"/>
                <a:sym typeface="Calibri"/>
              </a:rPr>
              <a:t>{}</a:t>
            </a:r>
            <a:r>
              <a:rPr lang="en-US" sz="2400">
                <a:solidFill>
                  <a:schemeClr val="dk2"/>
                </a:solidFill>
                <a:latin typeface="Calibri"/>
                <a:ea typeface="Calibri"/>
                <a:cs typeface="Calibri"/>
                <a:sym typeface="Calibri"/>
              </a:rPr>
              <a:t> ) thì thuộc </a:t>
            </a:r>
            <a:r>
              <a:rPr lang="en-US" sz="2400">
                <a:solidFill>
                  <a:srgbClr val="FF0000"/>
                </a:solidFill>
                <a:latin typeface="Calibri"/>
                <a:ea typeface="Calibri"/>
                <a:cs typeface="Calibri"/>
                <a:sym typeface="Calibri"/>
              </a:rPr>
              <a:t>block scope</a:t>
            </a:r>
            <a:endParaRPr/>
          </a:p>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Các biến này </a:t>
            </a:r>
            <a:r>
              <a:rPr lang="en-US" sz="2400">
                <a:solidFill>
                  <a:srgbClr val="FF0000"/>
                </a:solidFill>
                <a:latin typeface="Calibri"/>
                <a:ea typeface="Calibri"/>
                <a:cs typeface="Calibri"/>
                <a:sym typeface="Calibri"/>
              </a:rPr>
              <a:t>không thể truy cập </a:t>
            </a:r>
            <a:r>
              <a:rPr lang="en-US" sz="2400">
                <a:solidFill>
                  <a:schemeClr val="dk2"/>
                </a:solidFill>
                <a:latin typeface="Calibri"/>
                <a:ea typeface="Calibri"/>
                <a:cs typeface="Calibri"/>
                <a:sym typeface="Calibri"/>
              </a:rPr>
              <a:t>được bên ngoài block</a:t>
            </a:r>
            <a:endParaRPr/>
          </a:p>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Khi khai báo biến với </a:t>
            </a:r>
            <a:r>
              <a:rPr lang="en-US" sz="2400">
                <a:solidFill>
                  <a:srgbClr val="FF0000"/>
                </a:solidFill>
                <a:latin typeface="Calibri"/>
                <a:ea typeface="Calibri"/>
                <a:cs typeface="Calibri"/>
                <a:sym typeface="Calibri"/>
              </a:rPr>
              <a:t>let</a:t>
            </a:r>
            <a:r>
              <a:rPr lang="en-US" sz="2400">
                <a:solidFill>
                  <a:schemeClr val="dk2"/>
                </a:solidFill>
                <a:latin typeface="Calibri"/>
                <a:ea typeface="Calibri"/>
                <a:cs typeface="Calibri"/>
                <a:sym typeface="Calibri"/>
              </a:rPr>
              <a:t> và </a:t>
            </a:r>
            <a:r>
              <a:rPr lang="en-US" sz="2400">
                <a:solidFill>
                  <a:srgbClr val="FF0000"/>
                </a:solidFill>
                <a:latin typeface="Calibri"/>
                <a:ea typeface="Calibri"/>
                <a:cs typeface="Calibri"/>
                <a:sym typeface="Calibri"/>
              </a:rPr>
              <a:t>const</a:t>
            </a:r>
            <a:r>
              <a:rPr lang="en-US" sz="2400">
                <a:solidFill>
                  <a:schemeClr val="dk2"/>
                </a:solidFill>
                <a:latin typeface="Calibri"/>
                <a:ea typeface="Calibri"/>
                <a:cs typeface="Calibri"/>
                <a:sym typeface="Calibri"/>
              </a:rPr>
              <a:t> thì các biến này có scope là </a:t>
            </a:r>
            <a:r>
              <a:rPr lang="en-US" sz="2400">
                <a:solidFill>
                  <a:srgbClr val="FF0000"/>
                </a:solidFill>
                <a:latin typeface="Calibri"/>
                <a:ea typeface="Calibri"/>
                <a:cs typeface="Calibri"/>
                <a:sym typeface="Calibri"/>
              </a:rPr>
              <a:t>block scope</a:t>
            </a:r>
            <a:endParaRPr/>
          </a:p>
        </p:txBody>
      </p:sp>
      <p:pic>
        <p:nvPicPr>
          <p:cNvPr id="409" name="Google Shape;409;p28"/>
          <p:cNvPicPr preferRelativeResize="0"/>
          <p:nvPr/>
        </p:nvPicPr>
        <p:blipFill rotWithShape="1">
          <a:blip r:embed="rId4">
            <a:alphaModFix/>
          </a:blip>
          <a:srcRect/>
          <a:stretch/>
        </p:blipFill>
        <p:spPr>
          <a:xfrm>
            <a:off x="685800" y="3786188"/>
            <a:ext cx="4829175" cy="15906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3"/>
        <p:cNvGrpSpPr/>
        <p:nvPr/>
      </p:nvGrpSpPr>
      <p:grpSpPr>
        <a:xfrm>
          <a:off x="0" y="0"/>
          <a:ext cx="0" cy="0"/>
          <a:chOff x="0" y="0"/>
          <a:chExt cx="0" cy="0"/>
        </a:xfrm>
      </p:grpSpPr>
      <p:sp>
        <p:nvSpPr>
          <p:cNvPr id="414" name="Google Shape;414;p29"/>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15" name="Google Shape;415;p29"/>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416" name="Google Shape;416;p29"/>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17" name="Google Shape;417;p2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8" name="Google Shape;418;p29"/>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19" name="Google Shape;419;p29"/>
          <p:cNvSpPr txBox="1"/>
          <p:nvPr/>
        </p:nvSpPr>
        <p:spPr>
          <a:xfrm>
            <a:off x="533400" y="761999"/>
            <a:ext cx="8229597"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Block Scope</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Block scope không đúng với biến khai báo bằng từ khóa </a:t>
            </a:r>
            <a:r>
              <a:rPr lang="en-US" sz="2400">
                <a:solidFill>
                  <a:srgbClr val="FF0000"/>
                </a:solidFill>
                <a:latin typeface="Calibri"/>
                <a:ea typeface="Calibri"/>
                <a:cs typeface="Calibri"/>
                <a:sym typeface="Calibri"/>
              </a:rPr>
              <a:t>var</a:t>
            </a:r>
            <a:endParaRPr/>
          </a:p>
        </p:txBody>
      </p:sp>
      <p:pic>
        <p:nvPicPr>
          <p:cNvPr id="420" name="Google Shape;420;p29"/>
          <p:cNvPicPr preferRelativeResize="0"/>
          <p:nvPr/>
        </p:nvPicPr>
        <p:blipFill rotWithShape="1">
          <a:blip r:embed="rId4">
            <a:alphaModFix/>
          </a:blip>
          <a:srcRect/>
          <a:stretch/>
        </p:blipFill>
        <p:spPr>
          <a:xfrm>
            <a:off x="685800" y="2819400"/>
            <a:ext cx="4048125" cy="15430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4"/>
        <p:cNvGrpSpPr/>
        <p:nvPr/>
      </p:nvGrpSpPr>
      <p:grpSpPr>
        <a:xfrm>
          <a:off x="0" y="0"/>
          <a:ext cx="0" cy="0"/>
          <a:chOff x="0" y="0"/>
          <a:chExt cx="0" cy="0"/>
        </a:xfrm>
      </p:grpSpPr>
      <p:sp>
        <p:nvSpPr>
          <p:cNvPr id="425" name="Google Shape;425;p30"/>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26" name="Google Shape;426;p30"/>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427" name="Google Shape;427;p30"/>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28" name="Google Shape;428;p3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9" name="Google Shape;429;p30"/>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30" name="Google Shape;430;p30"/>
          <p:cNvSpPr txBox="1"/>
          <p:nvPr/>
        </p:nvSpPr>
        <p:spPr>
          <a:xfrm>
            <a:off x="533400" y="761999"/>
            <a:ext cx="8229597"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Function Scope</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Các biến được khai báo bên trong function thì thuộc function scope</a:t>
            </a:r>
            <a:endParaRPr/>
          </a:p>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Các biến này không thể truy cập được bên ngoài function</a:t>
            </a:r>
            <a:endParaRPr/>
          </a:p>
        </p:txBody>
      </p:sp>
      <p:pic>
        <p:nvPicPr>
          <p:cNvPr id="431" name="Google Shape;431;p30"/>
          <p:cNvPicPr preferRelativeResize="0"/>
          <p:nvPr/>
        </p:nvPicPr>
        <p:blipFill rotWithShape="1">
          <a:blip r:embed="rId4">
            <a:alphaModFix/>
          </a:blip>
          <a:srcRect/>
          <a:stretch/>
        </p:blipFill>
        <p:spPr>
          <a:xfrm>
            <a:off x="533400" y="3114736"/>
            <a:ext cx="5314950" cy="18383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5"/>
        <p:cNvGrpSpPr/>
        <p:nvPr/>
      </p:nvGrpSpPr>
      <p:grpSpPr>
        <a:xfrm>
          <a:off x="0" y="0"/>
          <a:ext cx="0" cy="0"/>
          <a:chOff x="0" y="0"/>
          <a:chExt cx="0" cy="0"/>
        </a:xfrm>
      </p:grpSpPr>
      <p:sp>
        <p:nvSpPr>
          <p:cNvPr id="436" name="Google Shape;436;p31"/>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37" name="Google Shape;437;p31"/>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438" name="Google Shape;438;p31"/>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39" name="Google Shape;439;p3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0" name="Google Shape;440;p31"/>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41" name="Google Shape;441;p31"/>
          <p:cNvSpPr txBox="1"/>
          <p:nvPr/>
        </p:nvSpPr>
        <p:spPr>
          <a:xfrm>
            <a:off x="533400" y="761999"/>
            <a:ext cx="8229597"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Loop Scope</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Tương tự với block scope</a:t>
            </a:r>
            <a:endParaRPr/>
          </a:p>
        </p:txBody>
      </p:sp>
      <p:pic>
        <p:nvPicPr>
          <p:cNvPr id="442" name="Google Shape;442;p31"/>
          <p:cNvPicPr preferRelativeResize="0"/>
          <p:nvPr/>
        </p:nvPicPr>
        <p:blipFill rotWithShape="1">
          <a:blip r:embed="rId4">
            <a:alphaModFix/>
          </a:blip>
          <a:srcRect/>
          <a:stretch/>
        </p:blipFill>
        <p:spPr>
          <a:xfrm>
            <a:off x="685800" y="2528887"/>
            <a:ext cx="3743325" cy="1800225"/>
          </a:xfrm>
          <a:prstGeom prst="rect">
            <a:avLst/>
          </a:prstGeom>
          <a:noFill/>
          <a:ln>
            <a:noFill/>
          </a:ln>
        </p:spPr>
      </p:pic>
      <p:pic>
        <p:nvPicPr>
          <p:cNvPr id="443" name="Google Shape;443;p31"/>
          <p:cNvPicPr preferRelativeResize="0"/>
          <p:nvPr/>
        </p:nvPicPr>
        <p:blipFill rotWithShape="1">
          <a:blip r:embed="rId5">
            <a:alphaModFix/>
          </a:blip>
          <a:srcRect/>
          <a:stretch/>
        </p:blipFill>
        <p:spPr>
          <a:xfrm>
            <a:off x="4648198" y="2521961"/>
            <a:ext cx="3648075" cy="1762125"/>
          </a:xfrm>
          <a:prstGeom prst="rect">
            <a:avLst/>
          </a:prstGeom>
          <a:noFill/>
          <a:ln>
            <a:noFill/>
          </a:ln>
        </p:spPr>
      </p:pic>
      <p:sp>
        <p:nvSpPr>
          <p:cNvPr id="444" name="Google Shape;444;p31"/>
          <p:cNvSpPr txBox="1"/>
          <p:nvPr/>
        </p:nvSpPr>
        <p:spPr>
          <a:xfrm>
            <a:off x="533400" y="4457516"/>
            <a:ext cx="8229597" cy="12618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Tương tự với block scope biến khai báo với từ khóa var có thể truy cập được và bị thay đổi value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8"/>
        <p:cNvGrpSpPr/>
        <p:nvPr/>
      </p:nvGrpSpPr>
      <p:grpSpPr>
        <a:xfrm>
          <a:off x="0" y="0"/>
          <a:ext cx="0" cy="0"/>
          <a:chOff x="0" y="0"/>
          <a:chExt cx="0" cy="0"/>
        </a:xfrm>
      </p:grpSpPr>
      <p:sp>
        <p:nvSpPr>
          <p:cNvPr id="449" name="Google Shape;449;p32"/>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50" name="Google Shape;450;p32"/>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451" name="Google Shape;451;p32"/>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52" name="Google Shape;452;p3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3" name="Google Shape;453;p32"/>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54" name="Google Shape;454;p32"/>
          <p:cNvSpPr txBox="1"/>
          <p:nvPr/>
        </p:nvSpPr>
        <p:spPr>
          <a:xfrm>
            <a:off x="533400" y="761999"/>
            <a:ext cx="8229597" cy="16927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Hoisting</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000">
                <a:solidFill>
                  <a:schemeClr val="dk2"/>
                </a:solidFill>
                <a:latin typeface="Calibri"/>
                <a:ea typeface="Calibri"/>
                <a:cs typeface="Calibri"/>
                <a:sym typeface="Calibri"/>
              </a:rPr>
              <a:t>Cho một đoạn code sau</a:t>
            </a:r>
            <a:endParaRPr sz="2000">
              <a:solidFill>
                <a:schemeClr val="dk2"/>
              </a:solidFill>
              <a:latin typeface="Calibri"/>
              <a:ea typeface="Calibri"/>
              <a:cs typeface="Calibri"/>
              <a:sym typeface="Calibri"/>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p:txBody>
      </p:sp>
      <p:pic>
        <p:nvPicPr>
          <p:cNvPr id="455" name="Google Shape;455;p32"/>
          <p:cNvPicPr preferRelativeResize="0"/>
          <p:nvPr/>
        </p:nvPicPr>
        <p:blipFill rotWithShape="1">
          <a:blip r:embed="rId4">
            <a:alphaModFix/>
          </a:blip>
          <a:srcRect/>
          <a:stretch/>
        </p:blipFill>
        <p:spPr>
          <a:xfrm>
            <a:off x="628372" y="2454770"/>
            <a:ext cx="3990975" cy="1552575"/>
          </a:xfrm>
          <a:prstGeom prst="rect">
            <a:avLst/>
          </a:prstGeom>
          <a:noFill/>
          <a:ln>
            <a:noFill/>
          </a:ln>
        </p:spPr>
      </p:pic>
      <p:sp>
        <p:nvSpPr>
          <p:cNvPr id="456" name="Google Shape;456;p32"/>
          <p:cNvSpPr txBox="1"/>
          <p:nvPr/>
        </p:nvSpPr>
        <p:spPr>
          <a:xfrm>
            <a:off x="628372" y="4546068"/>
            <a:ext cx="8134625"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2"/>
                </a:solidFill>
                <a:latin typeface="Calibri"/>
                <a:ea typeface="Calibri"/>
                <a:cs typeface="Calibri"/>
                <a:sym typeface="Calibri"/>
              </a:rPr>
              <a:t>Kết quả nhận được khi chạy đoạn code trên là gì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0"/>
        <p:cNvGrpSpPr/>
        <p:nvPr/>
      </p:nvGrpSpPr>
      <p:grpSpPr>
        <a:xfrm>
          <a:off x="0" y="0"/>
          <a:ext cx="0" cy="0"/>
          <a:chOff x="0" y="0"/>
          <a:chExt cx="0" cy="0"/>
        </a:xfrm>
      </p:grpSpPr>
      <p:sp>
        <p:nvSpPr>
          <p:cNvPr id="461" name="Google Shape;461;p33"/>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62" name="Google Shape;462;p33"/>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463" name="Google Shape;463;p33"/>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64" name="Google Shape;464;p3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5" name="Google Shape;465;p33"/>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66" name="Google Shape;466;p33"/>
          <p:cNvSpPr txBox="1"/>
          <p:nvPr/>
        </p:nvSpPr>
        <p:spPr>
          <a:xfrm>
            <a:off x="533400" y="761999"/>
            <a:ext cx="8229597" cy="16927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Hoisting</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000">
                <a:solidFill>
                  <a:schemeClr val="dk2"/>
                </a:solidFill>
                <a:latin typeface="Calibri"/>
                <a:ea typeface="Calibri"/>
                <a:cs typeface="Calibri"/>
                <a:sym typeface="Calibri"/>
              </a:rPr>
              <a:t>Tiếp tục xem một đoạn code sau:</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p:txBody>
      </p:sp>
      <p:sp>
        <p:nvSpPr>
          <p:cNvPr id="467" name="Google Shape;467;p33"/>
          <p:cNvSpPr txBox="1"/>
          <p:nvPr/>
        </p:nvSpPr>
        <p:spPr>
          <a:xfrm>
            <a:off x="628372" y="4615955"/>
            <a:ext cx="8134625"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2"/>
                </a:solidFill>
                <a:latin typeface="Calibri"/>
                <a:ea typeface="Calibri"/>
                <a:cs typeface="Calibri"/>
                <a:sym typeface="Calibri"/>
              </a:rPr>
              <a:t>Kết quả nhận được khi chạy đoạn code trên là gì ???</a:t>
            </a:r>
            <a:endParaRPr/>
          </a:p>
        </p:txBody>
      </p:sp>
      <p:pic>
        <p:nvPicPr>
          <p:cNvPr id="468" name="Google Shape;468;p33"/>
          <p:cNvPicPr preferRelativeResize="0"/>
          <p:nvPr/>
        </p:nvPicPr>
        <p:blipFill rotWithShape="1">
          <a:blip r:embed="rId4">
            <a:alphaModFix/>
          </a:blip>
          <a:srcRect/>
          <a:stretch/>
        </p:blipFill>
        <p:spPr>
          <a:xfrm>
            <a:off x="628372" y="2288365"/>
            <a:ext cx="6353175" cy="20478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72"/>
        <p:cNvGrpSpPr/>
        <p:nvPr/>
      </p:nvGrpSpPr>
      <p:grpSpPr>
        <a:xfrm>
          <a:off x="0" y="0"/>
          <a:ext cx="0" cy="0"/>
          <a:chOff x="0" y="0"/>
          <a:chExt cx="0" cy="0"/>
        </a:xfrm>
      </p:grpSpPr>
      <p:sp>
        <p:nvSpPr>
          <p:cNvPr id="473" name="Google Shape;473;p34"/>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74" name="Google Shape;474;p34"/>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475" name="Google Shape;475;p34"/>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76" name="Google Shape;476;p3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7" name="Google Shape;477;p34"/>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78" name="Google Shape;478;p34"/>
          <p:cNvSpPr txBox="1"/>
          <p:nvPr/>
        </p:nvSpPr>
        <p:spPr>
          <a:xfrm>
            <a:off x="533400" y="761999"/>
            <a:ext cx="822959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Hoisting</a:t>
            </a:r>
            <a:endParaRPr/>
          </a:p>
        </p:txBody>
      </p:sp>
      <p:pic>
        <p:nvPicPr>
          <p:cNvPr id="479" name="Google Shape;479;p34"/>
          <p:cNvPicPr preferRelativeResize="0"/>
          <p:nvPr/>
        </p:nvPicPr>
        <p:blipFill rotWithShape="1">
          <a:blip r:embed="rId4">
            <a:alphaModFix/>
          </a:blip>
          <a:srcRect/>
          <a:stretch/>
        </p:blipFill>
        <p:spPr>
          <a:xfrm>
            <a:off x="589961" y="1522303"/>
            <a:ext cx="3990975" cy="1038225"/>
          </a:xfrm>
          <a:prstGeom prst="rect">
            <a:avLst/>
          </a:prstGeom>
          <a:noFill/>
          <a:ln>
            <a:noFill/>
          </a:ln>
        </p:spPr>
      </p:pic>
      <p:pic>
        <p:nvPicPr>
          <p:cNvPr id="480" name="Google Shape;480;p34"/>
          <p:cNvPicPr preferRelativeResize="0"/>
          <p:nvPr/>
        </p:nvPicPr>
        <p:blipFill rotWithShape="1">
          <a:blip r:embed="rId5">
            <a:alphaModFix/>
          </a:blip>
          <a:srcRect/>
          <a:stretch/>
        </p:blipFill>
        <p:spPr>
          <a:xfrm>
            <a:off x="3066461" y="4011066"/>
            <a:ext cx="4953000" cy="1619250"/>
          </a:xfrm>
          <a:prstGeom prst="rect">
            <a:avLst/>
          </a:prstGeom>
          <a:noFill/>
          <a:ln>
            <a:noFill/>
          </a:ln>
        </p:spPr>
      </p:pic>
      <p:cxnSp>
        <p:nvCxnSpPr>
          <p:cNvPr id="481" name="Google Shape;481;p34"/>
          <p:cNvCxnSpPr>
            <a:stCxn id="479" idx="2"/>
            <a:endCxn id="480" idx="0"/>
          </p:cNvCxnSpPr>
          <p:nvPr/>
        </p:nvCxnSpPr>
        <p:spPr>
          <a:xfrm rot="-5400000" flipH="1">
            <a:off x="3338899" y="1807078"/>
            <a:ext cx="1450500" cy="2957400"/>
          </a:xfrm>
          <a:prstGeom prst="curvedConnector3">
            <a:avLst>
              <a:gd name="adj1" fmla="val 50000"/>
            </a:avLst>
          </a:prstGeom>
          <a:noFill/>
          <a:ln w="9525" cap="flat" cmpd="sng">
            <a:solidFill>
              <a:srgbClr val="4A7DBA"/>
            </a:solidFill>
            <a:prstDash val="solid"/>
            <a:round/>
            <a:headEnd type="none" w="sm" len="sm"/>
            <a:tailEnd type="triangle" w="med" len="med"/>
          </a:ln>
        </p:spPr>
      </p:cxnSp>
      <p:sp>
        <p:nvSpPr>
          <p:cNvPr id="482" name="Google Shape;482;p34"/>
          <p:cNvSpPr txBox="1"/>
          <p:nvPr/>
        </p:nvSpPr>
        <p:spPr>
          <a:xfrm>
            <a:off x="3066461" y="2962631"/>
            <a:ext cx="34614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highlight>
                  <a:srgbClr val="FFFF00"/>
                </a:highlight>
                <a:latin typeface="Calibri"/>
                <a:ea typeface="Calibri"/>
                <a:cs typeface="Calibri"/>
                <a:sym typeface="Calibri"/>
              </a:rPr>
              <a:t>Khi thực thi đoạn code trên JavaScript sẽ triển khai như sau</a:t>
            </a:r>
            <a:endParaRPr sz="1800">
              <a:solidFill>
                <a:schemeClr val="dk1"/>
              </a:solidFill>
              <a:highlight>
                <a:srgbClr val="FFFF00"/>
              </a:highlight>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6"/>
        <p:cNvGrpSpPr/>
        <p:nvPr/>
      </p:nvGrpSpPr>
      <p:grpSpPr>
        <a:xfrm>
          <a:off x="0" y="0"/>
          <a:ext cx="0" cy="0"/>
          <a:chOff x="0" y="0"/>
          <a:chExt cx="0" cy="0"/>
        </a:xfrm>
      </p:grpSpPr>
      <p:sp>
        <p:nvSpPr>
          <p:cNvPr id="487" name="Google Shape;487;p35"/>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88" name="Google Shape;488;p35"/>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489" name="Google Shape;489;p35"/>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90" name="Google Shape;490;p3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1" name="Google Shape;491;p35"/>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92" name="Google Shape;492;p35"/>
          <p:cNvSpPr txBox="1"/>
          <p:nvPr/>
        </p:nvSpPr>
        <p:spPr>
          <a:xfrm>
            <a:off x="533400" y="761999"/>
            <a:ext cx="822959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Hoisting</a:t>
            </a:r>
            <a:endParaRPr/>
          </a:p>
        </p:txBody>
      </p:sp>
      <p:sp>
        <p:nvSpPr>
          <p:cNvPr id="493" name="Google Shape;493;p35"/>
          <p:cNvSpPr txBox="1"/>
          <p:nvPr/>
        </p:nvSpPr>
        <p:spPr>
          <a:xfrm>
            <a:off x="609600" y="1676400"/>
            <a:ext cx="8153400" cy="1569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Biến </a:t>
            </a:r>
            <a:r>
              <a:rPr lang="en-US" sz="2400">
                <a:solidFill>
                  <a:srgbClr val="FF0000"/>
                </a:solidFill>
                <a:latin typeface="Calibri"/>
                <a:ea typeface="Calibri"/>
                <a:cs typeface="Calibri"/>
                <a:sym typeface="Calibri"/>
              </a:rPr>
              <a:t>text</a:t>
            </a:r>
            <a:r>
              <a:rPr lang="en-US" sz="2400">
                <a:solidFill>
                  <a:schemeClr val="dk2"/>
                </a:solidFill>
                <a:latin typeface="Calibri"/>
                <a:ea typeface="Calibri"/>
                <a:cs typeface="Calibri"/>
                <a:sym typeface="Calibri"/>
              </a:rPr>
              <a:t> ở ví dụ trên tuy được khai báo và gán giá trị sau khi ta log nhưng vì được </a:t>
            </a:r>
            <a:r>
              <a:rPr lang="en-US" sz="2400">
                <a:solidFill>
                  <a:srgbClr val="FF0000"/>
                </a:solidFill>
                <a:latin typeface="Calibri"/>
                <a:ea typeface="Calibri"/>
                <a:cs typeface="Calibri"/>
                <a:sym typeface="Calibri"/>
              </a:rPr>
              <a:t>hoisting</a:t>
            </a:r>
            <a:r>
              <a:rPr lang="en-US" sz="2400">
                <a:solidFill>
                  <a:schemeClr val="dk2"/>
                </a:solidFill>
                <a:latin typeface="Calibri"/>
                <a:ea typeface="Calibri"/>
                <a:cs typeface="Calibri"/>
                <a:sym typeface="Calibri"/>
              </a:rPr>
              <a:t> nên biến </a:t>
            </a:r>
            <a:r>
              <a:rPr lang="en-US" sz="2400">
                <a:solidFill>
                  <a:srgbClr val="FF0000"/>
                </a:solidFill>
                <a:latin typeface="Calibri"/>
                <a:ea typeface="Calibri"/>
                <a:cs typeface="Calibri"/>
                <a:sym typeface="Calibri"/>
              </a:rPr>
              <a:t>text</a:t>
            </a:r>
            <a:r>
              <a:rPr lang="en-US" sz="2400">
                <a:solidFill>
                  <a:schemeClr val="dk2"/>
                </a:solidFill>
                <a:latin typeface="Calibri"/>
                <a:ea typeface="Calibri"/>
                <a:cs typeface="Calibri"/>
                <a:sym typeface="Calibri"/>
              </a:rPr>
              <a:t> được khai báo đầu tiên.</a:t>
            </a:r>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Vì chỉ là khai báo biến nên kết quả ta nhận được sẽ là </a:t>
            </a:r>
            <a:r>
              <a:rPr lang="en-US" sz="2400">
                <a:solidFill>
                  <a:srgbClr val="FF0000"/>
                </a:solidFill>
                <a:latin typeface="Calibri"/>
                <a:ea typeface="Calibri"/>
                <a:cs typeface="Calibri"/>
                <a:sym typeface="Calibri"/>
              </a:rPr>
              <a:t>undefined</a:t>
            </a:r>
            <a:r>
              <a:rPr lang="en-US" sz="2400">
                <a:solidFill>
                  <a:schemeClr val="dk2"/>
                </a:solidFill>
                <a:latin typeface="Calibri"/>
                <a:ea typeface="Calibri"/>
                <a:cs typeface="Calibri"/>
                <a:sym typeface="Calibri"/>
              </a:rPr>
              <a:t>, sau đó biến </a:t>
            </a:r>
            <a:r>
              <a:rPr lang="en-US" sz="2400">
                <a:solidFill>
                  <a:srgbClr val="FF0000"/>
                </a:solidFill>
                <a:latin typeface="Calibri"/>
                <a:ea typeface="Calibri"/>
                <a:cs typeface="Calibri"/>
                <a:sym typeface="Calibri"/>
              </a:rPr>
              <a:t>text</a:t>
            </a:r>
            <a:r>
              <a:rPr lang="en-US" sz="2400">
                <a:solidFill>
                  <a:schemeClr val="dk2"/>
                </a:solidFill>
                <a:latin typeface="Calibri"/>
                <a:ea typeface="Calibri"/>
                <a:cs typeface="Calibri"/>
                <a:sym typeface="Calibri"/>
              </a:rPr>
              <a:t> mới được gắn giá trị</a:t>
            </a:r>
            <a:endParaRPr sz="2400">
              <a:solidFill>
                <a:schemeClr val="dk2"/>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97"/>
        <p:cNvGrpSpPr/>
        <p:nvPr/>
      </p:nvGrpSpPr>
      <p:grpSpPr>
        <a:xfrm>
          <a:off x="0" y="0"/>
          <a:ext cx="0" cy="0"/>
          <a:chOff x="0" y="0"/>
          <a:chExt cx="0" cy="0"/>
        </a:xfrm>
      </p:grpSpPr>
      <p:sp>
        <p:nvSpPr>
          <p:cNvPr id="498" name="Google Shape;498;p36"/>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99" name="Google Shape;499;p36"/>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500" name="Google Shape;500;p36"/>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501" name="Google Shape;501;p3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2" name="Google Shape;502;p36"/>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503" name="Google Shape;503;p36"/>
          <p:cNvSpPr txBox="1"/>
          <p:nvPr/>
        </p:nvSpPr>
        <p:spPr>
          <a:xfrm>
            <a:off x="533400" y="761999"/>
            <a:ext cx="822959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Hoisting</a:t>
            </a:r>
            <a:endParaRPr/>
          </a:p>
        </p:txBody>
      </p:sp>
      <p:sp>
        <p:nvSpPr>
          <p:cNvPr id="504" name="Google Shape;504;p36"/>
          <p:cNvSpPr txBox="1"/>
          <p:nvPr/>
        </p:nvSpPr>
        <p:spPr>
          <a:xfrm>
            <a:off x="609600" y="1686961"/>
            <a:ext cx="815339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Đối với khai báo biến bằng từ khóa let hay const</a:t>
            </a:r>
            <a:endParaRPr/>
          </a:p>
        </p:txBody>
      </p:sp>
      <p:pic>
        <p:nvPicPr>
          <p:cNvPr id="505" name="Google Shape;505;p36"/>
          <p:cNvPicPr preferRelativeResize="0"/>
          <p:nvPr/>
        </p:nvPicPr>
        <p:blipFill rotWithShape="1">
          <a:blip r:embed="rId4">
            <a:alphaModFix/>
          </a:blip>
          <a:srcRect/>
          <a:stretch/>
        </p:blipFill>
        <p:spPr>
          <a:xfrm>
            <a:off x="609600" y="2455658"/>
            <a:ext cx="6781800" cy="600075"/>
          </a:xfrm>
          <a:prstGeom prst="rect">
            <a:avLst/>
          </a:prstGeom>
          <a:noFill/>
          <a:ln>
            <a:noFill/>
          </a:ln>
        </p:spPr>
      </p:pic>
      <p:sp>
        <p:nvSpPr>
          <p:cNvPr id="506" name="Google Shape;506;p36"/>
          <p:cNvSpPr txBox="1"/>
          <p:nvPr/>
        </p:nvSpPr>
        <p:spPr>
          <a:xfrm>
            <a:off x="533400" y="3494489"/>
            <a:ext cx="8153400" cy="1569900"/>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Thực tế biến carName vẫn được hoisting nhưng nó không được khởi tạo</a:t>
            </a:r>
            <a:endParaRPr sz="24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Việc sử dụng let và const thay vì var sẽ giúp lập trình viên dễ dàng debug và quản lý việc khai báo tốt hơn</a:t>
            </a:r>
            <a:endParaRPr sz="2400">
              <a:solidFill>
                <a:schemeClr val="dk2"/>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10"/>
        <p:cNvGrpSpPr/>
        <p:nvPr/>
      </p:nvGrpSpPr>
      <p:grpSpPr>
        <a:xfrm>
          <a:off x="0" y="0"/>
          <a:ext cx="0" cy="0"/>
          <a:chOff x="0" y="0"/>
          <a:chExt cx="0" cy="0"/>
        </a:xfrm>
      </p:grpSpPr>
      <p:sp>
        <p:nvSpPr>
          <p:cNvPr id="511" name="Google Shape;511;p38"/>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12" name="Google Shape;512;p38"/>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513" name="Google Shape;513;p38"/>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514" name="Google Shape;514;p3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5" name="Google Shape;515;p38"/>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516" name="Google Shape;516;p38"/>
          <p:cNvSpPr txBox="1"/>
          <p:nvPr/>
        </p:nvSpPr>
        <p:spPr>
          <a:xfrm>
            <a:off x="533400" y="761999"/>
            <a:ext cx="822959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String trong JavaScript </a:t>
            </a:r>
            <a:endParaRPr/>
          </a:p>
        </p:txBody>
      </p:sp>
      <p:sp>
        <p:nvSpPr>
          <p:cNvPr id="517" name="Google Shape;517;p38"/>
          <p:cNvSpPr txBox="1"/>
          <p:nvPr/>
        </p:nvSpPr>
        <p:spPr>
          <a:xfrm>
            <a:off x="609600" y="1686961"/>
            <a:ext cx="8153397"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String là chuỗi các ký tự và được đặt trong dấu nháy đơn </a:t>
            </a:r>
            <a:r>
              <a:rPr lang="en-US" sz="2400">
                <a:solidFill>
                  <a:srgbClr val="FF0000"/>
                </a:solidFill>
                <a:latin typeface="Calibri"/>
                <a:ea typeface="Calibri"/>
                <a:cs typeface="Calibri"/>
                <a:sym typeface="Calibri"/>
              </a:rPr>
              <a:t>‘’</a:t>
            </a:r>
            <a:r>
              <a:rPr lang="en-US" sz="2400">
                <a:solidFill>
                  <a:schemeClr val="dk2"/>
                </a:solidFill>
                <a:latin typeface="Calibri"/>
                <a:ea typeface="Calibri"/>
                <a:cs typeface="Calibri"/>
                <a:sym typeface="Calibri"/>
              </a:rPr>
              <a:t> hoặc dấu nháy kép </a:t>
            </a:r>
            <a:r>
              <a:rPr lang="en-US" sz="2400">
                <a:solidFill>
                  <a:srgbClr val="FF0000"/>
                </a:solidFill>
                <a:latin typeface="Calibri"/>
                <a:ea typeface="Calibri"/>
                <a:cs typeface="Calibri"/>
                <a:sym typeface="Calibri"/>
              </a:rPr>
              <a:t>“”</a:t>
            </a:r>
            <a:endParaRPr/>
          </a:p>
        </p:txBody>
      </p:sp>
      <p:pic>
        <p:nvPicPr>
          <p:cNvPr id="518" name="Google Shape;518;p38"/>
          <p:cNvPicPr preferRelativeResize="0"/>
          <p:nvPr/>
        </p:nvPicPr>
        <p:blipFill rotWithShape="1">
          <a:blip r:embed="rId4">
            <a:alphaModFix/>
          </a:blip>
          <a:srcRect/>
          <a:stretch/>
        </p:blipFill>
        <p:spPr>
          <a:xfrm>
            <a:off x="685800" y="2660659"/>
            <a:ext cx="3648075" cy="647700"/>
          </a:xfrm>
          <a:prstGeom prst="rect">
            <a:avLst/>
          </a:prstGeom>
          <a:noFill/>
          <a:ln>
            <a:noFill/>
          </a:ln>
        </p:spPr>
      </p:pic>
      <p:sp>
        <p:nvSpPr>
          <p:cNvPr id="519" name="Google Shape;519;p38"/>
          <p:cNvSpPr txBox="1"/>
          <p:nvPr/>
        </p:nvSpPr>
        <p:spPr>
          <a:xfrm>
            <a:off x="609600" y="3741662"/>
            <a:ext cx="8153397"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Nếu chuỗi có dấu nháy đơn hay nháy kép thì phải thêm ký tự \ trước dấu nháy</a:t>
            </a:r>
            <a:endParaRPr sz="2400">
              <a:solidFill>
                <a:srgbClr val="FF0000"/>
              </a:solidFill>
              <a:latin typeface="Calibri"/>
              <a:ea typeface="Calibri"/>
              <a:cs typeface="Calibri"/>
              <a:sym typeface="Calibri"/>
            </a:endParaRPr>
          </a:p>
        </p:txBody>
      </p:sp>
      <p:pic>
        <p:nvPicPr>
          <p:cNvPr id="520" name="Google Shape;520;p38"/>
          <p:cNvPicPr preferRelativeResize="0"/>
          <p:nvPr/>
        </p:nvPicPr>
        <p:blipFill rotWithShape="1">
          <a:blip r:embed="rId5">
            <a:alphaModFix/>
          </a:blip>
          <a:srcRect/>
          <a:stretch/>
        </p:blipFill>
        <p:spPr>
          <a:xfrm>
            <a:off x="685800" y="4867440"/>
            <a:ext cx="6353175" cy="4953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24"/>
        <p:cNvGrpSpPr/>
        <p:nvPr/>
      </p:nvGrpSpPr>
      <p:grpSpPr>
        <a:xfrm>
          <a:off x="0" y="0"/>
          <a:ext cx="0" cy="0"/>
          <a:chOff x="0" y="0"/>
          <a:chExt cx="0" cy="0"/>
        </a:xfrm>
      </p:grpSpPr>
      <p:sp>
        <p:nvSpPr>
          <p:cNvPr id="525" name="Google Shape;525;p39"/>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26" name="Google Shape;526;p39"/>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527" name="Google Shape;527;p39"/>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528" name="Google Shape;528;p3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9" name="Google Shape;529;p39"/>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530" name="Google Shape;530;p39"/>
          <p:cNvSpPr txBox="1"/>
          <p:nvPr/>
        </p:nvSpPr>
        <p:spPr>
          <a:xfrm>
            <a:off x="533400" y="761999"/>
            <a:ext cx="822959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String trong JavaScript </a:t>
            </a:r>
            <a:endParaRPr/>
          </a:p>
        </p:txBody>
      </p:sp>
      <p:sp>
        <p:nvSpPr>
          <p:cNvPr id="531" name="Google Shape;531;p39"/>
          <p:cNvSpPr txBox="1"/>
          <p:nvPr/>
        </p:nvSpPr>
        <p:spPr>
          <a:xfrm>
            <a:off x="571509" y="1650881"/>
            <a:ext cx="81534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Ngoài ra còn các dấu hỗ trợ trong chuỗi sau:</a:t>
            </a:r>
            <a:endParaRPr sz="2400">
              <a:solidFill>
                <a:srgbClr val="FF0000"/>
              </a:solidFill>
              <a:latin typeface="Calibri"/>
              <a:ea typeface="Calibri"/>
              <a:cs typeface="Calibri"/>
              <a:sym typeface="Calibri"/>
            </a:endParaRPr>
          </a:p>
        </p:txBody>
      </p:sp>
      <p:graphicFrame>
        <p:nvGraphicFramePr>
          <p:cNvPr id="532" name="Google Shape;532;p39"/>
          <p:cNvGraphicFramePr/>
          <p:nvPr/>
        </p:nvGraphicFramePr>
        <p:xfrm>
          <a:off x="610952" y="2478254"/>
          <a:ext cx="6096000" cy="2220020"/>
        </p:xfrm>
        <a:graphic>
          <a:graphicData uri="http://schemas.openxmlformats.org/drawingml/2006/table">
            <a:tbl>
              <a:tblPr firstRow="1" bandRow="1">
                <a:noFill/>
                <a:tableStyleId>{35B9831B-DEB4-427B-B906-03422F021740}</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133250">
                <a:tc>
                  <a:txBody>
                    <a:bodyPr/>
                    <a:lstStyle/>
                    <a:p>
                      <a:pPr marL="0" marR="0" lvl="0" indent="0" algn="l" rtl="0">
                        <a:spcBef>
                          <a:spcPts val="0"/>
                        </a:spcBef>
                        <a:spcAft>
                          <a:spcPts val="0"/>
                        </a:spcAft>
                        <a:buNone/>
                      </a:pPr>
                      <a:r>
                        <a:rPr lang="en-US" sz="1800" u="none" strike="noStrike" cap="none"/>
                        <a:t>Code</a:t>
                      </a:r>
                      <a:endParaRPr/>
                    </a:p>
                  </a:txBody>
                  <a:tcPr marL="91450" marR="91450" marT="45725" marB="45725"/>
                </a:tc>
                <a:tc>
                  <a:txBody>
                    <a:bodyPr/>
                    <a:lstStyle/>
                    <a:p>
                      <a:pPr marL="0" marR="0" lvl="0" indent="0" algn="l" rtl="0">
                        <a:spcBef>
                          <a:spcPts val="0"/>
                        </a:spcBef>
                        <a:spcAft>
                          <a:spcPts val="0"/>
                        </a:spcAft>
                        <a:buNone/>
                      </a:pPr>
                      <a:r>
                        <a:rPr lang="en-US" sz="1800"/>
                        <a:t>Kết quả</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\n</a:t>
                      </a:r>
                      <a:endParaRPr/>
                    </a:p>
                  </a:txBody>
                  <a:tcPr marL="91450" marR="91450" marT="45725" marB="45725"/>
                </a:tc>
                <a:tc>
                  <a:txBody>
                    <a:bodyPr/>
                    <a:lstStyle/>
                    <a:p>
                      <a:pPr marL="0" marR="0" lvl="0" indent="0" algn="l" rtl="0">
                        <a:spcBef>
                          <a:spcPts val="0"/>
                        </a:spcBef>
                        <a:spcAft>
                          <a:spcPts val="0"/>
                        </a:spcAft>
                        <a:buNone/>
                      </a:pPr>
                      <a:r>
                        <a:rPr lang="en-US" sz="1800"/>
                        <a:t>New line, xuống dòng</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\r</a:t>
                      </a:r>
                      <a:endParaRPr/>
                    </a:p>
                  </a:txBody>
                  <a:tcPr marL="91450" marR="91450" marT="45725" marB="45725"/>
                </a:tc>
                <a:tc>
                  <a:txBody>
                    <a:bodyPr/>
                    <a:lstStyle/>
                    <a:p>
                      <a:pPr marL="0" marR="0" lvl="0" indent="0" algn="l" rtl="0">
                        <a:spcBef>
                          <a:spcPts val="0"/>
                        </a:spcBef>
                        <a:spcAft>
                          <a:spcPts val="0"/>
                        </a:spcAft>
                        <a:buNone/>
                      </a:pPr>
                      <a:r>
                        <a:rPr lang="en-US" sz="1800" b="0" i="0">
                          <a:solidFill>
                            <a:schemeClr val="dk1"/>
                          </a:solidFill>
                          <a:latin typeface="Calibri"/>
                          <a:ea typeface="Calibri"/>
                          <a:cs typeface="Calibri"/>
                          <a:sym typeface="Calibri"/>
                        </a:rPr>
                        <a:t>carriage return</a:t>
                      </a:r>
                      <a:endParaRPr sz="18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\t</a:t>
                      </a:r>
                      <a:endParaRPr/>
                    </a:p>
                  </a:txBody>
                  <a:tcPr marL="91450" marR="91450" marT="45725" marB="45725"/>
                </a:tc>
                <a:tc>
                  <a:txBody>
                    <a:bodyPr/>
                    <a:lstStyle/>
                    <a:p>
                      <a:pPr marL="0" marR="0" lvl="0" indent="0" algn="l" rtl="0">
                        <a:spcBef>
                          <a:spcPts val="0"/>
                        </a:spcBef>
                        <a:spcAft>
                          <a:spcPts val="0"/>
                        </a:spcAft>
                        <a:buNone/>
                      </a:pPr>
                      <a:r>
                        <a:rPr lang="en-US" sz="1800"/>
                        <a:t>Tab </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\b</a:t>
                      </a:r>
                      <a:endParaRPr/>
                    </a:p>
                  </a:txBody>
                  <a:tcPr marL="91450" marR="91450" marT="45725" marB="45725"/>
                </a:tc>
                <a:tc>
                  <a:txBody>
                    <a:bodyPr/>
                    <a:lstStyle/>
                    <a:p>
                      <a:pPr marL="0" marR="0" lvl="0" indent="0" algn="l" rtl="0">
                        <a:spcBef>
                          <a:spcPts val="0"/>
                        </a:spcBef>
                        <a:spcAft>
                          <a:spcPts val="0"/>
                        </a:spcAft>
                        <a:buNone/>
                      </a:pPr>
                      <a:r>
                        <a:rPr lang="en-US" sz="1800"/>
                        <a:t>Backspace, dấu cách</a:t>
                      </a:r>
                      <a:endParaRPr sz="1800"/>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0"/>
                        <a:t>\f</a:t>
                      </a:r>
                      <a:endParaRPr/>
                    </a:p>
                  </a:txBody>
                  <a:tcPr marL="91450" marR="91450" marT="45725" marB="45725"/>
                </a:tc>
                <a:tc>
                  <a:txBody>
                    <a:bodyPr/>
                    <a:lstStyle/>
                    <a:p>
                      <a:pPr marL="0" marR="0" lvl="0" indent="0" algn="l" rtl="0">
                        <a:spcBef>
                          <a:spcPts val="0"/>
                        </a:spcBef>
                        <a:spcAft>
                          <a:spcPts val="0"/>
                        </a:spcAft>
                        <a:buNone/>
                      </a:pPr>
                      <a:r>
                        <a:rPr lang="en-US" sz="1800" b="0" i="0">
                          <a:solidFill>
                            <a:schemeClr val="dk1"/>
                          </a:solidFill>
                          <a:latin typeface="Calibri"/>
                          <a:ea typeface="Calibri"/>
                          <a:cs typeface="Calibri"/>
                          <a:sym typeface="Calibri"/>
                        </a:rPr>
                        <a:t>form feed</a:t>
                      </a:r>
                      <a:endParaRPr sz="1800"/>
                    </a:p>
                  </a:txBody>
                  <a:tcPr marL="91450" marR="91450" marT="45725" marB="45725"/>
                </a:tc>
                <a:extLst>
                  <a:ext uri="{0D108BD9-81ED-4DB2-BD59-A6C34878D82A}">
                    <a16:rowId xmlns:a16="http://schemas.microsoft.com/office/drawing/2014/main" val="10005"/>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6"/>
        <p:cNvGrpSpPr/>
        <p:nvPr/>
      </p:nvGrpSpPr>
      <p:grpSpPr>
        <a:xfrm>
          <a:off x="0" y="0"/>
          <a:ext cx="0" cy="0"/>
          <a:chOff x="0" y="0"/>
          <a:chExt cx="0" cy="0"/>
        </a:xfrm>
      </p:grpSpPr>
      <p:sp>
        <p:nvSpPr>
          <p:cNvPr id="537" name="Google Shape;537;p40"/>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38" name="Google Shape;538;p40"/>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539" name="Google Shape;539;p40"/>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540" name="Google Shape;540;p4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1" name="Google Shape;541;p40"/>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542" name="Google Shape;542;p40"/>
          <p:cNvSpPr txBox="1"/>
          <p:nvPr/>
        </p:nvSpPr>
        <p:spPr>
          <a:xfrm>
            <a:off x="533400" y="761999"/>
            <a:ext cx="822959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String trong JavaScript </a:t>
            </a:r>
            <a:endParaRPr/>
          </a:p>
        </p:txBody>
      </p:sp>
      <p:sp>
        <p:nvSpPr>
          <p:cNvPr id="543" name="Google Shape;543;p40"/>
          <p:cNvSpPr txBox="1"/>
          <p:nvPr/>
        </p:nvSpPr>
        <p:spPr>
          <a:xfrm>
            <a:off x="571509" y="1501743"/>
            <a:ext cx="81534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Lấy ra độ dài của chuỗi</a:t>
            </a:r>
            <a:endParaRPr sz="2400">
              <a:solidFill>
                <a:srgbClr val="FF0000"/>
              </a:solidFill>
              <a:latin typeface="Calibri"/>
              <a:ea typeface="Calibri"/>
              <a:cs typeface="Calibri"/>
              <a:sym typeface="Calibri"/>
            </a:endParaRPr>
          </a:p>
        </p:txBody>
      </p:sp>
      <p:pic>
        <p:nvPicPr>
          <p:cNvPr id="544" name="Google Shape;544;p40"/>
          <p:cNvPicPr preferRelativeResize="0"/>
          <p:nvPr/>
        </p:nvPicPr>
        <p:blipFill rotWithShape="1">
          <a:blip r:embed="rId4">
            <a:alphaModFix/>
          </a:blip>
          <a:srcRect/>
          <a:stretch/>
        </p:blipFill>
        <p:spPr>
          <a:xfrm>
            <a:off x="677850" y="2052452"/>
            <a:ext cx="3486150" cy="685800"/>
          </a:xfrm>
          <a:prstGeom prst="rect">
            <a:avLst/>
          </a:prstGeom>
          <a:noFill/>
          <a:ln>
            <a:noFill/>
          </a:ln>
        </p:spPr>
      </p:pic>
      <p:sp>
        <p:nvSpPr>
          <p:cNvPr id="545" name="Google Shape;545;p40"/>
          <p:cNvSpPr txBox="1"/>
          <p:nvPr/>
        </p:nvSpPr>
        <p:spPr>
          <a:xfrm>
            <a:off x="677855" y="2957677"/>
            <a:ext cx="8153400" cy="83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Tìm vị trí đầu tiên của ký tự hoặc chuỗi con trong một chuỗi</a:t>
            </a:r>
            <a:endParaRPr sz="24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Nếu không tìm thấy giá trị sẽ trả về là -1</a:t>
            </a:r>
            <a:endParaRPr sz="2400">
              <a:solidFill>
                <a:srgbClr val="FF0000"/>
              </a:solidFill>
              <a:latin typeface="Calibri"/>
              <a:ea typeface="Calibri"/>
              <a:cs typeface="Calibri"/>
              <a:sym typeface="Calibri"/>
            </a:endParaRPr>
          </a:p>
        </p:txBody>
      </p:sp>
      <p:pic>
        <p:nvPicPr>
          <p:cNvPr id="546" name="Google Shape;546;p40"/>
          <p:cNvPicPr preferRelativeResize="0"/>
          <p:nvPr/>
        </p:nvPicPr>
        <p:blipFill rotWithShape="1">
          <a:blip r:embed="rId5">
            <a:alphaModFix/>
          </a:blip>
          <a:srcRect/>
          <a:stretch/>
        </p:blipFill>
        <p:spPr>
          <a:xfrm>
            <a:off x="677850" y="4159958"/>
            <a:ext cx="4829175" cy="12573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50"/>
        <p:cNvGrpSpPr/>
        <p:nvPr/>
      </p:nvGrpSpPr>
      <p:grpSpPr>
        <a:xfrm>
          <a:off x="0" y="0"/>
          <a:ext cx="0" cy="0"/>
          <a:chOff x="0" y="0"/>
          <a:chExt cx="0" cy="0"/>
        </a:xfrm>
      </p:grpSpPr>
      <p:sp>
        <p:nvSpPr>
          <p:cNvPr id="551" name="Google Shape;551;p41"/>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52" name="Google Shape;552;p41"/>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553" name="Google Shape;553;p41"/>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554" name="Google Shape;554;p4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5" name="Google Shape;555;p41"/>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556" name="Google Shape;556;p41"/>
          <p:cNvSpPr txBox="1"/>
          <p:nvPr/>
        </p:nvSpPr>
        <p:spPr>
          <a:xfrm>
            <a:off x="533400" y="761999"/>
            <a:ext cx="822959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String trong JavaScript </a:t>
            </a:r>
            <a:endParaRPr/>
          </a:p>
        </p:txBody>
      </p:sp>
      <p:sp>
        <p:nvSpPr>
          <p:cNvPr id="557" name="Google Shape;557;p41"/>
          <p:cNvSpPr txBox="1"/>
          <p:nvPr/>
        </p:nvSpPr>
        <p:spPr>
          <a:xfrm>
            <a:off x="533400" y="1693993"/>
            <a:ext cx="815339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Tìm vị trí cuối cùng của ký tự hoặc chuỗi con trong một chuỗi</a:t>
            </a:r>
            <a:endParaRPr sz="2400">
              <a:solidFill>
                <a:schemeClr val="dk2"/>
              </a:solidFill>
              <a:latin typeface="Calibri"/>
              <a:ea typeface="Calibri"/>
              <a:cs typeface="Calibri"/>
              <a:sym typeface="Calibri"/>
            </a:endParaRPr>
          </a:p>
        </p:txBody>
      </p:sp>
      <p:pic>
        <p:nvPicPr>
          <p:cNvPr id="558" name="Google Shape;558;p41"/>
          <p:cNvPicPr preferRelativeResize="0"/>
          <p:nvPr/>
        </p:nvPicPr>
        <p:blipFill rotWithShape="1">
          <a:blip r:embed="rId4">
            <a:alphaModFix/>
          </a:blip>
          <a:srcRect/>
          <a:stretch/>
        </p:blipFill>
        <p:spPr>
          <a:xfrm>
            <a:off x="533400" y="2492015"/>
            <a:ext cx="5715000" cy="9715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62"/>
        <p:cNvGrpSpPr/>
        <p:nvPr/>
      </p:nvGrpSpPr>
      <p:grpSpPr>
        <a:xfrm>
          <a:off x="0" y="0"/>
          <a:ext cx="0" cy="0"/>
          <a:chOff x="0" y="0"/>
          <a:chExt cx="0" cy="0"/>
        </a:xfrm>
      </p:grpSpPr>
      <p:sp>
        <p:nvSpPr>
          <p:cNvPr id="563" name="Google Shape;563;p42"/>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64" name="Google Shape;564;p42"/>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565" name="Google Shape;565;p42"/>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566" name="Google Shape;566;p4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7" name="Google Shape;567;p42"/>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568" name="Google Shape;568;p42"/>
          <p:cNvSpPr txBox="1"/>
          <p:nvPr/>
        </p:nvSpPr>
        <p:spPr>
          <a:xfrm>
            <a:off x="533400" y="761999"/>
            <a:ext cx="822959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String trong JavaScript </a:t>
            </a:r>
            <a:endParaRPr/>
          </a:p>
        </p:txBody>
      </p:sp>
      <p:sp>
        <p:nvSpPr>
          <p:cNvPr id="569" name="Google Shape;569;p42"/>
          <p:cNvSpPr txBox="1"/>
          <p:nvPr/>
        </p:nvSpPr>
        <p:spPr>
          <a:xfrm>
            <a:off x="533400" y="1693993"/>
            <a:ext cx="8153397"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Cắt chuối với hàm </a:t>
            </a:r>
            <a:r>
              <a:rPr lang="en-US" sz="2400">
                <a:solidFill>
                  <a:srgbClr val="FF0000"/>
                </a:solidFill>
                <a:latin typeface="Calibri"/>
                <a:ea typeface="Calibri"/>
                <a:cs typeface="Calibri"/>
                <a:sym typeface="Calibri"/>
              </a:rPr>
              <a:t>slide(start, end)</a:t>
            </a:r>
            <a:r>
              <a:rPr lang="en-US" sz="2400">
                <a:solidFill>
                  <a:schemeClr val="dk2"/>
                </a:solidFill>
                <a:latin typeface="Calibri"/>
                <a:ea typeface="Calibri"/>
                <a:cs typeface="Calibri"/>
                <a:sym typeface="Calibri"/>
              </a:rPr>
              <a:t> để lấy được chuỗi từ vị trí </a:t>
            </a:r>
            <a:r>
              <a:rPr lang="en-US" sz="2400">
                <a:solidFill>
                  <a:srgbClr val="FF0000"/>
                </a:solidFill>
                <a:latin typeface="Calibri"/>
                <a:ea typeface="Calibri"/>
                <a:cs typeface="Calibri"/>
                <a:sym typeface="Calibri"/>
              </a:rPr>
              <a:t>start</a:t>
            </a:r>
            <a:r>
              <a:rPr lang="en-US" sz="2400">
                <a:solidFill>
                  <a:schemeClr val="dk2"/>
                </a:solidFill>
                <a:latin typeface="Calibri"/>
                <a:ea typeface="Calibri"/>
                <a:cs typeface="Calibri"/>
                <a:sym typeface="Calibri"/>
              </a:rPr>
              <a:t> đến </a:t>
            </a:r>
            <a:r>
              <a:rPr lang="en-US" sz="2400">
                <a:solidFill>
                  <a:srgbClr val="FF0000"/>
                </a:solidFill>
                <a:latin typeface="Calibri"/>
                <a:ea typeface="Calibri"/>
                <a:cs typeface="Calibri"/>
                <a:sym typeface="Calibri"/>
              </a:rPr>
              <a:t>end-1</a:t>
            </a:r>
            <a:endParaRPr/>
          </a:p>
        </p:txBody>
      </p:sp>
      <p:pic>
        <p:nvPicPr>
          <p:cNvPr id="570" name="Google Shape;570;p42"/>
          <p:cNvPicPr preferRelativeResize="0"/>
          <p:nvPr/>
        </p:nvPicPr>
        <p:blipFill rotWithShape="1">
          <a:blip r:embed="rId4">
            <a:alphaModFix/>
          </a:blip>
          <a:srcRect/>
          <a:stretch/>
        </p:blipFill>
        <p:spPr>
          <a:xfrm>
            <a:off x="533400" y="2810307"/>
            <a:ext cx="7286625" cy="30003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74"/>
        <p:cNvGrpSpPr/>
        <p:nvPr/>
      </p:nvGrpSpPr>
      <p:grpSpPr>
        <a:xfrm>
          <a:off x="0" y="0"/>
          <a:ext cx="0" cy="0"/>
          <a:chOff x="0" y="0"/>
          <a:chExt cx="0" cy="0"/>
        </a:xfrm>
      </p:grpSpPr>
      <p:sp>
        <p:nvSpPr>
          <p:cNvPr id="575" name="Google Shape;575;p43"/>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76" name="Google Shape;576;p43"/>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577" name="Google Shape;577;p43"/>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578" name="Google Shape;578;p4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9" name="Google Shape;579;p43"/>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580" name="Google Shape;580;p43"/>
          <p:cNvSpPr txBox="1"/>
          <p:nvPr/>
        </p:nvSpPr>
        <p:spPr>
          <a:xfrm>
            <a:off x="533400" y="761999"/>
            <a:ext cx="822959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String trong JavaScript </a:t>
            </a:r>
            <a:endParaRPr/>
          </a:p>
        </p:txBody>
      </p:sp>
      <p:sp>
        <p:nvSpPr>
          <p:cNvPr id="581" name="Google Shape;581;p43"/>
          <p:cNvSpPr txBox="1"/>
          <p:nvPr/>
        </p:nvSpPr>
        <p:spPr>
          <a:xfrm>
            <a:off x="533400" y="1693993"/>
            <a:ext cx="8153397"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Cắt chuối với hàm </a:t>
            </a:r>
            <a:r>
              <a:rPr lang="en-US" sz="2400">
                <a:solidFill>
                  <a:srgbClr val="FF0000"/>
                </a:solidFill>
                <a:latin typeface="Calibri"/>
                <a:ea typeface="Calibri"/>
                <a:cs typeface="Calibri"/>
                <a:sym typeface="Calibri"/>
              </a:rPr>
              <a:t>subString(start, end)</a:t>
            </a:r>
            <a:r>
              <a:rPr lang="en-US" sz="2400">
                <a:solidFill>
                  <a:schemeClr val="dk2"/>
                </a:solidFill>
                <a:latin typeface="Calibri"/>
                <a:ea typeface="Calibri"/>
                <a:cs typeface="Calibri"/>
                <a:sym typeface="Calibri"/>
              </a:rPr>
              <a:t> tương tự như slide() tuy nhiên không thể sử dụng số âm với start và end</a:t>
            </a:r>
            <a:endParaRPr sz="2400">
              <a:solidFill>
                <a:srgbClr val="FF0000"/>
              </a:solidFill>
              <a:latin typeface="Calibri"/>
              <a:ea typeface="Calibri"/>
              <a:cs typeface="Calibri"/>
              <a:sym typeface="Calibri"/>
            </a:endParaRPr>
          </a:p>
        </p:txBody>
      </p:sp>
      <p:pic>
        <p:nvPicPr>
          <p:cNvPr id="582" name="Google Shape;582;p43"/>
          <p:cNvPicPr preferRelativeResize="0"/>
          <p:nvPr/>
        </p:nvPicPr>
        <p:blipFill rotWithShape="1">
          <a:blip r:embed="rId4">
            <a:alphaModFix/>
          </a:blip>
          <a:srcRect/>
          <a:stretch/>
        </p:blipFill>
        <p:spPr>
          <a:xfrm>
            <a:off x="609600" y="3174982"/>
            <a:ext cx="5715000" cy="9715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6"/>
        <p:cNvGrpSpPr/>
        <p:nvPr/>
      </p:nvGrpSpPr>
      <p:grpSpPr>
        <a:xfrm>
          <a:off x="0" y="0"/>
          <a:ext cx="0" cy="0"/>
          <a:chOff x="0" y="0"/>
          <a:chExt cx="0" cy="0"/>
        </a:xfrm>
      </p:grpSpPr>
      <p:sp>
        <p:nvSpPr>
          <p:cNvPr id="587" name="Google Shape;587;p44"/>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88" name="Google Shape;588;p44"/>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589" name="Google Shape;589;p44"/>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590" name="Google Shape;590;p4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1" name="Google Shape;591;p44"/>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592" name="Google Shape;592;p44"/>
          <p:cNvSpPr txBox="1"/>
          <p:nvPr/>
        </p:nvSpPr>
        <p:spPr>
          <a:xfrm>
            <a:off x="533400" y="761999"/>
            <a:ext cx="822959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String trong JavaScript </a:t>
            </a:r>
            <a:endParaRPr/>
          </a:p>
        </p:txBody>
      </p:sp>
      <p:sp>
        <p:nvSpPr>
          <p:cNvPr id="593" name="Google Shape;593;p44"/>
          <p:cNvSpPr txBox="1"/>
          <p:nvPr/>
        </p:nvSpPr>
        <p:spPr>
          <a:xfrm>
            <a:off x="533400" y="1693993"/>
            <a:ext cx="8153397"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Cắt chuối với hàm </a:t>
            </a:r>
            <a:r>
              <a:rPr lang="en-US" sz="2400">
                <a:solidFill>
                  <a:srgbClr val="FF0000"/>
                </a:solidFill>
                <a:latin typeface="Calibri"/>
                <a:ea typeface="Calibri"/>
                <a:cs typeface="Calibri"/>
                <a:sym typeface="Calibri"/>
              </a:rPr>
              <a:t>substr(start, length)</a:t>
            </a:r>
            <a:r>
              <a:rPr lang="en-US" sz="2400">
                <a:solidFill>
                  <a:schemeClr val="dk2"/>
                </a:solidFill>
                <a:latin typeface="Calibri"/>
                <a:ea typeface="Calibri"/>
                <a:cs typeface="Calibri"/>
                <a:sym typeface="Calibri"/>
              </a:rPr>
              <a:t> tương tự như slide() tuy nhiên tham số length là độ dài của chuỗi con cần cắt. Nếu không có length chuỗi con sẽ có độ dài từ start đến hết chuỗi</a:t>
            </a:r>
            <a:endParaRPr sz="2400">
              <a:solidFill>
                <a:srgbClr val="FF0000"/>
              </a:solidFill>
              <a:latin typeface="Calibri"/>
              <a:ea typeface="Calibri"/>
              <a:cs typeface="Calibri"/>
              <a:sym typeface="Calibri"/>
            </a:endParaRPr>
          </a:p>
        </p:txBody>
      </p:sp>
      <p:pic>
        <p:nvPicPr>
          <p:cNvPr id="594" name="Google Shape;594;p44"/>
          <p:cNvPicPr preferRelativeResize="0"/>
          <p:nvPr/>
        </p:nvPicPr>
        <p:blipFill rotWithShape="1">
          <a:blip r:embed="rId4">
            <a:alphaModFix/>
          </a:blip>
          <a:srcRect/>
          <a:stretch/>
        </p:blipFill>
        <p:spPr>
          <a:xfrm>
            <a:off x="533400" y="3417216"/>
            <a:ext cx="6515100" cy="15144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8"/>
        <p:cNvGrpSpPr/>
        <p:nvPr/>
      </p:nvGrpSpPr>
      <p:grpSpPr>
        <a:xfrm>
          <a:off x="0" y="0"/>
          <a:ext cx="0" cy="0"/>
          <a:chOff x="0" y="0"/>
          <a:chExt cx="0" cy="0"/>
        </a:xfrm>
      </p:grpSpPr>
      <p:sp>
        <p:nvSpPr>
          <p:cNvPr id="599" name="Google Shape;599;p45"/>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600" name="Google Shape;600;p45"/>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601" name="Google Shape;601;p45"/>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602" name="Google Shape;602;p4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3" name="Google Shape;603;p45"/>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604" name="Google Shape;604;p45"/>
          <p:cNvSpPr txBox="1"/>
          <p:nvPr/>
        </p:nvSpPr>
        <p:spPr>
          <a:xfrm>
            <a:off x="533400" y="761999"/>
            <a:ext cx="822959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String trong JavaScript </a:t>
            </a:r>
            <a:endParaRPr/>
          </a:p>
        </p:txBody>
      </p:sp>
      <p:sp>
        <p:nvSpPr>
          <p:cNvPr id="605" name="Google Shape;605;p45"/>
          <p:cNvSpPr txBox="1"/>
          <p:nvPr/>
        </p:nvSpPr>
        <p:spPr>
          <a:xfrm>
            <a:off x="533400" y="1693993"/>
            <a:ext cx="8153397"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Thay thế chuỗi, hay một đoạn trong chuỗi sử dụng hàm </a:t>
            </a:r>
            <a:r>
              <a:rPr lang="en-US" sz="2400">
                <a:solidFill>
                  <a:srgbClr val="FF0000"/>
                </a:solidFill>
                <a:latin typeface="Calibri"/>
                <a:ea typeface="Calibri"/>
                <a:cs typeface="Calibri"/>
                <a:sym typeface="Calibri"/>
              </a:rPr>
              <a:t>replace()</a:t>
            </a:r>
            <a:endParaRPr/>
          </a:p>
        </p:txBody>
      </p:sp>
      <p:pic>
        <p:nvPicPr>
          <p:cNvPr id="606" name="Google Shape;606;p45"/>
          <p:cNvPicPr preferRelativeResize="0"/>
          <p:nvPr/>
        </p:nvPicPr>
        <p:blipFill rotWithShape="1">
          <a:blip r:embed="rId4">
            <a:alphaModFix/>
          </a:blip>
          <a:srcRect/>
          <a:stretch/>
        </p:blipFill>
        <p:spPr>
          <a:xfrm>
            <a:off x="609600" y="2805113"/>
            <a:ext cx="6915150" cy="21431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10"/>
        <p:cNvGrpSpPr/>
        <p:nvPr/>
      </p:nvGrpSpPr>
      <p:grpSpPr>
        <a:xfrm>
          <a:off x="0" y="0"/>
          <a:ext cx="0" cy="0"/>
          <a:chOff x="0" y="0"/>
          <a:chExt cx="0" cy="0"/>
        </a:xfrm>
      </p:grpSpPr>
      <p:sp>
        <p:nvSpPr>
          <p:cNvPr id="611" name="Google Shape;611;p46"/>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612" name="Google Shape;612;p46"/>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613" name="Google Shape;613;p46"/>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614" name="Google Shape;614;p4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5" name="Google Shape;615;p46"/>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616" name="Google Shape;616;p46"/>
          <p:cNvSpPr txBox="1"/>
          <p:nvPr/>
        </p:nvSpPr>
        <p:spPr>
          <a:xfrm>
            <a:off x="533400" y="761999"/>
            <a:ext cx="822959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String trong JavaScript </a:t>
            </a:r>
            <a:endParaRPr/>
          </a:p>
        </p:txBody>
      </p:sp>
      <p:sp>
        <p:nvSpPr>
          <p:cNvPr id="617" name="Google Shape;617;p46"/>
          <p:cNvSpPr txBox="1"/>
          <p:nvPr/>
        </p:nvSpPr>
        <p:spPr>
          <a:xfrm>
            <a:off x="533400" y="1693993"/>
            <a:ext cx="8153397"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Chuyển định dạng sang chữ hoa ta sử dụng hàm </a:t>
            </a:r>
            <a:r>
              <a:rPr lang="en-US" sz="2400">
                <a:solidFill>
                  <a:srgbClr val="FF0000"/>
                </a:solidFill>
                <a:latin typeface="Calibri"/>
                <a:ea typeface="Calibri"/>
                <a:cs typeface="Calibri"/>
                <a:sym typeface="Calibri"/>
              </a:rPr>
              <a:t>toUpperCase()</a:t>
            </a:r>
            <a:r>
              <a:rPr lang="en-US" sz="2400">
                <a:solidFill>
                  <a:schemeClr val="dk2"/>
                </a:solidFill>
                <a:latin typeface="Calibri"/>
                <a:ea typeface="Calibri"/>
                <a:cs typeface="Calibri"/>
                <a:sym typeface="Calibri"/>
              </a:rPr>
              <a:t> hoặc sang chữ thường ta sử dụng </a:t>
            </a:r>
            <a:r>
              <a:rPr lang="en-US" sz="2400">
                <a:solidFill>
                  <a:srgbClr val="FF0000"/>
                </a:solidFill>
                <a:latin typeface="Calibri"/>
                <a:ea typeface="Calibri"/>
                <a:cs typeface="Calibri"/>
                <a:sym typeface="Calibri"/>
              </a:rPr>
              <a:t>toLowerCase()</a:t>
            </a:r>
            <a:endParaRPr/>
          </a:p>
        </p:txBody>
      </p:sp>
      <p:pic>
        <p:nvPicPr>
          <p:cNvPr id="618" name="Google Shape;618;p46"/>
          <p:cNvPicPr preferRelativeResize="0"/>
          <p:nvPr/>
        </p:nvPicPr>
        <p:blipFill rotWithShape="1">
          <a:blip r:embed="rId4">
            <a:alphaModFix/>
          </a:blip>
          <a:srcRect/>
          <a:stretch/>
        </p:blipFill>
        <p:spPr>
          <a:xfrm>
            <a:off x="609600" y="3276600"/>
            <a:ext cx="5562600" cy="11811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22"/>
        <p:cNvGrpSpPr/>
        <p:nvPr/>
      </p:nvGrpSpPr>
      <p:grpSpPr>
        <a:xfrm>
          <a:off x="0" y="0"/>
          <a:ext cx="0" cy="0"/>
          <a:chOff x="0" y="0"/>
          <a:chExt cx="0" cy="0"/>
        </a:xfrm>
      </p:grpSpPr>
      <p:sp>
        <p:nvSpPr>
          <p:cNvPr id="623" name="Google Shape;623;p47"/>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624" name="Google Shape;624;p47"/>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625" name="Google Shape;625;p47"/>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626" name="Google Shape;626;p4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7" name="Google Shape;627;p47"/>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628" name="Google Shape;628;p47"/>
          <p:cNvSpPr txBox="1"/>
          <p:nvPr/>
        </p:nvSpPr>
        <p:spPr>
          <a:xfrm>
            <a:off x="533400" y="761999"/>
            <a:ext cx="822959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String trong JavaScript </a:t>
            </a:r>
            <a:endParaRPr/>
          </a:p>
        </p:txBody>
      </p:sp>
      <p:sp>
        <p:nvSpPr>
          <p:cNvPr id="629" name="Google Shape;629;p47"/>
          <p:cNvSpPr txBox="1"/>
          <p:nvPr/>
        </p:nvSpPr>
        <p:spPr>
          <a:xfrm>
            <a:off x="533400" y="1693993"/>
            <a:ext cx="815339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Để nối hai chuỗi với nhau ta sử dụng </a:t>
            </a:r>
            <a:r>
              <a:rPr lang="en-US" sz="2400">
                <a:solidFill>
                  <a:srgbClr val="FF0000"/>
                </a:solidFill>
                <a:latin typeface="Calibri"/>
                <a:ea typeface="Calibri"/>
                <a:cs typeface="Calibri"/>
                <a:sym typeface="Calibri"/>
              </a:rPr>
              <a:t>concat()</a:t>
            </a:r>
            <a:r>
              <a:rPr lang="en-US" sz="2400">
                <a:solidFill>
                  <a:schemeClr val="dk2"/>
                </a:solidFill>
                <a:latin typeface="Calibri"/>
                <a:ea typeface="Calibri"/>
                <a:cs typeface="Calibri"/>
                <a:sym typeface="Calibri"/>
              </a:rPr>
              <a:t> hoặc toán tử </a:t>
            </a:r>
            <a:r>
              <a:rPr lang="en-US" sz="2400">
                <a:solidFill>
                  <a:srgbClr val="FF0000"/>
                </a:solidFill>
                <a:latin typeface="Calibri"/>
                <a:ea typeface="Calibri"/>
                <a:cs typeface="Calibri"/>
                <a:sym typeface="Calibri"/>
              </a:rPr>
              <a:t>+</a:t>
            </a:r>
            <a:endParaRPr/>
          </a:p>
        </p:txBody>
      </p:sp>
      <p:pic>
        <p:nvPicPr>
          <p:cNvPr id="630" name="Google Shape;630;p47"/>
          <p:cNvPicPr preferRelativeResize="0"/>
          <p:nvPr/>
        </p:nvPicPr>
        <p:blipFill rotWithShape="1">
          <a:blip r:embed="rId4">
            <a:alphaModFix/>
          </a:blip>
          <a:srcRect/>
          <a:stretch/>
        </p:blipFill>
        <p:spPr>
          <a:xfrm>
            <a:off x="609600" y="2673280"/>
            <a:ext cx="5629275" cy="13620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34"/>
        <p:cNvGrpSpPr/>
        <p:nvPr/>
      </p:nvGrpSpPr>
      <p:grpSpPr>
        <a:xfrm>
          <a:off x="0" y="0"/>
          <a:ext cx="0" cy="0"/>
          <a:chOff x="0" y="0"/>
          <a:chExt cx="0" cy="0"/>
        </a:xfrm>
      </p:grpSpPr>
      <p:sp>
        <p:nvSpPr>
          <p:cNvPr id="635" name="Google Shape;635;p48"/>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636" name="Google Shape;636;p48"/>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637" name="Google Shape;637;p48"/>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638" name="Google Shape;638;p4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9" name="Google Shape;639;p48"/>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640" name="Google Shape;640;p48"/>
          <p:cNvSpPr txBox="1"/>
          <p:nvPr/>
        </p:nvSpPr>
        <p:spPr>
          <a:xfrm>
            <a:off x="533400" y="761999"/>
            <a:ext cx="822959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String trong JavaScript </a:t>
            </a:r>
            <a:endParaRPr/>
          </a:p>
        </p:txBody>
      </p:sp>
      <p:sp>
        <p:nvSpPr>
          <p:cNvPr id="641" name="Google Shape;641;p48"/>
          <p:cNvSpPr txBox="1"/>
          <p:nvPr/>
        </p:nvSpPr>
        <p:spPr>
          <a:xfrm>
            <a:off x="533400" y="1693993"/>
            <a:ext cx="815339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Cắt khoảng trắng hai bên chuỗi ta dùng hàm </a:t>
            </a:r>
            <a:r>
              <a:rPr lang="en-US" sz="2400">
                <a:solidFill>
                  <a:srgbClr val="FF0000"/>
                </a:solidFill>
                <a:latin typeface="Calibri"/>
                <a:ea typeface="Calibri"/>
                <a:cs typeface="Calibri"/>
                <a:sym typeface="Calibri"/>
              </a:rPr>
              <a:t>trim()</a:t>
            </a:r>
            <a:endParaRPr/>
          </a:p>
        </p:txBody>
      </p:sp>
      <p:pic>
        <p:nvPicPr>
          <p:cNvPr id="642" name="Google Shape;642;p48"/>
          <p:cNvPicPr preferRelativeResize="0"/>
          <p:nvPr/>
        </p:nvPicPr>
        <p:blipFill rotWithShape="1">
          <a:blip r:embed="rId4">
            <a:alphaModFix/>
          </a:blip>
          <a:srcRect/>
          <a:stretch/>
        </p:blipFill>
        <p:spPr>
          <a:xfrm>
            <a:off x="609600" y="2392096"/>
            <a:ext cx="4143375" cy="981075"/>
          </a:xfrm>
          <a:prstGeom prst="rect">
            <a:avLst/>
          </a:prstGeom>
          <a:noFill/>
          <a:ln>
            <a:noFill/>
          </a:ln>
        </p:spPr>
      </p:pic>
      <p:sp>
        <p:nvSpPr>
          <p:cNvPr id="643" name="Google Shape;643;p48"/>
          <p:cNvSpPr txBox="1"/>
          <p:nvPr/>
        </p:nvSpPr>
        <p:spPr>
          <a:xfrm>
            <a:off x="533400" y="3777215"/>
            <a:ext cx="8153397"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Để lấy ra 1 ký tự trong chuỗi khi biết vị trí của ký tự đó (ký tự đầu tiên luôn có vị trí là 0) ta dùng </a:t>
            </a:r>
            <a:r>
              <a:rPr lang="en-US" sz="2400">
                <a:solidFill>
                  <a:srgbClr val="FF0000"/>
                </a:solidFill>
                <a:latin typeface="Calibri"/>
                <a:ea typeface="Calibri"/>
                <a:cs typeface="Calibri"/>
                <a:sym typeface="Calibri"/>
              </a:rPr>
              <a:t>[]</a:t>
            </a:r>
            <a:r>
              <a:rPr lang="en-US" sz="2400">
                <a:solidFill>
                  <a:schemeClr val="dk2"/>
                </a:solidFill>
                <a:latin typeface="Calibri"/>
                <a:ea typeface="Calibri"/>
                <a:cs typeface="Calibri"/>
                <a:sym typeface="Calibri"/>
              </a:rPr>
              <a:t> hoặc hàm </a:t>
            </a:r>
            <a:r>
              <a:rPr lang="en-US" sz="2400">
                <a:solidFill>
                  <a:srgbClr val="FF0000"/>
                </a:solidFill>
                <a:latin typeface="Calibri"/>
                <a:ea typeface="Calibri"/>
                <a:cs typeface="Calibri"/>
                <a:sym typeface="Calibri"/>
              </a:rPr>
              <a:t>charAt()</a:t>
            </a:r>
            <a:endParaRPr/>
          </a:p>
        </p:txBody>
      </p:sp>
      <p:pic>
        <p:nvPicPr>
          <p:cNvPr id="644" name="Google Shape;644;p48"/>
          <p:cNvPicPr preferRelativeResize="0"/>
          <p:nvPr/>
        </p:nvPicPr>
        <p:blipFill rotWithShape="1">
          <a:blip r:embed="rId5">
            <a:alphaModFix/>
          </a:blip>
          <a:srcRect/>
          <a:stretch/>
        </p:blipFill>
        <p:spPr>
          <a:xfrm>
            <a:off x="609600" y="4832864"/>
            <a:ext cx="2800350" cy="11525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48"/>
        <p:cNvGrpSpPr/>
        <p:nvPr/>
      </p:nvGrpSpPr>
      <p:grpSpPr>
        <a:xfrm>
          <a:off x="0" y="0"/>
          <a:ext cx="0" cy="0"/>
          <a:chOff x="0" y="0"/>
          <a:chExt cx="0" cy="0"/>
        </a:xfrm>
      </p:grpSpPr>
      <p:sp>
        <p:nvSpPr>
          <p:cNvPr id="649" name="Google Shape;649;p49"/>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650" name="Google Shape;650;p49"/>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651" name="Google Shape;651;p49"/>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652" name="Google Shape;652;p4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3" name="Google Shape;653;p49"/>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654" name="Google Shape;654;p49"/>
          <p:cNvSpPr txBox="1"/>
          <p:nvPr/>
        </p:nvSpPr>
        <p:spPr>
          <a:xfrm>
            <a:off x="533400" y="761999"/>
            <a:ext cx="8229597" cy="22467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Array trong JavaScript</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800">
                <a:solidFill>
                  <a:schemeClr val="dk2"/>
                </a:solidFill>
                <a:latin typeface="Calibri"/>
                <a:ea typeface="Calibri"/>
                <a:cs typeface="Calibri"/>
                <a:sym typeface="Calibri"/>
              </a:rPr>
              <a:t>Array hay mảng là tập hợp các phần tử, mỗi phần tử sẽ được đánh dấu bằng chỉ mục hay </a:t>
            </a:r>
            <a:r>
              <a:rPr lang="en-US" sz="2800">
                <a:solidFill>
                  <a:srgbClr val="FF0000"/>
                </a:solidFill>
                <a:latin typeface="Calibri"/>
                <a:ea typeface="Calibri"/>
                <a:cs typeface="Calibri"/>
                <a:sym typeface="Calibri"/>
              </a:rPr>
              <a:t>index</a:t>
            </a:r>
            <a:r>
              <a:rPr lang="en-US" sz="2800">
                <a:solidFill>
                  <a:schemeClr val="dk2"/>
                </a:solidFill>
                <a:latin typeface="Calibri"/>
                <a:ea typeface="Calibri"/>
                <a:cs typeface="Calibri"/>
                <a:sym typeface="Calibri"/>
              </a:rPr>
              <a:t> và index bắt đầu từ </a:t>
            </a:r>
            <a:r>
              <a:rPr lang="en-US" sz="2800">
                <a:solidFill>
                  <a:srgbClr val="FF0000"/>
                </a:solidFill>
                <a:latin typeface="Calibri"/>
                <a:ea typeface="Calibri"/>
                <a:cs typeface="Calibri"/>
                <a:sym typeface="Calibri"/>
              </a:rPr>
              <a:t>0 </a:t>
            </a:r>
            <a:endParaRPr/>
          </a:p>
        </p:txBody>
      </p:sp>
      <p:pic>
        <p:nvPicPr>
          <p:cNvPr id="655" name="Google Shape;655;p49"/>
          <p:cNvPicPr preferRelativeResize="0"/>
          <p:nvPr/>
        </p:nvPicPr>
        <p:blipFill rotWithShape="1">
          <a:blip r:embed="rId4">
            <a:alphaModFix/>
          </a:blip>
          <a:srcRect/>
          <a:stretch/>
        </p:blipFill>
        <p:spPr>
          <a:xfrm>
            <a:off x="533400" y="3429000"/>
            <a:ext cx="6143625" cy="19145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59"/>
        <p:cNvGrpSpPr/>
        <p:nvPr/>
      </p:nvGrpSpPr>
      <p:grpSpPr>
        <a:xfrm>
          <a:off x="0" y="0"/>
          <a:ext cx="0" cy="0"/>
          <a:chOff x="0" y="0"/>
          <a:chExt cx="0" cy="0"/>
        </a:xfrm>
      </p:grpSpPr>
      <p:sp>
        <p:nvSpPr>
          <p:cNvPr id="660" name="Google Shape;660;p50"/>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661" name="Google Shape;661;p50"/>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662" name="Google Shape;662;p50"/>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663" name="Google Shape;663;p5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4" name="Google Shape;664;p50"/>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665" name="Google Shape;665;p50"/>
          <p:cNvSpPr txBox="1"/>
          <p:nvPr/>
        </p:nvSpPr>
        <p:spPr>
          <a:xfrm>
            <a:off x="533400" y="761999"/>
            <a:ext cx="8229597"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Array trong JavaScript</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Để lấy ra độ dài của array ta sử dụng </a:t>
            </a:r>
            <a:r>
              <a:rPr lang="en-US" sz="2400">
                <a:solidFill>
                  <a:srgbClr val="FF0000"/>
                </a:solidFill>
                <a:latin typeface="Calibri"/>
                <a:ea typeface="Calibri"/>
                <a:cs typeface="Calibri"/>
                <a:sym typeface="Calibri"/>
              </a:rPr>
              <a:t>length</a:t>
            </a:r>
            <a:endParaRPr/>
          </a:p>
        </p:txBody>
      </p:sp>
      <p:pic>
        <p:nvPicPr>
          <p:cNvPr id="666" name="Google Shape;666;p50"/>
          <p:cNvPicPr preferRelativeResize="0"/>
          <p:nvPr/>
        </p:nvPicPr>
        <p:blipFill rotWithShape="1">
          <a:blip r:embed="rId4">
            <a:alphaModFix/>
          </a:blip>
          <a:srcRect/>
          <a:stretch/>
        </p:blipFill>
        <p:spPr>
          <a:xfrm>
            <a:off x="609600" y="2289809"/>
            <a:ext cx="3638550" cy="1047750"/>
          </a:xfrm>
          <a:prstGeom prst="rect">
            <a:avLst/>
          </a:prstGeom>
          <a:noFill/>
          <a:ln>
            <a:noFill/>
          </a:ln>
        </p:spPr>
      </p:pic>
      <p:sp>
        <p:nvSpPr>
          <p:cNvPr id="667" name="Google Shape;667;p50"/>
          <p:cNvSpPr txBox="1"/>
          <p:nvPr/>
        </p:nvSpPr>
        <p:spPr>
          <a:xfrm>
            <a:off x="533399" y="3541930"/>
            <a:ext cx="822959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Để lấy ra một giá trị của 1 phần tử trong array ta sử dụng </a:t>
            </a:r>
            <a:r>
              <a:rPr lang="en-US" sz="2400">
                <a:solidFill>
                  <a:srgbClr val="FF0000"/>
                </a:solidFill>
                <a:latin typeface="Calibri"/>
                <a:ea typeface="Calibri"/>
                <a:cs typeface="Calibri"/>
                <a:sym typeface="Calibri"/>
              </a:rPr>
              <a:t>[index]</a:t>
            </a:r>
            <a:endParaRPr/>
          </a:p>
        </p:txBody>
      </p:sp>
      <p:pic>
        <p:nvPicPr>
          <p:cNvPr id="668" name="Google Shape;668;p50"/>
          <p:cNvPicPr preferRelativeResize="0"/>
          <p:nvPr/>
        </p:nvPicPr>
        <p:blipFill rotWithShape="1">
          <a:blip r:embed="rId5">
            <a:alphaModFix/>
          </a:blip>
          <a:srcRect/>
          <a:stretch/>
        </p:blipFill>
        <p:spPr>
          <a:xfrm>
            <a:off x="609600" y="4207966"/>
            <a:ext cx="3457575" cy="96202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72"/>
        <p:cNvGrpSpPr/>
        <p:nvPr/>
      </p:nvGrpSpPr>
      <p:grpSpPr>
        <a:xfrm>
          <a:off x="0" y="0"/>
          <a:ext cx="0" cy="0"/>
          <a:chOff x="0" y="0"/>
          <a:chExt cx="0" cy="0"/>
        </a:xfrm>
      </p:grpSpPr>
      <p:sp>
        <p:nvSpPr>
          <p:cNvPr id="673" name="Google Shape;673;p51"/>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674" name="Google Shape;674;p51"/>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675" name="Google Shape;675;p51"/>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676" name="Google Shape;676;p5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7" name="Google Shape;677;p51"/>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678" name="Google Shape;678;p51"/>
          <p:cNvSpPr txBox="1"/>
          <p:nvPr/>
        </p:nvSpPr>
        <p:spPr>
          <a:xfrm>
            <a:off x="533400" y="761999"/>
            <a:ext cx="8229597" cy="16927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Array trong JavaScript</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Để kiểm tra một biến có phải là dạng mảng hay không, ta sử dụng hàm </a:t>
            </a:r>
            <a:r>
              <a:rPr lang="en-US" sz="2400">
                <a:solidFill>
                  <a:srgbClr val="FF0000"/>
                </a:solidFill>
                <a:latin typeface="Calibri"/>
                <a:ea typeface="Calibri"/>
                <a:cs typeface="Calibri"/>
                <a:sym typeface="Calibri"/>
              </a:rPr>
              <a:t>isArray()</a:t>
            </a:r>
            <a:r>
              <a:rPr lang="en-US" sz="2400">
                <a:solidFill>
                  <a:schemeClr val="dk2"/>
                </a:solidFill>
                <a:latin typeface="Calibri"/>
                <a:ea typeface="Calibri"/>
                <a:cs typeface="Calibri"/>
                <a:sym typeface="Calibri"/>
              </a:rPr>
              <a:t> hoặc </a:t>
            </a:r>
            <a:r>
              <a:rPr lang="en-US" sz="2400">
                <a:solidFill>
                  <a:srgbClr val="FF0000"/>
                </a:solidFill>
                <a:latin typeface="Calibri"/>
                <a:ea typeface="Calibri"/>
                <a:cs typeface="Calibri"/>
                <a:sym typeface="Calibri"/>
              </a:rPr>
              <a:t>instanceof</a:t>
            </a:r>
            <a:endParaRPr sz="2400">
              <a:solidFill>
                <a:srgbClr val="FF0000"/>
              </a:solidFill>
              <a:latin typeface="Calibri"/>
              <a:ea typeface="Calibri"/>
              <a:cs typeface="Calibri"/>
              <a:sym typeface="Calibri"/>
            </a:endParaRPr>
          </a:p>
        </p:txBody>
      </p:sp>
      <p:pic>
        <p:nvPicPr>
          <p:cNvPr id="679" name="Google Shape;679;p51"/>
          <p:cNvPicPr preferRelativeResize="0"/>
          <p:nvPr/>
        </p:nvPicPr>
        <p:blipFill rotWithShape="1">
          <a:blip r:embed="rId4">
            <a:alphaModFix/>
          </a:blip>
          <a:srcRect/>
          <a:stretch/>
        </p:blipFill>
        <p:spPr>
          <a:xfrm>
            <a:off x="533400" y="2927829"/>
            <a:ext cx="5876925" cy="13716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83"/>
        <p:cNvGrpSpPr/>
        <p:nvPr/>
      </p:nvGrpSpPr>
      <p:grpSpPr>
        <a:xfrm>
          <a:off x="0" y="0"/>
          <a:ext cx="0" cy="0"/>
          <a:chOff x="0" y="0"/>
          <a:chExt cx="0" cy="0"/>
        </a:xfrm>
      </p:grpSpPr>
      <p:sp>
        <p:nvSpPr>
          <p:cNvPr id="684" name="Google Shape;684;p52"/>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685" name="Google Shape;685;p52"/>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686" name="Google Shape;686;p52"/>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687" name="Google Shape;687;p5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8" name="Google Shape;688;p52"/>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689" name="Google Shape;689;p52"/>
          <p:cNvSpPr txBox="1"/>
          <p:nvPr/>
        </p:nvSpPr>
        <p:spPr>
          <a:xfrm>
            <a:off x="533400" y="761999"/>
            <a:ext cx="8229597" cy="16927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Array trong JavaScript</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Để lấy ra </a:t>
            </a:r>
            <a:r>
              <a:rPr lang="en-US" sz="2400">
                <a:solidFill>
                  <a:srgbClr val="FF0000"/>
                </a:solidFill>
                <a:latin typeface="Calibri"/>
                <a:ea typeface="Calibri"/>
                <a:cs typeface="Calibri"/>
                <a:sym typeface="Calibri"/>
              </a:rPr>
              <a:t>index</a:t>
            </a:r>
            <a:r>
              <a:rPr lang="en-US" sz="2400">
                <a:solidFill>
                  <a:schemeClr val="dk2"/>
                </a:solidFill>
                <a:latin typeface="Calibri"/>
                <a:ea typeface="Calibri"/>
                <a:cs typeface="Calibri"/>
                <a:sym typeface="Calibri"/>
              </a:rPr>
              <a:t> của một phần tử trong mảng ta dùng hàm </a:t>
            </a:r>
            <a:r>
              <a:rPr lang="en-US" sz="2400">
                <a:solidFill>
                  <a:srgbClr val="FF0000"/>
                </a:solidFill>
                <a:latin typeface="Calibri"/>
                <a:ea typeface="Calibri"/>
                <a:cs typeface="Calibri"/>
                <a:sym typeface="Calibri"/>
              </a:rPr>
              <a:t>indexOf()</a:t>
            </a:r>
            <a:r>
              <a:rPr lang="en-US" sz="2400">
                <a:solidFill>
                  <a:schemeClr val="dk2"/>
                </a:solidFill>
                <a:latin typeface="Calibri"/>
                <a:ea typeface="Calibri"/>
                <a:cs typeface="Calibri"/>
                <a:sym typeface="Calibri"/>
              </a:rPr>
              <a:t> và truyền vào value</a:t>
            </a:r>
            <a:endParaRPr sz="2400">
              <a:solidFill>
                <a:srgbClr val="FF0000"/>
              </a:solidFill>
              <a:latin typeface="Calibri"/>
              <a:ea typeface="Calibri"/>
              <a:cs typeface="Calibri"/>
              <a:sym typeface="Calibri"/>
            </a:endParaRPr>
          </a:p>
        </p:txBody>
      </p:sp>
      <p:pic>
        <p:nvPicPr>
          <p:cNvPr id="690" name="Google Shape;690;p52"/>
          <p:cNvPicPr preferRelativeResize="0"/>
          <p:nvPr/>
        </p:nvPicPr>
        <p:blipFill rotWithShape="1">
          <a:blip r:embed="rId4">
            <a:alphaModFix/>
          </a:blip>
          <a:srcRect/>
          <a:stretch/>
        </p:blipFill>
        <p:spPr>
          <a:xfrm>
            <a:off x="533400" y="2943999"/>
            <a:ext cx="5457825" cy="12763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94"/>
        <p:cNvGrpSpPr/>
        <p:nvPr/>
      </p:nvGrpSpPr>
      <p:grpSpPr>
        <a:xfrm>
          <a:off x="0" y="0"/>
          <a:ext cx="0" cy="0"/>
          <a:chOff x="0" y="0"/>
          <a:chExt cx="0" cy="0"/>
        </a:xfrm>
      </p:grpSpPr>
      <p:sp>
        <p:nvSpPr>
          <p:cNvPr id="695" name="Google Shape;695;p53"/>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696" name="Google Shape;696;p53"/>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697" name="Google Shape;697;p53"/>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698" name="Google Shape;698;p5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99" name="Google Shape;699;p53"/>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700" name="Google Shape;700;p53"/>
          <p:cNvSpPr txBox="1"/>
          <p:nvPr/>
        </p:nvSpPr>
        <p:spPr>
          <a:xfrm>
            <a:off x="533400" y="761999"/>
            <a:ext cx="8229597"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Array trong JavaScript</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Để kiểm tra một phần tử có trong mảng hay không ta dùng hàm </a:t>
            </a:r>
            <a:r>
              <a:rPr lang="en-US" sz="2400">
                <a:solidFill>
                  <a:srgbClr val="FF0000"/>
                </a:solidFill>
                <a:latin typeface="Calibri"/>
                <a:ea typeface="Calibri"/>
                <a:cs typeface="Calibri"/>
                <a:sym typeface="Calibri"/>
              </a:rPr>
              <a:t>includes() </a:t>
            </a:r>
            <a:r>
              <a:rPr lang="en-US" sz="2400">
                <a:solidFill>
                  <a:schemeClr val="dk2"/>
                </a:solidFill>
                <a:latin typeface="Calibri"/>
                <a:ea typeface="Calibri"/>
                <a:cs typeface="Calibri"/>
                <a:sym typeface="Calibri"/>
              </a:rPr>
              <a:t>và truyền vào value. Nếu tìm thấy giá trị hàm trả trả về sẽ là </a:t>
            </a:r>
            <a:r>
              <a:rPr lang="en-US" sz="2400">
                <a:solidFill>
                  <a:srgbClr val="FF0000"/>
                </a:solidFill>
                <a:latin typeface="Calibri"/>
                <a:ea typeface="Calibri"/>
                <a:cs typeface="Calibri"/>
                <a:sym typeface="Calibri"/>
              </a:rPr>
              <a:t>true</a:t>
            </a:r>
            <a:r>
              <a:rPr lang="en-US" sz="2400">
                <a:solidFill>
                  <a:schemeClr val="dk2"/>
                </a:solidFill>
                <a:latin typeface="Calibri"/>
                <a:ea typeface="Calibri"/>
                <a:cs typeface="Calibri"/>
                <a:sym typeface="Calibri"/>
              </a:rPr>
              <a:t> hoặc ngược lại là </a:t>
            </a:r>
            <a:r>
              <a:rPr lang="en-US" sz="2400">
                <a:solidFill>
                  <a:srgbClr val="FF0000"/>
                </a:solidFill>
                <a:latin typeface="Calibri"/>
                <a:ea typeface="Calibri"/>
                <a:cs typeface="Calibri"/>
                <a:sym typeface="Calibri"/>
              </a:rPr>
              <a:t>false</a:t>
            </a:r>
            <a:endParaRPr/>
          </a:p>
        </p:txBody>
      </p:sp>
      <p:pic>
        <p:nvPicPr>
          <p:cNvPr id="701" name="Google Shape;701;p53"/>
          <p:cNvPicPr preferRelativeResize="0"/>
          <p:nvPr/>
        </p:nvPicPr>
        <p:blipFill rotWithShape="1">
          <a:blip r:embed="rId4">
            <a:alphaModFix/>
          </a:blip>
          <a:srcRect/>
          <a:stretch/>
        </p:blipFill>
        <p:spPr>
          <a:xfrm>
            <a:off x="533400" y="3230266"/>
            <a:ext cx="5000625" cy="6953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05"/>
        <p:cNvGrpSpPr/>
        <p:nvPr/>
      </p:nvGrpSpPr>
      <p:grpSpPr>
        <a:xfrm>
          <a:off x="0" y="0"/>
          <a:ext cx="0" cy="0"/>
          <a:chOff x="0" y="0"/>
          <a:chExt cx="0" cy="0"/>
        </a:xfrm>
      </p:grpSpPr>
      <p:sp>
        <p:nvSpPr>
          <p:cNvPr id="706" name="Google Shape;706;p54"/>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707" name="Google Shape;707;p54"/>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708" name="Google Shape;708;p54"/>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709" name="Google Shape;709;p5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0" name="Google Shape;710;p54"/>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711" name="Google Shape;711;p54"/>
          <p:cNvSpPr txBox="1"/>
          <p:nvPr/>
        </p:nvSpPr>
        <p:spPr>
          <a:xfrm>
            <a:off x="533400" y="761999"/>
            <a:ext cx="8229597" cy="16927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Array trong JavaScript</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Để chuyển một array sang chuỗi ta dùng hàm </a:t>
            </a:r>
            <a:r>
              <a:rPr lang="en-US" sz="2400">
                <a:solidFill>
                  <a:srgbClr val="FF0000"/>
                </a:solidFill>
                <a:latin typeface="Calibri"/>
                <a:ea typeface="Calibri"/>
                <a:cs typeface="Calibri"/>
                <a:sym typeface="Calibri"/>
              </a:rPr>
              <a:t>toString() </a:t>
            </a:r>
            <a:r>
              <a:rPr lang="en-US" sz="2400">
                <a:solidFill>
                  <a:schemeClr val="dk2"/>
                </a:solidFill>
                <a:latin typeface="Calibri"/>
                <a:ea typeface="Calibri"/>
                <a:cs typeface="Calibri"/>
                <a:sym typeface="Calibri"/>
              </a:rPr>
              <a:t>hoặc </a:t>
            </a:r>
            <a:r>
              <a:rPr lang="en-US" sz="2400">
                <a:solidFill>
                  <a:srgbClr val="FF0000"/>
                </a:solidFill>
                <a:latin typeface="Calibri"/>
                <a:ea typeface="Calibri"/>
                <a:cs typeface="Calibri"/>
                <a:sym typeface="Calibri"/>
              </a:rPr>
              <a:t>join()</a:t>
            </a:r>
            <a:endParaRPr/>
          </a:p>
        </p:txBody>
      </p:sp>
      <p:pic>
        <p:nvPicPr>
          <p:cNvPr id="712" name="Google Shape;712;p54"/>
          <p:cNvPicPr preferRelativeResize="0"/>
          <p:nvPr/>
        </p:nvPicPr>
        <p:blipFill rotWithShape="1">
          <a:blip r:embed="rId4">
            <a:alphaModFix/>
          </a:blip>
          <a:srcRect/>
          <a:stretch/>
        </p:blipFill>
        <p:spPr>
          <a:xfrm>
            <a:off x="569536" y="2651005"/>
            <a:ext cx="6934200" cy="1276350"/>
          </a:xfrm>
          <a:prstGeom prst="rect">
            <a:avLst/>
          </a:prstGeom>
          <a:noFill/>
          <a:ln>
            <a:noFill/>
          </a:ln>
        </p:spPr>
      </p:pic>
      <p:sp>
        <p:nvSpPr>
          <p:cNvPr id="713" name="Google Shape;713;p54"/>
          <p:cNvSpPr txBox="1"/>
          <p:nvPr/>
        </p:nvSpPr>
        <p:spPr>
          <a:xfrm>
            <a:off x="533399" y="4207916"/>
            <a:ext cx="8229597"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Với </a:t>
            </a:r>
            <a:r>
              <a:rPr lang="en-US" sz="2400">
                <a:solidFill>
                  <a:srgbClr val="FF0000"/>
                </a:solidFill>
                <a:latin typeface="Calibri"/>
                <a:ea typeface="Calibri"/>
                <a:cs typeface="Calibri"/>
                <a:sym typeface="Calibri"/>
              </a:rPr>
              <a:t>join()</a:t>
            </a:r>
            <a:r>
              <a:rPr lang="en-US" sz="2400">
                <a:solidFill>
                  <a:schemeClr val="dk2"/>
                </a:solidFill>
                <a:latin typeface="Calibri"/>
                <a:ea typeface="Calibri"/>
                <a:cs typeface="Calibri"/>
                <a:sym typeface="Calibri"/>
              </a:rPr>
              <a:t> ta truyền vào dấu ngăn cách giữa các thành phần với nhau</a:t>
            </a:r>
            <a:endParaRPr sz="2400">
              <a:solidFill>
                <a:srgbClr val="FF0000"/>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17"/>
        <p:cNvGrpSpPr/>
        <p:nvPr/>
      </p:nvGrpSpPr>
      <p:grpSpPr>
        <a:xfrm>
          <a:off x="0" y="0"/>
          <a:ext cx="0" cy="0"/>
          <a:chOff x="0" y="0"/>
          <a:chExt cx="0" cy="0"/>
        </a:xfrm>
      </p:grpSpPr>
      <p:sp>
        <p:nvSpPr>
          <p:cNvPr id="718" name="Google Shape;718;p55"/>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719" name="Google Shape;719;p55"/>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720" name="Google Shape;720;p55"/>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721" name="Google Shape;721;p5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2" name="Google Shape;722;p55"/>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723" name="Google Shape;723;p55"/>
          <p:cNvSpPr txBox="1"/>
          <p:nvPr/>
        </p:nvSpPr>
        <p:spPr>
          <a:xfrm>
            <a:off x="533400" y="761999"/>
            <a:ext cx="8229597"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Array trong JavaScript</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Để chuyển một chuỗi sang array ta dùng hàm </a:t>
            </a:r>
            <a:r>
              <a:rPr lang="en-US" sz="2400">
                <a:solidFill>
                  <a:srgbClr val="FF0000"/>
                </a:solidFill>
                <a:latin typeface="Calibri"/>
                <a:ea typeface="Calibri"/>
                <a:cs typeface="Calibri"/>
                <a:sym typeface="Calibri"/>
              </a:rPr>
              <a:t>split() </a:t>
            </a:r>
            <a:r>
              <a:rPr lang="en-US" sz="2400">
                <a:solidFill>
                  <a:schemeClr val="dk2"/>
                </a:solidFill>
                <a:latin typeface="Calibri"/>
                <a:ea typeface="Calibri"/>
                <a:cs typeface="Calibri"/>
                <a:sym typeface="Calibri"/>
              </a:rPr>
              <a:t>và truyền dấu ngăn cách các ký tự trong chuỗi, nếu không truyền sẽ trả về mảng từng ký tự</a:t>
            </a:r>
            <a:endParaRPr sz="2400">
              <a:solidFill>
                <a:srgbClr val="FF0000"/>
              </a:solidFill>
              <a:latin typeface="Calibri"/>
              <a:ea typeface="Calibri"/>
              <a:cs typeface="Calibri"/>
              <a:sym typeface="Calibri"/>
            </a:endParaRPr>
          </a:p>
        </p:txBody>
      </p:sp>
      <p:pic>
        <p:nvPicPr>
          <p:cNvPr id="724" name="Google Shape;724;p55"/>
          <p:cNvPicPr preferRelativeResize="0"/>
          <p:nvPr/>
        </p:nvPicPr>
        <p:blipFill rotWithShape="1">
          <a:blip r:embed="rId4">
            <a:alphaModFix/>
          </a:blip>
          <a:srcRect/>
          <a:stretch/>
        </p:blipFill>
        <p:spPr>
          <a:xfrm>
            <a:off x="118195" y="2976501"/>
            <a:ext cx="8963025" cy="29813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28"/>
        <p:cNvGrpSpPr/>
        <p:nvPr/>
      </p:nvGrpSpPr>
      <p:grpSpPr>
        <a:xfrm>
          <a:off x="0" y="0"/>
          <a:ext cx="0" cy="0"/>
          <a:chOff x="0" y="0"/>
          <a:chExt cx="0" cy="0"/>
        </a:xfrm>
      </p:grpSpPr>
      <p:sp>
        <p:nvSpPr>
          <p:cNvPr id="729" name="Google Shape;729;p56"/>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730" name="Google Shape;730;p56"/>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731" name="Google Shape;731;p56"/>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732" name="Google Shape;732;p5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3" name="Google Shape;733;p56"/>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734" name="Google Shape;734;p56"/>
          <p:cNvSpPr txBox="1"/>
          <p:nvPr/>
        </p:nvSpPr>
        <p:spPr>
          <a:xfrm>
            <a:off x="533400" y="761999"/>
            <a:ext cx="8229597" cy="16927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Array trong JavaScript</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Để thêm một phần tử vào cuối mảng ta dung </a:t>
            </a:r>
            <a:r>
              <a:rPr lang="en-US" sz="2400">
                <a:solidFill>
                  <a:srgbClr val="FF0000"/>
                </a:solidFill>
                <a:latin typeface="Calibri"/>
                <a:ea typeface="Calibri"/>
                <a:cs typeface="Calibri"/>
                <a:sym typeface="Calibri"/>
              </a:rPr>
              <a:t>push() </a:t>
            </a:r>
            <a:r>
              <a:rPr lang="en-US" sz="2400">
                <a:solidFill>
                  <a:schemeClr val="dk2"/>
                </a:solidFill>
                <a:latin typeface="Calibri"/>
                <a:ea typeface="Calibri"/>
                <a:cs typeface="Calibri"/>
                <a:sym typeface="Calibri"/>
              </a:rPr>
              <a:t>và trả về độ dài mảng mới</a:t>
            </a:r>
            <a:endParaRPr sz="2400">
              <a:solidFill>
                <a:srgbClr val="FF0000"/>
              </a:solidFill>
              <a:latin typeface="Calibri"/>
              <a:ea typeface="Calibri"/>
              <a:cs typeface="Calibri"/>
              <a:sym typeface="Calibri"/>
            </a:endParaRPr>
          </a:p>
        </p:txBody>
      </p:sp>
      <p:pic>
        <p:nvPicPr>
          <p:cNvPr id="735" name="Google Shape;735;p56"/>
          <p:cNvPicPr preferRelativeResize="0"/>
          <p:nvPr/>
        </p:nvPicPr>
        <p:blipFill rotWithShape="1">
          <a:blip r:embed="rId4">
            <a:alphaModFix/>
          </a:blip>
          <a:srcRect/>
          <a:stretch/>
        </p:blipFill>
        <p:spPr>
          <a:xfrm>
            <a:off x="533400" y="2762250"/>
            <a:ext cx="7648575" cy="13335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39"/>
        <p:cNvGrpSpPr/>
        <p:nvPr/>
      </p:nvGrpSpPr>
      <p:grpSpPr>
        <a:xfrm>
          <a:off x="0" y="0"/>
          <a:ext cx="0" cy="0"/>
          <a:chOff x="0" y="0"/>
          <a:chExt cx="0" cy="0"/>
        </a:xfrm>
      </p:grpSpPr>
      <p:sp>
        <p:nvSpPr>
          <p:cNvPr id="740" name="Google Shape;740;p57"/>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741" name="Google Shape;741;p57"/>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742" name="Google Shape;742;p57"/>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743" name="Google Shape;743;p5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4" name="Google Shape;744;p57"/>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745" name="Google Shape;745;p57"/>
          <p:cNvSpPr txBox="1"/>
          <p:nvPr/>
        </p:nvSpPr>
        <p:spPr>
          <a:xfrm>
            <a:off x="533400" y="761999"/>
            <a:ext cx="8229597" cy="16927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Array trong JavaScript</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Để xóa một phần tử ở cuối mảng ta dung </a:t>
            </a:r>
            <a:r>
              <a:rPr lang="en-US" sz="2400">
                <a:solidFill>
                  <a:srgbClr val="FF0000"/>
                </a:solidFill>
                <a:latin typeface="Calibri"/>
                <a:ea typeface="Calibri"/>
                <a:cs typeface="Calibri"/>
                <a:sym typeface="Calibri"/>
              </a:rPr>
              <a:t>pop() </a:t>
            </a:r>
            <a:r>
              <a:rPr lang="en-US" sz="2400">
                <a:solidFill>
                  <a:schemeClr val="dk2"/>
                </a:solidFill>
                <a:latin typeface="Calibri"/>
                <a:ea typeface="Calibri"/>
                <a:cs typeface="Calibri"/>
                <a:sym typeface="Calibri"/>
              </a:rPr>
              <a:t>và trả về giá trị vừa xóa</a:t>
            </a:r>
            <a:endParaRPr sz="2400">
              <a:solidFill>
                <a:srgbClr val="FF0000"/>
              </a:solidFill>
              <a:latin typeface="Calibri"/>
              <a:ea typeface="Calibri"/>
              <a:cs typeface="Calibri"/>
              <a:sym typeface="Calibri"/>
            </a:endParaRPr>
          </a:p>
        </p:txBody>
      </p:sp>
      <p:pic>
        <p:nvPicPr>
          <p:cNvPr id="746" name="Google Shape;746;p57"/>
          <p:cNvPicPr preferRelativeResize="0"/>
          <p:nvPr/>
        </p:nvPicPr>
        <p:blipFill rotWithShape="1">
          <a:blip r:embed="rId4">
            <a:alphaModFix/>
          </a:blip>
          <a:srcRect/>
          <a:stretch/>
        </p:blipFill>
        <p:spPr>
          <a:xfrm>
            <a:off x="533400" y="2805112"/>
            <a:ext cx="6848475" cy="124777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50"/>
        <p:cNvGrpSpPr/>
        <p:nvPr/>
      </p:nvGrpSpPr>
      <p:grpSpPr>
        <a:xfrm>
          <a:off x="0" y="0"/>
          <a:ext cx="0" cy="0"/>
          <a:chOff x="0" y="0"/>
          <a:chExt cx="0" cy="0"/>
        </a:xfrm>
      </p:grpSpPr>
      <p:sp>
        <p:nvSpPr>
          <p:cNvPr id="751" name="Google Shape;751;p58"/>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752" name="Google Shape;752;p58"/>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753" name="Google Shape;753;p58"/>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754" name="Google Shape;754;p5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5" name="Google Shape;755;p58"/>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756" name="Google Shape;756;p58"/>
          <p:cNvSpPr txBox="1"/>
          <p:nvPr/>
        </p:nvSpPr>
        <p:spPr>
          <a:xfrm>
            <a:off x="533400" y="761999"/>
            <a:ext cx="8229597" cy="16927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Array trong JavaScript</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Để thêm một phần tử vào đầu mảng ta dùng </a:t>
            </a:r>
            <a:r>
              <a:rPr lang="en-US" sz="2400">
                <a:solidFill>
                  <a:srgbClr val="FF0000"/>
                </a:solidFill>
                <a:latin typeface="Calibri"/>
                <a:ea typeface="Calibri"/>
                <a:cs typeface="Calibri"/>
                <a:sym typeface="Calibri"/>
              </a:rPr>
              <a:t>unshift()</a:t>
            </a:r>
            <a:r>
              <a:rPr lang="en-US" sz="2400">
                <a:solidFill>
                  <a:schemeClr val="dk2"/>
                </a:solidFill>
                <a:latin typeface="Calibri"/>
                <a:ea typeface="Calibri"/>
                <a:cs typeface="Calibri"/>
                <a:sym typeface="Calibri"/>
              </a:rPr>
              <a:t> và trả về độ dài mảng mới</a:t>
            </a:r>
            <a:endParaRPr sz="2400">
              <a:solidFill>
                <a:srgbClr val="FF0000"/>
              </a:solidFill>
              <a:latin typeface="Calibri"/>
              <a:ea typeface="Calibri"/>
              <a:cs typeface="Calibri"/>
              <a:sym typeface="Calibri"/>
            </a:endParaRPr>
          </a:p>
        </p:txBody>
      </p:sp>
      <p:pic>
        <p:nvPicPr>
          <p:cNvPr id="757" name="Google Shape;757;p58"/>
          <p:cNvPicPr preferRelativeResize="0"/>
          <p:nvPr/>
        </p:nvPicPr>
        <p:blipFill rotWithShape="1">
          <a:blip r:embed="rId4">
            <a:alphaModFix/>
          </a:blip>
          <a:srcRect/>
          <a:stretch/>
        </p:blipFill>
        <p:spPr>
          <a:xfrm>
            <a:off x="533400" y="2781300"/>
            <a:ext cx="7477125" cy="12954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61"/>
        <p:cNvGrpSpPr/>
        <p:nvPr/>
      </p:nvGrpSpPr>
      <p:grpSpPr>
        <a:xfrm>
          <a:off x="0" y="0"/>
          <a:ext cx="0" cy="0"/>
          <a:chOff x="0" y="0"/>
          <a:chExt cx="0" cy="0"/>
        </a:xfrm>
      </p:grpSpPr>
      <p:sp>
        <p:nvSpPr>
          <p:cNvPr id="762" name="Google Shape;762;p59"/>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763" name="Google Shape;763;p59"/>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764" name="Google Shape;764;p59"/>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765" name="Google Shape;765;p5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6" name="Google Shape;766;p59"/>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767" name="Google Shape;767;p59"/>
          <p:cNvSpPr txBox="1"/>
          <p:nvPr/>
        </p:nvSpPr>
        <p:spPr>
          <a:xfrm>
            <a:off x="533400" y="761999"/>
            <a:ext cx="8229597" cy="16927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Array trong JavaScript</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Để xóa một phần tử ở đầu mảng ta dùng </a:t>
            </a:r>
            <a:r>
              <a:rPr lang="en-US" sz="2400">
                <a:solidFill>
                  <a:srgbClr val="FF0000"/>
                </a:solidFill>
                <a:latin typeface="Calibri"/>
                <a:ea typeface="Calibri"/>
                <a:cs typeface="Calibri"/>
                <a:sym typeface="Calibri"/>
              </a:rPr>
              <a:t>shift()</a:t>
            </a:r>
            <a:r>
              <a:rPr lang="en-US" sz="2400">
                <a:solidFill>
                  <a:schemeClr val="dk2"/>
                </a:solidFill>
                <a:latin typeface="Calibri"/>
                <a:ea typeface="Calibri"/>
                <a:cs typeface="Calibri"/>
                <a:sym typeface="Calibri"/>
              </a:rPr>
              <a:t> và trả về phần tử vừa xóa</a:t>
            </a:r>
            <a:endParaRPr sz="2400">
              <a:solidFill>
                <a:srgbClr val="FF0000"/>
              </a:solidFill>
              <a:latin typeface="Calibri"/>
              <a:ea typeface="Calibri"/>
              <a:cs typeface="Calibri"/>
              <a:sym typeface="Calibri"/>
            </a:endParaRPr>
          </a:p>
        </p:txBody>
      </p:sp>
      <p:pic>
        <p:nvPicPr>
          <p:cNvPr id="768" name="Google Shape;768;p59"/>
          <p:cNvPicPr preferRelativeResize="0"/>
          <p:nvPr/>
        </p:nvPicPr>
        <p:blipFill rotWithShape="1">
          <a:blip r:embed="rId4">
            <a:alphaModFix/>
          </a:blip>
          <a:srcRect/>
          <a:stretch/>
        </p:blipFill>
        <p:spPr>
          <a:xfrm>
            <a:off x="533400" y="2818675"/>
            <a:ext cx="5867400" cy="124777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72"/>
        <p:cNvGrpSpPr/>
        <p:nvPr/>
      </p:nvGrpSpPr>
      <p:grpSpPr>
        <a:xfrm>
          <a:off x="0" y="0"/>
          <a:ext cx="0" cy="0"/>
          <a:chOff x="0" y="0"/>
          <a:chExt cx="0" cy="0"/>
        </a:xfrm>
      </p:grpSpPr>
      <p:sp>
        <p:nvSpPr>
          <p:cNvPr id="773" name="Google Shape;773;p60"/>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774" name="Google Shape;774;p60"/>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775" name="Google Shape;775;p60"/>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776" name="Google Shape;776;p6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7" name="Google Shape;777;p60"/>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778" name="Google Shape;778;p60"/>
          <p:cNvSpPr txBox="1"/>
          <p:nvPr/>
        </p:nvSpPr>
        <p:spPr>
          <a:xfrm>
            <a:off x="533400" y="761999"/>
            <a:ext cx="8229600" cy="1323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Array trong JavaScript</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Để cắt mảng ta sử dụng hàm </a:t>
            </a:r>
            <a:r>
              <a:rPr lang="en-US" sz="2400">
                <a:solidFill>
                  <a:srgbClr val="FF0000"/>
                </a:solidFill>
                <a:latin typeface="Calibri"/>
                <a:ea typeface="Calibri"/>
                <a:cs typeface="Calibri"/>
                <a:sym typeface="Calibri"/>
              </a:rPr>
              <a:t>slice(start, end)</a:t>
            </a:r>
            <a:endParaRPr/>
          </a:p>
        </p:txBody>
      </p:sp>
      <p:pic>
        <p:nvPicPr>
          <p:cNvPr id="779" name="Google Shape;779;p60"/>
          <p:cNvPicPr preferRelativeResize="0"/>
          <p:nvPr/>
        </p:nvPicPr>
        <p:blipFill rotWithShape="1">
          <a:blip r:embed="rId4">
            <a:alphaModFix/>
          </a:blip>
          <a:srcRect/>
          <a:stretch/>
        </p:blipFill>
        <p:spPr>
          <a:xfrm>
            <a:off x="531043" y="2514600"/>
            <a:ext cx="6076950" cy="28003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3"/>
        <p:cNvGrpSpPr/>
        <p:nvPr/>
      </p:nvGrpSpPr>
      <p:grpSpPr>
        <a:xfrm>
          <a:off x="0" y="0"/>
          <a:ext cx="0" cy="0"/>
          <a:chOff x="0" y="0"/>
          <a:chExt cx="0" cy="0"/>
        </a:xfrm>
      </p:grpSpPr>
      <p:sp>
        <p:nvSpPr>
          <p:cNvPr id="784" name="Google Shape;784;p62"/>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785" name="Google Shape;785;p62"/>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786" name="Google Shape;786;p62"/>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787" name="Google Shape;787;p6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8" name="Google Shape;788;p62"/>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789" name="Google Shape;789;p62"/>
          <p:cNvSpPr txBox="1"/>
          <p:nvPr/>
        </p:nvSpPr>
        <p:spPr>
          <a:xfrm>
            <a:off x="533400" y="761999"/>
            <a:ext cx="8229597"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Array trong JavaScript</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Để nối mảng ta sử dụng hàm </a:t>
            </a:r>
            <a:r>
              <a:rPr lang="en-US" sz="2400">
                <a:solidFill>
                  <a:srgbClr val="FF0000"/>
                </a:solidFill>
                <a:latin typeface="Calibri"/>
                <a:ea typeface="Calibri"/>
                <a:cs typeface="Calibri"/>
                <a:sym typeface="Calibri"/>
              </a:rPr>
              <a:t>concat()</a:t>
            </a:r>
            <a:endParaRPr/>
          </a:p>
        </p:txBody>
      </p:sp>
      <p:pic>
        <p:nvPicPr>
          <p:cNvPr id="790" name="Google Shape;790;p62"/>
          <p:cNvPicPr preferRelativeResize="0"/>
          <p:nvPr/>
        </p:nvPicPr>
        <p:blipFill rotWithShape="1">
          <a:blip r:embed="rId4">
            <a:alphaModFix/>
          </a:blip>
          <a:srcRect/>
          <a:stretch/>
        </p:blipFill>
        <p:spPr>
          <a:xfrm>
            <a:off x="376235" y="2362200"/>
            <a:ext cx="8543925" cy="122872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94"/>
        <p:cNvGrpSpPr/>
        <p:nvPr/>
      </p:nvGrpSpPr>
      <p:grpSpPr>
        <a:xfrm>
          <a:off x="0" y="0"/>
          <a:ext cx="0" cy="0"/>
          <a:chOff x="0" y="0"/>
          <a:chExt cx="0" cy="0"/>
        </a:xfrm>
      </p:grpSpPr>
      <p:sp>
        <p:nvSpPr>
          <p:cNvPr id="795" name="Google Shape;795;p63"/>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796" name="Google Shape;796;p63"/>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797" name="Google Shape;797;p63"/>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798" name="Google Shape;798;p6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9" name="Google Shape;799;p63"/>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800" name="Google Shape;800;p63"/>
          <p:cNvSpPr txBox="1"/>
          <p:nvPr/>
        </p:nvSpPr>
        <p:spPr>
          <a:xfrm>
            <a:off x="533400" y="761999"/>
            <a:ext cx="8229597" cy="16927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Array trong JavaScript</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Để nối mảng ta sử dụng toán tử phân tách </a:t>
            </a:r>
            <a:r>
              <a:rPr lang="en-US" sz="2400">
                <a:solidFill>
                  <a:srgbClr val="FF0000"/>
                </a:solidFill>
                <a:latin typeface="Calibri"/>
                <a:ea typeface="Calibri"/>
                <a:cs typeface="Calibri"/>
                <a:sym typeface="Calibri"/>
              </a:rPr>
              <a:t>…</a:t>
            </a:r>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Hoặc sử dụng toán tử phân tách </a:t>
            </a:r>
            <a:r>
              <a:rPr lang="en-US" sz="2400">
                <a:solidFill>
                  <a:srgbClr val="FF0000"/>
                </a:solidFill>
                <a:latin typeface="Calibri"/>
                <a:ea typeface="Calibri"/>
                <a:cs typeface="Calibri"/>
                <a:sym typeface="Calibri"/>
              </a:rPr>
              <a:t>…</a:t>
            </a:r>
            <a:r>
              <a:rPr lang="en-US" sz="2400">
                <a:solidFill>
                  <a:schemeClr val="dk2"/>
                </a:solidFill>
                <a:latin typeface="Calibri"/>
                <a:ea typeface="Calibri"/>
                <a:cs typeface="Calibri"/>
                <a:sym typeface="Calibri"/>
              </a:rPr>
              <a:t> để tạo ra mảng mới</a:t>
            </a:r>
            <a:endParaRPr sz="2400">
              <a:solidFill>
                <a:srgbClr val="FF0000"/>
              </a:solidFill>
              <a:latin typeface="Calibri"/>
              <a:ea typeface="Calibri"/>
              <a:cs typeface="Calibri"/>
              <a:sym typeface="Calibri"/>
            </a:endParaRPr>
          </a:p>
        </p:txBody>
      </p:sp>
      <p:pic>
        <p:nvPicPr>
          <p:cNvPr id="801" name="Google Shape;801;p63"/>
          <p:cNvPicPr preferRelativeResize="0"/>
          <p:nvPr/>
        </p:nvPicPr>
        <p:blipFill rotWithShape="1">
          <a:blip r:embed="rId4">
            <a:alphaModFix/>
          </a:blip>
          <a:srcRect/>
          <a:stretch/>
        </p:blipFill>
        <p:spPr>
          <a:xfrm>
            <a:off x="533400" y="2743200"/>
            <a:ext cx="7343775" cy="26670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5"/>
        <p:cNvGrpSpPr/>
        <p:nvPr/>
      </p:nvGrpSpPr>
      <p:grpSpPr>
        <a:xfrm>
          <a:off x="0" y="0"/>
          <a:ext cx="0" cy="0"/>
          <a:chOff x="0" y="0"/>
          <a:chExt cx="0" cy="0"/>
        </a:xfrm>
      </p:grpSpPr>
      <p:sp>
        <p:nvSpPr>
          <p:cNvPr id="806" name="Google Shape;806;p64"/>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807" name="Google Shape;807;p64"/>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808" name="Google Shape;808;p64"/>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809" name="Google Shape;809;p6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0" name="Google Shape;810;p64"/>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811" name="Google Shape;811;p64"/>
          <p:cNvSpPr txBox="1"/>
          <p:nvPr/>
        </p:nvSpPr>
        <p:spPr>
          <a:xfrm>
            <a:off x="533400" y="761999"/>
            <a:ext cx="8229597" cy="39087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Array trong JavaScript</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Thêm hoặc xóa nhiều phần tử trong mảng với hàm </a:t>
            </a:r>
            <a:r>
              <a:rPr lang="en-US" sz="2400">
                <a:solidFill>
                  <a:srgbClr val="FF0000"/>
                </a:solidFill>
                <a:latin typeface="Calibri"/>
                <a:ea typeface="Calibri"/>
                <a:cs typeface="Calibri"/>
                <a:sym typeface="Calibri"/>
              </a:rPr>
              <a:t>splice(position, quantity, …element)</a:t>
            </a:r>
            <a:endParaRPr/>
          </a:p>
          <a:p>
            <a:pPr marL="0" marR="0" lvl="0" indent="0" algn="l" rtl="0">
              <a:spcBef>
                <a:spcPts val="0"/>
              </a:spcBef>
              <a:spcAft>
                <a:spcPts val="0"/>
              </a:spcAft>
              <a:buNone/>
            </a:pPr>
            <a:endParaRPr sz="2400">
              <a:solidFill>
                <a:schemeClr val="dk2"/>
              </a:solidFill>
              <a:latin typeface="Calibri"/>
              <a:ea typeface="Calibri"/>
              <a:cs typeface="Calibri"/>
              <a:sym typeface="Calibri"/>
            </a:endParaRPr>
          </a:p>
          <a:p>
            <a:pPr marL="0" marR="0" lvl="0" indent="0" algn="l" rtl="0">
              <a:spcBef>
                <a:spcPts val="0"/>
              </a:spcBef>
              <a:spcAft>
                <a:spcPts val="0"/>
              </a:spcAft>
              <a:buNone/>
            </a:pPr>
            <a:endParaRPr sz="24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Trong đó:</a:t>
            </a:r>
            <a:endParaRPr/>
          </a:p>
          <a:p>
            <a:pPr marL="342900" marR="0" lvl="0" indent="-342900" algn="l" rtl="0">
              <a:spcBef>
                <a:spcPts val="0"/>
              </a:spcBef>
              <a:spcAft>
                <a:spcPts val="0"/>
              </a:spcAft>
              <a:buClr>
                <a:srgbClr val="FF0000"/>
              </a:buClr>
              <a:buSzPts val="2400"/>
              <a:buFont typeface="Arial"/>
              <a:buChar char="•"/>
            </a:pPr>
            <a:r>
              <a:rPr lang="en-US" sz="2400">
                <a:solidFill>
                  <a:srgbClr val="FF0000"/>
                </a:solidFill>
                <a:latin typeface="Calibri"/>
                <a:ea typeface="Calibri"/>
                <a:cs typeface="Calibri"/>
                <a:sym typeface="Calibri"/>
              </a:rPr>
              <a:t>position</a:t>
            </a:r>
            <a:r>
              <a:rPr lang="en-US" sz="2400">
                <a:solidFill>
                  <a:schemeClr val="dk2"/>
                </a:solidFill>
                <a:latin typeface="Calibri"/>
                <a:ea typeface="Calibri"/>
                <a:cs typeface="Calibri"/>
                <a:sym typeface="Calibri"/>
              </a:rPr>
              <a:t>: vị trí them</a:t>
            </a:r>
            <a:endParaRPr/>
          </a:p>
          <a:p>
            <a:pPr marL="342900" marR="0" lvl="0" indent="-342900" algn="l" rtl="0">
              <a:spcBef>
                <a:spcPts val="0"/>
              </a:spcBef>
              <a:spcAft>
                <a:spcPts val="0"/>
              </a:spcAft>
              <a:buClr>
                <a:srgbClr val="FF0000"/>
              </a:buClr>
              <a:buSzPts val="2400"/>
              <a:buFont typeface="Arial"/>
              <a:buChar char="•"/>
            </a:pPr>
            <a:r>
              <a:rPr lang="en-US" sz="2400">
                <a:solidFill>
                  <a:srgbClr val="FF0000"/>
                </a:solidFill>
                <a:latin typeface="Calibri"/>
                <a:ea typeface="Calibri"/>
                <a:cs typeface="Calibri"/>
                <a:sym typeface="Calibri"/>
              </a:rPr>
              <a:t>quantity</a:t>
            </a:r>
            <a:r>
              <a:rPr lang="en-US" sz="2400">
                <a:solidFill>
                  <a:schemeClr val="dk2"/>
                </a:solidFill>
                <a:latin typeface="Calibri"/>
                <a:ea typeface="Calibri"/>
                <a:cs typeface="Calibri"/>
                <a:sym typeface="Calibri"/>
              </a:rPr>
              <a:t>: số lượng cần xóa</a:t>
            </a:r>
            <a:endParaRPr sz="2400">
              <a:solidFill>
                <a:schemeClr val="dk2"/>
              </a:solidFill>
              <a:latin typeface="Calibri"/>
              <a:ea typeface="Calibri"/>
              <a:cs typeface="Calibri"/>
              <a:sym typeface="Calibri"/>
            </a:endParaRPr>
          </a:p>
          <a:p>
            <a:pPr marL="342900" marR="0" lvl="0" indent="-342900" algn="l" rtl="0">
              <a:spcBef>
                <a:spcPts val="0"/>
              </a:spcBef>
              <a:spcAft>
                <a:spcPts val="0"/>
              </a:spcAft>
              <a:buClr>
                <a:srgbClr val="FF0000"/>
              </a:buClr>
              <a:buSzPts val="2400"/>
              <a:buFont typeface="Arial"/>
              <a:buChar char="•"/>
            </a:pPr>
            <a:r>
              <a:rPr lang="en-US" sz="2400">
                <a:solidFill>
                  <a:srgbClr val="FF0000"/>
                </a:solidFill>
                <a:latin typeface="Calibri"/>
                <a:ea typeface="Calibri"/>
                <a:cs typeface="Calibri"/>
                <a:sym typeface="Calibri"/>
              </a:rPr>
              <a:t>…element</a:t>
            </a:r>
            <a:r>
              <a:rPr lang="en-US" sz="2400">
                <a:solidFill>
                  <a:schemeClr val="dk2"/>
                </a:solidFill>
                <a:latin typeface="Calibri"/>
                <a:ea typeface="Calibri"/>
                <a:cs typeface="Calibri"/>
                <a:sym typeface="Calibri"/>
              </a:rPr>
              <a:t>: các phần tử muốn thêm vào mảng</a:t>
            </a:r>
            <a:endParaRPr sz="2400">
              <a:solidFill>
                <a:schemeClr val="dk2"/>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15"/>
        <p:cNvGrpSpPr/>
        <p:nvPr/>
      </p:nvGrpSpPr>
      <p:grpSpPr>
        <a:xfrm>
          <a:off x="0" y="0"/>
          <a:ext cx="0" cy="0"/>
          <a:chOff x="0" y="0"/>
          <a:chExt cx="0" cy="0"/>
        </a:xfrm>
      </p:grpSpPr>
      <p:sp>
        <p:nvSpPr>
          <p:cNvPr id="816" name="Google Shape;816;p65"/>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817" name="Google Shape;817;p65"/>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818" name="Google Shape;818;p65"/>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819" name="Google Shape;819;p6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0" name="Google Shape;820;p65"/>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821" name="Google Shape;821;p65"/>
          <p:cNvSpPr txBox="1"/>
          <p:nvPr/>
        </p:nvSpPr>
        <p:spPr>
          <a:xfrm>
            <a:off x="533400" y="761999"/>
            <a:ext cx="8229597" cy="16927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Array trong JavaScript</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Thêm hoặc xóa nhiều phần tử trong mảng với hàm </a:t>
            </a:r>
            <a:r>
              <a:rPr lang="en-US" sz="2400">
                <a:solidFill>
                  <a:srgbClr val="FF0000"/>
                </a:solidFill>
                <a:latin typeface="Calibri"/>
                <a:ea typeface="Calibri"/>
                <a:cs typeface="Calibri"/>
                <a:sym typeface="Calibri"/>
              </a:rPr>
              <a:t>splice(position, quantity, …element)</a:t>
            </a:r>
            <a:endParaRPr/>
          </a:p>
        </p:txBody>
      </p:sp>
      <p:pic>
        <p:nvPicPr>
          <p:cNvPr id="822" name="Google Shape;822;p65"/>
          <p:cNvPicPr preferRelativeResize="0"/>
          <p:nvPr/>
        </p:nvPicPr>
        <p:blipFill rotWithShape="1">
          <a:blip r:embed="rId4">
            <a:alphaModFix/>
          </a:blip>
          <a:srcRect/>
          <a:stretch/>
        </p:blipFill>
        <p:spPr>
          <a:xfrm>
            <a:off x="609600" y="2897445"/>
            <a:ext cx="7038975" cy="20955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26"/>
        <p:cNvGrpSpPr/>
        <p:nvPr/>
      </p:nvGrpSpPr>
      <p:grpSpPr>
        <a:xfrm>
          <a:off x="0" y="0"/>
          <a:ext cx="0" cy="0"/>
          <a:chOff x="0" y="0"/>
          <a:chExt cx="0" cy="0"/>
        </a:xfrm>
      </p:grpSpPr>
      <p:sp>
        <p:nvSpPr>
          <p:cNvPr id="827" name="Google Shape;827;p66"/>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828" name="Google Shape;828;p66"/>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829" name="Google Shape;829;p66"/>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830" name="Google Shape;830;p6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1" name="Google Shape;831;p66"/>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832" name="Google Shape;832;p66"/>
          <p:cNvSpPr txBox="1"/>
          <p:nvPr/>
        </p:nvSpPr>
        <p:spPr>
          <a:xfrm>
            <a:off x="533400" y="761999"/>
            <a:ext cx="8229597" cy="16927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Làm việc với Array trong JavaScript</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Thêm hoặc xóa nhiều phần tử trong mảng với hàm </a:t>
            </a:r>
            <a:r>
              <a:rPr lang="en-US" sz="2400">
                <a:solidFill>
                  <a:srgbClr val="FF0000"/>
                </a:solidFill>
                <a:latin typeface="Calibri"/>
                <a:ea typeface="Calibri"/>
                <a:cs typeface="Calibri"/>
                <a:sym typeface="Calibri"/>
              </a:rPr>
              <a:t>splice(position, quantity, …element)</a:t>
            </a:r>
            <a:endParaRPr/>
          </a:p>
        </p:txBody>
      </p:sp>
      <p:pic>
        <p:nvPicPr>
          <p:cNvPr id="833" name="Google Shape;833;p66"/>
          <p:cNvPicPr preferRelativeResize="0"/>
          <p:nvPr/>
        </p:nvPicPr>
        <p:blipFill rotWithShape="1">
          <a:blip r:embed="rId4">
            <a:alphaModFix/>
          </a:blip>
          <a:srcRect/>
          <a:stretch/>
        </p:blipFill>
        <p:spPr>
          <a:xfrm>
            <a:off x="533400" y="2895600"/>
            <a:ext cx="5648325" cy="187642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7"/>
        <p:cNvGrpSpPr/>
        <p:nvPr/>
      </p:nvGrpSpPr>
      <p:grpSpPr>
        <a:xfrm>
          <a:off x="0" y="0"/>
          <a:ext cx="0" cy="0"/>
          <a:chOff x="0" y="0"/>
          <a:chExt cx="0" cy="0"/>
        </a:xfrm>
      </p:grpSpPr>
      <p:sp>
        <p:nvSpPr>
          <p:cNvPr id="838" name="Google Shape;838;p67"/>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839" name="Google Shape;839;p67"/>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840" name="Google Shape;840;p67"/>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841" name="Google Shape;841;p6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2" name="Google Shape;842;p67"/>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843" name="Google Shape;843;p67"/>
          <p:cNvSpPr txBox="1"/>
          <p:nvPr/>
        </p:nvSpPr>
        <p:spPr>
          <a:xfrm>
            <a:off x="533400" y="761999"/>
            <a:ext cx="8229597" cy="16312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Vòng lặp cơ bản trong JavaScript</a:t>
            </a:r>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Vòng lặp </a:t>
            </a:r>
            <a:r>
              <a:rPr lang="en-US" sz="2400">
                <a:solidFill>
                  <a:srgbClr val="FF0000"/>
                </a:solidFill>
                <a:latin typeface="Calibri"/>
                <a:ea typeface="Calibri"/>
                <a:cs typeface="Calibri"/>
                <a:sym typeface="Calibri"/>
              </a:rPr>
              <a:t>for()</a:t>
            </a:r>
            <a:endParaRPr/>
          </a:p>
          <a:p>
            <a:pPr marL="0" marR="0" lvl="0" indent="0" algn="l" rtl="0">
              <a:spcBef>
                <a:spcPts val="0"/>
              </a:spcBef>
              <a:spcAft>
                <a:spcPts val="0"/>
              </a:spcAft>
              <a:buNone/>
            </a:pPr>
            <a:endParaRPr sz="2400">
              <a:solidFill>
                <a:srgbClr val="FF0000"/>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Cú pháp:</a:t>
            </a:r>
            <a:endParaRPr sz="2400">
              <a:solidFill>
                <a:srgbClr val="FF0000"/>
              </a:solidFill>
              <a:latin typeface="Calibri"/>
              <a:ea typeface="Calibri"/>
              <a:cs typeface="Calibri"/>
              <a:sym typeface="Calibri"/>
            </a:endParaRPr>
          </a:p>
        </p:txBody>
      </p:sp>
      <p:pic>
        <p:nvPicPr>
          <p:cNvPr id="844" name="Google Shape;844;p67"/>
          <p:cNvPicPr preferRelativeResize="0"/>
          <p:nvPr/>
        </p:nvPicPr>
        <p:blipFill rotWithShape="1">
          <a:blip r:embed="rId4">
            <a:alphaModFix/>
          </a:blip>
          <a:srcRect/>
          <a:stretch/>
        </p:blipFill>
        <p:spPr>
          <a:xfrm>
            <a:off x="533400" y="2665145"/>
            <a:ext cx="5838825" cy="933450"/>
          </a:xfrm>
          <a:prstGeom prst="rect">
            <a:avLst/>
          </a:prstGeom>
          <a:noFill/>
          <a:ln>
            <a:noFill/>
          </a:ln>
        </p:spPr>
      </p:pic>
      <p:sp>
        <p:nvSpPr>
          <p:cNvPr id="845" name="Google Shape;845;p67"/>
          <p:cNvSpPr txBox="1"/>
          <p:nvPr/>
        </p:nvSpPr>
        <p:spPr>
          <a:xfrm>
            <a:off x="533400" y="4191000"/>
            <a:ext cx="8229597"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Initialization: khởi tạo bộ đếm, được thực thi trước khi vòng lặp for bắt đầu</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Condition: điều kiện đề dừng vòng lặp</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Final-expression: biểu thức này được thực thi sau mỗi lần lặp dùng để tăng hoặc giảm bộ đếm của vòng lặp</a:t>
            </a:r>
            <a:endParaRPr sz="1800">
              <a:solidFill>
                <a:schemeClr val="dk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9"/>
        <p:cNvGrpSpPr/>
        <p:nvPr/>
      </p:nvGrpSpPr>
      <p:grpSpPr>
        <a:xfrm>
          <a:off x="0" y="0"/>
          <a:ext cx="0" cy="0"/>
          <a:chOff x="0" y="0"/>
          <a:chExt cx="0" cy="0"/>
        </a:xfrm>
      </p:grpSpPr>
      <p:sp>
        <p:nvSpPr>
          <p:cNvPr id="850" name="Google Shape;850;p68"/>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851" name="Google Shape;851;p68"/>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852" name="Google Shape;852;p68"/>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853" name="Google Shape;853;p6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54" name="Google Shape;854;p68"/>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855" name="Google Shape;855;p68"/>
          <p:cNvSpPr txBox="1"/>
          <p:nvPr/>
        </p:nvSpPr>
        <p:spPr>
          <a:xfrm>
            <a:off x="533400" y="761999"/>
            <a:ext cx="8229597" cy="16312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Vòng lặp cơ bản trong JavaScript</a:t>
            </a:r>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Vòng lặp </a:t>
            </a:r>
            <a:r>
              <a:rPr lang="en-US" sz="2400">
                <a:solidFill>
                  <a:srgbClr val="FF0000"/>
                </a:solidFill>
                <a:latin typeface="Calibri"/>
                <a:ea typeface="Calibri"/>
                <a:cs typeface="Calibri"/>
                <a:sym typeface="Calibri"/>
              </a:rPr>
              <a:t>for()</a:t>
            </a:r>
            <a:endParaRPr/>
          </a:p>
          <a:p>
            <a:pPr marL="0" marR="0" lvl="0" indent="0" algn="l" rtl="0">
              <a:spcBef>
                <a:spcPts val="0"/>
              </a:spcBef>
              <a:spcAft>
                <a:spcPts val="0"/>
              </a:spcAft>
              <a:buNone/>
            </a:pPr>
            <a:endParaRPr sz="2400">
              <a:solidFill>
                <a:srgbClr val="FF0000"/>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Ví dụ:</a:t>
            </a:r>
            <a:endParaRPr sz="2400">
              <a:solidFill>
                <a:srgbClr val="FF0000"/>
              </a:solidFill>
              <a:latin typeface="Calibri"/>
              <a:ea typeface="Calibri"/>
              <a:cs typeface="Calibri"/>
              <a:sym typeface="Calibri"/>
            </a:endParaRPr>
          </a:p>
        </p:txBody>
      </p:sp>
      <p:pic>
        <p:nvPicPr>
          <p:cNvPr id="856" name="Google Shape;856;p68"/>
          <p:cNvPicPr preferRelativeResize="0"/>
          <p:nvPr/>
        </p:nvPicPr>
        <p:blipFill rotWithShape="1">
          <a:blip r:embed="rId4">
            <a:alphaModFix/>
          </a:blip>
          <a:srcRect/>
          <a:stretch/>
        </p:blipFill>
        <p:spPr>
          <a:xfrm>
            <a:off x="533400" y="2782074"/>
            <a:ext cx="4410075" cy="143827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60"/>
        <p:cNvGrpSpPr/>
        <p:nvPr/>
      </p:nvGrpSpPr>
      <p:grpSpPr>
        <a:xfrm>
          <a:off x="0" y="0"/>
          <a:ext cx="0" cy="0"/>
          <a:chOff x="0" y="0"/>
          <a:chExt cx="0" cy="0"/>
        </a:xfrm>
      </p:grpSpPr>
      <p:sp>
        <p:nvSpPr>
          <p:cNvPr id="861" name="Google Shape;861;p69"/>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862" name="Google Shape;862;p69"/>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863" name="Google Shape;863;p69"/>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864" name="Google Shape;864;p6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5" name="Google Shape;865;p69"/>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866" name="Google Shape;866;p69"/>
          <p:cNvSpPr txBox="1"/>
          <p:nvPr/>
        </p:nvSpPr>
        <p:spPr>
          <a:xfrm>
            <a:off x="533400" y="761999"/>
            <a:ext cx="8229597" cy="16312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Vòng lặp cơ bản trong JavaScript</a:t>
            </a:r>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Vòng lặp </a:t>
            </a:r>
            <a:r>
              <a:rPr lang="en-US" sz="2400">
                <a:solidFill>
                  <a:srgbClr val="FF0000"/>
                </a:solidFill>
                <a:latin typeface="Calibri"/>
                <a:ea typeface="Calibri"/>
                <a:cs typeface="Calibri"/>
                <a:sym typeface="Calibri"/>
              </a:rPr>
              <a:t>for…of</a:t>
            </a:r>
            <a:endParaRPr/>
          </a:p>
          <a:p>
            <a:pPr marL="0" marR="0" lvl="0" indent="0" algn="l" rtl="0">
              <a:spcBef>
                <a:spcPts val="0"/>
              </a:spcBef>
              <a:spcAft>
                <a:spcPts val="0"/>
              </a:spcAft>
              <a:buNone/>
            </a:pPr>
            <a:endParaRPr sz="2400">
              <a:solidFill>
                <a:srgbClr val="FF0000"/>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Ví dụ:</a:t>
            </a:r>
            <a:endParaRPr sz="2400">
              <a:solidFill>
                <a:srgbClr val="FF0000"/>
              </a:solidFill>
              <a:latin typeface="Calibri"/>
              <a:ea typeface="Calibri"/>
              <a:cs typeface="Calibri"/>
              <a:sym typeface="Calibri"/>
            </a:endParaRPr>
          </a:p>
        </p:txBody>
      </p:sp>
      <p:pic>
        <p:nvPicPr>
          <p:cNvPr id="867" name="Google Shape;867;p69"/>
          <p:cNvPicPr preferRelativeResize="0"/>
          <p:nvPr/>
        </p:nvPicPr>
        <p:blipFill rotWithShape="1">
          <a:blip r:embed="rId4">
            <a:alphaModFix/>
          </a:blip>
          <a:srcRect/>
          <a:stretch/>
        </p:blipFill>
        <p:spPr>
          <a:xfrm>
            <a:off x="533400" y="2847976"/>
            <a:ext cx="5486400" cy="211455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1"/>
        <p:cNvGrpSpPr/>
        <p:nvPr/>
      </p:nvGrpSpPr>
      <p:grpSpPr>
        <a:xfrm>
          <a:off x="0" y="0"/>
          <a:ext cx="0" cy="0"/>
          <a:chOff x="0" y="0"/>
          <a:chExt cx="0" cy="0"/>
        </a:xfrm>
      </p:grpSpPr>
      <p:sp>
        <p:nvSpPr>
          <p:cNvPr id="872" name="Google Shape;872;p70"/>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873" name="Google Shape;873;p70"/>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874" name="Google Shape;874;p70"/>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875" name="Google Shape;875;p7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6" name="Google Shape;876;p70"/>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877" name="Google Shape;877;p70"/>
          <p:cNvSpPr txBox="1"/>
          <p:nvPr/>
        </p:nvSpPr>
        <p:spPr>
          <a:xfrm>
            <a:off x="533400" y="761999"/>
            <a:ext cx="8229597" cy="16312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Vòng lặp cơ bản trong JavaScript</a:t>
            </a:r>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Vòng lặp </a:t>
            </a:r>
            <a:r>
              <a:rPr lang="en-US" sz="2400">
                <a:solidFill>
                  <a:srgbClr val="FF0000"/>
                </a:solidFill>
                <a:latin typeface="Calibri"/>
                <a:ea typeface="Calibri"/>
                <a:cs typeface="Calibri"/>
                <a:sym typeface="Calibri"/>
              </a:rPr>
              <a:t>while()</a:t>
            </a:r>
            <a:endParaRPr/>
          </a:p>
          <a:p>
            <a:pPr marL="0" marR="0" lvl="0" indent="0" algn="l" rtl="0">
              <a:spcBef>
                <a:spcPts val="0"/>
              </a:spcBef>
              <a:spcAft>
                <a:spcPts val="0"/>
              </a:spcAft>
              <a:buNone/>
            </a:pPr>
            <a:endParaRPr sz="2400">
              <a:solidFill>
                <a:srgbClr val="FF0000"/>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Cú pháp:</a:t>
            </a:r>
            <a:endParaRPr sz="2400">
              <a:solidFill>
                <a:srgbClr val="FF0000"/>
              </a:solidFill>
              <a:latin typeface="Calibri"/>
              <a:ea typeface="Calibri"/>
              <a:cs typeface="Calibri"/>
              <a:sym typeface="Calibri"/>
            </a:endParaRPr>
          </a:p>
        </p:txBody>
      </p:sp>
      <p:pic>
        <p:nvPicPr>
          <p:cNvPr id="878" name="Google Shape;878;p70"/>
          <p:cNvPicPr preferRelativeResize="0"/>
          <p:nvPr/>
        </p:nvPicPr>
        <p:blipFill rotWithShape="1">
          <a:blip r:embed="rId4">
            <a:alphaModFix/>
          </a:blip>
          <a:srcRect/>
          <a:stretch/>
        </p:blipFill>
        <p:spPr>
          <a:xfrm>
            <a:off x="533400" y="2654147"/>
            <a:ext cx="2400300" cy="904875"/>
          </a:xfrm>
          <a:prstGeom prst="rect">
            <a:avLst/>
          </a:prstGeom>
          <a:noFill/>
          <a:ln>
            <a:noFill/>
          </a:ln>
        </p:spPr>
      </p:pic>
      <p:sp>
        <p:nvSpPr>
          <p:cNvPr id="879" name="Google Shape;879;p70"/>
          <p:cNvSpPr txBox="1"/>
          <p:nvPr/>
        </p:nvSpPr>
        <p:spPr>
          <a:xfrm>
            <a:off x="533400" y="4191000"/>
            <a:ext cx="822959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Khác với vòng lặp </a:t>
            </a:r>
            <a:r>
              <a:rPr lang="en-US" sz="1800">
                <a:solidFill>
                  <a:srgbClr val="FF0000"/>
                </a:solidFill>
                <a:latin typeface="Calibri"/>
                <a:ea typeface="Calibri"/>
                <a:cs typeface="Calibri"/>
                <a:sym typeface="Calibri"/>
              </a:rPr>
              <a:t>for()</a:t>
            </a:r>
            <a:r>
              <a:rPr lang="en-US" sz="1800">
                <a:solidFill>
                  <a:schemeClr val="dk1"/>
                </a:solidFill>
                <a:latin typeface="Calibri"/>
                <a:ea typeface="Calibri"/>
                <a:cs typeface="Calibri"/>
                <a:sym typeface="Calibri"/>
              </a:rPr>
              <a:t> vòng lặp </a:t>
            </a:r>
            <a:r>
              <a:rPr lang="en-US" sz="1800">
                <a:solidFill>
                  <a:srgbClr val="FF0000"/>
                </a:solidFill>
                <a:latin typeface="Calibri"/>
                <a:ea typeface="Calibri"/>
                <a:cs typeface="Calibri"/>
                <a:sym typeface="Calibri"/>
              </a:rPr>
              <a:t>while() </a:t>
            </a:r>
            <a:r>
              <a:rPr lang="en-US" sz="1800">
                <a:solidFill>
                  <a:schemeClr val="dk1"/>
                </a:solidFill>
                <a:latin typeface="Calibri"/>
                <a:ea typeface="Calibri"/>
                <a:cs typeface="Calibri"/>
                <a:sym typeface="Calibri"/>
              </a:rPr>
              <a:t>sẽ có bộ đếm bên trong vòng lặp nếu không bạn sẽ gặp phải vòng lặp vô hạn.</a:t>
            </a:r>
            <a:r>
              <a:rPr lang="en-US" sz="1800">
                <a:solidFill>
                  <a:srgbClr val="FF0000"/>
                </a:solidFill>
                <a:latin typeface="Calibri"/>
                <a:ea typeface="Calibri"/>
                <a:cs typeface="Calibri"/>
                <a:sym typeface="Calibri"/>
              </a:rPr>
              <a:t>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3"/>
        <p:cNvGrpSpPr/>
        <p:nvPr/>
      </p:nvGrpSpPr>
      <p:grpSpPr>
        <a:xfrm>
          <a:off x="0" y="0"/>
          <a:ext cx="0" cy="0"/>
          <a:chOff x="0" y="0"/>
          <a:chExt cx="0" cy="0"/>
        </a:xfrm>
      </p:grpSpPr>
      <p:sp>
        <p:nvSpPr>
          <p:cNvPr id="884" name="Google Shape;884;p71"/>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885" name="Google Shape;885;p71"/>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886" name="Google Shape;886;p71"/>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887" name="Google Shape;887;p7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8" name="Google Shape;888;p71"/>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889" name="Google Shape;889;p71"/>
          <p:cNvSpPr txBox="1"/>
          <p:nvPr/>
        </p:nvSpPr>
        <p:spPr>
          <a:xfrm>
            <a:off x="533400" y="761999"/>
            <a:ext cx="8229597" cy="16312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Vòng lặp cơ bản trong JavaScript</a:t>
            </a:r>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Vòng lặp </a:t>
            </a:r>
            <a:r>
              <a:rPr lang="en-US" sz="2400">
                <a:solidFill>
                  <a:srgbClr val="FF0000"/>
                </a:solidFill>
                <a:latin typeface="Calibri"/>
                <a:ea typeface="Calibri"/>
                <a:cs typeface="Calibri"/>
                <a:sym typeface="Calibri"/>
              </a:rPr>
              <a:t>while()</a:t>
            </a:r>
            <a:endParaRPr/>
          </a:p>
          <a:p>
            <a:pPr marL="0" marR="0" lvl="0" indent="0" algn="l" rtl="0">
              <a:spcBef>
                <a:spcPts val="0"/>
              </a:spcBef>
              <a:spcAft>
                <a:spcPts val="0"/>
              </a:spcAft>
              <a:buNone/>
            </a:pPr>
            <a:endParaRPr sz="2400">
              <a:solidFill>
                <a:srgbClr val="FF0000"/>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Ví dụ:</a:t>
            </a:r>
            <a:endParaRPr sz="2400">
              <a:solidFill>
                <a:srgbClr val="FF0000"/>
              </a:solidFill>
              <a:latin typeface="Calibri"/>
              <a:ea typeface="Calibri"/>
              <a:cs typeface="Calibri"/>
              <a:sym typeface="Calibri"/>
            </a:endParaRPr>
          </a:p>
        </p:txBody>
      </p:sp>
      <p:pic>
        <p:nvPicPr>
          <p:cNvPr id="890" name="Google Shape;890;p71"/>
          <p:cNvPicPr preferRelativeResize="0"/>
          <p:nvPr/>
        </p:nvPicPr>
        <p:blipFill rotWithShape="1">
          <a:blip r:embed="rId4">
            <a:alphaModFix/>
          </a:blip>
          <a:srcRect/>
          <a:stretch/>
        </p:blipFill>
        <p:spPr>
          <a:xfrm>
            <a:off x="533400" y="2819400"/>
            <a:ext cx="4762500" cy="205740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94"/>
        <p:cNvGrpSpPr/>
        <p:nvPr/>
      </p:nvGrpSpPr>
      <p:grpSpPr>
        <a:xfrm>
          <a:off x="0" y="0"/>
          <a:ext cx="0" cy="0"/>
          <a:chOff x="0" y="0"/>
          <a:chExt cx="0" cy="0"/>
        </a:xfrm>
      </p:grpSpPr>
      <p:sp>
        <p:nvSpPr>
          <p:cNvPr id="895" name="Google Shape;895;p72"/>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896" name="Google Shape;896;p72"/>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897" name="Google Shape;897;p72"/>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898" name="Google Shape;898;p7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9" name="Google Shape;899;p72"/>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900" name="Google Shape;900;p72"/>
          <p:cNvSpPr txBox="1"/>
          <p:nvPr/>
        </p:nvSpPr>
        <p:spPr>
          <a:xfrm>
            <a:off x="533400" y="761999"/>
            <a:ext cx="8229597" cy="16312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Vòng lặp cơ bản trong JavaScript</a:t>
            </a:r>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Vòng lặp </a:t>
            </a:r>
            <a:r>
              <a:rPr lang="en-US" sz="2400">
                <a:solidFill>
                  <a:srgbClr val="FF0000"/>
                </a:solidFill>
                <a:latin typeface="Calibri"/>
                <a:ea typeface="Calibri"/>
                <a:cs typeface="Calibri"/>
                <a:sym typeface="Calibri"/>
              </a:rPr>
              <a:t>do…while()</a:t>
            </a:r>
            <a:endParaRPr/>
          </a:p>
          <a:p>
            <a:pPr marL="0" marR="0" lvl="0" indent="0" algn="l" rtl="0">
              <a:spcBef>
                <a:spcPts val="0"/>
              </a:spcBef>
              <a:spcAft>
                <a:spcPts val="0"/>
              </a:spcAft>
              <a:buNone/>
            </a:pPr>
            <a:endParaRPr sz="2400">
              <a:solidFill>
                <a:srgbClr val="FF0000"/>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Cú pháp:</a:t>
            </a:r>
            <a:endParaRPr sz="2400">
              <a:solidFill>
                <a:srgbClr val="FF0000"/>
              </a:solidFill>
              <a:latin typeface="Calibri"/>
              <a:ea typeface="Calibri"/>
              <a:cs typeface="Calibri"/>
              <a:sym typeface="Calibri"/>
            </a:endParaRPr>
          </a:p>
        </p:txBody>
      </p:sp>
      <p:pic>
        <p:nvPicPr>
          <p:cNvPr id="901" name="Google Shape;901;p72"/>
          <p:cNvPicPr preferRelativeResize="0"/>
          <p:nvPr/>
        </p:nvPicPr>
        <p:blipFill rotWithShape="1">
          <a:blip r:embed="rId4">
            <a:alphaModFix/>
          </a:blip>
          <a:srcRect/>
          <a:stretch/>
        </p:blipFill>
        <p:spPr>
          <a:xfrm>
            <a:off x="533400" y="2732335"/>
            <a:ext cx="3000375" cy="1028700"/>
          </a:xfrm>
          <a:prstGeom prst="rect">
            <a:avLst/>
          </a:prstGeom>
          <a:noFill/>
          <a:ln>
            <a:noFill/>
          </a:ln>
        </p:spPr>
      </p:pic>
      <p:sp>
        <p:nvSpPr>
          <p:cNvPr id="902" name="Google Shape;902;p72"/>
          <p:cNvSpPr txBox="1"/>
          <p:nvPr/>
        </p:nvSpPr>
        <p:spPr>
          <a:xfrm>
            <a:off x="533400" y="4343400"/>
            <a:ext cx="822959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Vòng lặp </a:t>
            </a:r>
            <a:r>
              <a:rPr lang="en-US" sz="1800">
                <a:solidFill>
                  <a:srgbClr val="FF0000"/>
                </a:solidFill>
                <a:latin typeface="Calibri"/>
                <a:ea typeface="Calibri"/>
                <a:cs typeface="Calibri"/>
                <a:sym typeface="Calibri"/>
              </a:rPr>
              <a:t>do…while()</a:t>
            </a:r>
            <a:r>
              <a:rPr lang="en-US" sz="1800">
                <a:solidFill>
                  <a:schemeClr val="dk1"/>
                </a:solidFill>
                <a:latin typeface="Calibri"/>
                <a:ea typeface="Calibri"/>
                <a:cs typeface="Calibri"/>
                <a:sym typeface="Calibri"/>
              </a:rPr>
              <a:t> sẽ thực thi code bên trong khối lệnh trước rồi mới kiểm tra đến điều kiện. Như vậy vòng lặp </a:t>
            </a:r>
            <a:r>
              <a:rPr lang="en-US" sz="1800">
                <a:solidFill>
                  <a:srgbClr val="FF0000"/>
                </a:solidFill>
                <a:latin typeface="Calibri"/>
                <a:ea typeface="Calibri"/>
                <a:cs typeface="Calibri"/>
                <a:sym typeface="Calibri"/>
              </a:rPr>
              <a:t>do…while()</a:t>
            </a:r>
            <a:r>
              <a:rPr lang="en-US" sz="1800">
                <a:solidFill>
                  <a:schemeClr val="dk1"/>
                </a:solidFill>
                <a:latin typeface="Calibri"/>
                <a:ea typeface="Calibri"/>
                <a:cs typeface="Calibri"/>
                <a:sym typeface="Calibri"/>
              </a:rPr>
              <a:t> sẽ thực thi ít nhất một lần sau khi chạy.</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6"/>
        <p:cNvGrpSpPr/>
        <p:nvPr/>
      </p:nvGrpSpPr>
      <p:grpSpPr>
        <a:xfrm>
          <a:off x="0" y="0"/>
          <a:ext cx="0" cy="0"/>
          <a:chOff x="0" y="0"/>
          <a:chExt cx="0" cy="0"/>
        </a:xfrm>
      </p:grpSpPr>
      <p:sp>
        <p:nvSpPr>
          <p:cNvPr id="907" name="Google Shape;907;p73"/>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908" name="Google Shape;908;p73"/>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909" name="Google Shape;909;p73"/>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910" name="Google Shape;910;p7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11" name="Google Shape;911;p73"/>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912" name="Google Shape;912;p73"/>
          <p:cNvSpPr txBox="1"/>
          <p:nvPr/>
        </p:nvSpPr>
        <p:spPr>
          <a:xfrm>
            <a:off x="533400" y="761999"/>
            <a:ext cx="8229597" cy="16312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Vòng lặp cơ bản trong JavaScript</a:t>
            </a:r>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Vòng lặp </a:t>
            </a:r>
            <a:r>
              <a:rPr lang="en-US" sz="2400">
                <a:solidFill>
                  <a:srgbClr val="FF0000"/>
                </a:solidFill>
                <a:latin typeface="Calibri"/>
                <a:ea typeface="Calibri"/>
                <a:cs typeface="Calibri"/>
                <a:sym typeface="Calibri"/>
              </a:rPr>
              <a:t>do…while()</a:t>
            </a:r>
            <a:endParaRPr/>
          </a:p>
          <a:p>
            <a:pPr marL="0" marR="0" lvl="0" indent="0" algn="l" rtl="0">
              <a:spcBef>
                <a:spcPts val="0"/>
              </a:spcBef>
              <a:spcAft>
                <a:spcPts val="0"/>
              </a:spcAft>
              <a:buNone/>
            </a:pPr>
            <a:endParaRPr sz="2400">
              <a:solidFill>
                <a:srgbClr val="FF0000"/>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Ví dụ:</a:t>
            </a:r>
            <a:endParaRPr sz="2400">
              <a:solidFill>
                <a:srgbClr val="FF0000"/>
              </a:solidFill>
              <a:latin typeface="Calibri"/>
              <a:ea typeface="Calibri"/>
              <a:cs typeface="Calibri"/>
              <a:sym typeface="Calibri"/>
            </a:endParaRPr>
          </a:p>
        </p:txBody>
      </p:sp>
      <p:pic>
        <p:nvPicPr>
          <p:cNvPr id="913" name="Google Shape;913;p73"/>
          <p:cNvPicPr preferRelativeResize="0"/>
          <p:nvPr/>
        </p:nvPicPr>
        <p:blipFill rotWithShape="1">
          <a:blip r:embed="rId4">
            <a:alphaModFix/>
          </a:blip>
          <a:srcRect/>
          <a:stretch/>
        </p:blipFill>
        <p:spPr>
          <a:xfrm>
            <a:off x="533400" y="2743200"/>
            <a:ext cx="4962525" cy="246697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17"/>
        <p:cNvGrpSpPr/>
        <p:nvPr/>
      </p:nvGrpSpPr>
      <p:grpSpPr>
        <a:xfrm>
          <a:off x="0" y="0"/>
          <a:ext cx="0" cy="0"/>
          <a:chOff x="0" y="0"/>
          <a:chExt cx="0" cy="0"/>
        </a:xfrm>
      </p:grpSpPr>
      <p:sp>
        <p:nvSpPr>
          <p:cNvPr id="918" name="Google Shape;918;p74"/>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919" name="Google Shape;919;p74"/>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920" name="Google Shape;920;p74"/>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921" name="Google Shape;921;p7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2" name="Google Shape;922;p74"/>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923" name="Google Shape;923;p74"/>
          <p:cNvSpPr txBox="1"/>
          <p:nvPr/>
        </p:nvSpPr>
        <p:spPr>
          <a:xfrm>
            <a:off x="533400" y="761999"/>
            <a:ext cx="8229597" cy="200054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Vòng lặp cơ bản trong JavaScript</a:t>
            </a:r>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Từ khóa </a:t>
            </a:r>
            <a:r>
              <a:rPr lang="en-US" sz="2400">
                <a:solidFill>
                  <a:srgbClr val="FF0000"/>
                </a:solidFill>
                <a:latin typeface="Calibri"/>
                <a:ea typeface="Calibri"/>
                <a:cs typeface="Calibri"/>
                <a:sym typeface="Calibri"/>
              </a:rPr>
              <a:t>break</a:t>
            </a:r>
            <a:r>
              <a:rPr lang="en-US" sz="2400">
                <a:solidFill>
                  <a:schemeClr val="dk2"/>
                </a:solidFill>
                <a:latin typeface="Calibri"/>
                <a:ea typeface="Calibri"/>
                <a:cs typeface="Calibri"/>
                <a:sym typeface="Calibri"/>
              </a:rPr>
              <a:t> trong vòng lặp</a:t>
            </a:r>
            <a:endParaRPr sz="2400">
              <a:solidFill>
                <a:schemeClr val="dk2"/>
              </a:solidFill>
              <a:latin typeface="Calibri"/>
              <a:ea typeface="Calibri"/>
              <a:cs typeface="Calibri"/>
              <a:sym typeface="Calibri"/>
            </a:endParaRPr>
          </a:p>
          <a:p>
            <a:pPr marL="0" marR="0" lvl="0" indent="0" algn="l" rtl="0">
              <a:spcBef>
                <a:spcPts val="0"/>
              </a:spcBef>
              <a:spcAft>
                <a:spcPts val="0"/>
              </a:spcAft>
              <a:buNone/>
            </a:pPr>
            <a:endParaRPr sz="24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Khi gặp </a:t>
            </a:r>
            <a:r>
              <a:rPr lang="en-US" sz="2400">
                <a:solidFill>
                  <a:srgbClr val="FF0000"/>
                </a:solidFill>
                <a:latin typeface="Calibri"/>
                <a:ea typeface="Calibri"/>
                <a:cs typeface="Calibri"/>
                <a:sym typeface="Calibri"/>
              </a:rPr>
              <a:t>break</a:t>
            </a:r>
            <a:r>
              <a:rPr lang="en-US" sz="2400">
                <a:solidFill>
                  <a:schemeClr val="dk2"/>
                </a:solidFill>
                <a:latin typeface="Calibri"/>
                <a:ea typeface="Calibri"/>
                <a:cs typeface="Calibri"/>
                <a:sym typeface="Calibri"/>
              </a:rPr>
              <a:t> trong vòng lặp, vòng lặp sẽ kết thúc hay thoát khỏi vòng lặp cho dù bộ đếm hay điều kiện vẫn đúng.</a:t>
            </a:r>
            <a:endParaRPr sz="2400">
              <a:solidFill>
                <a:srgbClr val="FF0000"/>
              </a:solidFill>
              <a:latin typeface="Calibri"/>
              <a:ea typeface="Calibri"/>
              <a:cs typeface="Calibri"/>
              <a:sym typeface="Calibri"/>
            </a:endParaRPr>
          </a:p>
        </p:txBody>
      </p:sp>
      <p:pic>
        <p:nvPicPr>
          <p:cNvPr id="924" name="Google Shape;924;p74"/>
          <p:cNvPicPr preferRelativeResize="0"/>
          <p:nvPr/>
        </p:nvPicPr>
        <p:blipFill rotWithShape="1">
          <a:blip r:embed="rId4">
            <a:alphaModFix/>
          </a:blip>
          <a:srcRect/>
          <a:stretch/>
        </p:blipFill>
        <p:spPr>
          <a:xfrm>
            <a:off x="533400" y="3276600"/>
            <a:ext cx="4133850" cy="2124075"/>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28"/>
        <p:cNvGrpSpPr/>
        <p:nvPr/>
      </p:nvGrpSpPr>
      <p:grpSpPr>
        <a:xfrm>
          <a:off x="0" y="0"/>
          <a:ext cx="0" cy="0"/>
          <a:chOff x="0" y="0"/>
          <a:chExt cx="0" cy="0"/>
        </a:xfrm>
      </p:grpSpPr>
      <p:sp>
        <p:nvSpPr>
          <p:cNvPr id="929" name="Google Shape;929;p75"/>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930" name="Google Shape;930;p75"/>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931" name="Google Shape;931;p75"/>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932" name="Google Shape;932;p7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3" name="Google Shape;933;p75"/>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934" name="Google Shape;934;p75"/>
          <p:cNvSpPr txBox="1"/>
          <p:nvPr/>
        </p:nvSpPr>
        <p:spPr>
          <a:xfrm>
            <a:off x="533400" y="761999"/>
            <a:ext cx="8229597" cy="200054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Vòng lặp cơ bản trong JavaScript</a:t>
            </a:r>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Từ khóa </a:t>
            </a:r>
            <a:r>
              <a:rPr lang="en-US" sz="2400">
                <a:solidFill>
                  <a:srgbClr val="FF0000"/>
                </a:solidFill>
                <a:latin typeface="Calibri"/>
                <a:ea typeface="Calibri"/>
                <a:cs typeface="Calibri"/>
                <a:sym typeface="Calibri"/>
              </a:rPr>
              <a:t>continue</a:t>
            </a:r>
            <a:r>
              <a:rPr lang="en-US" sz="2400">
                <a:solidFill>
                  <a:schemeClr val="dk2"/>
                </a:solidFill>
                <a:latin typeface="Calibri"/>
                <a:ea typeface="Calibri"/>
                <a:cs typeface="Calibri"/>
                <a:sym typeface="Calibri"/>
              </a:rPr>
              <a:t> trong vòng lặp</a:t>
            </a:r>
            <a:endParaRPr sz="2400">
              <a:solidFill>
                <a:schemeClr val="dk2"/>
              </a:solidFill>
              <a:latin typeface="Calibri"/>
              <a:ea typeface="Calibri"/>
              <a:cs typeface="Calibri"/>
              <a:sym typeface="Calibri"/>
            </a:endParaRPr>
          </a:p>
          <a:p>
            <a:pPr marL="0" marR="0" lvl="0" indent="0" algn="l" rtl="0">
              <a:spcBef>
                <a:spcPts val="0"/>
              </a:spcBef>
              <a:spcAft>
                <a:spcPts val="0"/>
              </a:spcAft>
              <a:buNone/>
            </a:pPr>
            <a:endParaRPr sz="24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Khi gặp </a:t>
            </a:r>
            <a:r>
              <a:rPr lang="en-US" sz="2400">
                <a:solidFill>
                  <a:srgbClr val="FF0000"/>
                </a:solidFill>
                <a:latin typeface="Calibri"/>
                <a:ea typeface="Calibri"/>
                <a:cs typeface="Calibri"/>
                <a:sym typeface="Calibri"/>
              </a:rPr>
              <a:t>continue</a:t>
            </a:r>
            <a:r>
              <a:rPr lang="en-US" sz="2400">
                <a:solidFill>
                  <a:schemeClr val="dk2"/>
                </a:solidFill>
                <a:latin typeface="Calibri"/>
                <a:ea typeface="Calibri"/>
                <a:cs typeface="Calibri"/>
                <a:sym typeface="Calibri"/>
              </a:rPr>
              <a:t> trong vòng lặp, vòng lặp sẽ bỏ qua lần lặp hiện tại và bắt đầu vòng lặp kế tiếp</a:t>
            </a:r>
            <a:endParaRPr sz="2400">
              <a:solidFill>
                <a:srgbClr val="FF0000"/>
              </a:solidFill>
              <a:latin typeface="Calibri"/>
              <a:ea typeface="Calibri"/>
              <a:cs typeface="Calibri"/>
              <a:sym typeface="Calibri"/>
            </a:endParaRPr>
          </a:p>
        </p:txBody>
      </p:sp>
      <p:pic>
        <p:nvPicPr>
          <p:cNvPr id="935" name="Google Shape;935;p75"/>
          <p:cNvPicPr preferRelativeResize="0"/>
          <p:nvPr/>
        </p:nvPicPr>
        <p:blipFill rotWithShape="1">
          <a:blip r:embed="rId4">
            <a:alphaModFix/>
          </a:blip>
          <a:srcRect/>
          <a:stretch/>
        </p:blipFill>
        <p:spPr>
          <a:xfrm>
            <a:off x="533400" y="2824102"/>
            <a:ext cx="5800725" cy="2962275"/>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39"/>
        <p:cNvGrpSpPr/>
        <p:nvPr/>
      </p:nvGrpSpPr>
      <p:grpSpPr>
        <a:xfrm>
          <a:off x="0" y="0"/>
          <a:ext cx="0" cy="0"/>
          <a:chOff x="0" y="0"/>
          <a:chExt cx="0" cy="0"/>
        </a:xfrm>
      </p:grpSpPr>
      <p:sp>
        <p:nvSpPr>
          <p:cNvPr id="940" name="Google Shape;940;p76"/>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941" name="Google Shape;941;p76"/>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942" name="Google Shape;942;p76"/>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943" name="Google Shape;943;p7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4" name="Google Shape;944;p76"/>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945" name="Google Shape;945;p76"/>
          <p:cNvSpPr txBox="1"/>
          <p:nvPr/>
        </p:nvSpPr>
        <p:spPr>
          <a:xfrm>
            <a:off x="533400" y="761999"/>
            <a:ext cx="8229597" cy="42780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Chuyển đổi kiểu dữ liệu</a:t>
            </a:r>
            <a:endParaRPr sz="2800">
              <a:solidFill>
                <a:schemeClr val="dk2"/>
              </a:solidFill>
              <a:latin typeface="Calibri"/>
              <a:ea typeface="Calibri"/>
              <a:cs typeface="Calibri"/>
              <a:sym typeface="Calibri"/>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String Conversion (Chuyển đổi kiểu dữ liệu sang string)</a:t>
            </a:r>
            <a:endParaRPr/>
          </a:p>
          <a:p>
            <a:pPr marL="0" marR="0" lvl="0" indent="0" algn="l" rtl="0">
              <a:spcBef>
                <a:spcPts val="0"/>
              </a:spcBef>
              <a:spcAft>
                <a:spcPts val="0"/>
              </a:spcAft>
              <a:buNone/>
            </a:pPr>
            <a:endParaRPr sz="24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Có 3 cách để chuyển kiểu value sang string:</a:t>
            </a:r>
            <a:endParaRPr/>
          </a:p>
          <a:p>
            <a:pPr marL="0" marR="0" lvl="0" indent="0" algn="l" rtl="0">
              <a:spcBef>
                <a:spcPts val="0"/>
              </a:spcBef>
              <a:spcAft>
                <a:spcPts val="0"/>
              </a:spcAft>
              <a:buNone/>
            </a:pPr>
            <a:endParaRPr sz="24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Cách 1: </a:t>
            </a:r>
            <a:r>
              <a:rPr lang="en-US" sz="2400">
                <a:solidFill>
                  <a:srgbClr val="FF0000"/>
                </a:solidFill>
                <a:latin typeface="Calibri"/>
                <a:ea typeface="Calibri"/>
                <a:cs typeface="Calibri"/>
                <a:sym typeface="Calibri"/>
              </a:rPr>
              <a:t>String()</a:t>
            </a:r>
            <a:endParaRPr/>
          </a:p>
          <a:p>
            <a:pPr marL="0" marR="0" lvl="0" indent="0" algn="l" rtl="0">
              <a:spcBef>
                <a:spcPts val="0"/>
              </a:spcBef>
              <a:spcAft>
                <a:spcPts val="0"/>
              </a:spcAft>
              <a:buNone/>
            </a:pPr>
            <a:endParaRPr sz="24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Cách 2: </a:t>
            </a:r>
            <a:r>
              <a:rPr lang="en-US" sz="2400">
                <a:solidFill>
                  <a:srgbClr val="FF0000"/>
                </a:solidFill>
                <a:latin typeface="Calibri"/>
                <a:ea typeface="Calibri"/>
                <a:cs typeface="Calibri"/>
                <a:sym typeface="Calibri"/>
              </a:rPr>
              <a:t>toString()</a:t>
            </a:r>
            <a:endParaRPr/>
          </a:p>
          <a:p>
            <a:pPr marL="0" marR="0" lvl="0" indent="0" algn="l" rtl="0">
              <a:spcBef>
                <a:spcPts val="0"/>
              </a:spcBef>
              <a:spcAft>
                <a:spcPts val="0"/>
              </a:spcAft>
              <a:buNone/>
            </a:pPr>
            <a:endParaRPr sz="24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Cách 3: sử dụng toán tử </a:t>
            </a:r>
            <a:r>
              <a:rPr lang="en-US" sz="2400">
                <a:solidFill>
                  <a:srgbClr val="FF0000"/>
                </a:solidFill>
                <a:latin typeface="Calibri"/>
                <a:ea typeface="Calibri"/>
                <a:cs typeface="Calibri"/>
                <a:sym typeface="Calibri"/>
              </a:rPr>
              <a:t>+</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9"/>
        <p:cNvGrpSpPr/>
        <p:nvPr/>
      </p:nvGrpSpPr>
      <p:grpSpPr>
        <a:xfrm>
          <a:off x="0" y="0"/>
          <a:ext cx="0" cy="0"/>
          <a:chOff x="0" y="0"/>
          <a:chExt cx="0" cy="0"/>
        </a:xfrm>
      </p:grpSpPr>
      <p:sp>
        <p:nvSpPr>
          <p:cNvPr id="950" name="Google Shape;950;p77"/>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951" name="Google Shape;951;p77"/>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952" name="Google Shape;952;p77"/>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953" name="Google Shape;953;p7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4" name="Google Shape;954;p77"/>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955" name="Google Shape;955;p77"/>
          <p:cNvSpPr txBox="1"/>
          <p:nvPr/>
        </p:nvSpPr>
        <p:spPr>
          <a:xfrm>
            <a:off x="533400" y="761999"/>
            <a:ext cx="8229597"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Chuyển đổi kiểu dữ liệu</a:t>
            </a:r>
            <a:endParaRPr sz="2800">
              <a:solidFill>
                <a:schemeClr val="dk2"/>
              </a:solidFill>
              <a:latin typeface="Calibri"/>
              <a:ea typeface="Calibri"/>
              <a:cs typeface="Calibri"/>
              <a:sym typeface="Calibri"/>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String Conversion (Chuyển đổi kiểu dữ liệu sang string)</a:t>
            </a:r>
            <a:endParaRPr/>
          </a:p>
          <a:p>
            <a:pPr marL="0" marR="0" lvl="0" indent="0" algn="l" rtl="0">
              <a:spcBef>
                <a:spcPts val="0"/>
              </a:spcBef>
              <a:spcAft>
                <a:spcPts val="0"/>
              </a:spcAft>
              <a:buNone/>
            </a:pPr>
            <a:endParaRPr sz="24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Cách 1: String()</a:t>
            </a:r>
            <a:endParaRPr/>
          </a:p>
        </p:txBody>
      </p:sp>
      <p:pic>
        <p:nvPicPr>
          <p:cNvPr id="956" name="Google Shape;956;p77"/>
          <p:cNvPicPr preferRelativeResize="0"/>
          <p:nvPr/>
        </p:nvPicPr>
        <p:blipFill rotWithShape="1">
          <a:blip r:embed="rId4">
            <a:alphaModFix/>
          </a:blip>
          <a:srcRect/>
          <a:stretch/>
        </p:blipFill>
        <p:spPr>
          <a:xfrm>
            <a:off x="533400" y="3124200"/>
            <a:ext cx="5495925" cy="241935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60"/>
        <p:cNvGrpSpPr/>
        <p:nvPr/>
      </p:nvGrpSpPr>
      <p:grpSpPr>
        <a:xfrm>
          <a:off x="0" y="0"/>
          <a:ext cx="0" cy="0"/>
          <a:chOff x="0" y="0"/>
          <a:chExt cx="0" cy="0"/>
        </a:xfrm>
      </p:grpSpPr>
      <p:sp>
        <p:nvSpPr>
          <p:cNvPr id="961" name="Google Shape;961;p78"/>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962" name="Google Shape;962;p78"/>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963" name="Google Shape;963;p78"/>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964" name="Google Shape;964;p7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5" name="Google Shape;965;p78"/>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966" name="Google Shape;966;p78"/>
          <p:cNvSpPr txBox="1"/>
          <p:nvPr/>
        </p:nvSpPr>
        <p:spPr>
          <a:xfrm>
            <a:off x="533400" y="761999"/>
            <a:ext cx="8229597"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Chuyển đổi kiểu dữ liệu</a:t>
            </a:r>
            <a:endParaRPr sz="2800">
              <a:solidFill>
                <a:schemeClr val="dk2"/>
              </a:solidFill>
              <a:latin typeface="Calibri"/>
              <a:ea typeface="Calibri"/>
              <a:cs typeface="Calibri"/>
              <a:sym typeface="Calibri"/>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String Conversion (Chuyển đổi kiểu dữ liệu sang string)</a:t>
            </a:r>
            <a:endParaRPr/>
          </a:p>
          <a:p>
            <a:pPr marL="0" marR="0" lvl="0" indent="0" algn="l" rtl="0">
              <a:spcBef>
                <a:spcPts val="0"/>
              </a:spcBef>
              <a:spcAft>
                <a:spcPts val="0"/>
              </a:spcAft>
              <a:buNone/>
            </a:pPr>
            <a:endParaRPr sz="24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Cách 2: toString()</a:t>
            </a:r>
            <a:endParaRPr/>
          </a:p>
        </p:txBody>
      </p:sp>
      <p:pic>
        <p:nvPicPr>
          <p:cNvPr id="967" name="Google Shape;967;p78"/>
          <p:cNvPicPr preferRelativeResize="0"/>
          <p:nvPr/>
        </p:nvPicPr>
        <p:blipFill rotWithShape="1">
          <a:blip r:embed="rId4">
            <a:alphaModFix/>
          </a:blip>
          <a:srcRect/>
          <a:stretch/>
        </p:blipFill>
        <p:spPr>
          <a:xfrm>
            <a:off x="533400" y="3124200"/>
            <a:ext cx="5133975" cy="2447925"/>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71"/>
        <p:cNvGrpSpPr/>
        <p:nvPr/>
      </p:nvGrpSpPr>
      <p:grpSpPr>
        <a:xfrm>
          <a:off x="0" y="0"/>
          <a:ext cx="0" cy="0"/>
          <a:chOff x="0" y="0"/>
          <a:chExt cx="0" cy="0"/>
        </a:xfrm>
      </p:grpSpPr>
      <p:sp>
        <p:nvSpPr>
          <p:cNvPr id="972" name="Google Shape;972;p79"/>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973" name="Google Shape;973;p79"/>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974" name="Google Shape;974;p79"/>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975" name="Google Shape;975;p7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6" name="Google Shape;976;p79"/>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977" name="Google Shape;977;p79"/>
          <p:cNvSpPr txBox="1"/>
          <p:nvPr/>
        </p:nvSpPr>
        <p:spPr>
          <a:xfrm>
            <a:off x="533400" y="761999"/>
            <a:ext cx="8229597"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Chuyển đổi kiểu dữ liệu</a:t>
            </a:r>
            <a:endParaRPr sz="2800">
              <a:solidFill>
                <a:schemeClr val="dk2"/>
              </a:solidFill>
              <a:latin typeface="Calibri"/>
              <a:ea typeface="Calibri"/>
              <a:cs typeface="Calibri"/>
              <a:sym typeface="Calibri"/>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String Conversion (Chuyển đổi kiểu dữ liệu sang string)</a:t>
            </a:r>
            <a:endParaRPr/>
          </a:p>
          <a:p>
            <a:pPr marL="0" marR="0" lvl="0" indent="0" algn="l" rtl="0">
              <a:spcBef>
                <a:spcPts val="0"/>
              </a:spcBef>
              <a:spcAft>
                <a:spcPts val="0"/>
              </a:spcAft>
              <a:buNone/>
            </a:pPr>
            <a:endParaRPr sz="24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Cách 3: Sử dụng toán tử </a:t>
            </a:r>
            <a:r>
              <a:rPr lang="en-US" sz="2400">
                <a:solidFill>
                  <a:srgbClr val="FF0000"/>
                </a:solidFill>
                <a:latin typeface="Calibri"/>
                <a:ea typeface="Calibri"/>
                <a:cs typeface="Calibri"/>
                <a:sym typeface="Calibri"/>
              </a:rPr>
              <a:t>+</a:t>
            </a:r>
            <a:endParaRPr/>
          </a:p>
        </p:txBody>
      </p:sp>
      <p:pic>
        <p:nvPicPr>
          <p:cNvPr id="978" name="Google Shape;978;p79"/>
          <p:cNvPicPr preferRelativeResize="0"/>
          <p:nvPr/>
        </p:nvPicPr>
        <p:blipFill rotWithShape="1">
          <a:blip r:embed="rId4">
            <a:alphaModFix/>
          </a:blip>
          <a:srcRect/>
          <a:stretch/>
        </p:blipFill>
        <p:spPr>
          <a:xfrm>
            <a:off x="533400" y="3505200"/>
            <a:ext cx="5981700" cy="1400175"/>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2"/>
        <p:cNvGrpSpPr/>
        <p:nvPr/>
      </p:nvGrpSpPr>
      <p:grpSpPr>
        <a:xfrm>
          <a:off x="0" y="0"/>
          <a:ext cx="0" cy="0"/>
          <a:chOff x="0" y="0"/>
          <a:chExt cx="0" cy="0"/>
        </a:xfrm>
      </p:grpSpPr>
      <p:sp>
        <p:nvSpPr>
          <p:cNvPr id="983" name="Google Shape;983;p80"/>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984" name="Google Shape;984;p80"/>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985" name="Google Shape;985;p80"/>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986" name="Google Shape;986;p8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7" name="Google Shape;987;p80"/>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988" name="Google Shape;988;p80"/>
          <p:cNvSpPr txBox="1"/>
          <p:nvPr/>
        </p:nvSpPr>
        <p:spPr>
          <a:xfrm>
            <a:off x="533400" y="761999"/>
            <a:ext cx="8229597"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Chuyển đổi kiểu dữ liệu</a:t>
            </a:r>
            <a:endParaRPr sz="2800">
              <a:solidFill>
                <a:schemeClr val="dk2"/>
              </a:solidFill>
              <a:latin typeface="Calibri"/>
              <a:ea typeface="Calibri"/>
              <a:cs typeface="Calibri"/>
              <a:sym typeface="Calibri"/>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String Conversion (Chuyển đổi kiểu dữ liệu sang string)</a:t>
            </a:r>
            <a:endParaRPr/>
          </a:p>
          <a:p>
            <a:pPr marL="0" marR="0" lvl="0" indent="0" algn="l" rtl="0">
              <a:spcBef>
                <a:spcPts val="0"/>
              </a:spcBef>
              <a:spcAft>
                <a:spcPts val="0"/>
              </a:spcAft>
              <a:buNone/>
            </a:pPr>
            <a:endParaRPr sz="24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Cách 3: Sử dụng toán tử </a:t>
            </a:r>
            <a:r>
              <a:rPr lang="en-US" sz="2400">
                <a:solidFill>
                  <a:srgbClr val="FF0000"/>
                </a:solidFill>
                <a:latin typeface="Calibri"/>
                <a:ea typeface="Calibri"/>
                <a:cs typeface="Calibri"/>
                <a:sym typeface="Calibri"/>
              </a:rPr>
              <a:t>+</a:t>
            </a:r>
            <a:endParaRPr/>
          </a:p>
        </p:txBody>
      </p:sp>
      <p:pic>
        <p:nvPicPr>
          <p:cNvPr id="989" name="Google Shape;989;p80"/>
          <p:cNvPicPr preferRelativeResize="0"/>
          <p:nvPr/>
        </p:nvPicPr>
        <p:blipFill rotWithShape="1">
          <a:blip r:embed="rId4">
            <a:alphaModFix/>
          </a:blip>
          <a:srcRect/>
          <a:stretch/>
        </p:blipFill>
        <p:spPr>
          <a:xfrm>
            <a:off x="533400" y="3188463"/>
            <a:ext cx="4781550" cy="2543175"/>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93"/>
        <p:cNvGrpSpPr/>
        <p:nvPr/>
      </p:nvGrpSpPr>
      <p:grpSpPr>
        <a:xfrm>
          <a:off x="0" y="0"/>
          <a:ext cx="0" cy="0"/>
          <a:chOff x="0" y="0"/>
          <a:chExt cx="0" cy="0"/>
        </a:xfrm>
      </p:grpSpPr>
      <p:sp>
        <p:nvSpPr>
          <p:cNvPr id="994" name="Google Shape;994;p81"/>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995" name="Google Shape;995;p81"/>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996" name="Google Shape;996;p81"/>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997" name="Google Shape;997;p8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8" name="Google Shape;998;p81"/>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999" name="Google Shape;999;p81"/>
          <p:cNvSpPr txBox="1"/>
          <p:nvPr/>
        </p:nvSpPr>
        <p:spPr>
          <a:xfrm>
            <a:off x="533400" y="761999"/>
            <a:ext cx="8229597" cy="35394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Chuyển đổi kiểu dữ liệu</a:t>
            </a:r>
            <a:endParaRPr sz="2800">
              <a:solidFill>
                <a:schemeClr val="dk2"/>
              </a:solidFill>
              <a:latin typeface="Calibri"/>
              <a:ea typeface="Calibri"/>
              <a:cs typeface="Calibri"/>
              <a:sym typeface="Calibri"/>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Number Conversion (Chuyển đổi kiểu dữ liệu sang number)</a:t>
            </a:r>
            <a:endParaRPr/>
          </a:p>
          <a:p>
            <a:pPr marL="0" marR="0" lvl="0" indent="0" algn="l" rtl="0">
              <a:spcBef>
                <a:spcPts val="0"/>
              </a:spcBef>
              <a:spcAft>
                <a:spcPts val="0"/>
              </a:spcAft>
              <a:buNone/>
            </a:pPr>
            <a:endParaRPr sz="24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Cách 1: </a:t>
            </a:r>
            <a:r>
              <a:rPr lang="en-US" sz="2400">
                <a:solidFill>
                  <a:srgbClr val="FF0000"/>
                </a:solidFill>
                <a:latin typeface="Calibri"/>
                <a:ea typeface="Calibri"/>
                <a:cs typeface="Calibri"/>
                <a:sym typeface="Calibri"/>
              </a:rPr>
              <a:t>Number()</a:t>
            </a:r>
            <a:endParaRPr/>
          </a:p>
          <a:p>
            <a:pPr marL="0" marR="0" lvl="0" indent="0" algn="l" rtl="0">
              <a:spcBef>
                <a:spcPts val="0"/>
              </a:spcBef>
              <a:spcAft>
                <a:spcPts val="0"/>
              </a:spcAft>
              <a:buNone/>
            </a:pPr>
            <a:endParaRPr sz="24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Cách 2: </a:t>
            </a:r>
            <a:r>
              <a:rPr lang="en-US" sz="2400">
                <a:solidFill>
                  <a:srgbClr val="FF0000"/>
                </a:solidFill>
                <a:latin typeface="Calibri"/>
                <a:ea typeface="Calibri"/>
                <a:cs typeface="Calibri"/>
                <a:sym typeface="Calibri"/>
              </a:rPr>
              <a:t>parseInt()</a:t>
            </a:r>
            <a:r>
              <a:rPr lang="en-US" sz="2400">
                <a:solidFill>
                  <a:schemeClr val="dk2"/>
                </a:solidFill>
                <a:latin typeface="Calibri"/>
                <a:ea typeface="Calibri"/>
                <a:cs typeface="Calibri"/>
                <a:sym typeface="Calibri"/>
              </a:rPr>
              <a:t>/</a:t>
            </a:r>
            <a:r>
              <a:rPr lang="en-US" sz="2400">
                <a:solidFill>
                  <a:srgbClr val="FF0000"/>
                </a:solidFill>
                <a:latin typeface="Calibri"/>
                <a:ea typeface="Calibri"/>
                <a:cs typeface="Calibri"/>
                <a:sym typeface="Calibri"/>
              </a:rPr>
              <a:t>parseFloat()</a:t>
            </a:r>
            <a:endParaRPr/>
          </a:p>
          <a:p>
            <a:pPr marL="0" marR="0" lvl="0" indent="0" algn="l" rtl="0">
              <a:spcBef>
                <a:spcPts val="0"/>
              </a:spcBef>
              <a:spcAft>
                <a:spcPts val="0"/>
              </a:spcAft>
              <a:buNone/>
            </a:pPr>
            <a:endParaRPr sz="24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Cách 3: sử dụng toán tử </a:t>
            </a:r>
            <a:r>
              <a:rPr lang="en-US" sz="2400">
                <a:solidFill>
                  <a:srgbClr val="FF0000"/>
                </a:solidFill>
                <a:latin typeface="Calibri"/>
                <a:ea typeface="Calibri"/>
                <a:cs typeface="Calibri"/>
                <a:sym typeface="Calibri"/>
              </a:rPr>
              <a:t>+</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03"/>
        <p:cNvGrpSpPr/>
        <p:nvPr/>
      </p:nvGrpSpPr>
      <p:grpSpPr>
        <a:xfrm>
          <a:off x="0" y="0"/>
          <a:ext cx="0" cy="0"/>
          <a:chOff x="0" y="0"/>
          <a:chExt cx="0" cy="0"/>
        </a:xfrm>
      </p:grpSpPr>
      <p:sp>
        <p:nvSpPr>
          <p:cNvPr id="1004" name="Google Shape;1004;p82"/>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005" name="Google Shape;1005;p82"/>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1006" name="Google Shape;1006;p82"/>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007" name="Google Shape;1007;p8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8" name="Google Shape;1008;p82"/>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009" name="Google Shape;1009;p82"/>
          <p:cNvSpPr txBox="1"/>
          <p:nvPr/>
        </p:nvSpPr>
        <p:spPr>
          <a:xfrm>
            <a:off x="533400" y="761999"/>
            <a:ext cx="8229597"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Chuyển đổi kiểu dữ liệu</a:t>
            </a:r>
            <a:endParaRPr sz="2800">
              <a:solidFill>
                <a:schemeClr val="dk2"/>
              </a:solidFill>
              <a:latin typeface="Calibri"/>
              <a:ea typeface="Calibri"/>
              <a:cs typeface="Calibri"/>
              <a:sym typeface="Calibri"/>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Number Conversion (Chuyển đổi kiểu dữ liệu sang number)</a:t>
            </a:r>
            <a:endParaRPr/>
          </a:p>
          <a:p>
            <a:pPr marL="0" marR="0" lvl="0" indent="0" algn="l" rtl="0">
              <a:spcBef>
                <a:spcPts val="0"/>
              </a:spcBef>
              <a:spcAft>
                <a:spcPts val="0"/>
              </a:spcAft>
              <a:buNone/>
            </a:pPr>
            <a:endParaRPr sz="24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Cách 1: Number()</a:t>
            </a:r>
            <a:endParaRPr sz="2400">
              <a:solidFill>
                <a:srgbClr val="FF0000"/>
              </a:solidFill>
              <a:latin typeface="Calibri"/>
              <a:ea typeface="Calibri"/>
              <a:cs typeface="Calibri"/>
              <a:sym typeface="Calibri"/>
            </a:endParaRPr>
          </a:p>
        </p:txBody>
      </p:sp>
      <p:pic>
        <p:nvPicPr>
          <p:cNvPr id="1010" name="Google Shape;1010;p82"/>
          <p:cNvPicPr preferRelativeResize="0"/>
          <p:nvPr/>
        </p:nvPicPr>
        <p:blipFill rotWithShape="1">
          <a:blip r:embed="rId4">
            <a:alphaModFix/>
          </a:blip>
          <a:srcRect/>
          <a:stretch/>
        </p:blipFill>
        <p:spPr>
          <a:xfrm>
            <a:off x="533400" y="3276600"/>
            <a:ext cx="7410450" cy="202882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14"/>
        <p:cNvGrpSpPr/>
        <p:nvPr/>
      </p:nvGrpSpPr>
      <p:grpSpPr>
        <a:xfrm>
          <a:off x="0" y="0"/>
          <a:ext cx="0" cy="0"/>
          <a:chOff x="0" y="0"/>
          <a:chExt cx="0" cy="0"/>
        </a:xfrm>
      </p:grpSpPr>
      <p:sp>
        <p:nvSpPr>
          <p:cNvPr id="1015" name="Google Shape;1015;p83"/>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016" name="Google Shape;1016;p83"/>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1017" name="Google Shape;1017;p83"/>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018" name="Google Shape;1018;p8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9" name="Google Shape;1019;p83"/>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020" name="Google Shape;1020;p83"/>
          <p:cNvSpPr txBox="1"/>
          <p:nvPr/>
        </p:nvSpPr>
        <p:spPr>
          <a:xfrm>
            <a:off x="533400" y="761999"/>
            <a:ext cx="8229597"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Chuyển đổi kiểu dữ liệu</a:t>
            </a:r>
            <a:endParaRPr sz="2800">
              <a:solidFill>
                <a:schemeClr val="dk2"/>
              </a:solidFill>
              <a:latin typeface="Calibri"/>
              <a:ea typeface="Calibri"/>
              <a:cs typeface="Calibri"/>
              <a:sym typeface="Calibri"/>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Number Conversion (Chuyển đổi kiểu dữ liệu sang number)</a:t>
            </a:r>
            <a:endParaRPr/>
          </a:p>
          <a:p>
            <a:pPr marL="0" marR="0" lvl="0" indent="0" algn="l" rtl="0">
              <a:spcBef>
                <a:spcPts val="0"/>
              </a:spcBef>
              <a:spcAft>
                <a:spcPts val="0"/>
              </a:spcAft>
              <a:buNone/>
            </a:pPr>
            <a:endParaRPr sz="24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Cách 1: Number()</a:t>
            </a:r>
            <a:endParaRPr sz="2400">
              <a:solidFill>
                <a:srgbClr val="FF0000"/>
              </a:solidFill>
              <a:latin typeface="Calibri"/>
              <a:ea typeface="Calibri"/>
              <a:cs typeface="Calibri"/>
              <a:sym typeface="Calibri"/>
            </a:endParaRPr>
          </a:p>
        </p:txBody>
      </p:sp>
      <p:sp>
        <p:nvSpPr>
          <p:cNvPr id="1021" name="Google Shape;1021;p83"/>
          <p:cNvSpPr txBox="1"/>
          <p:nvPr/>
        </p:nvSpPr>
        <p:spPr>
          <a:xfrm>
            <a:off x="609600" y="3200400"/>
            <a:ext cx="8153397"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2"/>
                </a:solidFill>
                <a:latin typeface="Calibri"/>
                <a:ea typeface="Calibri"/>
                <a:cs typeface="Calibri"/>
                <a:sym typeface="Calibri"/>
              </a:rPr>
              <a:t>Khi truyền vào Number() một string không phải toàn bộ là giá trị số thì sẽ trả về NaN: Not a number</a:t>
            </a:r>
            <a:endParaRPr/>
          </a:p>
        </p:txBody>
      </p:sp>
      <p:pic>
        <p:nvPicPr>
          <p:cNvPr id="1022" name="Google Shape;1022;p83"/>
          <p:cNvPicPr preferRelativeResize="0"/>
          <p:nvPr/>
        </p:nvPicPr>
        <p:blipFill rotWithShape="1">
          <a:blip r:embed="rId4">
            <a:alphaModFix/>
          </a:blip>
          <a:srcRect/>
          <a:stretch/>
        </p:blipFill>
        <p:spPr>
          <a:xfrm>
            <a:off x="609600" y="4572000"/>
            <a:ext cx="5286375" cy="847725"/>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26"/>
        <p:cNvGrpSpPr/>
        <p:nvPr/>
      </p:nvGrpSpPr>
      <p:grpSpPr>
        <a:xfrm>
          <a:off x="0" y="0"/>
          <a:ext cx="0" cy="0"/>
          <a:chOff x="0" y="0"/>
          <a:chExt cx="0" cy="0"/>
        </a:xfrm>
      </p:grpSpPr>
      <p:sp>
        <p:nvSpPr>
          <p:cNvPr id="1027" name="Google Shape;1027;p84"/>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028" name="Google Shape;1028;p84"/>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1029" name="Google Shape;1029;p84"/>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030" name="Google Shape;1030;p8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1" name="Google Shape;1031;p84"/>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032" name="Google Shape;1032;p84"/>
          <p:cNvSpPr txBox="1"/>
          <p:nvPr/>
        </p:nvSpPr>
        <p:spPr>
          <a:xfrm>
            <a:off x="533400" y="761999"/>
            <a:ext cx="8229597"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Chuyển đổi kiểu dữ liệu</a:t>
            </a:r>
            <a:endParaRPr sz="2800">
              <a:solidFill>
                <a:schemeClr val="dk2"/>
              </a:solidFill>
              <a:latin typeface="Calibri"/>
              <a:ea typeface="Calibri"/>
              <a:cs typeface="Calibri"/>
              <a:sym typeface="Calibri"/>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Number Conversion (Chuyển đổi kiểu dữ liệu sang number)</a:t>
            </a:r>
            <a:endParaRPr/>
          </a:p>
          <a:p>
            <a:pPr marL="0" marR="0" lvl="0" indent="0" algn="l" rtl="0">
              <a:spcBef>
                <a:spcPts val="0"/>
              </a:spcBef>
              <a:spcAft>
                <a:spcPts val="0"/>
              </a:spcAft>
              <a:buNone/>
            </a:pPr>
            <a:endParaRPr sz="24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Cách 2: parseInt()/parseFloat()</a:t>
            </a:r>
            <a:endParaRPr sz="2400">
              <a:solidFill>
                <a:srgbClr val="FF0000"/>
              </a:solidFill>
              <a:latin typeface="Calibri"/>
              <a:ea typeface="Calibri"/>
              <a:cs typeface="Calibri"/>
              <a:sym typeface="Calibri"/>
            </a:endParaRPr>
          </a:p>
        </p:txBody>
      </p:sp>
      <p:sp>
        <p:nvSpPr>
          <p:cNvPr id="1033" name="Google Shape;1033;p84"/>
          <p:cNvSpPr txBox="1"/>
          <p:nvPr/>
        </p:nvSpPr>
        <p:spPr>
          <a:xfrm>
            <a:off x="609600" y="3200400"/>
            <a:ext cx="8153397" cy="1938992"/>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parseInt() sẽ chuyển đổi kiểu string về kiểu number nhưng ở dạng số nguyên</a:t>
            </a:r>
            <a:endParaRPr sz="2400">
              <a:solidFill>
                <a:schemeClr val="dk2"/>
              </a:solidFill>
              <a:latin typeface="Calibri"/>
              <a:ea typeface="Calibri"/>
              <a:cs typeface="Calibri"/>
              <a:sym typeface="Calibri"/>
            </a:endParaRPr>
          </a:p>
          <a:p>
            <a:pPr marL="342900" marR="0" lvl="0" indent="-190500" algn="l" rtl="0">
              <a:spcBef>
                <a:spcPts val="0"/>
              </a:spcBef>
              <a:spcAft>
                <a:spcPts val="0"/>
              </a:spcAft>
              <a:buClr>
                <a:schemeClr val="dk1"/>
              </a:buClr>
              <a:buSzPts val="2400"/>
              <a:buFont typeface="Arial"/>
              <a:buNone/>
            </a:pPr>
            <a:endParaRPr sz="24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parseFloat() sẽ chuyển đổi kiểu string về kiểu number nhưng ở dạng số thực</a:t>
            </a:r>
            <a:endParaRPr sz="2400">
              <a:solidFill>
                <a:schemeClr val="dk2"/>
              </a:solidFill>
              <a:latin typeface="Calibri"/>
              <a:ea typeface="Calibri"/>
              <a:cs typeface="Calibri"/>
              <a:sym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37"/>
        <p:cNvGrpSpPr/>
        <p:nvPr/>
      </p:nvGrpSpPr>
      <p:grpSpPr>
        <a:xfrm>
          <a:off x="0" y="0"/>
          <a:ext cx="0" cy="0"/>
          <a:chOff x="0" y="0"/>
          <a:chExt cx="0" cy="0"/>
        </a:xfrm>
      </p:grpSpPr>
      <p:sp>
        <p:nvSpPr>
          <p:cNvPr id="1038" name="Google Shape;1038;p85"/>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039" name="Google Shape;1039;p85"/>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1040" name="Google Shape;1040;p85"/>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041" name="Google Shape;1041;p8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2" name="Google Shape;1042;p85"/>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043" name="Google Shape;1043;p85"/>
          <p:cNvSpPr txBox="1"/>
          <p:nvPr/>
        </p:nvSpPr>
        <p:spPr>
          <a:xfrm>
            <a:off x="533400" y="761999"/>
            <a:ext cx="8229597"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Chuyển đổi kiểu dữ liệu</a:t>
            </a:r>
            <a:endParaRPr sz="2800">
              <a:solidFill>
                <a:schemeClr val="dk2"/>
              </a:solidFill>
              <a:latin typeface="Calibri"/>
              <a:ea typeface="Calibri"/>
              <a:cs typeface="Calibri"/>
              <a:sym typeface="Calibri"/>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Number Conversion (Chuyển đổi kiểu dữ liệu sang number)</a:t>
            </a:r>
            <a:endParaRPr/>
          </a:p>
          <a:p>
            <a:pPr marL="0" marR="0" lvl="0" indent="0" algn="l" rtl="0">
              <a:spcBef>
                <a:spcPts val="0"/>
              </a:spcBef>
              <a:spcAft>
                <a:spcPts val="0"/>
              </a:spcAft>
              <a:buNone/>
            </a:pPr>
            <a:endParaRPr sz="24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Nếu string không thể chuyển thành number thì sẽ trả về NaN</a:t>
            </a:r>
            <a:endParaRPr sz="2400">
              <a:solidFill>
                <a:srgbClr val="FF0000"/>
              </a:solidFill>
              <a:latin typeface="Calibri"/>
              <a:ea typeface="Calibri"/>
              <a:cs typeface="Calibri"/>
              <a:sym typeface="Calibri"/>
            </a:endParaRPr>
          </a:p>
        </p:txBody>
      </p:sp>
      <p:pic>
        <p:nvPicPr>
          <p:cNvPr id="1044" name="Google Shape;1044;p85"/>
          <p:cNvPicPr preferRelativeResize="0"/>
          <p:nvPr/>
        </p:nvPicPr>
        <p:blipFill rotWithShape="1">
          <a:blip r:embed="rId4">
            <a:alphaModFix/>
          </a:blip>
          <a:srcRect/>
          <a:stretch/>
        </p:blipFill>
        <p:spPr>
          <a:xfrm>
            <a:off x="533400" y="3361344"/>
            <a:ext cx="3790950" cy="1885950"/>
          </a:xfrm>
          <a:prstGeom prst="rect">
            <a:avLst/>
          </a:prstGeom>
          <a:noFill/>
          <a:ln>
            <a:noFill/>
          </a:ln>
        </p:spPr>
      </p:pic>
      <p:pic>
        <p:nvPicPr>
          <p:cNvPr id="1045" name="Google Shape;1045;p85"/>
          <p:cNvPicPr preferRelativeResize="0"/>
          <p:nvPr/>
        </p:nvPicPr>
        <p:blipFill rotWithShape="1">
          <a:blip r:embed="rId5">
            <a:alphaModFix/>
          </a:blip>
          <a:srcRect/>
          <a:stretch/>
        </p:blipFill>
        <p:spPr>
          <a:xfrm>
            <a:off x="4572000" y="3361344"/>
            <a:ext cx="4086225" cy="2066925"/>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9"/>
        <p:cNvGrpSpPr/>
        <p:nvPr/>
      </p:nvGrpSpPr>
      <p:grpSpPr>
        <a:xfrm>
          <a:off x="0" y="0"/>
          <a:ext cx="0" cy="0"/>
          <a:chOff x="0" y="0"/>
          <a:chExt cx="0" cy="0"/>
        </a:xfrm>
      </p:grpSpPr>
      <p:sp>
        <p:nvSpPr>
          <p:cNvPr id="1050" name="Google Shape;1050;p86"/>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051" name="Google Shape;1051;p86"/>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1052" name="Google Shape;1052;p86"/>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053" name="Google Shape;1053;p8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4" name="Google Shape;1054;p86"/>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055" name="Google Shape;1055;p86"/>
          <p:cNvSpPr txBox="1"/>
          <p:nvPr/>
        </p:nvSpPr>
        <p:spPr>
          <a:xfrm>
            <a:off x="533400" y="761999"/>
            <a:ext cx="8229597"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Chuyển đổi kiểu dữ liệu</a:t>
            </a:r>
            <a:endParaRPr sz="2800">
              <a:solidFill>
                <a:schemeClr val="dk2"/>
              </a:solidFill>
              <a:latin typeface="Calibri"/>
              <a:ea typeface="Calibri"/>
              <a:cs typeface="Calibri"/>
              <a:sym typeface="Calibri"/>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Number Conversion (Chuyển đổi kiểu dữ liệu sang number)</a:t>
            </a:r>
            <a:endParaRPr/>
          </a:p>
          <a:p>
            <a:pPr marL="0" marR="0" lvl="0" indent="0" algn="l" rtl="0">
              <a:spcBef>
                <a:spcPts val="0"/>
              </a:spcBef>
              <a:spcAft>
                <a:spcPts val="0"/>
              </a:spcAft>
              <a:buNone/>
            </a:pPr>
            <a:endParaRPr sz="24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Cách 3: Sử dụng toán tử +</a:t>
            </a:r>
            <a:endParaRPr sz="2400">
              <a:solidFill>
                <a:srgbClr val="FF0000"/>
              </a:solidFill>
              <a:latin typeface="Calibri"/>
              <a:ea typeface="Calibri"/>
              <a:cs typeface="Calibri"/>
              <a:sym typeface="Calibri"/>
            </a:endParaRPr>
          </a:p>
        </p:txBody>
      </p:sp>
      <p:pic>
        <p:nvPicPr>
          <p:cNvPr id="1056" name="Google Shape;1056;p86"/>
          <p:cNvPicPr preferRelativeResize="0"/>
          <p:nvPr/>
        </p:nvPicPr>
        <p:blipFill rotWithShape="1">
          <a:blip r:embed="rId4">
            <a:alphaModFix/>
          </a:blip>
          <a:srcRect/>
          <a:stretch/>
        </p:blipFill>
        <p:spPr>
          <a:xfrm>
            <a:off x="533400" y="3124200"/>
            <a:ext cx="3000375" cy="1162050"/>
          </a:xfrm>
          <a:prstGeom prst="rect">
            <a:avLst/>
          </a:prstGeom>
          <a:noFill/>
          <a:ln>
            <a:noFill/>
          </a:ln>
        </p:spPr>
      </p:pic>
      <p:sp>
        <p:nvSpPr>
          <p:cNvPr id="1057" name="Google Shape;1057;p86"/>
          <p:cNvSpPr txBox="1"/>
          <p:nvPr/>
        </p:nvSpPr>
        <p:spPr>
          <a:xfrm>
            <a:off x="533400" y="4529405"/>
            <a:ext cx="8229597"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2"/>
                </a:solidFill>
                <a:latin typeface="Calibri"/>
                <a:ea typeface="Calibri"/>
                <a:cs typeface="Calibri"/>
                <a:sym typeface="Calibri"/>
              </a:rPr>
              <a:t>Ta thêm toán tử + vào trước giá trị thì JavaScript sẽ chuyển đổi về dạng number, tuy nhiên không thể sử dụng + như một phép toán. Ngoài ra khi sử dụng các toán tử -, *, /, %, ** thì JavaScript cũng sẽ cố gắng chuyển đổi kiểu về dạng number</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61"/>
        <p:cNvGrpSpPr/>
        <p:nvPr/>
      </p:nvGrpSpPr>
      <p:grpSpPr>
        <a:xfrm>
          <a:off x="0" y="0"/>
          <a:ext cx="0" cy="0"/>
          <a:chOff x="0" y="0"/>
          <a:chExt cx="0" cy="0"/>
        </a:xfrm>
      </p:grpSpPr>
      <p:sp>
        <p:nvSpPr>
          <p:cNvPr id="1062" name="Google Shape;1062;p88"/>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063" name="Google Shape;1063;p88"/>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1064" name="Google Shape;1064;p88"/>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065" name="Google Shape;1065;p8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6" name="Google Shape;1066;p88"/>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067" name="Google Shape;1067;p88"/>
          <p:cNvSpPr txBox="1"/>
          <p:nvPr/>
        </p:nvSpPr>
        <p:spPr>
          <a:xfrm>
            <a:off x="533400" y="761999"/>
            <a:ext cx="8229600" cy="501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Truthly &amp; Falsy Value</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Trong JavaScript một số giá trị được coi như dạng </a:t>
            </a:r>
            <a:r>
              <a:rPr lang="en-US" sz="2400">
                <a:solidFill>
                  <a:srgbClr val="FF0000"/>
                </a:solidFill>
                <a:latin typeface="Calibri"/>
                <a:ea typeface="Calibri"/>
                <a:cs typeface="Calibri"/>
                <a:sym typeface="Calibri"/>
              </a:rPr>
              <a:t>Boolean</a:t>
            </a:r>
            <a:r>
              <a:rPr lang="en-US" sz="2400">
                <a:solidFill>
                  <a:schemeClr val="dk2"/>
                </a:solidFill>
                <a:latin typeface="Calibri"/>
                <a:ea typeface="Calibri"/>
                <a:cs typeface="Calibri"/>
                <a:sym typeface="Calibri"/>
              </a:rPr>
              <a:t> (</a:t>
            </a:r>
            <a:r>
              <a:rPr lang="en-US" sz="2400">
                <a:solidFill>
                  <a:srgbClr val="FF0000"/>
                </a:solidFill>
                <a:latin typeface="Calibri"/>
                <a:ea typeface="Calibri"/>
                <a:cs typeface="Calibri"/>
                <a:sym typeface="Calibri"/>
              </a:rPr>
              <a:t>true</a:t>
            </a:r>
            <a:r>
              <a:rPr lang="en-US" sz="2400">
                <a:solidFill>
                  <a:schemeClr val="dk2"/>
                </a:solidFill>
                <a:latin typeface="Calibri"/>
                <a:ea typeface="Calibri"/>
                <a:cs typeface="Calibri"/>
                <a:sym typeface="Calibri"/>
              </a:rPr>
              <a:t> &amp; </a:t>
            </a:r>
            <a:r>
              <a:rPr lang="en-US" sz="2400">
                <a:solidFill>
                  <a:srgbClr val="FF0000"/>
                </a:solidFill>
                <a:latin typeface="Calibri"/>
                <a:ea typeface="Calibri"/>
                <a:cs typeface="Calibri"/>
                <a:sym typeface="Calibri"/>
              </a:rPr>
              <a:t>false</a:t>
            </a:r>
            <a:r>
              <a:rPr lang="en-US" sz="2400">
                <a:solidFill>
                  <a:schemeClr val="dk2"/>
                </a:solidFill>
                <a:latin typeface="Calibri"/>
                <a:ea typeface="Calibri"/>
                <a:cs typeface="Calibri"/>
                <a:sym typeface="Calibri"/>
              </a:rPr>
              <a:t>) khi sử dụng trong condition. Các giá trị sau được coi như tương ứng với giá trị </a:t>
            </a:r>
            <a:r>
              <a:rPr lang="en-US" sz="2400">
                <a:solidFill>
                  <a:srgbClr val="FF0000"/>
                </a:solidFill>
                <a:latin typeface="Calibri"/>
                <a:ea typeface="Calibri"/>
                <a:cs typeface="Calibri"/>
                <a:sym typeface="Calibri"/>
              </a:rPr>
              <a:t>false</a:t>
            </a:r>
            <a:r>
              <a:rPr lang="en-US" sz="2400">
                <a:solidFill>
                  <a:schemeClr val="dk2"/>
                </a:solidFill>
                <a:latin typeface="Calibri"/>
                <a:ea typeface="Calibri"/>
                <a:cs typeface="Calibri"/>
                <a:sym typeface="Calibri"/>
              </a:rPr>
              <a:t>:</a:t>
            </a:r>
            <a:endParaRPr/>
          </a:p>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false</a:t>
            </a:r>
            <a:endParaRPr/>
          </a:p>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0</a:t>
            </a:r>
            <a:endParaRPr/>
          </a:p>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-0</a:t>
            </a:r>
            <a:endParaRPr/>
          </a:p>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a:t>
            </a:r>
            <a:endParaRPr/>
          </a:p>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null</a:t>
            </a:r>
            <a:endParaRPr/>
          </a:p>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undefined</a:t>
            </a:r>
            <a:endParaRPr sz="2400">
              <a:solidFill>
                <a:schemeClr val="dk2"/>
              </a:solidFill>
              <a:latin typeface="Calibri"/>
              <a:ea typeface="Calibri"/>
              <a:cs typeface="Calibri"/>
              <a:sym typeface="Calibri"/>
            </a:endParaRPr>
          </a:p>
          <a:p>
            <a:pPr marL="342900" marR="0" lvl="0" indent="-342900" algn="l" rtl="0">
              <a:spcBef>
                <a:spcPts val="0"/>
              </a:spcBef>
              <a:spcAft>
                <a:spcPts val="0"/>
              </a:spcAft>
              <a:buClr>
                <a:schemeClr val="dk2"/>
              </a:buClr>
              <a:buSzPts val="2400"/>
              <a:buFont typeface="Arial"/>
              <a:buChar char="•"/>
            </a:pPr>
            <a:r>
              <a:rPr lang="en-US" sz="2400">
                <a:solidFill>
                  <a:schemeClr val="dk2"/>
                </a:solidFill>
                <a:latin typeface="Calibri"/>
                <a:ea typeface="Calibri"/>
                <a:cs typeface="Calibri"/>
                <a:sym typeface="Calibri"/>
              </a:rPr>
              <a:t>NaN</a:t>
            </a:r>
            <a:endParaRPr sz="24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Những giá trị khác thì tương ứng với giá trị </a:t>
            </a:r>
            <a:r>
              <a:rPr lang="en-US" sz="2400">
                <a:solidFill>
                  <a:srgbClr val="FF0000"/>
                </a:solidFill>
                <a:latin typeface="Calibri"/>
                <a:ea typeface="Calibri"/>
                <a:cs typeface="Calibri"/>
                <a:sym typeface="Calibri"/>
              </a:rPr>
              <a:t>true</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71"/>
        <p:cNvGrpSpPr/>
        <p:nvPr/>
      </p:nvGrpSpPr>
      <p:grpSpPr>
        <a:xfrm>
          <a:off x="0" y="0"/>
          <a:ext cx="0" cy="0"/>
          <a:chOff x="0" y="0"/>
          <a:chExt cx="0" cy="0"/>
        </a:xfrm>
      </p:grpSpPr>
      <p:sp>
        <p:nvSpPr>
          <p:cNvPr id="1072" name="Google Shape;1072;p89"/>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073" name="Google Shape;1073;p89"/>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1074" name="Google Shape;1074;p89"/>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075" name="Google Shape;1075;p8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6" name="Google Shape;1076;p89"/>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077" name="Google Shape;1077;p89"/>
          <p:cNvSpPr txBox="1"/>
          <p:nvPr/>
        </p:nvSpPr>
        <p:spPr>
          <a:xfrm>
            <a:off x="533400" y="761999"/>
            <a:ext cx="8229597"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Truthly &amp; Falsy Value</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Ví dụ:</a:t>
            </a:r>
            <a:endParaRPr sz="2400">
              <a:solidFill>
                <a:srgbClr val="FF0000"/>
              </a:solidFill>
              <a:latin typeface="Calibri"/>
              <a:ea typeface="Calibri"/>
              <a:cs typeface="Calibri"/>
              <a:sym typeface="Calibri"/>
            </a:endParaRPr>
          </a:p>
        </p:txBody>
      </p:sp>
      <p:pic>
        <p:nvPicPr>
          <p:cNvPr id="1078" name="Google Shape;1078;p89"/>
          <p:cNvPicPr preferRelativeResize="0"/>
          <p:nvPr/>
        </p:nvPicPr>
        <p:blipFill rotWithShape="1">
          <a:blip r:embed="rId4">
            <a:alphaModFix/>
          </a:blip>
          <a:srcRect/>
          <a:stretch/>
        </p:blipFill>
        <p:spPr>
          <a:xfrm>
            <a:off x="529981" y="2514600"/>
            <a:ext cx="6858000" cy="2695575"/>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2"/>
        <p:cNvGrpSpPr/>
        <p:nvPr/>
      </p:nvGrpSpPr>
      <p:grpSpPr>
        <a:xfrm>
          <a:off x="0" y="0"/>
          <a:ext cx="0" cy="0"/>
          <a:chOff x="0" y="0"/>
          <a:chExt cx="0" cy="0"/>
        </a:xfrm>
      </p:grpSpPr>
      <p:sp>
        <p:nvSpPr>
          <p:cNvPr id="1083" name="Google Shape;1083;p90"/>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084" name="Google Shape;1084;p90"/>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pic>
        <p:nvPicPr>
          <p:cNvPr id="1085" name="Google Shape;1085;p90"/>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086" name="Google Shape;1086;p9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7" name="Google Shape;1087;p90"/>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088" name="Google Shape;1088;p90"/>
          <p:cNvSpPr txBox="1"/>
          <p:nvPr/>
        </p:nvSpPr>
        <p:spPr>
          <a:xfrm>
            <a:off x="533400" y="761999"/>
            <a:ext cx="8229597"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Calibri"/>
                <a:ea typeface="Calibri"/>
                <a:cs typeface="Calibri"/>
                <a:sym typeface="Calibri"/>
              </a:rPr>
              <a:t>Truthly &amp; Falsy Value</a:t>
            </a:r>
            <a:endParaRPr/>
          </a:p>
          <a:p>
            <a:pPr marL="0" marR="0" lvl="0" indent="0" algn="l" rtl="0">
              <a:spcBef>
                <a:spcPts val="0"/>
              </a:spcBef>
              <a:spcAft>
                <a:spcPts val="0"/>
              </a:spcAft>
              <a:buNone/>
            </a:pPr>
            <a:endParaRPr sz="2800">
              <a:solidFill>
                <a:schemeClr val="dk2"/>
              </a:solidFill>
              <a:latin typeface="Calibri"/>
              <a:ea typeface="Calibri"/>
              <a:cs typeface="Calibri"/>
              <a:sym typeface="Calibri"/>
            </a:endParaRPr>
          </a:p>
          <a:p>
            <a:pPr marL="0" marR="0" lvl="0" indent="0" algn="l" rtl="0">
              <a:spcBef>
                <a:spcPts val="0"/>
              </a:spcBef>
              <a:spcAft>
                <a:spcPts val="0"/>
              </a:spcAft>
              <a:buNone/>
            </a:pPr>
            <a:r>
              <a:rPr lang="en-US" sz="2400">
                <a:solidFill>
                  <a:schemeClr val="dk2"/>
                </a:solidFill>
                <a:latin typeface="Calibri"/>
                <a:ea typeface="Calibri"/>
                <a:cs typeface="Calibri"/>
                <a:sym typeface="Calibri"/>
              </a:rPr>
              <a:t>Ví dụ:</a:t>
            </a:r>
            <a:endParaRPr sz="2400">
              <a:solidFill>
                <a:srgbClr val="FF0000"/>
              </a:solidFill>
              <a:latin typeface="Calibri"/>
              <a:ea typeface="Calibri"/>
              <a:cs typeface="Calibri"/>
              <a:sym typeface="Calibri"/>
            </a:endParaRPr>
          </a:p>
        </p:txBody>
      </p:sp>
      <p:pic>
        <p:nvPicPr>
          <p:cNvPr id="1089" name="Google Shape;1089;p90"/>
          <p:cNvPicPr preferRelativeResize="0"/>
          <p:nvPr/>
        </p:nvPicPr>
        <p:blipFill rotWithShape="1">
          <a:blip r:embed="rId4">
            <a:alphaModFix/>
          </a:blip>
          <a:srcRect/>
          <a:stretch/>
        </p:blipFill>
        <p:spPr>
          <a:xfrm>
            <a:off x="533400" y="2590800"/>
            <a:ext cx="5772150" cy="2524125"/>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sp>
        <p:nvSpPr>
          <p:cNvPr id="1094" name="Google Shape;1094;p91"/>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095" name="Google Shape;1095;p91"/>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1096" name="Google Shape;1096;p91"/>
          <p:cNvSpPr txBox="1">
            <a:spLocks noGrp="1"/>
          </p:cNvSpPr>
          <p:nvPr>
            <p:ph type="ctrTitle"/>
          </p:nvPr>
        </p:nvSpPr>
        <p:spPr>
          <a:xfrm>
            <a:off x="381000" y="762000"/>
            <a:ext cx="8382000" cy="3581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3999"/>
              </a:buClr>
              <a:buSzPts val="4400"/>
              <a:buFont typeface="Calibri"/>
              <a:buNone/>
            </a:pPr>
            <a:br>
              <a:rPr lang="en-US">
                <a:solidFill>
                  <a:srgbClr val="003999"/>
                </a:solidFill>
              </a:rPr>
            </a:br>
            <a:endParaRPr sz="4200">
              <a:solidFill>
                <a:schemeClr val="dk2"/>
              </a:solidFill>
              <a:latin typeface="Calibri"/>
              <a:ea typeface="Calibri"/>
              <a:cs typeface="Calibri"/>
              <a:sym typeface="Calibri"/>
            </a:endParaRPr>
          </a:p>
        </p:txBody>
      </p:sp>
      <p:pic>
        <p:nvPicPr>
          <p:cNvPr id="1097" name="Google Shape;1097;p91"/>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098" name="Google Shape;1098;p9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099" name="Google Shape;1099;p91"/>
          <p:cNvPicPr preferRelativeResize="0"/>
          <p:nvPr/>
        </p:nvPicPr>
        <p:blipFill rotWithShape="1">
          <a:blip r:embed="rId4">
            <a:alphaModFix/>
          </a:blip>
          <a:srcRect/>
          <a:stretch/>
        </p:blipFill>
        <p:spPr>
          <a:xfrm>
            <a:off x="1309686" y="762000"/>
            <a:ext cx="6829425" cy="48482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TotalTime>
  <Words>4791</Words>
  <Application>Microsoft Office PowerPoint</Application>
  <PresentationFormat>On-screen Show (4:3)</PresentationFormat>
  <Paragraphs>719</Paragraphs>
  <Slides>89</Slides>
  <Notes>89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89</vt:i4>
      </vt:variant>
    </vt:vector>
  </HeadingPairs>
  <TitlesOfParts>
    <vt:vector size="92" baseType="lpstr">
      <vt:lpstr>Arial</vt:lpstr>
      <vt:lpstr>Calibri</vt:lpstr>
      <vt:lpstr>Office Theme</vt:lpstr>
      <vt:lpstr> Bài 1.  Giới thiệu về Javascript</vt:lpstr>
      <vt:lpstr>Tổng quan về JavaScript Biến, kiểu dữ liệu, toán tử Khái niệm scope  Cấu trúc điều kiện, cấu trúc lặp Truthy và Falsy</vt:lpstr>
      <vt:lpstr>Javascript là gì?</vt:lpstr>
      <vt:lpstr>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GIAOVU</dc:creator>
  <cp:lastModifiedBy>Nguyen Thuy Linh 20225031</cp:lastModifiedBy>
  <cp:revision>2</cp:revision>
  <dcterms:created xsi:type="dcterms:W3CDTF">2021-03-05T02:20:42Z</dcterms:created>
  <dcterms:modified xsi:type="dcterms:W3CDTF">2025-09-20T07:15:34Z</dcterms:modified>
</cp:coreProperties>
</file>