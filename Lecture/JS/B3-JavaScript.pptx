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42" roundtripDataSignature="AMtx7mj3nDxgiDaqw7hiKFA7khaZKw7U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1dcd96f9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11dcd96f9f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3</a:t>
            </a:r>
            <a:r>
              <a:rPr b="1" lang="en-US">
                <a:solidFill>
                  <a:schemeClr val="dk2"/>
                </a:solidFill>
              </a:rPr>
              <a:t>. </a:t>
            </a:r>
            <a:br>
              <a:rPr b="1" lang="en-US">
                <a:solidFill>
                  <a:schemeClr val="dk2"/>
                </a:solidFill>
              </a:rPr>
            </a:br>
            <a:r>
              <a:rPr b="1" lang="en-US">
                <a:solidFill>
                  <a:schemeClr val="dk2"/>
                </a:solidFill>
              </a:rPr>
              <a:t>Mảng và xử lý mảng</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11dcd96f9fb_0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g11dcd96f9fb_0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50"/>
              </a:srgbClr>
            </a:outerShdw>
          </a:effectLst>
        </p:spPr>
      </p:cxnSp>
      <p:sp>
        <p:nvSpPr>
          <p:cNvPr id="94" name="Google Shape;94;g11dcd96f9fb_0_0"/>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406400" lvl="0" marL="457200" rtl="0" algn="l">
              <a:spcBef>
                <a:spcPts val="0"/>
              </a:spcBef>
              <a:spcAft>
                <a:spcPts val="0"/>
              </a:spcAft>
              <a:buClr>
                <a:schemeClr val="dk2"/>
              </a:buClr>
              <a:buSzPts val="2800"/>
              <a:buChar char="●"/>
            </a:pPr>
            <a:r>
              <a:rPr lang="en-US" sz="2800">
                <a:solidFill>
                  <a:schemeClr val="dk2"/>
                </a:solidFill>
              </a:rPr>
              <a:t>Context &amp; This</a:t>
            </a:r>
            <a:endParaRPr sz="2800">
              <a:solidFill>
                <a:schemeClr val="dk2"/>
              </a:solidFill>
            </a:endParaRPr>
          </a:p>
          <a:p>
            <a:pPr indent="-406400" lvl="0" marL="457200" rtl="0" algn="l">
              <a:spcBef>
                <a:spcPts val="0"/>
              </a:spcBef>
              <a:spcAft>
                <a:spcPts val="0"/>
              </a:spcAft>
              <a:buClr>
                <a:schemeClr val="dk2"/>
              </a:buClr>
              <a:buSzPts val="2800"/>
              <a:buChar char="●"/>
            </a:pPr>
            <a:r>
              <a:rPr lang="en-US" sz="2800">
                <a:solidFill>
                  <a:schemeClr val="dk2"/>
                </a:solidFill>
              </a:rPr>
              <a:t>Mảng là gì </a:t>
            </a:r>
            <a:endParaRPr sz="2800">
              <a:solidFill>
                <a:schemeClr val="dk2"/>
              </a:solidFill>
            </a:endParaRPr>
          </a:p>
          <a:p>
            <a:pPr indent="-406400" lvl="0" marL="457200" rtl="0" algn="l">
              <a:spcBef>
                <a:spcPts val="0"/>
              </a:spcBef>
              <a:spcAft>
                <a:spcPts val="0"/>
              </a:spcAft>
              <a:buClr>
                <a:schemeClr val="dk2"/>
              </a:buClr>
              <a:buSzPts val="2800"/>
              <a:buChar char="●"/>
            </a:pPr>
            <a:r>
              <a:rPr lang="en-US" sz="2800">
                <a:solidFill>
                  <a:schemeClr val="dk2"/>
                </a:solidFill>
              </a:rPr>
              <a:t>Các hàm làm việc với mảng trong ES6</a:t>
            </a:r>
            <a:endParaRPr sz="2800">
              <a:solidFill>
                <a:schemeClr val="dk2"/>
              </a:solidFill>
            </a:endParaRPr>
          </a:p>
        </p:txBody>
      </p:sp>
      <p:pic>
        <p:nvPicPr>
          <p:cNvPr id="95" name="Google Shape;95;g11dcd96f9fb_0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1" name="Google Shape;101;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02" name="Google Shape;102;p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03" name="Google Shape;103;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4" name="Google Shape;104;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2800" u="none" cap="none" strike="noStrike">
                <a:solidFill>
                  <a:schemeClr val="dk2"/>
                </a:solidFill>
                <a:latin typeface="Arial"/>
                <a:ea typeface="Arial"/>
                <a:cs typeface="Arial"/>
                <a:sym typeface="Arial"/>
              </a:rPr>
              <a:t>NỘI DUNG</a:t>
            </a:r>
            <a:endParaRPr/>
          </a:p>
        </p:txBody>
      </p:sp>
      <p:sp>
        <p:nvSpPr>
          <p:cNvPr id="106" name="Google Shape;106;p2"/>
          <p:cNvSpPr txBox="1"/>
          <p:nvPr/>
        </p:nvSpPr>
        <p:spPr>
          <a:xfrm>
            <a:off x="685800" y="1981200"/>
            <a:ext cx="79248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2"/>
                </a:solidFill>
                <a:latin typeface="Calibri"/>
                <a:ea typeface="Calibri"/>
                <a:cs typeface="Calibri"/>
                <a:sym typeface="Calibri"/>
              </a:rPr>
              <a:t>Định nghĩa:</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JavaScript context có thể hiểu cơ bản là ngữ cảnh. Ngữ cảnh chứa &amp; cung cấp thông tin về môi trường thực thi code.</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Trong JavaScript thì context dựa trên object. Đối với một object, thì từ khóa “this” sẽ cho phép truy cập đến các thuộc tính và phương thức trong object, lúc này “this” đại diện cho object đó.</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2" name="Google Shape;112;p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13" name="Google Shape;113;p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14" name="Google Shape;114;p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5" name="Google Shape;115;p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17" name="Google Shape;117;p3"/>
          <p:cNvSpPr txBox="1"/>
          <p:nvPr/>
        </p:nvSpPr>
        <p:spPr>
          <a:xfrm>
            <a:off x="685800" y="1981200"/>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Ví dụ:</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Khi một function thực thi trong phạm vi global context, từ khóa “this” đại diện cho global.</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Như trên browser -&gt; “this” trỏ đến object Window</a:t>
            </a:r>
            <a:endParaRPr/>
          </a:p>
        </p:txBody>
      </p:sp>
      <p:pic>
        <p:nvPicPr>
          <p:cNvPr id="118" name="Google Shape;118;p3"/>
          <p:cNvPicPr preferRelativeResize="0"/>
          <p:nvPr/>
        </p:nvPicPr>
        <p:blipFill rotWithShape="1">
          <a:blip r:embed="rId4">
            <a:alphaModFix/>
          </a:blip>
          <a:srcRect b="0" l="0" r="0" t="0"/>
          <a:stretch/>
        </p:blipFill>
        <p:spPr>
          <a:xfrm>
            <a:off x="609600" y="4230870"/>
            <a:ext cx="7668492" cy="1695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4" name="Google Shape;124;p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25" name="Google Shape;125;p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26" name="Google Shape;126;p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7" name="Google Shape;127;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29" name="Google Shape;129;p4"/>
          <p:cNvSpPr txBox="1"/>
          <p:nvPr/>
        </p:nvSpPr>
        <p:spPr>
          <a:xfrm>
            <a:off x="685800" y="1981200"/>
            <a:ext cx="79248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Ví dụ:</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Khi một function là phương thức của một Object, “this” trỏ đến Object đó</a:t>
            </a:r>
            <a:endParaRPr sz="2400">
              <a:solidFill>
                <a:schemeClr val="dk2"/>
              </a:solidFill>
              <a:latin typeface="Calibri"/>
              <a:ea typeface="Calibri"/>
              <a:cs typeface="Calibri"/>
              <a:sym typeface="Calibri"/>
            </a:endParaRPr>
          </a:p>
        </p:txBody>
      </p:sp>
      <p:pic>
        <p:nvPicPr>
          <p:cNvPr id="130" name="Google Shape;130;p4"/>
          <p:cNvPicPr preferRelativeResize="0"/>
          <p:nvPr/>
        </p:nvPicPr>
        <p:blipFill rotWithShape="1">
          <a:blip r:embed="rId4">
            <a:alphaModFix/>
          </a:blip>
          <a:srcRect b="0" l="0" r="0" t="0"/>
          <a:stretch/>
        </p:blipFill>
        <p:spPr>
          <a:xfrm>
            <a:off x="718794" y="3726040"/>
            <a:ext cx="5529606" cy="22392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6" name="Google Shape;136;p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37" name="Google Shape;137;p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38" name="Google Shape;138;p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9" name="Google Shape;139;p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41" name="Google Shape;141;p5"/>
          <p:cNvSpPr txBox="1"/>
          <p:nvPr/>
        </p:nvSpPr>
        <p:spPr>
          <a:xfrm>
            <a:off x="685800" y="1981200"/>
            <a:ext cx="79248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Ví dụ:</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Khi một function là phương thức của một Object, “this” trỏ đến Object đó</a:t>
            </a:r>
            <a:endParaRPr sz="2400">
              <a:solidFill>
                <a:schemeClr val="dk2"/>
              </a:solidFill>
              <a:latin typeface="Calibri"/>
              <a:ea typeface="Calibri"/>
              <a:cs typeface="Calibri"/>
              <a:sym typeface="Calibri"/>
            </a:endParaRPr>
          </a:p>
        </p:txBody>
      </p:sp>
      <p:pic>
        <p:nvPicPr>
          <p:cNvPr id="142" name="Google Shape;142;p5"/>
          <p:cNvPicPr preferRelativeResize="0"/>
          <p:nvPr/>
        </p:nvPicPr>
        <p:blipFill rotWithShape="1">
          <a:blip r:embed="rId4">
            <a:alphaModFix/>
          </a:blip>
          <a:srcRect b="0" l="0" r="0" t="0"/>
          <a:stretch/>
        </p:blipFill>
        <p:spPr>
          <a:xfrm>
            <a:off x="718794" y="3726040"/>
            <a:ext cx="5529606" cy="22392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8" name="Google Shape;148;p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49" name="Google Shape;149;p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50" name="Google Shape;150;p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51" name="Google Shape;151;p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53" name="Google Shape;153;p6"/>
          <p:cNvSpPr txBox="1"/>
          <p:nvPr/>
        </p:nvSpPr>
        <p:spPr>
          <a:xfrm>
            <a:off x="685800" y="1981200"/>
            <a:ext cx="7924800" cy="230832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“this” không phải là biến tĩnh.</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“this” sẽ phụ thuộc vào cách mà function được gọi</a:t>
            </a:r>
            <a:endParaRPr sz="2400">
              <a:solidFill>
                <a:schemeClr val="dk2"/>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giá trị của “this” chỉ được gán khi function thực sự được thực thi</a:t>
            </a:r>
            <a:endParaRPr sz="24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9" name="Google Shape;159;p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60" name="Google Shape;160;p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61" name="Google Shape;161;p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2" name="Google Shape;162;p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64" name="Google Shape;164;p7"/>
          <p:cNvSpPr txBox="1"/>
          <p:nvPr/>
        </p:nvSpPr>
        <p:spPr>
          <a:xfrm>
            <a:off x="685800" y="1981200"/>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“this” trong function của object (method – phương thức)</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this sẽ trỏ đến object lrandom vì function calcAge là phương thức của lrandom</a:t>
            </a:r>
            <a:endParaRPr sz="2400">
              <a:solidFill>
                <a:schemeClr val="dk2"/>
              </a:solidFill>
              <a:latin typeface="Calibri"/>
              <a:ea typeface="Calibri"/>
              <a:cs typeface="Calibri"/>
              <a:sym typeface="Calibri"/>
            </a:endParaRPr>
          </a:p>
        </p:txBody>
      </p:sp>
      <p:pic>
        <p:nvPicPr>
          <p:cNvPr id="165" name="Google Shape;165;p7"/>
          <p:cNvPicPr preferRelativeResize="0"/>
          <p:nvPr/>
        </p:nvPicPr>
        <p:blipFill rotWithShape="1">
          <a:blip r:embed="rId4">
            <a:alphaModFix/>
          </a:blip>
          <a:srcRect b="0" l="0" r="0" t="0"/>
          <a:stretch/>
        </p:blipFill>
        <p:spPr>
          <a:xfrm>
            <a:off x="685800" y="3429000"/>
            <a:ext cx="3724275" cy="2428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1" name="Google Shape;171;p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72" name="Google Shape;172;p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73" name="Google Shape;173;p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74" name="Google Shape;174;p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76" name="Google Shape;176;p8"/>
          <p:cNvSpPr txBox="1"/>
          <p:nvPr/>
        </p:nvSpPr>
        <p:spPr>
          <a:xfrm>
            <a:off x="685800" y="1981200"/>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“this” trong function giản đơn </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this = underfine nếu code JavaScrip đang chạy strict mode</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this = window nếu code JavaScript đang chạy với browser</a:t>
            </a:r>
            <a:endParaRPr/>
          </a:p>
        </p:txBody>
      </p:sp>
      <p:pic>
        <p:nvPicPr>
          <p:cNvPr id="177" name="Google Shape;177;p8"/>
          <p:cNvPicPr preferRelativeResize="0"/>
          <p:nvPr/>
        </p:nvPicPr>
        <p:blipFill rotWithShape="1">
          <a:blip r:embed="rId4">
            <a:alphaModFix/>
          </a:blip>
          <a:srcRect b="0" l="0" r="0" t="0"/>
          <a:stretch/>
        </p:blipFill>
        <p:spPr>
          <a:xfrm>
            <a:off x="685800" y="3601128"/>
            <a:ext cx="2971800" cy="1743075"/>
          </a:xfrm>
          <a:prstGeom prst="rect">
            <a:avLst/>
          </a:prstGeom>
          <a:noFill/>
          <a:ln>
            <a:noFill/>
          </a:ln>
        </p:spPr>
      </p:pic>
      <p:pic>
        <p:nvPicPr>
          <p:cNvPr id="178" name="Google Shape;178;p8"/>
          <p:cNvPicPr preferRelativeResize="0"/>
          <p:nvPr/>
        </p:nvPicPr>
        <p:blipFill rotWithShape="1">
          <a:blip r:embed="rId5">
            <a:alphaModFix/>
          </a:blip>
          <a:srcRect b="0" l="0" r="0" t="0"/>
          <a:stretch/>
        </p:blipFill>
        <p:spPr>
          <a:xfrm>
            <a:off x="4343400" y="3601128"/>
            <a:ext cx="3990975" cy="1504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4" name="Google Shape;184;p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85" name="Google Shape;185;p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86" name="Google Shape;186;p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7" name="Google Shape;187;p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89" name="Google Shape;189;p9"/>
          <p:cNvSpPr txBox="1"/>
          <p:nvPr/>
        </p:nvSpPr>
        <p:spPr>
          <a:xfrm>
            <a:off x="685800" y="1981200"/>
            <a:ext cx="377572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“this” trong arrow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Arrow function không có “this” mà this lúc này sẽ “this” của hàm bao nó.</a:t>
            </a:r>
            <a:endParaRPr/>
          </a:p>
        </p:txBody>
      </p:sp>
      <p:pic>
        <p:nvPicPr>
          <p:cNvPr id="190" name="Google Shape;190;p9"/>
          <p:cNvPicPr preferRelativeResize="0"/>
          <p:nvPr/>
        </p:nvPicPr>
        <p:blipFill rotWithShape="1">
          <a:blip r:embed="rId4">
            <a:alphaModFix/>
          </a:blip>
          <a:srcRect b="0" l="0" r="0" t="0"/>
          <a:stretch/>
        </p:blipFill>
        <p:spPr>
          <a:xfrm>
            <a:off x="4343400" y="2554893"/>
            <a:ext cx="4419597" cy="33926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6" name="Google Shape;196;p1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97" name="Google Shape;197;p1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198" name="Google Shape;198;p1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99" name="Google Shape;199;p1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01" name="Google Shape;201;p10"/>
          <p:cNvSpPr txBox="1"/>
          <p:nvPr/>
        </p:nvSpPr>
        <p:spPr>
          <a:xfrm>
            <a:off x="685799" y="1981200"/>
            <a:ext cx="807719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“this” trong arrow function:</a:t>
            </a:r>
            <a:endParaRPr/>
          </a:p>
        </p:txBody>
      </p:sp>
      <p:pic>
        <p:nvPicPr>
          <p:cNvPr id="202" name="Google Shape;202;p10"/>
          <p:cNvPicPr preferRelativeResize="0"/>
          <p:nvPr/>
        </p:nvPicPr>
        <p:blipFill rotWithShape="1">
          <a:blip r:embed="rId4">
            <a:alphaModFix/>
          </a:blip>
          <a:srcRect b="0" l="0" r="0" t="0"/>
          <a:stretch/>
        </p:blipFill>
        <p:spPr>
          <a:xfrm>
            <a:off x="782541" y="2497930"/>
            <a:ext cx="6591300" cy="3514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8" name="Google Shape;208;p1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09" name="Google Shape;209;p1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10" name="Google Shape;210;p1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11" name="Google Shape;211;p1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1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13" name="Google Shape;213;p11"/>
          <p:cNvSpPr txBox="1"/>
          <p:nvPr/>
        </p:nvSpPr>
        <p:spPr>
          <a:xfrm>
            <a:off x="685799" y="1981200"/>
            <a:ext cx="8077197"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.call()</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Với call(), chúng ta truyền “this” context vào tham số thứ nhất, các tham số tiếp theo sẽ được truyền vào như những tham số của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myFunc.call(thisContext, param1, param2, ... );</a:t>
            </a:r>
            <a:endParaRPr sz="2400">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9" name="Google Shape;219;p1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20" name="Google Shape;220;p1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21" name="Google Shape;221;p1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2" name="Google Shape;222;p1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24" name="Google Shape;224;p12"/>
          <p:cNvSpPr txBox="1"/>
          <p:nvPr/>
        </p:nvSpPr>
        <p:spPr>
          <a:xfrm>
            <a:off x="685799" y="1981200"/>
            <a:ext cx="8077197"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.call()</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Với call(), chúng ta truyền “this” context vào tham số thứ nhất, các tham số tiếp theo sẽ được truyền vào như những tham số của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myFunc.call(thisContext, param1, param2, ... );</a:t>
            </a:r>
            <a:endParaRPr sz="2400">
              <a:solidFill>
                <a:schemeClr val="dk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0" name="Google Shape;230;p1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31" name="Google Shape;231;p1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32" name="Google Shape;232;p1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3" name="Google Shape;233;p1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35" name="Google Shape;235;p13"/>
          <p:cNvSpPr txBox="1"/>
          <p:nvPr/>
        </p:nvSpPr>
        <p:spPr>
          <a:xfrm>
            <a:off x="685799" y="1981200"/>
            <a:ext cx="3505201"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.call()</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thisContext: Gía trị của this được đưa ra để gọi hàm.</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pram1, param2, …paramN: các tham số của hàm</a:t>
            </a:r>
            <a:endParaRPr sz="2400">
              <a:solidFill>
                <a:schemeClr val="dk2"/>
              </a:solidFill>
              <a:latin typeface="Calibri"/>
              <a:ea typeface="Calibri"/>
              <a:cs typeface="Calibri"/>
              <a:sym typeface="Calibri"/>
            </a:endParaRPr>
          </a:p>
        </p:txBody>
      </p:sp>
      <p:pic>
        <p:nvPicPr>
          <p:cNvPr id="236" name="Google Shape;236;p13"/>
          <p:cNvPicPr preferRelativeResize="0"/>
          <p:nvPr/>
        </p:nvPicPr>
        <p:blipFill rotWithShape="1">
          <a:blip r:embed="rId4">
            <a:alphaModFix/>
          </a:blip>
          <a:srcRect b="0" l="0" r="0" t="0"/>
          <a:stretch/>
        </p:blipFill>
        <p:spPr>
          <a:xfrm>
            <a:off x="4474451" y="2209800"/>
            <a:ext cx="4288546" cy="348138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2" name="Google Shape;242;p1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43" name="Google Shape;243;p1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44" name="Google Shape;244;p1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45" name="Google Shape;245;p1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1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47" name="Google Shape;247;p14"/>
          <p:cNvSpPr txBox="1"/>
          <p:nvPr/>
        </p:nvSpPr>
        <p:spPr>
          <a:xfrm>
            <a:off x="685799" y="1981200"/>
            <a:ext cx="807719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.apply()</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Với apply(), chúng ta truyền “this” context vào tham số thứ nhất, và các tham số được truyền vào dạng mảng</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myFunc. apply(thisContext, [paramArray]);</a:t>
            </a:r>
            <a:endParaRPr sz="2400">
              <a:solidFill>
                <a:schemeClr val="dk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3" name="Google Shape;253;p1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54" name="Google Shape;254;p1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55" name="Google Shape;255;p1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56" name="Google Shape;256;p1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58" name="Google Shape;258;p15"/>
          <p:cNvSpPr txBox="1"/>
          <p:nvPr/>
        </p:nvSpPr>
        <p:spPr>
          <a:xfrm>
            <a:off x="685799" y="1981200"/>
            <a:ext cx="8077198"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.apply()</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thisContext: Gía trị của this được đưa ra để gọi hàm.</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[paramArray]: tham số dạng array đưa vào hàm</a:t>
            </a:r>
            <a:endParaRPr sz="2400">
              <a:solidFill>
                <a:schemeClr val="dk2"/>
              </a:solidFill>
              <a:latin typeface="Calibri"/>
              <a:ea typeface="Calibri"/>
              <a:cs typeface="Calibri"/>
              <a:sym typeface="Calibri"/>
            </a:endParaRPr>
          </a:p>
        </p:txBody>
      </p:sp>
      <p:pic>
        <p:nvPicPr>
          <p:cNvPr id="259" name="Google Shape;259;p15"/>
          <p:cNvPicPr preferRelativeResize="0"/>
          <p:nvPr/>
        </p:nvPicPr>
        <p:blipFill rotWithShape="1">
          <a:blip r:embed="rId4">
            <a:alphaModFix/>
          </a:blip>
          <a:srcRect b="0" l="0" r="0" t="0"/>
          <a:stretch/>
        </p:blipFill>
        <p:spPr>
          <a:xfrm>
            <a:off x="690512" y="3723390"/>
            <a:ext cx="7400925" cy="2181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5" name="Google Shape;265;p1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66" name="Google Shape;266;p1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67" name="Google Shape;267;p1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68" name="Google Shape;268;p1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1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70" name="Google Shape;270;p16"/>
          <p:cNvSpPr txBox="1"/>
          <p:nvPr/>
        </p:nvSpPr>
        <p:spPr>
          <a:xfrm>
            <a:off x="685799" y="1981200"/>
            <a:ext cx="807719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.bind()</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Với bind(), được dùng để xác định tham số this cho một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newFunction = myFunc.bind(thisArg[, arg1[, arg2[,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6" name="Google Shape;276;p1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77" name="Google Shape;277;p1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78" name="Google Shape;278;p1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79" name="Google Shape;279;p1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81" name="Google Shape;281;p17"/>
          <p:cNvSpPr txBox="1"/>
          <p:nvPr/>
        </p:nvSpPr>
        <p:spPr>
          <a:xfrm>
            <a:off x="685799" y="1981200"/>
            <a:ext cx="807719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.bind()</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pic>
        <p:nvPicPr>
          <p:cNvPr id="282" name="Google Shape;282;p17"/>
          <p:cNvPicPr preferRelativeResize="0"/>
          <p:nvPr/>
        </p:nvPicPr>
        <p:blipFill rotWithShape="1">
          <a:blip r:embed="rId4">
            <a:alphaModFix/>
          </a:blip>
          <a:srcRect b="0" l="0" r="0" t="0"/>
          <a:stretch/>
        </p:blipFill>
        <p:spPr>
          <a:xfrm>
            <a:off x="685799" y="3011061"/>
            <a:ext cx="6029325" cy="2886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8" name="Google Shape;288;p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89" name="Google Shape;289;p1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Context &amp; “this”</a:t>
            </a:r>
            <a:endParaRPr/>
          </a:p>
        </p:txBody>
      </p:sp>
      <p:pic>
        <p:nvPicPr>
          <p:cNvPr id="290" name="Google Shape;290;p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91" name="Google Shape;291;p1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93" name="Google Shape;293;p18"/>
          <p:cNvSpPr txBox="1"/>
          <p:nvPr/>
        </p:nvSpPr>
        <p:spPr>
          <a:xfrm>
            <a:off x="685799" y="1981200"/>
            <a:ext cx="8077197"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Sự khác biệt giừa call(), apply(), bind():</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Nhìn chung call() và apply() là gần giống nhau. Đều sử dụng gọi hàm trực tiếp, chỉ khác ở cách truyền tham số.</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Hàm bind() thì hơi khác một chút. Hàm này không gọi hàm trực tiếp mà trả về một hàm mới, về cách truyền tham số giống như hàm call()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9" name="Google Shape;299;p1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00" name="Google Shape;300;p1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01" name="Google Shape;301;p1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02" name="Google Shape;302;p1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1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04" name="Google Shape;304;p19"/>
          <p:cNvSpPr txBox="1"/>
          <p:nvPr/>
        </p:nvSpPr>
        <p:spPr>
          <a:xfrm>
            <a:off x="685799" y="1981200"/>
            <a:ext cx="807719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Map()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map() trả về một mảng mới chứa các kết quả sau khi tính toán của mảng ban đầu.</a:t>
            </a:r>
            <a:endParaRPr/>
          </a:p>
        </p:txBody>
      </p:sp>
      <p:pic>
        <p:nvPicPr>
          <p:cNvPr id="305" name="Google Shape;305;p19"/>
          <p:cNvPicPr preferRelativeResize="0"/>
          <p:nvPr/>
        </p:nvPicPr>
        <p:blipFill rotWithShape="1">
          <a:blip r:embed="rId4">
            <a:alphaModFix/>
          </a:blip>
          <a:srcRect b="0" l="0" r="0" t="0"/>
          <a:stretch/>
        </p:blipFill>
        <p:spPr>
          <a:xfrm>
            <a:off x="609600" y="3825201"/>
            <a:ext cx="6967537" cy="1955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1" name="Google Shape;311;p2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12" name="Google Shape;312;p2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13" name="Google Shape;313;p2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14" name="Google Shape;314;p2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2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16" name="Google Shape;316;p20"/>
          <p:cNvSpPr txBox="1"/>
          <p:nvPr/>
        </p:nvSpPr>
        <p:spPr>
          <a:xfrm>
            <a:off x="685799" y="1981200"/>
            <a:ext cx="807719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Map()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map() trả về một mảng mới có cùng độ dài và chứa các kết quả sau khi tính toán của mảng ban đầu.</a:t>
            </a:r>
            <a:endParaRPr/>
          </a:p>
        </p:txBody>
      </p:sp>
      <p:pic>
        <p:nvPicPr>
          <p:cNvPr id="317" name="Google Shape;317;p20"/>
          <p:cNvPicPr preferRelativeResize="0"/>
          <p:nvPr/>
        </p:nvPicPr>
        <p:blipFill rotWithShape="1">
          <a:blip r:embed="rId4">
            <a:alphaModFix/>
          </a:blip>
          <a:srcRect b="0" l="0" r="0" t="0"/>
          <a:stretch/>
        </p:blipFill>
        <p:spPr>
          <a:xfrm>
            <a:off x="609600" y="3825201"/>
            <a:ext cx="6967537" cy="195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3" name="Google Shape;323;p2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24" name="Google Shape;324;p2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25" name="Google Shape;325;p2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26" name="Google Shape;326;p2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2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28" name="Google Shape;328;p21"/>
          <p:cNvSpPr txBox="1"/>
          <p:nvPr/>
        </p:nvSpPr>
        <p:spPr>
          <a:xfrm>
            <a:off x="685799" y="1981200"/>
            <a:ext cx="807719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Map()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Tham số của map() là một function và có return</a:t>
            </a:r>
            <a:endParaRPr/>
          </a:p>
        </p:txBody>
      </p:sp>
      <p:pic>
        <p:nvPicPr>
          <p:cNvPr id="329" name="Google Shape;329;p21"/>
          <p:cNvPicPr preferRelativeResize="0"/>
          <p:nvPr/>
        </p:nvPicPr>
        <p:blipFill rotWithShape="1">
          <a:blip r:embed="rId4">
            <a:alphaModFix/>
          </a:blip>
          <a:srcRect b="0" l="0" r="0" t="0"/>
          <a:stretch/>
        </p:blipFill>
        <p:spPr>
          <a:xfrm>
            <a:off x="609600" y="3638636"/>
            <a:ext cx="6966670" cy="158370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35" name="Google Shape;335;p2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36" name="Google Shape;336;p2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37" name="Google Shape;337;p2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38" name="Google Shape;338;p2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 name="Google Shape;339;p2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40" name="Google Shape;340;p22"/>
          <p:cNvSpPr txBox="1"/>
          <p:nvPr/>
        </p:nvSpPr>
        <p:spPr>
          <a:xfrm>
            <a:off x="685799" y="1981200"/>
            <a:ext cx="807719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Map()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Tham số của map() là một function và có return</a:t>
            </a:r>
            <a:endParaRPr/>
          </a:p>
        </p:txBody>
      </p:sp>
      <p:pic>
        <p:nvPicPr>
          <p:cNvPr id="341" name="Google Shape;341;p22"/>
          <p:cNvPicPr preferRelativeResize="0"/>
          <p:nvPr/>
        </p:nvPicPr>
        <p:blipFill rotWithShape="1">
          <a:blip r:embed="rId4">
            <a:alphaModFix/>
          </a:blip>
          <a:srcRect b="0" l="0" r="0" t="0"/>
          <a:stretch/>
        </p:blipFill>
        <p:spPr>
          <a:xfrm>
            <a:off x="685799" y="3440680"/>
            <a:ext cx="8119196" cy="184819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47" name="Google Shape;347;p2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48" name="Google Shape;348;p2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49" name="Google Shape;349;p2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50" name="Google Shape;350;p2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 name="Google Shape;351;p2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52" name="Google Shape;352;p23"/>
          <p:cNvSpPr txBox="1"/>
          <p:nvPr/>
        </p:nvSpPr>
        <p:spPr>
          <a:xfrm>
            <a:off x="685799" y="1981200"/>
            <a:ext cx="807719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Filter()</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Trả về một mảng có độ dài nhỏ hơn hoặc bằng mảng gốc và chứa các phần tử của mảng gốc thỏa mãn điều kiện nào đó.</a:t>
            </a:r>
            <a:endParaRPr/>
          </a:p>
        </p:txBody>
      </p:sp>
      <p:pic>
        <p:nvPicPr>
          <p:cNvPr id="353" name="Google Shape;353;p23"/>
          <p:cNvPicPr preferRelativeResize="0"/>
          <p:nvPr/>
        </p:nvPicPr>
        <p:blipFill rotWithShape="1">
          <a:blip r:embed="rId4">
            <a:alphaModFix/>
          </a:blip>
          <a:srcRect b="0" l="0" r="0" t="0"/>
          <a:stretch/>
        </p:blipFill>
        <p:spPr>
          <a:xfrm>
            <a:off x="685799" y="3731833"/>
            <a:ext cx="7720012" cy="225355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9" name="Google Shape;359;p2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60" name="Google Shape;360;p2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61" name="Google Shape;361;p2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62" name="Google Shape;362;p2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p2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64" name="Google Shape;364;p24"/>
          <p:cNvSpPr txBox="1"/>
          <p:nvPr/>
        </p:nvSpPr>
        <p:spPr>
          <a:xfrm>
            <a:off x="685799" y="1981200"/>
            <a:ext cx="807719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Filter()</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Tham số của filter() là một function và có return về giá trị Boolean.</a:t>
            </a:r>
            <a:endParaRPr/>
          </a:p>
        </p:txBody>
      </p:sp>
      <p:pic>
        <p:nvPicPr>
          <p:cNvPr id="365" name="Google Shape;365;p24"/>
          <p:cNvPicPr preferRelativeResize="0"/>
          <p:nvPr/>
        </p:nvPicPr>
        <p:blipFill rotWithShape="1">
          <a:blip r:embed="rId4">
            <a:alphaModFix/>
          </a:blip>
          <a:srcRect b="0" l="0" r="0" t="0"/>
          <a:stretch/>
        </p:blipFill>
        <p:spPr>
          <a:xfrm>
            <a:off x="685799" y="3731833"/>
            <a:ext cx="7720012" cy="225355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1" name="Google Shape;371;p2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72" name="Google Shape;372;p2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73" name="Google Shape;373;p2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74" name="Google Shape;374;p2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2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76" name="Google Shape;376;p25"/>
          <p:cNvSpPr txBox="1"/>
          <p:nvPr/>
        </p:nvSpPr>
        <p:spPr>
          <a:xfrm>
            <a:off x="685799" y="1981200"/>
            <a:ext cx="807719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Filter()</a:t>
            </a:r>
            <a:endParaRPr/>
          </a:p>
        </p:txBody>
      </p:sp>
      <p:pic>
        <p:nvPicPr>
          <p:cNvPr id="377" name="Google Shape;377;p25"/>
          <p:cNvPicPr preferRelativeResize="0"/>
          <p:nvPr/>
        </p:nvPicPr>
        <p:blipFill rotWithShape="1">
          <a:blip r:embed="rId4">
            <a:alphaModFix/>
          </a:blip>
          <a:srcRect b="0" l="0" r="0" t="0"/>
          <a:stretch/>
        </p:blipFill>
        <p:spPr>
          <a:xfrm>
            <a:off x="609600" y="2688516"/>
            <a:ext cx="7134225" cy="32251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83" name="Google Shape;383;p2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84" name="Google Shape;384;p2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85" name="Google Shape;385;p2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86" name="Google Shape;386;p2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2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88" name="Google Shape;388;p26"/>
          <p:cNvSpPr txBox="1"/>
          <p:nvPr/>
        </p:nvSpPr>
        <p:spPr>
          <a:xfrm>
            <a:off x="685799" y="1981200"/>
            <a:ext cx="807719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Reduce()</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reduce() trả về một giá trị duy nhất sau khi tính toán các giá trị trên mảng gốc</a:t>
            </a:r>
            <a:endParaRPr sz="2400">
              <a:solidFill>
                <a:schemeClr val="dk2"/>
              </a:solidFill>
              <a:latin typeface="Calibri"/>
              <a:ea typeface="Calibri"/>
              <a:cs typeface="Calibri"/>
              <a:sym typeface="Calibri"/>
            </a:endParaRPr>
          </a:p>
        </p:txBody>
      </p:sp>
      <p:pic>
        <p:nvPicPr>
          <p:cNvPr id="389" name="Google Shape;389;p26"/>
          <p:cNvPicPr preferRelativeResize="0"/>
          <p:nvPr/>
        </p:nvPicPr>
        <p:blipFill rotWithShape="1">
          <a:blip r:embed="rId4">
            <a:alphaModFix/>
          </a:blip>
          <a:srcRect b="0" l="0" r="0" t="0"/>
          <a:stretch/>
        </p:blipFill>
        <p:spPr>
          <a:xfrm>
            <a:off x="685799" y="3344140"/>
            <a:ext cx="5004571" cy="248744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95" name="Google Shape;395;p2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96" name="Google Shape;396;p2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397" name="Google Shape;397;p2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98" name="Google Shape;398;p2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9" name="Google Shape;399;p2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00" name="Google Shape;400;p27"/>
          <p:cNvSpPr txBox="1"/>
          <p:nvPr/>
        </p:nvSpPr>
        <p:spPr>
          <a:xfrm>
            <a:off x="685799" y="1981200"/>
            <a:ext cx="8077197"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Điểm mạnh khi sử dụng map, filter, reduce:</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Làm việc trực tiếp với mảng thay vì truy cập từng phần tử</a:t>
            </a:r>
            <a:endParaRPr sz="2400">
              <a:solidFill>
                <a:schemeClr val="dk2"/>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Không cần quản lý vòng lặp</a:t>
            </a:r>
            <a:endParaRPr sz="2400">
              <a:solidFill>
                <a:schemeClr val="dk2"/>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Không thay đổi mảng ban đầu, do đó giảm thiểu bug</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Không phải tạo mảng mới rồi đưa nội dung vào nó</a:t>
            </a:r>
            <a:endParaRPr sz="2400">
              <a:solidFill>
                <a:schemeClr val="dk2"/>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06" name="Google Shape;406;p2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07" name="Google Shape;407;p2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08" name="Google Shape;408;p2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09" name="Google Shape;409;p2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2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11" name="Google Shape;411;p28"/>
          <p:cNvSpPr txBox="1"/>
          <p:nvPr/>
        </p:nvSpPr>
        <p:spPr>
          <a:xfrm>
            <a:off x="685799" y="1981200"/>
            <a:ext cx="8077197"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flat()</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Trả về mảng mới với các phần tử của mảng con nằm trong nó</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var newArray = arr.flat(depth)</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depth là mức độ bạn muốn làm phẳng, và mặc định là 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17" name="Google Shape;417;p2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18" name="Google Shape;418;p2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19" name="Google Shape;419;p2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20" name="Google Shape;420;p2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2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22" name="Google Shape;422;p29"/>
          <p:cNvSpPr txBox="1"/>
          <p:nvPr/>
        </p:nvSpPr>
        <p:spPr>
          <a:xfrm>
            <a:off x="685799" y="1981200"/>
            <a:ext cx="807719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flat()</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depth ở đây là Infinity (không giới hạn), hãy thử ví dụ sau với giá trị depth khác nhau (1,2,vv)</a:t>
            </a:r>
            <a:endParaRPr/>
          </a:p>
        </p:txBody>
      </p:sp>
      <p:pic>
        <p:nvPicPr>
          <p:cNvPr id="423" name="Google Shape;423;p29"/>
          <p:cNvPicPr preferRelativeResize="0"/>
          <p:nvPr/>
        </p:nvPicPr>
        <p:blipFill rotWithShape="1">
          <a:blip r:embed="rId4">
            <a:alphaModFix/>
          </a:blip>
          <a:srcRect b="0" l="0" r="0" t="0"/>
          <a:stretch/>
        </p:blipFill>
        <p:spPr>
          <a:xfrm>
            <a:off x="685799" y="4143054"/>
            <a:ext cx="6429375" cy="809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29" name="Google Shape;429;p3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30" name="Google Shape;430;p3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31" name="Google Shape;431;p3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32" name="Google Shape;432;p3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3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34" name="Google Shape;434;p30"/>
          <p:cNvSpPr txBox="1"/>
          <p:nvPr/>
        </p:nvSpPr>
        <p:spPr>
          <a:xfrm>
            <a:off x="685799" y="1981200"/>
            <a:ext cx="3581401"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Rest parameters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Là tính năng cho phép khai báo một hàm với số lượng tham số không xác định</a:t>
            </a:r>
            <a:endParaRPr sz="2400">
              <a:solidFill>
                <a:schemeClr val="dk2"/>
              </a:solidFill>
              <a:latin typeface="Calibri"/>
              <a:ea typeface="Calibri"/>
              <a:cs typeface="Calibri"/>
              <a:sym typeface="Calibri"/>
            </a:endParaRPr>
          </a:p>
        </p:txBody>
      </p:sp>
      <p:pic>
        <p:nvPicPr>
          <p:cNvPr id="435" name="Google Shape;435;p30"/>
          <p:cNvPicPr preferRelativeResize="0"/>
          <p:nvPr/>
        </p:nvPicPr>
        <p:blipFill rotWithShape="1">
          <a:blip r:embed="rId4">
            <a:alphaModFix/>
          </a:blip>
          <a:srcRect b="0" l="0" r="0" t="0"/>
          <a:stretch/>
        </p:blipFill>
        <p:spPr>
          <a:xfrm>
            <a:off x="4266414" y="2750999"/>
            <a:ext cx="4643437" cy="31817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41" name="Google Shape;441;p3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42" name="Google Shape;442;p3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43" name="Google Shape;443;p3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44" name="Google Shape;444;p3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3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46" name="Google Shape;446;p31"/>
          <p:cNvSpPr txBox="1"/>
          <p:nvPr/>
        </p:nvSpPr>
        <p:spPr>
          <a:xfrm>
            <a:off x="685799" y="1981200"/>
            <a:ext cx="7848601"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Spread operator (…)</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Spread operator cho phép duyệt qua các phần tử và truyền vào phương thức các đối số</a:t>
            </a:r>
            <a:endParaRPr sz="2400">
              <a:solidFill>
                <a:schemeClr val="dk2"/>
              </a:solidFill>
              <a:latin typeface="Calibri"/>
              <a:ea typeface="Calibri"/>
              <a:cs typeface="Calibri"/>
              <a:sym typeface="Calibri"/>
            </a:endParaRPr>
          </a:p>
        </p:txBody>
      </p:sp>
      <p:pic>
        <p:nvPicPr>
          <p:cNvPr id="447" name="Google Shape;447;p31"/>
          <p:cNvPicPr preferRelativeResize="0"/>
          <p:nvPr/>
        </p:nvPicPr>
        <p:blipFill rotWithShape="1">
          <a:blip r:embed="rId4">
            <a:alphaModFix/>
          </a:blip>
          <a:srcRect b="0" l="0" r="0" t="0"/>
          <a:stretch/>
        </p:blipFill>
        <p:spPr>
          <a:xfrm>
            <a:off x="688941" y="3613085"/>
            <a:ext cx="5810250" cy="2362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53" name="Google Shape;453;p3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54" name="Google Shape;454;p3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55" name="Google Shape;455;p3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56" name="Google Shape;456;p3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7" name="Google Shape;457;p3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58" name="Google Shape;458;p32"/>
          <p:cNvSpPr txBox="1"/>
          <p:nvPr/>
        </p:nvSpPr>
        <p:spPr>
          <a:xfrm>
            <a:off x="685799" y="1981200"/>
            <a:ext cx="784860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Spread operator (…)</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pic>
        <p:nvPicPr>
          <p:cNvPr id="459" name="Google Shape;459;p32"/>
          <p:cNvPicPr preferRelativeResize="0"/>
          <p:nvPr/>
        </p:nvPicPr>
        <p:blipFill rotWithShape="1">
          <a:blip r:embed="rId4">
            <a:alphaModFix/>
          </a:blip>
          <a:srcRect b="0" l="0" r="0" t="0"/>
          <a:stretch/>
        </p:blipFill>
        <p:spPr>
          <a:xfrm>
            <a:off x="694932" y="2845654"/>
            <a:ext cx="5514975" cy="2400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65" name="Google Shape;465;p3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66" name="Google Shape;466;p3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67" name="Google Shape;467;p3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68" name="Google Shape;468;p3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3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70" name="Google Shape;470;p33"/>
          <p:cNvSpPr txBox="1"/>
          <p:nvPr/>
        </p:nvSpPr>
        <p:spPr>
          <a:xfrm>
            <a:off x="685799" y="1981200"/>
            <a:ext cx="7848601"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Chaining method</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Là một kỹ thuật gọi liên tiếp các hàm trên cùng một đối tượng. Nó sẽ gọi một chuỗi các hàm trên một câu lệnh duy nhất.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76" name="Google Shape;476;p3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77" name="Google Shape;477;p3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Làm việc với Array</a:t>
            </a:r>
            <a:endParaRPr/>
          </a:p>
        </p:txBody>
      </p:sp>
      <p:pic>
        <p:nvPicPr>
          <p:cNvPr id="478" name="Google Shape;478;p3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79" name="Google Shape;479;p3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0" name="Google Shape;480;p3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81" name="Google Shape;481;p34"/>
          <p:cNvSpPr txBox="1"/>
          <p:nvPr/>
        </p:nvSpPr>
        <p:spPr>
          <a:xfrm>
            <a:off x="685799" y="1981200"/>
            <a:ext cx="434340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Ví dụ về chaining method</a:t>
            </a:r>
            <a:endParaRPr/>
          </a:p>
        </p:txBody>
      </p:sp>
      <p:pic>
        <p:nvPicPr>
          <p:cNvPr id="482" name="Google Shape;482;p34"/>
          <p:cNvPicPr preferRelativeResize="0"/>
          <p:nvPr/>
        </p:nvPicPr>
        <p:blipFill rotWithShape="1">
          <a:blip r:embed="rId4">
            <a:alphaModFix/>
          </a:blip>
          <a:srcRect b="0" l="0" r="0" t="0"/>
          <a:stretch/>
        </p:blipFill>
        <p:spPr>
          <a:xfrm>
            <a:off x="5334000" y="1369214"/>
            <a:ext cx="3296964" cy="460423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88" name="Google Shape;488;p3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89" name="Google Shape;489;p35"/>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490" name="Google Shape;490;p3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91" name="Google Shape;491;p3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92" name="Google Shape;492;p35"/>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