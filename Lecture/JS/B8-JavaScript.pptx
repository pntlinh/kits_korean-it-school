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43" roundtripDataSignature="AMtx7mgKw+3cv7JKkdVXIjl8BwSaY0T5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6CC801-A3FA-4936-8534-4DCC2C097875}">
  <a:tblStyle styleId="{4C6CC801-A3FA-4936-8534-4DCC2C09787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1d3f5852f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g11d3f5852f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d3f5852fb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g11d3f5852fb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1d3f5852f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11d3f5852fb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1d3f5852fb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11d3f5852fb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1a1fa9330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11a1fa9330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a1fa9330f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11a1fa9330f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a1fa9330f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g11a1fa9330f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a1fa9330f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g11a1fa9330f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1a1fa9330f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g11a1fa9330f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a1fa9330f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g11a1fa9330f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a1fa9330f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g11a1fa9330f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1a1fa9330f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11a1fa9330f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1a1fa9330f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11a1fa9330f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1a1fa9330f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g11a1fa9330f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1a1fa9330f_0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11a1fa9330f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1a1fa9330f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g11a1fa9330f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1a1fa9330f_0_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g11a1fa9330f_0_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1a1fa9330f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11a1fa9330f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a1fa9330f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11a1fa9330f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1a1fa9330f_0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g11a1fa9330f_0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1a1fa9330f_0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g11a1fa9330f_0_2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a1fa9330f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g11a1fa9330f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1a1fa9330f_0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g11a1fa9330f_0_2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1a1fa9330f_0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g11a1fa9330f_0_2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a1fa9330f_0_2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g11a1fa9330f_0_2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1a1fa9330f_0_2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g11a1fa9330f_0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1a1fa9330f_0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7" name="Google Shape;367;g11a1fa9330f_0_2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1a1fa9330f_0_3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7" name="Google Shape;377;g11a1fa9330f_0_3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1a1fa9330f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g11a1fa9330f_0_3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1a1fa9330f_0_3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g11a1fa9330f_0_3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1a1fa9330f_0_3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6" name="Google Shape;416;g11a1fa9330f_0_3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1a1fa9330f_0_3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g11a1fa9330f_0_3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1a1fa9330f_0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6" name="Google Shape;436;g11a1fa9330f_0_3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9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9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9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9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9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9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9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9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0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1"/>
          <p:cNvSpPr/>
          <p:nvPr>
            <p:ph idx="2" type="pic"/>
          </p:nvPr>
        </p:nvSpPr>
        <p:spPr>
          <a:xfrm>
            <a:off x="1792288" y="612775"/>
            <a:ext cx="5486400" cy="4114800"/>
          </a:xfrm>
          <a:prstGeom prst="rect">
            <a:avLst/>
          </a:prstGeom>
          <a:noFill/>
          <a:ln>
            <a:noFill/>
          </a:ln>
        </p:spPr>
      </p:sp>
      <p:sp>
        <p:nvSpPr>
          <p:cNvPr id="64" name="Google Shape;64;p10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0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9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sp>
        <p:nvSpPr>
          <p:cNvPr id="86" name="Google Shape;86;p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r>
              <a:rPr b="1" lang="en-US">
                <a:solidFill>
                  <a:schemeClr val="dk2"/>
                </a:solidFill>
                <a:latin typeface="Calibri"/>
                <a:ea typeface="Calibri"/>
                <a:cs typeface="Calibri"/>
                <a:sym typeface="Calibri"/>
              </a:rPr>
              <a:t>Bài </a:t>
            </a:r>
            <a:r>
              <a:rPr b="1" lang="en-US">
                <a:solidFill>
                  <a:schemeClr val="dk2"/>
                </a:solidFill>
              </a:rPr>
              <a:t>8</a:t>
            </a:r>
            <a:r>
              <a:rPr b="1" lang="en-US">
                <a:solidFill>
                  <a:schemeClr val="dk2"/>
                </a:solidFill>
              </a:rPr>
              <a:t>. </a:t>
            </a:r>
            <a:endParaRPr b="1">
              <a:solidFill>
                <a:schemeClr val="dk2"/>
              </a:solidFill>
            </a:endParaRPr>
          </a:p>
          <a:p>
            <a:pPr indent="0" lvl="0" marL="0" rtl="0" algn="ctr">
              <a:lnSpc>
                <a:spcPct val="100000"/>
              </a:lnSpc>
              <a:spcBef>
                <a:spcPts val="0"/>
              </a:spcBef>
              <a:spcAft>
                <a:spcPts val="0"/>
              </a:spcAft>
              <a:buClr>
                <a:srgbClr val="003999"/>
              </a:buClr>
              <a:buSzPts val="4400"/>
              <a:buFont typeface="Calibri"/>
              <a:buNone/>
            </a:pPr>
            <a:r>
              <a:rPr b="1" lang="en-US">
                <a:solidFill>
                  <a:schemeClr val="dk2"/>
                </a:solidFill>
              </a:rPr>
              <a:t>Modern Javascript Development</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p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pic>
        <p:nvPicPr>
          <p:cNvPr id="94" name="Google Shape;94;p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95" name="Google Shape;95;p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2"/>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Arial"/>
                <a:ea typeface="Arial"/>
                <a:cs typeface="Arial"/>
                <a:sym typeface="Arial"/>
              </a:rPr>
              <a:t>Tổng quan</a:t>
            </a:r>
            <a:endParaRPr b="0" i="0" sz="1400" u="none" cap="none" strike="noStrike">
              <a:solidFill>
                <a:srgbClr val="000000"/>
              </a:solidFill>
              <a:latin typeface="Arial"/>
              <a:ea typeface="Arial"/>
              <a:cs typeface="Arial"/>
              <a:sym typeface="Arial"/>
            </a:endParaRPr>
          </a:p>
        </p:txBody>
      </p:sp>
      <p:sp>
        <p:nvSpPr>
          <p:cNvPr id="97" name="Google Shape;97;p2"/>
          <p:cNvSpPr txBox="1"/>
          <p:nvPr/>
        </p:nvSpPr>
        <p:spPr>
          <a:xfrm>
            <a:off x="651050" y="1675285"/>
            <a:ext cx="7883400" cy="2678100"/>
          </a:xfrm>
          <a:prstGeom prst="rect">
            <a:avLst/>
          </a:prstGeom>
          <a:noFill/>
          <a:ln>
            <a:noFill/>
          </a:ln>
        </p:spPr>
        <p:txBody>
          <a:bodyPr anchorCtr="0" anchor="t" bIns="45700" lIns="91425" spcFirstLastPara="1" rIns="91425" wrap="square" tIns="45700">
            <a:spAutoFit/>
          </a:bodyPr>
          <a:lstStyle/>
          <a:p>
            <a:pPr indent="-406400" lvl="0" marL="457200" marR="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Tổng quan về cách phát triển JavaScript hiện nay</a:t>
            </a:r>
            <a:endParaRPr sz="2800">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Tổng quan về modules</a:t>
            </a:r>
            <a:endParaRPr sz="2800">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Export/Import trong JS ES6</a:t>
            </a:r>
            <a:endParaRPr sz="2800">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Module Pattern</a:t>
            </a:r>
            <a:endParaRPr sz="2800">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CommonJS Modules</a:t>
            </a:r>
            <a:endParaRPr sz="2800">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Giới thiệu NPM </a:t>
            </a:r>
            <a:endParaRPr sz="2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11d3f5852fb_0_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3" name="Google Shape;103;g11d3f5852fb_0_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04" name="Google Shape;104;g11d3f5852fb_0_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05" name="Google Shape;105;g11d3f5852fb_0_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g11d3f5852fb_0_0"/>
          <p:cNvSpPr txBox="1"/>
          <p:nvPr/>
        </p:nvSpPr>
        <p:spPr>
          <a:xfrm flipH="1">
            <a:off x="817200" y="127124"/>
            <a:ext cx="79458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Cách phát triển JavaScript truyền thống</a:t>
            </a:r>
            <a:endParaRPr b="0" i="0" sz="1400" u="none" cap="none" strike="noStrike">
              <a:solidFill>
                <a:srgbClr val="000000"/>
              </a:solidFill>
              <a:latin typeface="Arial"/>
              <a:ea typeface="Arial"/>
              <a:cs typeface="Arial"/>
              <a:sym typeface="Arial"/>
            </a:endParaRPr>
          </a:p>
        </p:txBody>
      </p:sp>
      <p:sp>
        <p:nvSpPr>
          <p:cNvPr id="107" name="Google Shape;107;g11d3f5852fb_0_0"/>
          <p:cNvSpPr txBox="1"/>
          <p:nvPr/>
        </p:nvSpPr>
        <p:spPr>
          <a:xfrm>
            <a:off x="630300" y="920860"/>
            <a:ext cx="7883400" cy="4833300"/>
          </a:xfrm>
          <a:prstGeom prst="rect">
            <a:avLst/>
          </a:prstGeom>
          <a:noFill/>
          <a:ln>
            <a:noFill/>
          </a:ln>
        </p:spPr>
        <p:txBody>
          <a:bodyPr anchorCtr="0" anchor="t" bIns="45700" lIns="91425" spcFirstLastPara="1" rIns="91425" wrap="square" tIns="45700">
            <a:spAutoFit/>
          </a:bodyPr>
          <a:lstStyle/>
          <a:p>
            <a:pPr indent="-406400" lvl="0" marL="457200" marR="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Ban đầu, cách phát triển JavaScript là viết các mã JS vào một đoạn file script duy nhất rồi nhúng vào tài liệu HTML hay chia thành nhiều file nhỏ rồi nhúng vào các tài liệu HTML </a:t>
            </a:r>
            <a:endParaRPr sz="2800">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Tuy nhiên, càng ngày JavaScript càng được ứng dụng trong nhiều nền tảng khác nhau (nodeJS, desktop app, mobile app) cộng với việc ra đời các FE framework dẫn tới JavaScript phải xử lý FE nặng hơn so với trước kia (heavy frontend) thì cách phát triển JavaScript truyền thống đã không còn phù hợp nữa </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1d3f5852fb_0_1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13" name="Google Shape;113;g11d3f5852fb_0_1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14" name="Google Shape;114;g11d3f5852fb_0_1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15" name="Google Shape;115;g11d3f5852fb_0_1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 name="Google Shape;116;g11d3f5852fb_0_18"/>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Tổng quan về c</a:t>
            </a:r>
            <a:r>
              <a:rPr b="1" lang="en-US" sz="2800">
                <a:solidFill>
                  <a:schemeClr val="dk2"/>
                </a:solidFill>
              </a:rPr>
              <a:t>ách phát triển JavaScript hiện nay</a:t>
            </a:r>
            <a:endParaRPr b="0" i="0" sz="1400" u="none" cap="none" strike="noStrike">
              <a:solidFill>
                <a:srgbClr val="000000"/>
              </a:solidFill>
              <a:latin typeface="Arial"/>
              <a:ea typeface="Arial"/>
              <a:cs typeface="Arial"/>
              <a:sym typeface="Arial"/>
            </a:endParaRPr>
          </a:p>
        </p:txBody>
      </p:sp>
      <p:pic>
        <p:nvPicPr>
          <p:cNvPr id="117" name="Google Shape;117;g11d3f5852fb_0_18"/>
          <p:cNvPicPr preferRelativeResize="0"/>
          <p:nvPr/>
        </p:nvPicPr>
        <p:blipFill>
          <a:blip r:embed="rId4">
            <a:alphaModFix/>
          </a:blip>
          <a:stretch>
            <a:fillRect/>
          </a:stretch>
        </p:blipFill>
        <p:spPr>
          <a:xfrm>
            <a:off x="92400" y="1136612"/>
            <a:ext cx="8839204" cy="425990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11d3f5852fb_0_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3" name="Google Shape;123;g11d3f5852fb_0_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24" name="Google Shape;124;g11d3f5852fb_0_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25" name="Google Shape;125;g11d3f5852fb_0_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g11d3f5852fb_0_9"/>
          <p:cNvSpPr txBox="1"/>
          <p:nvPr/>
        </p:nvSpPr>
        <p:spPr>
          <a:xfrm flipH="1">
            <a:off x="120900" y="127125"/>
            <a:ext cx="86421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Tổng quan về c</a:t>
            </a:r>
            <a:r>
              <a:rPr b="1" lang="en-US" sz="2800">
                <a:solidFill>
                  <a:schemeClr val="dk2"/>
                </a:solidFill>
              </a:rPr>
              <a:t>ách phát triển JavaScript hiện nay</a:t>
            </a:r>
            <a:endParaRPr b="0" i="0" sz="1400" u="none" cap="none" strike="noStrike">
              <a:solidFill>
                <a:srgbClr val="000000"/>
              </a:solidFill>
              <a:latin typeface="Arial"/>
              <a:ea typeface="Arial"/>
              <a:cs typeface="Arial"/>
              <a:sym typeface="Arial"/>
            </a:endParaRPr>
          </a:p>
        </p:txBody>
      </p:sp>
      <p:sp>
        <p:nvSpPr>
          <p:cNvPr id="127" name="Google Shape;127;g11d3f5852fb_0_9"/>
          <p:cNvSpPr txBox="1"/>
          <p:nvPr/>
        </p:nvSpPr>
        <p:spPr>
          <a:xfrm>
            <a:off x="700800" y="893535"/>
            <a:ext cx="7883400" cy="48948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Ngày nay, các dự án JavaScript được phát triển bằng cách chia nhỏ thành nhiều modules khác nhau, các modules có thể chia sẻ thông tin với nhau giúp cho mã nguồn có tổ chức tốt và dễ bảo trì hơn</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Ngoài các modules tự phát triển trong dự án, có thể cài đặt các modules bên thứ ba thông qua các công cụ như NPM hay Yarn </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Các modules bên thứ ba còn có tên gọi khác là dependencies</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NPM (node package manager) là một công cụ quản lý dependencies được sinh ra cùng với Nodejs</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Yarn là một công cụ ra đời sau NPM được phát triển bởi facebook và có tốc độ xử lý nhanh hơn NPM</a:t>
            </a:r>
            <a:endParaRPr sz="2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11d3f5852fb_0_2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3" name="Google Shape;133;g11d3f5852fb_0_2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34" name="Google Shape;134;g11d3f5852fb_0_2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35" name="Google Shape;135;g11d3f5852fb_0_2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g11d3f5852fb_0_27"/>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Tổng quan về cách phát triển JavaScript hiện nay</a:t>
            </a:r>
            <a:endParaRPr b="0" i="0" sz="1400" u="none" cap="none" strike="noStrike">
              <a:solidFill>
                <a:srgbClr val="000000"/>
              </a:solidFill>
              <a:latin typeface="Arial"/>
              <a:ea typeface="Arial"/>
              <a:cs typeface="Arial"/>
              <a:sym typeface="Arial"/>
            </a:endParaRPr>
          </a:p>
        </p:txBody>
      </p:sp>
      <p:sp>
        <p:nvSpPr>
          <p:cNvPr id="137" name="Google Shape;137;g11d3f5852fb_0_27"/>
          <p:cNvSpPr txBox="1"/>
          <p:nvPr/>
        </p:nvSpPr>
        <p:spPr>
          <a:xfrm>
            <a:off x="715025" y="1090610"/>
            <a:ext cx="7883400" cy="48948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Các modules sau đó được build(xây dựng) thành một file script duy nhất để sử dụng trong môi trường production </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Quá trình build này sẽ trải qua hai giai đoạn </a:t>
            </a:r>
            <a:r>
              <a:rPr b="1" lang="en-US" sz="2400">
                <a:solidFill>
                  <a:schemeClr val="dk1"/>
                </a:solidFill>
                <a:latin typeface="Calibri"/>
                <a:ea typeface="Calibri"/>
                <a:cs typeface="Calibri"/>
                <a:sym typeface="Calibri"/>
              </a:rPr>
              <a:t>bundling</a:t>
            </a:r>
            <a:r>
              <a:rPr lang="en-US" sz="2400">
                <a:solidFill>
                  <a:schemeClr val="dk1"/>
                </a:solidFill>
                <a:latin typeface="Calibri"/>
                <a:ea typeface="Calibri"/>
                <a:cs typeface="Calibri"/>
                <a:sym typeface="Calibri"/>
              </a:rPr>
              <a:t> và </a:t>
            </a:r>
            <a:r>
              <a:rPr b="1" lang="en-US" sz="2400">
                <a:solidFill>
                  <a:schemeClr val="dk1"/>
                </a:solidFill>
                <a:latin typeface="Calibri"/>
                <a:ea typeface="Calibri"/>
                <a:cs typeface="Calibri"/>
                <a:sym typeface="Calibri"/>
              </a:rPr>
              <a:t>transpiling/polyfilling</a:t>
            </a:r>
            <a:endParaRPr b="1"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1" lang="en-US" sz="2400">
                <a:solidFill>
                  <a:schemeClr val="dk1"/>
                </a:solidFill>
                <a:latin typeface="Calibri"/>
                <a:ea typeface="Calibri"/>
                <a:cs typeface="Calibri"/>
                <a:sym typeface="Calibri"/>
              </a:rPr>
              <a:t>Bundling </a:t>
            </a:r>
            <a:r>
              <a:rPr lang="en-US" sz="2400">
                <a:solidFill>
                  <a:schemeClr val="dk1"/>
                </a:solidFill>
                <a:latin typeface="Calibri"/>
                <a:ea typeface="Calibri"/>
                <a:cs typeface="Calibri"/>
                <a:sym typeface="Calibri"/>
              </a:rPr>
              <a:t>là quá trình nối toàn bộ các module thành một file duy nhất đồng thời tiến hành nén và loại bỏ các đoạn mã dư thừa để file đầu ra có kích cỡ nhỏ nhất có thể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b="1" lang="en-US" sz="2400">
                <a:solidFill>
                  <a:schemeClr val="dk1"/>
                </a:solidFill>
                <a:latin typeface="Calibri"/>
                <a:ea typeface="Calibri"/>
                <a:cs typeface="Calibri"/>
                <a:sym typeface="Calibri"/>
              </a:rPr>
              <a:t>Transpiling/polyfilling </a:t>
            </a:r>
            <a:r>
              <a:rPr lang="en-US" sz="2400">
                <a:solidFill>
                  <a:schemeClr val="dk1"/>
                </a:solidFill>
                <a:latin typeface="Calibri"/>
                <a:ea typeface="Calibri"/>
                <a:cs typeface="Calibri"/>
                <a:sym typeface="Calibri"/>
              </a:rPr>
              <a:t>là quá trình chuyển đổi các cú pháp JavaScript kiểu mới (ES6+) về kiểu cũ (ES5-) để mã nguồn có thể thực thi trên các môi trường cũ, công cụ </a:t>
            </a:r>
            <a:r>
              <a:rPr b="1" lang="en-US" sz="2400">
                <a:solidFill>
                  <a:schemeClr val="dk1"/>
                </a:solidFill>
                <a:latin typeface="Calibri"/>
                <a:ea typeface="Calibri"/>
                <a:cs typeface="Calibri"/>
                <a:sym typeface="Calibri"/>
              </a:rPr>
              <a:t>Babel</a:t>
            </a:r>
            <a:r>
              <a:rPr lang="en-US" sz="2400">
                <a:solidFill>
                  <a:schemeClr val="dk1"/>
                </a:solidFill>
                <a:latin typeface="Calibri"/>
                <a:ea typeface="Calibri"/>
                <a:cs typeface="Calibri"/>
                <a:sym typeface="Calibri"/>
              </a:rPr>
              <a:t> được sử dụng trong quá trình này</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Quá trình build sẽ được quản lý bằng công cụ </a:t>
            </a:r>
            <a:r>
              <a:rPr b="1" lang="en-US" sz="2400">
                <a:solidFill>
                  <a:schemeClr val="dk1"/>
                </a:solidFill>
                <a:latin typeface="Calibri"/>
                <a:ea typeface="Calibri"/>
                <a:cs typeface="Calibri"/>
                <a:sym typeface="Calibri"/>
              </a:rPr>
              <a:t>Parcel</a:t>
            </a:r>
            <a:r>
              <a:rPr lang="en-US" sz="2400">
                <a:solidFill>
                  <a:schemeClr val="dk1"/>
                </a:solidFill>
                <a:latin typeface="Calibri"/>
                <a:ea typeface="Calibri"/>
                <a:cs typeface="Calibri"/>
                <a:sym typeface="Calibri"/>
              </a:rPr>
              <a:t> hoặc </a:t>
            </a:r>
            <a:r>
              <a:rPr b="1" lang="en-US" sz="2400">
                <a:solidFill>
                  <a:schemeClr val="dk1"/>
                </a:solidFill>
                <a:latin typeface="Calibri"/>
                <a:ea typeface="Calibri"/>
                <a:cs typeface="Calibri"/>
                <a:sym typeface="Calibri"/>
              </a:rPr>
              <a:t>WebPack</a:t>
            </a:r>
            <a:endParaRPr b="1" sz="2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11a1fa9330f_0_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3" name="Google Shape;143;g11a1fa9330f_0_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44" name="Google Shape;144;g11a1fa9330f_0_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45" name="Google Shape;145;g11a1fa9330f_0_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g11a1fa9330f_0_1"/>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Lợi ích</a:t>
            </a:r>
            <a:r>
              <a:rPr b="1" lang="en-US" sz="2800">
                <a:solidFill>
                  <a:schemeClr val="dk2"/>
                </a:solidFill>
              </a:rPr>
              <a:t> của modules</a:t>
            </a:r>
            <a:endParaRPr b="0" i="0" sz="1400" u="none" cap="none" strike="noStrike">
              <a:solidFill>
                <a:srgbClr val="000000"/>
              </a:solidFill>
              <a:latin typeface="Arial"/>
              <a:ea typeface="Arial"/>
              <a:cs typeface="Arial"/>
              <a:sym typeface="Arial"/>
            </a:endParaRPr>
          </a:p>
        </p:txBody>
      </p:sp>
      <p:sp>
        <p:nvSpPr>
          <p:cNvPr id="147" name="Google Shape;147;g11a1fa9330f_0_1"/>
          <p:cNvSpPr txBox="1"/>
          <p:nvPr/>
        </p:nvSpPr>
        <p:spPr>
          <a:xfrm>
            <a:off x="715025" y="1090610"/>
            <a:ext cx="7883400" cy="4894800"/>
          </a:xfrm>
          <a:prstGeom prst="rect">
            <a:avLst/>
          </a:prstGeom>
          <a:noFill/>
          <a:ln>
            <a:noFill/>
          </a:ln>
        </p:spPr>
        <p:txBody>
          <a:bodyPr anchorCtr="0" anchor="t" bIns="45700" lIns="91425" spcFirstLastPara="1" rIns="91425" wrap="square" tIns="45700">
            <a:spAutoFit/>
          </a:bodyPr>
          <a:lstStyle/>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Modules là một đoạn mã được đóng gói và cho phép tái sử dụng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Thông thường modules là một file độc lập</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 Sử dụng modules cho phép lập trình viên tham gia xây dựng cho mỗi thành phần của phần mềm mà không cần hiểu hết toàn bộ mã nguồn,</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Module giúp tránh xung đột mã nguồn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Cho phép các modules tương tác thông qua các thành phần trừu tượng thay vì các thành phần cụ thể (low-level code)</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Modules cho phép tổ chức mã nguồn khoa học, dễ bảo trì và mở rộng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Modules được hỗ trợ native từ phiên bản ES6</a:t>
            </a:r>
            <a:endParaRPr sz="24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1a1fa9330f_0_1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3" name="Google Shape;153;g11a1fa9330f_0_1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54" name="Google Shape;154;g11a1fa9330f_0_1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55" name="Google Shape;155;g11a1fa9330f_0_1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g11a1fa9330f_0_19"/>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Modules trong ES6</a:t>
            </a:r>
            <a:endParaRPr b="0" i="0" sz="1400" u="none" cap="none" strike="noStrike">
              <a:solidFill>
                <a:srgbClr val="000000"/>
              </a:solidFill>
              <a:latin typeface="Arial"/>
              <a:ea typeface="Arial"/>
              <a:cs typeface="Arial"/>
              <a:sym typeface="Arial"/>
            </a:endParaRPr>
          </a:p>
        </p:txBody>
      </p:sp>
      <p:sp>
        <p:nvSpPr>
          <p:cNvPr id="157" name="Google Shape;157;g11a1fa9330f_0_19"/>
          <p:cNvSpPr txBox="1"/>
          <p:nvPr/>
        </p:nvSpPr>
        <p:spPr>
          <a:xfrm>
            <a:off x="689025" y="925772"/>
            <a:ext cx="7883400" cy="4894800"/>
          </a:xfrm>
          <a:prstGeom prst="rect">
            <a:avLst/>
          </a:prstGeom>
          <a:noFill/>
          <a:ln>
            <a:noFill/>
          </a:ln>
        </p:spPr>
        <p:txBody>
          <a:bodyPr anchorCtr="0" anchor="t" bIns="45700" lIns="91425" spcFirstLastPara="1" rIns="91425" wrap="square" tIns="45700">
            <a:spAutoFit/>
          </a:bodyPr>
          <a:lstStyle/>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Trong JavaScript ES6, module là một thành phần được hỗ trợ native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Mỗi module sẽ nằm trong một file script riêng biệt và đều ở chế độ strict-mode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Các thành phần trong module mặc định sẽ được nằm ẩn trong module và nó chỉ có thể được gọi và sử dụng bởi các module khác khi được đẩy ra ngoài thông qua từ khoá </a:t>
            </a:r>
            <a:r>
              <a:rPr b="1" lang="en-US" sz="2400">
                <a:solidFill>
                  <a:schemeClr val="dk1"/>
                </a:solidFill>
                <a:latin typeface="Calibri"/>
                <a:ea typeface="Calibri"/>
                <a:cs typeface="Calibri"/>
                <a:sym typeface="Calibri"/>
              </a:rPr>
              <a:t>export</a:t>
            </a:r>
            <a:endParaRPr b="1"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Các module muốn sử dụng các thành phần của module khác cần phải sử dụng từ khoá </a:t>
            </a:r>
            <a:r>
              <a:rPr b="1" lang="en-US" sz="2400">
                <a:solidFill>
                  <a:schemeClr val="dk1"/>
                </a:solidFill>
                <a:latin typeface="Calibri"/>
                <a:ea typeface="Calibri"/>
                <a:cs typeface="Calibri"/>
                <a:sym typeface="Calibri"/>
              </a:rPr>
              <a:t>import</a:t>
            </a:r>
            <a:r>
              <a:rPr lang="en-US" sz="2400">
                <a:solidFill>
                  <a:schemeClr val="dk1"/>
                </a:solidFill>
                <a:latin typeface="Calibri"/>
                <a:ea typeface="Calibri"/>
                <a:cs typeface="Calibri"/>
                <a:sym typeface="Calibri"/>
              </a:rPr>
              <a:t> để </a:t>
            </a:r>
            <a:r>
              <a:rPr b="1" lang="en-US" sz="2400">
                <a:solidFill>
                  <a:schemeClr val="dk1"/>
                </a:solidFill>
                <a:latin typeface="Calibri"/>
                <a:ea typeface="Calibri"/>
                <a:cs typeface="Calibri"/>
                <a:sym typeface="Calibri"/>
              </a:rPr>
              <a:t>import</a:t>
            </a:r>
            <a:r>
              <a:rPr lang="en-US" sz="2400">
                <a:solidFill>
                  <a:schemeClr val="dk1"/>
                </a:solidFill>
                <a:latin typeface="Calibri"/>
                <a:ea typeface="Calibri"/>
                <a:cs typeface="Calibri"/>
                <a:sym typeface="Calibri"/>
              </a:rPr>
              <a:t> các module khác vào module hiện tại</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Mặc định các lệnh lệnh </a:t>
            </a:r>
            <a:r>
              <a:rPr b="1" lang="en-US" sz="2400">
                <a:solidFill>
                  <a:schemeClr val="dk1"/>
                </a:solidFill>
                <a:latin typeface="Calibri"/>
                <a:ea typeface="Calibri"/>
                <a:cs typeface="Calibri"/>
                <a:sym typeface="Calibri"/>
              </a:rPr>
              <a:t>import</a:t>
            </a:r>
            <a:r>
              <a:rPr lang="en-US" sz="2400">
                <a:solidFill>
                  <a:schemeClr val="dk1"/>
                </a:solidFill>
                <a:latin typeface="Calibri"/>
                <a:ea typeface="Calibri"/>
                <a:cs typeface="Calibri"/>
                <a:sym typeface="Calibri"/>
              </a:rPr>
              <a:t> là hoisted (tự động được đẩy lên đầu file)</a:t>
            </a:r>
            <a:endParaRPr sz="2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11a1fa9330f_0_2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63" name="Google Shape;163;g11a1fa9330f_0_2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64" name="Google Shape;164;g11a1fa9330f_0_2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65" name="Google Shape;165;g11a1fa9330f_0_2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g11a1fa9330f_0_28"/>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Modules trong ES6</a:t>
            </a:r>
            <a:endParaRPr b="0" i="0" sz="1400" u="none" cap="none" strike="noStrike">
              <a:solidFill>
                <a:srgbClr val="000000"/>
              </a:solidFill>
              <a:latin typeface="Arial"/>
              <a:ea typeface="Arial"/>
              <a:cs typeface="Arial"/>
              <a:sym typeface="Arial"/>
            </a:endParaRPr>
          </a:p>
        </p:txBody>
      </p:sp>
      <p:sp>
        <p:nvSpPr>
          <p:cNvPr id="167" name="Google Shape;167;g11a1fa9330f_0_28"/>
          <p:cNvSpPr txBox="1"/>
          <p:nvPr/>
        </p:nvSpPr>
        <p:spPr>
          <a:xfrm>
            <a:off x="621900" y="596850"/>
            <a:ext cx="8141100" cy="5633700"/>
          </a:xfrm>
          <a:prstGeom prst="rect">
            <a:avLst/>
          </a:prstGeom>
          <a:noFill/>
          <a:ln>
            <a:noFill/>
          </a:ln>
        </p:spPr>
        <p:txBody>
          <a:bodyPr anchorCtr="0" anchor="t" bIns="45700" lIns="91425" spcFirstLastPara="1" rIns="91425" wrap="square" tIns="45700">
            <a:spAutoFit/>
          </a:bodyPr>
          <a:lstStyle/>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Trong JavaScript ES6, module là một thành phần được hỗ trợ native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Mỗi module sẽ nằm trong một file script riêng biệt và đều ở chế độ strict-mode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Các thành phần trong module(biến, hàm, đối tượng…) mặc định sẽ được nằm ẩn trong module và nó chỉ có thể được gọi và sử dụng bởi các module khác khi được đẩy ra ngoài thông qua từ khoá </a:t>
            </a:r>
            <a:r>
              <a:rPr b="1" lang="en-US" sz="2400">
                <a:solidFill>
                  <a:schemeClr val="dk1"/>
                </a:solidFill>
                <a:latin typeface="Calibri"/>
                <a:ea typeface="Calibri"/>
                <a:cs typeface="Calibri"/>
                <a:sym typeface="Calibri"/>
              </a:rPr>
              <a:t>export</a:t>
            </a:r>
            <a:endParaRPr b="1"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Các module muốn sử dụng các thành phần của module khác cần phải sử dụng từ khoá </a:t>
            </a:r>
            <a:r>
              <a:rPr b="1" lang="en-US" sz="2400">
                <a:solidFill>
                  <a:schemeClr val="dk1"/>
                </a:solidFill>
                <a:latin typeface="Calibri"/>
                <a:ea typeface="Calibri"/>
                <a:cs typeface="Calibri"/>
                <a:sym typeface="Calibri"/>
              </a:rPr>
              <a:t>import</a:t>
            </a:r>
            <a:r>
              <a:rPr lang="en-US" sz="2400">
                <a:solidFill>
                  <a:schemeClr val="dk1"/>
                </a:solidFill>
                <a:latin typeface="Calibri"/>
                <a:ea typeface="Calibri"/>
                <a:cs typeface="Calibri"/>
                <a:sym typeface="Calibri"/>
              </a:rPr>
              <a:t> để </a:t>
            </a:r>
            <a:r>
              <a:rPr b="1" lang="en-US" sz="2400">
                <a:solidFill>
                  <a:schemeClr val="dk1"/>
                </a:solidFill>
                <a:latin typeface="Calibri"/>
                <a:ea typeface="Calibri"/>
                <a:cs typeface="Calibri"/>
                <a:sym typeface="Calibri"/>
              </a:rPr>
              <a:t>import</a:t>
            </a:r>
            <a:r>
              <a:rPr lang="en-US" sz="2400">
                <a:solidFill>
                  <a:schemeClr val="dk1"/>
                </a:solidFill>
                <a:latin typeface="Calibri"/>
                <a:ea typeface="Calibri"/>
                <a:cs typeface="Calibri"/>
                <a:sym typeface="Calibri"/>
              </a:rPr>
              <a:t> các module khác vào module hiện tại</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Mặc định các lệnh lệnh </a:t>
            </a:r>
            <a:r>
              <a:rPr b="1" lang="en-US" sz="2400">
                <a:solidFill>
                  <a:schemeClr val="dk1"/>
                </a:solidFill>
                <a:latin typeface="Calibri"/>
                <a:ea typeface="Calibri"/>
                <a:cs typeface="Calibri"/>
                <a:sym typeface="Calibri"/>
              </a:rPr>
              <a:t>import</a:t>
            </a:r>
            <a:r>
              <a:rPr lang="en-US" sz="2400">
                <a:solidFill>
                  <a:schemeClr val="dk1"/>
                </a:solidFill>
                <a:latin typeface="Calibri"/>
                <a:ea typeface="Calibri"/>
                <a:cs typeface="Calibri"/>
                <a:sym typeface="Calibri"/>
              </a:rPr>
              <a:t> là hoisted (tự động được đẩy lên đầu file)</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Các script tag chứa module cần cài đặt thuộc tính </a:t>
            </a:r>
            <a:r>
              <a:rPr b="1" lang="en-US" sz="2400">
                <a:solidFill>
                  <a:schemeClr val="dk1"/>
                </a:solidFill>
                <a:latin typeface="Calibri"/>
                <a:ea typeface="Calibri"/>
                <a:cs typeface="Calibri"/>
                <a:sym typeface="Calibri"/>
              </a:rPr>
              <a:t>type=”module”</a:t>
            </a:r>
            <a:endParaRPr b="1" sz="2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11a1fa9330f_0_3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3" name="Google Shape;173;g11a1fa9330f_0_3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74" name="Google Shape;174;g11a1fa9330f_0_3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75" name="Google Shape;175;g11a1fa9330f_0_3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6" name="Google Shape;176;g11a1fa9330f_0_37"/>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Modules trong ES6</a:t>
            </a:r>
            <a:endParaRPr b="0" i="0" sz="1400" u="none" cap="none" strike="noStrike">
              <a:solidFill>
                <a:srgbClr val="000000"/>
              </a:solidFill>
              <a:latin typeface="Arial"/>
              <a:ea typeface="Arial"/>
              <a:cs typeface="Arial"/>
              <a:sym typeface="Arial"/>
            </a:endParaRPr>
          </a:p>
        </p:txBody>
      </p:sp>
      <p:sp>
        <p:nvSpPr>
          <p:cNvPr id="177" name="Google Shape;177;g11a1fa9330f_0_37"/>
          <p:cNvSpPr txBox="1"/>
          <p:nvPr/>
        </p:nvSpPr>
        <p:spPr>
          <a:xfrm>
            <a:off x="1349750" y="1218188"/>
            <a:ext cx="6554700" cy="17238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CC7832"/>
                </a:solidFill>
                <a:highlight>
                  <a:srgbClr val="2B2B2B"/>
                </a:highlight>
                <a:latin typeface="Courier New"/>
                <a:ea typeface="Courier New"/>
                <a:cs typeface="Courier New"/>
                <a:sym typeface="Courier New"/>
              </a:rPr>
              <a:t>//file exportVariable.js</a:t>
            </a:r>
            <a:endParaRPr b="1" sz="2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2000">
                <a:solidFill>
                  <a:srgbClr val="CC7832"/>
                </a:solidFill>
                <a:highlight>
                  <a:srgbClr val="2B2B2B"/>
                </a:highlight>
                <a:latin typeface="Courier New"/>
                <a:ea typeface="Courier New"/>
                <a:cs typeface="Courier New"/>
                <a:sym typeface="Courier New"/>
              </a:rPr>
              <a:t>const </a:t>
            </a:r>
            <a:r>
              <a:rPr b="1" i="1" lang="en-US" sz="2000">
                <a:solidFill>
                  <a:srgbClr val="9876AA"/>
                </a:solidFill>
                <a:highlight>
                  <a:srgbClr val="2B2B2B"/>
                </a:highlight>
                <a:latin typeface="Courier New"/>
                <a:ea typeface="Courier New"/>
                <a:cs typeface="Courier New"/>
                <a:sym typeface="Courier New"/>
              </a:rPr>
              <a:t>name </a:t>
            </a:r>
            <a:r>
              <a:rPr b="1" lang="en-US" sz="2000">
                <a:solidFill>
                  <a:srgbClr val="A9B7C6"/>
                </a:solidFill>
                <a:highlight>
                  <a:srgbClr val="2B2B2B"/>
                </a:highlight>
                <a:latin typeface="Courier New"/>
                <a:ea typeface="Courier New"/>
                <a:cs typeface="Courier New"/>
                <a:sym typeface="Courier New"/>
              </a:rPr>
              <a:t>= </a:t>
            </a:r>
            <a:r>
              <a:rPr b="1" lang="en-US" sz="2000">
                <a:solidFill>
                  <a:srgbClr val="6A8759"/>
                </a:solidFill>
                <a:highlight>
                  <a:srgbClr val="2B2B2B"/>
                </a:highlight>
                <a:latin typeface="Courier New"/>
                <a:ea typeface="Courier New"/>
                <a:cs typeface="Courier New"/>
                <a:sym typeface="Courier New"/>
              </a:rPr>
              <a:t>"CY"</a:t>
            </a:r>
            <a:r>
              <a:rPr b="1" lang="en-US" sz="2000">
                <a:solidFill>
                  <a:srgbClr val="CC7832"/>
                </a:solidFill>
                <a:highlight>
                  <a:srgbClr val="2B2B2B"/>
                </a:highlight>
                <a:latin typeface="Courier New"/>
                <a:ea typeface="Courier New"/>
                <a:cs typeface="Courier New"/>
                <a:sym typeface="Courier New"/>
              </a:rPr>
              <a:t>;</a:t>
            </a:r>
            <a:endParaRPr b="1" sz="2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2000">
                <a:solidFill>
                  <a:srgbClr val="CC7832"/>
                </a:solidFill>
                <a:highlight>
                  <a:srgbClr val="2B2B2B"/>
                </a:highlight>
                <a:latin typeface="Courier New"/>
                <a:ea typeface="Courier New"/>
                <a:cs typeface="Courier New"/>
                <a:sym typeface="Courier New"/>
              </a:rPr>
              <a:t>const </a:t>
            </a:r>
            <a:r>
              <a:rPr b="1" i="1" lang="en-US" sz="2000">
                <a:solidFill>
                  <a:srgbClr val="9876AA"/>
                </a:solidFill>
                <a:highlight>
                  <a:srgbClr val="2B2B2B"/>
                </a:highlight>
                <a:latin typeface="Courier New"/>
                <a:ea typeface="Courier New"/>
                <a:cs typeface="Courier New"/>
                <a:sym typeface="Courier New"/>
              </a:rPr>
              <a:t>address </a:t>
            </a:r>
            <a:r>
              <a:rPr b="1" lang="en-US" sz="2000">
                <a:solidFill>
                  <a:srgbClr val="A9B7C6"/>
                </a:solidFill>
                <a:highlight>
                  <a:srgbClr val="2B2B2B"/>
                </a:highlight>
                <a:latin typeface="Courier New"/>
                <a:ea typeface="Courier New"/>
                <a:cs typeface="Courier New"/>
                <a:sym typeface="Courier New"/>
              </a:rPr>
              <a:t>= </a:t>
            </a:r>
            <a:r>
              <a:rPr b="1" lang="en-US" sz="2000">
                <a:solidFill>
                  <a:srgbClr val="6A8759"/>
                </a:solidFill>
                <a:highlight>
                  <a:srgbClr val="2B2B2B"/>
                </a:highlight>
                <a:latin typeface="Courier New"/>
                <a:ea typeface="Courier New"/>
                <a:cs typeface="Courier New"/>
                <a:sym typeface="Courier New"/>
              </a:rPr>
              <a:t>"8 Ton That Thuyet"</a:t>
            </a:r>
            <a:r>
              <a:rPr b="1" lang="en-US" sz="2000">
                <a:solidFill>
                  <a:srgbClr val="CC7832"/>
                </a:solidFill>
                <a:highlight>
                  <a:srgbClr val="2B2B2B"/>
                </a:highlight>
                <a:latin typeface="Courier New"/>
                <a:ea typeface="Courier New"/>
                <a:cs typeface="Courier New"/>
                <a:sym typeface="Courier New"/>
              </a:rPr>
              <a:t>;</a:t>
            </a:r>
            <a:endParaRPr b="1" sz="2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2000">
                <a:solidFill>
                  <a:srgbClr val="CC7832"/>
                </a:solidFill>
                <a:highlight>
                  <a:srgbClr val="2B2B2B"/>
                </a:highlight>
                <a:latin typeface="Courier New"/>
                <a:ea typeface="Courier New"/>
                <a:cs typeface="Courier New"/>
                <a:sym typeface="Courier New"/>
              </a:rPr>
              <a:t>export </a:t>
            </a:r>
            <a:r>
              <a:rPr b="1" lang="en-US" sz="2000">
                <a:solidFill>
                  <a:srgbClr val="A9B7C6"/>
                </a:solidFill>
                <a:highlight>
                  <a:srgbClr val="2B2B2B"/>
                </a:highlight>
                <a:latin typeface="Courier New"/>
                <a:ea typeface="Courier New"/>
                <a:cs typeface="Courier New"/>
                <a:sym typeface="Courier New"/>
              </a:rPr>
              <a:t>{</a:t>
            </a:r>
            <a:r>
              <a:rPr b="1" i="1" lang="en-US" sz="2000">
                <a:solidFill>
                  <a:srgbClr val="9876AA"/>
                </a:solidFill>
                <a:highlight>
                  <a:srgbClr val="2B2B2B"/>
                </a:highlight>
                <a:latin typeface="Courier New"/>
                <a:ea typeface="Courier New"/>
                <a:cs typeface="Courier New"/>
                <a:sym typeface="Courier New"/>
              </a:rPr>
              <a:t>name</a:t>
            </a:r>
            <a:r>
              <a:rPr b="1" lang="en-US" sz="2000">
                <a:solidFill>
                  <a:srgbClr val="A9B7C6"/>
                </a:solidFill>
                <a:highlight>
                  <a:srgbClr val="2B2B2B"/>
                </a:highlight>
                <a:latin typeface="Courier New"/>
                <a:ea typeface="Courier New"/>
                <a:cs typeface="Courier New"/>
                <a:sym typeface="Courier New"/>
              </a:rPr>
              <a:t>}</a:t>
            </a:r>
            <a:r>
              <a:rPr b="1" lang="en-US" sz="2000">
                <a:solidFill>
                  <a:srgbClr val="CC7832"/>
                </a:solidFill>
                <a:highlight>
                  <a:srgbClr val="2B2B2B"/>
                </a:highlight>
                <a:latin typeface="Courier New"/>
                <a:ea typeface="Courier New"/>
                <a:cs typeface="Courier New"/>
                <a:sym typeface="Courier New"/>
              </a:rPr>
              <a:t>;</a:t>
            </a:r>
            <a:endParaRPr b="1" sz="2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2000">
                <a:solidFill>
                  <a:srgbClr val="CC7832"/>
                </a:solidFill>
                <a:highlight>
                  <a:srgbClr val="2B2B2B"/>
                </a:highlight>
                <a:latin typeface="Courier New"/>
                <a:ea typeface="Courier New"/>
                <a:cs typeface="Courier New"/>
                <a:sym typeface="Courier New"/>
              </a:rPr>
              <a:t>export </a:t>
            </a:r>
            <a:r>
              <a:rPr b="1" lang="en-US" sz="2000">
                <a:solidFill>
                  <a:srgbClr val="A9B7C6"/>
                </a:solidFill>
                <a:highlight>
                  <a:srgbClr val="2B2B2B"/>
                </a:highlight>
                <a:latin typeface="Courier New"/>
                <a:ea typeface="Courier New"/>
                <a:cs typeface="Courier New"/>
                <a:sym typeface="Courier New"/>
              </a:rPr>
              <a:t>{</a:t>
            </a:r>
            <a:r>
              <a:rPr b="1" i="1" lang="en-US" sz="2000">
                <a:solidFill>
                  <a:srgbClr val="9876AA"/>
                </a:solidFill>
                <a:highlight>
                  <a:srgbClr val="2B2B2B"/>
                </a:highlight>
                <a:latin typeface="Courier New"/>
                <a:ea typeface="Courier New"/>
                <a:cs typeface="Courier New"/>
                <a:sym typeface="Courier New"/>
              </a:rPr>
              <a:t>address</a:t>
            </a:r>
            <a:r>
              <a:rPr b="1" lang="en-US" sz="2000">
                <a:solidFill>
                  <a:srgbClr val="A9B7C6"/>
                </a:solidFill>
                <a:highlight>
                  <a:srgbClr val="2B2B2B"/>
                </a:highlight>
                <a:latin typeface="Courier New"/>
                <a:ea typeface="Courier New"/>
                <a:cs typeface="Courier New"/>
                <a:sym typeface="Courier New"/>
              </a:rPr>
              <a:t>}</a:t>
            </a:r>
            <a:r>
              <a:rPr b="1" lang="en-US" sz="2000">
                <a:solidFill>
                  <a:srgbClr val="CC7832"/>
                </a:solidFill>
                <a:highlight>
                  <a:srgbClr val="2B2B2B"/>
                </a:highlight>
                <a:latin typeface="Courier New"/>
                <a:ea typeface="Courier New"/>
                <a:cs typeface="Courier New"/>
                <a:sym typeface="Courier New"/>
              </a:rPr>
              <a:t>;</a:t>
            </a:r>
            <a:endParaRPr b="1" sz="2000">
              <a:solidFill>
                <a:srgbClr val="CC7832"/>
              </a:solidFill>
              <a:highlight>
                <a:srgbClr val="2B2B2B"/>
              </a:highlight>
              <a:latin typeface="Courier New"/>
              <a:ea typeface="Courier New"/>
              <a:cs typeface="Courier New"/>
              <a:sym typeface="Courier New"/>
            </a:endParaRPr>
          </a:p>
        </p:txBody>
      </p:sp>
      <p:sp>
        <p:nvSpPr>
          <p:cNvPr id="178" name="Google Shape;178;g11a1fa9330f_0_37"/>
          <p:cNvSpPr txBox="1"/>
          <p:nvPr/>
        </p:nvSpPr>
        <p:spPr>
          <a:xfrm>
            <a:off x="1349750" y="3221263"/>
            <a:ext cx="6554700" cy="2031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2000">
                <a:solidFill>
                  <a:srgbClr val="9876AA"/>
                </a:solidFill>
                <a:highlight>
                  <a:srgbClr val="2B2B2B"/>
                </a:highlight>
                <a:latin typeface="Courier New"/>
                <a:ea typeface="Courier New"/>
                <a:cs typeface="Courier New"/>
                <a:sym typeface="Courier New"/>
              </a:rPr>
              <a:t>&lt;</a:t>
            </a:r>
            <a:r>
              <a:rPr b="1" lang="en-US" sz="2000">
                <a:solidFill>
                  <a:srgbClr val="E8BF6A"/>
                </a:solidFill>
                <a:highlight>
                  <a:srgbClr val="2B2B2B"/>
                </a:highlight>
                <a:latin typeface="Courier New"/>
                <a:ea typeface="Courier New"/>
                <a:cs typeface="Courier New"/>
                <a:sym typeface="Courier New"/>
              </a:rPr>
              <a:t>script </a:t>
            </a:r>
            <a:r>
              <a:rPr b="1" lang="en-US" sz="2000">
                <a:solidFill>
                  <a:srgbClr val="BABABA"/>
                </a:solidFill>
                <a:highlight>
                  <a:srgbClr val="2B2B2B"/>
                </a:highlight>
                <a:latin typeface="Courier New"/>
                <a:ea typeface="Courier New"/>
                <a:cs typeface="Courier New"/>
                <a:sym typeface="Courier New"/>
              </a:rPr>
              <a:t>type</a:t>
            </a:r>
            <a:r>
              <a:rPr b="1" lang="en-US" sz="2000">
                <a:solidFill>
                  <a:srgbClr val="A5C261"/>
                </a:solidFill>
                <a:highlight>
                  <a:srgbClr val="2B2B2B"/>
                </a:highlight>
                <a:latin typeface="Courier New"/>
                <a:ea typeface="Courier New"/>
                <a:cs typeface="Courier New"/>
                <a:sym typeface="Courier New"/>
              </a:rPr>
              <a:t>="module"</a:t>
            </a:r>
            <a:r>
              <a:rPr b="1" i="1" lang="en-US" sz="2000">
                <a:solidFill>
                  <a:srgbClr val="9876AA"/>
                </a:solidFill>
                <a:highlight>
                  <a:srgbClr val="2B2B2B"/>
                </a:highlight>
                <a:latin typeface="Courier New"/>
                <a:ea typeface="Courier New"/>
                <a:cs typeface="Courier New"/>
                <a:sym typeface="Courier New"/>
              </a:rPr>
              <a:t>&gt;</a:t>
            </a:r>
            <a:endParaRPr b="1" i="1" sz="2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2000">
                <a:solidFill>
                  <a:srgbClr val="9876AA"/>
                </a:solidFill>
                <a:highlight>
                  <a:srgbClr val="2B2B2B"/>
                </a:highlight>
                <a:latin typeface="Courier New"/>
                <a:ea typeface="Courier New"/>
                <a:cs typeface="Courier New"/>
                <a:sym typeface="Courier New"/>
              </a:rPr>
              <a:t>   </a:t>
            </a:r>
            <a:r>
              <a:rPr b="1" lang="en-US" sz="2000">
                <a:solidFill>
                  <a:srgbClr val="CC7832"/>
                </a:solidFill>
                <a:highlight>
                  <a:srgbClr val="2B2B2B"/>
                </a:highlight>
                <a:latin typeface="Courier New"/>
                <a:ea typeface="Courier New"/>
                <a:cs typeface="Courier New"/>
                <a:sym typeface="Courier New"/>
              </a:rPr>
              <a:t>import </a:t>
            </a:r>
            <a:r>
              <a:rPr b="1" lang="en-US" sz="2000">
                <a:solidFill>
                  <a:srgbClr val="A9B7C6"/>
                </a:solidFill>
                <a:highlight>
                  <a:srgbClr val="2B2B2B"/>
                </a:highlight>
                <a:latin typeface="Courier New"/>
                <a:ea typeface="Courier New"/>
                <a:cs typeface="Courier New"/>
                <a:sym typeface="Courier New"/>
              </a:rPr>
              <a:t>{</a:t>
            </a:r>
            <a:r>
              <a:rPr b="1" i="1" lang="en-US" sz="2000">
                <a:solidFill>
                  <a:srgbClr val="9876AA"/>
                </a:solidFill>
                <a:highlight>
                  <a:srgbClr val="2B2B2B"/>
                </a:highlight>
                <a:latin typeface="Courier New"/>
                <a:ea typeface="Courier New"/>
                <a:cs typeface="Courier New"/>
                <a:sym typeface="Courier New"/>
              </a:rPr>
              <a:t>address</a:t>
            </a:r>
            <a:r>
              <a:rPr b="1" lang="en-US" sz="2000">
                <a:solidFill>
                  <a:srgbClr val="CC7832"/>
                </a:solidFill>
                <a:highlight>
                  <a:srgbClr val="2B2B2B"/>
                </a:highlight>
                <a:latin typeface="Courier New"/>
                <a:ea typeface="Courier New"/>
                <a:cs typeface="Courier New"/>
                <a:sym typeface="Courier New"/>
              </a:rPr>
              <a:t>, </a:t>
            </a:r>
            <a:r>
              <a:rPr b="1" i="1" lang="en-US" sz="2000">
                <a:solidFill>
                  <a:srgbClr val="9876AA"/>
                </a:solidFill>
                <a:highlight>
                  <a:srgbClr val="2B2B2B"/>
                </a:highlight>
                <a:latin typeface="Courier New"/>
                <a:ea typeface="Courier New"/>
                <a:cs typeface="Courier New"/>
                <a:sym typeface="Courier New"/>
              </a:rPr>
              <a:t>name</a:t>
            </a:r>
            <a:r>
              <a:rPr b="1" lang="en-US" sz="2000">
                <a:solidFill>
                  <a:srgbClr val="A9B7C6"/>
                </a:solidFill>
                <a:highlight>
                  <a:srgbClr val="2B2B2B"/>
                </a:highlight>
                <a:latin typeface="Courier New"/>
                <a:ea typeface="Courier New"/>
                <a:cs typeface="Courier New"/>
                <a:sym typeface="Courier New"/>
              </a:rPr>
              <a:t>} </a:t>
            </a:r>
            <a:r>
              <a:rPr b="1" lang="en-US" sz="2000">
                <a:solidFill>
                  <a:srgbClr val="CC7832"/>
                </a:solidFill>
                <a:highlight>
                  <a:srgbClr val="2B2B2B"/>
                </a:highlight>
                <a:latin typeface="Courier New"/>
                <a:ea typeface="Courier New"/>
                <a:cs typeface="Courier New"/>
                <a:sym typeface="Courier New"/>
              </a:rPr>
              <a:t>from </a:t>
            </a:r>
            <a:r>
              <a:rPr b="1" lang="en-US" sz="2000">
                <a:solidFill>
                  <a:srgbClr val="6A8759"/>
                </a:solidFill>
                <a:highlight>
                  <a:srgbClr val="2B2B2B"/>
                </a:highlight>
                <a:latin typeface="Courier New"/>
                <a:ea typeface="Courier New"/>
                <a:cs typeface="Courier New"/>
                <a:sym typeface="Courier New"/>
              </a:rPr>
              <a:t>"./js/exportVariable.js"</a:t>
            </a:r>
            <a:r>
              <a:rPr b="1" lang="en-US" sz="2000">
                <a:solidFill>
                  <a:srgbClr val="CC7832"/>
                </a:solidFill>
                <a:highlight>
                  <a:srgbClr val="2B2B2B"/>
                </a:highlight>
                <a:latin typeface="Courier New"/>
                <a:ea typeface="Courier New"/>
                <a:cs typeface="Courier New"/>
                <a:sym typeface="Courier New"/>
              </a:rPr>
              <a:t>;</a:t>
            </a:r>
            <a:endParaRPr b="1" sz="2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2000">
                <a:solidFill>
                  <a:srgbClr val="CC7832"/>
                </a:solidFill>
                <a:highlight>
                  <a:srgbClr val="2B2B2B"/>
                </a:highlight>
                <a:latin typeface="Courier New"/>
                <a:ea typeface="Courier New"/>
                <a:cs typeface="Courier New"/>
                <a:sym typeface="Courier New"/>
              </a:rPr>
              <a:t>   </a:t>
            </a:r>
            <a:r>
              <a:rPr b="1" i="1" lang="en-US" sz="2000">
                <a:solidFill>
                  <a:srgbClr val="9876AA"/>
                </a:solidFill>
                <a:highlight>
                  <a:srgbClr val="2B2B2B"/>
                </a:highlight>
                <a:latin typeface="Courier New"/>
                <a:ea typeface="Courier New"/>
                <a:cs typeface="Courier New"/>
                <a:sym typeface="Courier New"/>
              </a:rPr>
              <a:t>console</a:t>
            </a:r>
            <a:r>
              <a:rPr b="1" lang="en-US" sz="2000">
                <a:solidFill>
                  <a:srgbClr val="A9B7C6"/>
                </a:solidFill>
                <a:highlight>
                  <a:srgbClr val="2B2B2B"/>
                </a:highlight>
                <a:latin typeface="Courier New"/>
                <a:ea typeface="Courier New"/>
                <a:cs typeface="Courier New"/>
                <a:sym typeface="Courier New"/>
              </a:rPr>
              <a:t>.</a:t>
            </a:r>
            <a:r>
              <a:rPr b="1" lang="en-US" sz="2000">
                <a:solidFill>
                  <a:srgbClr val="FFC66D"/>
                </a:solidFill>
                <a:highlight>
                  <a:srgbClr val="2B2B2B"/>
                </a:highlight>
                <a:latin typeface="Courier New"/>
                <a:ea typeface="Courier New"/>
                <a:cs typeface="Courier New"/>
                <a:sym typeface="Courier New"/>
              </a:rPr>
              <a:t>log</a:t>
            </a:r>
            <a:r>
              <a:rPr b="1" lang="en-US" sz="2000">
                <a:solidFill>
                  <a:srgbClr val="A9B7C6"/>
                </a:solidFill>
                <a:highlight>
                  <a:srgbClr val="2B2B2B"/>
                </a:highlight>
                <a:latin typeface="Courier New"/>
                <a:ea typeface="Courier New"/>
                <a:cs typeface="Courier New"/>
                <a:sym typeface="Courier New"/>
              </a:rPr>
              <a:t>(</a:t>
            </a:r>
            <a:r>
              <a:rPr b="1" i="1" lang="en-US" sz="2000">
                <a:solidFill>
                  <a:srgbClr val="9876AA"/>
                </a:solidFill>
                <a:highlight>
                  <a:srgbClr val="2B2B2B"/>
                </a:highlight>
                <a:latin typeface="Courier New"/>
                <a:ea typeface="Courier New"/>
                <a:cs typeface="Courier New"/>
                <a:sym typeface="Courier New"/>
              </a:rPr>
              <a:t>name</a:t>
            </a:r>
            <a:r>
              <a:rPr b="1" lang="en-US" sz="2000">
                <a:solidFill>
                  <a:srgbClr val="A9B7C6"/>
                </a:solidFill>
                <a:highlight>
                  <a:srgbClr val="2B2B2B"/>
                </a:highlight>
                <a:latin typeface="Courier New"/>
                <a:ea typeface="Courier New"/>
                <a:cs typeface="Courier New"/>
                <a:sym typeface="Courier New"/>
              </a:rPr>
              <a:t>)</a:t>
            </a:r>
            <a:r>
              <a:rPr b="1" lang="en-US" sz="2000">
                <a:solidFill>
                  <a:srgbClr val="CC7832"/>
                </a:solidFill>
                <a:highlight>
                  <a:srgbClr val="2B2B2B"/>
                </a:highlight>
                <a:latin typeface="Courier New"/>
                <a:ea typeface="Courier New"/>
                <a:cs typeface="Courier New"/>
                <a:sym typeface="Courier New"/>
              </a:rPr>
              <a:t>;</a:t>
            </a:r>
            <a:endParaRPr b="1" sz="2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2000">
                <a:solidFill>
                  <a:srgbClr val="CC7832"/>
                </a:solidFill>
                <a:highlight>
                  <a:srgbClr val="2B2B2B"/>
                </a:highlight>
                <a:latin typeface="Courier New"/>
                <a:ea typeface="Courier New"/>
                <a:cs typeface="Courier New"/>
                <a:sym typeface="Courier New"/>
              </a:rPr>
              <a:t>   </a:t>
            </a:r>
            <a:r>
              <a:rPr b="1" i="1" lang="en-US" sz="2000">
                <a:solidFill>
                  <a:srgbClr val="9876AA"/>
                </a:solidFill>
                <a:highlight>
                  <a:srgbClr val="2B2B2B"/>
                </a:highlight>
                <a:latin typeface="Courier New"/>
                <a:ea typeface="Courier New"/>
                <a:cs typeface="Courier New"/>
                <a:sym typeface="Courier New"/>
              </a:rPr>
              <a:t>console</a:t>
            </a:r>
            <a:r>
              <a:rPr b="1" lang="en-US" sz="2000">
                <a:solidFill>
                  <a:srgbClr val="A9B7C6"/>
                </a:solidFill>
                <a:highlight>
                  <a:srgbClr val="2B2B2B"/>
                </a:highlight>
                <a:latin typeface="Courier New"/>
                <a:ea typeface="Courier New"/>
                <a:cs typeface="Courier New"/>
                <a:sym typeface="Courier New"/>
              </a:rPr>
              <a:t>.</a:t>
            </a:r>
            <a:r>
              <a:rPr b="1" lang="en-US" sz="2000">
                <a:solidFill>
                  <a:srgbClr val="FFC66D"/>
                </a:solidFill>
                <a:highlight>
                  <a:srgbClr val="2B2B2B"/>
                </a:highlight>
                <a:latin typeface="Courier New"/>
                <a:ea typeface="Courier New"/>
                <a:cs typeface="Courier New"/>
                <a:sym typeface="Courier New"/>
              </a:rPr>
              <a:t>log</a:t>
            </a:r>
            <a:r>
              <a:rPr b="1" lang="en-US" sz="2000">
                <a:solidFill>
                  <a:srgbClr val="A9B7C6"/>
                </a:solidFill>
                <a:highlight>
                  <a:srgbClr val="2B2B2B"/>
                </a:highlight>
                <a:latin typeface="Courier New"/>
                <a:ea typeface="Courier New"/>
                <a:cs typeface="Courier New"/>
                <a:sym typeface="Courier New"/>
              </a:rPr>
              <a:t>(</a:t>
            </a:r>
            <a:r>
              <a:rPr b="1" i="1" lang="en-US" sz="2000">
                <a:solidFill>
                  <a:srgbClr val="9876AA"/>
                </a:solidFill>
                <a:highlight>
                  <a:srgbClr val="2B2B2B"/>
                </a:highlight>
                <a:latin typeface="Courier New"/>
                <a:ea typeface="Courier New"/>
                <a:cs typeface="Courier New"/>
                <a:sym typeface="Courier New"/>
              </a:rPr>
              <a:t>address</a:t>
            </a:r>
            <a:r>
              <a:rPr b="1" lang="en-US" sz="2000">
                <a:solidFill>
                  <a:srgbClr val="A9B7C6"/>
                </a:solidFill>
                <a:highlight>
                  <a:srgbClr val="2B2B2B"/>
                </a:highlight>
                <a:latin typeface="Courier New"/>
                <a:ea typeface="Courier New"/>
                <a:cs typeface="Courier New"/>
                <a:sym typeface="Courier New"/>
              </a:rPr>
              <a:t>)</a:t>
            </a:r>
            <a:r>
              <a:rPr b="1" lang="en-US" sz="2000">
                <a:solidFill>
                  <a:srgbClr val="CC7832"/>
                </a:solidFill>
                <a:highlight>
                  <a:srgbClr val="2B2B2B"/>
                </a:highlight>
                <a:latin typeface="Courier New"/>
                <a:ea typeface="Courier New"/>
                <a:cs typeface="Courier New"/>
                <a:sym typeface="Courier New"/>
              </a:rPr>
              <a:t>;</a:t>
            </a:r>
            <a:endParaRPr b="1" sz="2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2000">
                <a:solidFill>
                  <a:srgbClr val="9876AA"/>
                </a:solidFill>
                <a:highlight>
                  <a:srgbClr val="2B2B2B"/>
                </a:highlight>
                <a:latin typeface="Courier New"/>
                <a:ea typeface="Courier New"/>
                <a:cs typeface="Courier New"/>
                <a:sym typeface="Courier New"/>
              </a:rPr>
              <a:t>&lt;/</a:t>
            </a:r>
            <a:r>
              <a:rPr b="1" lang="en-US" sz="2000">
                <a:solidFill>
                  <a:srgbClr val="E8BF6A"/>
                </a:solidFill>
                <a:highlight>
                  <a:srgbClr val="2B2B2B"/>
                </a:highlight>
                <a:latin typeface="Courier New"/>
                <a:ea typeface="Courier New"/>
                <a:cs typeface="Courier New"/>
                <a:sym typeface="Courier New"/>
              </a:rPr>
              <a:t>script</a:t>
            </a:r>
            <a:r>
              <a:rPr b="1" i="1" lang="en-US" sz="2000">
                <a:solidFill>
                  <a:srgbClr val="9876AA"/>
                </a:solidFill>
                <a:highlight>
                  <a:srgbClr val="2B2B2B"/>
                </a:highlight>
                <a:latin typeface="Courier New"/>
                <a:ea typeface="Courier New"/>
                <a:cs typeface="Courier New"/>
                <a:sym typeface="Courier New"/>
              </a:rPr>
              <a:t>&gt;</a:t>
            </a:r>
            <a:endParaRPr b="1" sz="2000">
              <a:solidFill>
                <a:srgbClr val="CC7832"/>
              </a:solidFill>
              <a:highlight>
                <a:srgbClr val="2B2B2B"/>
              </a:highlight>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11a1fa9330f_0_4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4" name="Google Shape;184;g11a1fa9330f_0_4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85" name="Google Shape;185;g11a1fa9330f_0_4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86" name="Google Shape;186;g11a1fa9330f_0_4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 name="Google Shape;187;g11a1fa9330f_0_47"/>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Export Default</a:t>
            </a:r>
            <a:endParaRPr b="0" i="0" sz="1400" u="none" cap="none" strike="noStrike">
              <a:solidFill>
                <a:srgbClr val="000000"/>
              </a:solidFill>
              <a:latin typeface="Arial"/>
              <a:ea typeface="Arial"/>
              <a:cs typeface="Arial"/>
              <a:sym typeface="Arial"/>
            </a:endParaRPr>
          </a:p>
        </p:txBody>
      </p:sp>
      <p:sp>
        <p:nvSpPr>
          <p:cNvPr id="188" name="Google Shape;188;g11a1fa9330f_0_47"/>
          <p:cNvSpPr txBox="1"/>
          <p:nvPr/>
        </p:nvSpPr>
        <p:spPr>
          <a:xfrm>
            <a:off x="450825" y="829425"/>
            <a:ext cx="8019900" cy="24012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b="1" lang="en-US" sz="2400">
                <a:latin typeface="Calibri"/>
                <a:ea typeface="Calibri"/>
                <a:cs typeface="Calibri"/>
                <a:sym typeface="Calibri"/>
              </a:rPr>
              <a:t>export default </a:t>
            </a:r>
            <a:r>
              <a:rPr lang="en-US" sz="2400">
                <a:latin typeface="Calibri"/>
                <a:ea typeface="Calibri"/>
                <a:cs typeface="Calibri"/>
                <a:sym typeface="Calibri"/>
              </a:rPr>
              <a:t>là từ được sử dụng để xuất một thành phần mặc định đại diện cho một module</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Một module sẽ chỉ cho phép có một thành phần </a:t>
            </a:r>
            <a:r>
              <a:rPr b="1" lang="en-US" sz="2400">
                <a:latin typeface="Calibri"/>
                <a:ea typeface="Calibri"/>
                <a:cs typeface="Calibri"/>
                <a:sym typeface="Calibri"/>
              </a:rPr>
              <a:t>default</a:t>
            </a:r>
            <a:r>
              <a:rPr lang="en-US" sz="2400">
                <a:latin typeface="Calibri"/>
                <a:ea typeface="Calibri"/>
                <a:cs typeface="Calibri"/>
                <a:sym typeface="Calibri"/>
              </a:rPr>
              <a:t> duy nhất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Khi </a:t>
            </a:r>
            <a:r>
              <a:rPr b="1" lang="en-US" sz="2400">
                <a:latin typeface="Calibri"/>
                <a:ea typeface="Calibri"/>
                <a:cs typeface="Calibri"/>
                <a:sym typeface="Calibri"/>
              </a:rPr>
              <a:t>import</a:t>
            </a:r>
            <a:r>
              <a:rPr lang="en-US" sz="2400">
                <a:latin typeface="Calibri"/>
                <a:ea typeface="Calibri"/>
                <a:cs typeface="Calibri"/>
                <a:sym typeface="Calibri"/>
              </a:rPr>
              <a:t> một thành phần </a:t>
            </a:r>
            <a:r>
              <a:rPr b="1" lang="en-US" sz="2400">
                <a:latin typeface="Calibri"/>
                <a:ea typeface="Calibri"/>
                <a:cs typeface="Calibri"/>
                <a:sym typeface="Calibri"/>
              </a:rPr>
              <a:t>default</a:t>
            </a:r>
            <a:r>
              <a:rPr lang="en-US" sz="2400">
                <a:latin typeface="Calibri"/>
                <a:ea typeface="Calibri"/>
                <a:cs typeface="Calibri"/>
                <a:sym typeface="Calibri"/>
              </a:rPr>
              <a:t> ta không cần chỉ định tên của thành phần đó, có thể đặt nó với tên bất kỳ</a:t>
            </a:r>
            <a:endParaRPr sz="2400">
              <a:latin typeface="Calibri"/>
              <a:ea typeface="Calibri"/>
              <a:cs typeface="Calibri"/>
              <a:sym typeface="Calibri"/>
            </a:endParaRPr>
          </a:p>
        </p:txBody>
      </p:sp>
      <p:sp>
        <p:nvSpPr>
          <p:cNvPr id="189" name="Google Shape;189;g11a1fa9330f_0_47"/>
          <p:cNvSpPr txBox="1"/>
          <p:nvPr/>
        </p:nvSpPr>
        <p:spPr>
          <a:xfrm>
            <a:off x="52100" y="4277813"/>
            <a:ext cx="3970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rgbClr val="CC7832"/>
                </a:solidFill>
                <a:highlight>
                  <a:srgbClr val="2B2B2B"/>
                </a:highlight>
                <a:latin typeface="Courier New"/>
                <a:ea typeface="Courier New"/>
                <a:cs typeface="Courier New"/>
                <a:sym typeface="Courier New"/>
              </a:rPr>
              <a:t>const </a:t>
            </a:r>
            <a:r>
              <a:rPr b="1" i="1" lang="en-US" sz="2400">
                <a:solidFill>
                  <a:srgbClr val="9876AA"/>
                </a:solidFill>
                <a:highlight>
                  <a:srgbClr val="2B2B2B"/>
                </a:highlight>
                <a:latin typeface="Courier New"/>
                <a:ea typeface="Courier New"/>
                <a:cs typeface="Courier New"/>
                <a:sym typeface="Courier New"/>
              </a:rPr>
              <a:t>name </a:t>
            </a:r>
            <a:r>
              <a:rPr lang="en-US" sz="2400">
                <a:solidFill>
                  <a:srgbClr val="A9B7C6"/>
                </a:solidFill>
                <a:highlight>
                  <a:srgbClr val="2B2B2B"/>
                </a:highlight>
                <a:latin typeface="Courier New"/>
                <a:ea typeface="Courier New"/>
                <a:cs typeface="Courier New"/>
                <a:sym typeface="Courier New"/>
              </a:rPr>
              <a:t>= </a:t>
            </a:r>
            <a:r>
              <a:rPr lang="en-US" sz="2400">
                <a:solidFill>
                  <a:srgbClr val="6A8759"/>
                </a:solidFill>
                <a:highlight>
                  <a:srgbClr val="2B2B2B"/>
                </a:highlight>
                <a:latin typeface="Courier New"/>
                <a:ea typeface="Courier New"/>
                <a:cs typeface="Courier New"/>
                <a:sym typeface="Courier New"/>
              </a:rPr>
              <a:t>'John'</a:t>
            </a:r>
            <a:r>
              <a:rPr lang="en-US" sz="2400">
                <a:solidFill>
                  <a:srgbClr val="CC7832"/>
                </a:solidFill>
                <a:highlight>
                  <a:srgbClr val="2B2B2B"/>
                </a:highlight>
                <a:latin typeface="Courier New"/>
                <a:ea typeface="Courier New"/>
                <a:cs typeface="Courier New"/>
                <a:sym typeface="Courier New"/>
              </a:rPr>
              <a:t>;</a:t>
            </a:r>
            <a:endParaRPr sz="24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US" sz="2400">
                <a:solidFill>
                  <a:srgbClr val="CC7832"/>
                </a:solidFill>
                <a:highlight>
                  <a:srgbClr val="2B2B2B"/>
                </a:highlight>
                <a:latin typeface="Courier New"/>
                <a:ea typeface="Courier New"/>
                <a:cs typeface="Courier New"/>
                <a:sym typeface="Courier New"/>
              </a:rPr>
              <a:t>export default </a:t>
            </a:r>
            <a:r>
              <a:rPr b="1" i="1" lang="en-US" sz="2400">
                <a:solidFill>
                  <a:srgbClr val="9876AA"/>
                </a:solidFill>
                <a:highlight>
                  <a:srgbClr val="2B2B2B"/>
                </a:highlight>
                <a:latin typeface="Courier New"/>
                <a:ea typeface="Courier New"/>
                <a:cs typeface="Courier New"/>
                <a:sym typeface="Courier New"/>
              </a:rPr>
              <a:t>name</a:t>
            </a:r>
            <a:r>
              <a:rPr lang="en-US" sz="2400">
                <a:solidFill>
                  <a:srgbClr val="CC7832"/>
                </a:solidFill>
                <a:highlight>
                  <a:srgbClr val="2B2B2B"/>
                </a:highlight>
                <a:latin typeface="Courier New"/>
                <a:ea typeface="Courier New"/>
                <a:cs typeface="Courier New"/>
                <a:sym typeface="Courier New"/>
              </a:rPr>
              <a:t>;</a:t>
            </a:r>
            <a:endParaRPr sz="2400">
              <a:solidFill>
                <a:srgbClr val="CC7832"/>
              </a:solidFill>
              <a:highlight>
                <a:srgbClr val="2B2B2B"/>
              </a:highlight>
              <a:latin typeface="Courier New"/>
              <a:ea typeface="Courier New"/>
              <a:cs typeface="Courier New"/>
              <a:sym typeface="Courier New"/>
            </a:endParaRPr>
          </a:p>
        </p:txBody>
      </p:sp>
      <p:sp>
        <p:nvSpPr>
          <p:cNvPr id="190" name="Google Shape;190;g11a1fa9330f_0_47"/>
          <p:cNvSpPr txBox="1"/>
          <p:nvPr/>
        </p:nvSpPr>
        <p:spPr>
          <a:xfrm>
            <a:off x="4022900" y="3481050"/>
            <a:ext cx="4968000" cy="2031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2400">
                <a:solidFill>
                  <a:srgbClr val="9876AA"/>
                </a:solidFill>
                <a:highlight>
                  <a:schemeClr val="dk1"/>
                </a:highlight>
                <a:latin typeface="Courier New"/>
                <a:ea typeface="Courier New"/>
                <a:cs typeface="Courier New"/>
                <a:sym typeface="Courier New"/>
              </a:rPr>
              <a:t>&lt;</a:t>
            </a:r>
            <a:r>
              <a:rPr b="1" lang="en-US" sz="2400">
                <a:solidFill>
                  <a:srgbClr val="E8BF6A"/>
                </a:solidFill>
                <a:highlight>
                  <a:schemeClr val="dk1"/>
                </a:highlight>
                <a:latin typeface="Courier New"/>
                <a:ea typeface="Courier New"/>
                <a:cs typeface="Courier New"/>
                <a:sym typeface="Courier New"/>
              </a:rPr>
              <a:t>script </a:t>
            </a:r>
            <a:r>
              <a:rPr b="1" lang="en-US" sz="2400">
                <a:solidFill>
                  <a:srgbClr val="BABABA"/>
                </a:solidFill>
                <a:highlight>
                  <a:schemeClr val="dk1"/>
                </a:highlight>
                <a:latin typeface="Courier New"/>
                <a:ea typeface="Courier New"/>
                <a:cs typeface="Courier New"/>
                <a:sym typeface="Courier New"/>
              </a:rPr>
              <a:t>type</a:t>
            </a:r>
            <a:r>
              <a:rPr b="1" lang="en-US" sz="2400">
                <a:solidFill>
                  <a:srgbClr val="A5C261"/>
                </a:solidFill>
                <a:highlight>
                  <a:schemeClr val="dk1"/>
                </a:highlight>
                <a:latin typeface="Courier New"/>
                <a:ea typeface="Courier New"/>
                <a:cs typeface="Courier New"/>
                <a:sym typeface="Courier New"/>
              </a:rPr>
              <a:t>="module"</a:t>
            </a:r>
            <a:r>
              <a:rPr b="1" i="1" lang="en-US" sz="2400">
                <a:solidFill>
                  <a:srgbClr val="9876AA"/>
                </a:solidFill>
                <a:highlight>
                  <a:schemeClr val="dk1"/>
                </a:highlight>
                <a:latin typeface="Courier New"/>
                <a:ea typeface="Courier New"/>
                <a:cs typeface="Courier New"/>
                <a:sym typeface="Courier New"/>
              </a:rPr>
              <a:t>&gt;</a:t>
            </a:r>
            <a:endParaRPr b="1" i="1" sz="2400">
              <a:solidFill>
                <a:srgbClr val="9876AA"/>
              </a:solidFill>
              <a:highlight>
                <a:schemeClr val="dk1"/>
              </a:highlight>
              <a:latin typeface="Courier New"/>
              <a:ea typeface="Courier New"/>
              <a:cs typeface="Courier New"/>
              <a:sym typeface="Courier New"/>
            </a:endParaRPr>
          </a:p>
          <a:p>
            <a:pPr indent="0" lvl="0" marL="0" rtl="0" algn="l">
              <a:spcBef>
                <a:spcPts val="0"/>
              </a:spcBef>
              <a:spcAft>
                <a:spcPts val="0"/>
              </a:spcAft>
              <a:buNone/>
            </a:pPr>
            <a:r>
              <a:rPr b="1" i="1" lang="en-US" sz="2400">
                <a:solidFill>
                  <a:srgbClr val="9876AA"/>
                </a:solidFill>
                <a:highlight>
                  <a:schemeClr val="dk1"/>
                </a:highlight>
                <a:latin typeface="Courier New"/>
                <a:ea typeface="Courier New"/>
                <a:cs typeface="Courier New"/>
                <a:sym typeface="Courier New"/>
              </a:rPr>
              <a:t>   </a:t>
            </a:r>
            <a:r>
              <a:rPr b="1" lang="en-US" sz="2400">
                <a:solidFill>
                  <a:srgbClr val="CC7832"/>
                </a:solidFill>
                <a:highlight>
                  <a:schemeClr val="dk1"/>
                </a:highlight>
                <a:latin typeface="Courier New"/>
                <a:ea typeface="Courier New"/>
                <a:cs typeface="Courier New"/>
                <a:sym typeface="Courier New"/>
              </a:rPr>
              <a:t>import </a:t>
            </a:r>
            <a:r>
              <a:rPr b="1" i="1" lang="en-US" sz="2400">
                <a:solidFill>
                  <a:srgbClr val="9876AA"/>
                </a:solidFill>
                <a:highlight>
                  <a:schemeClr val="dk1"/>
                </a:highlight>
                <a:latin typeface="Courier New"/>
                <a:ea typeface="Courier New"/>
                <a:cs typeface="Courier New"/>
                <a:sym typeface="Courier New"/>
              </a:rPr>
              <a:t>myName </a:t>
            </a:r>
            <a:r>
              <a:rPr b="1" lang="en-US" sz="2400">
                <a:solidFill>
                  <a:srgbClr val="CC7832"/>
                </a:solidFill>
                <a:highlight>
                  <a:schemeClr val="dk1"/>
                </a:highlight>
                <a:latin typeface="Courier New"/>
                <a:ea typeface="Courier New"/>
                <a:cs typeface="Courier New"/>
                <a:sym typeface="Courier New"/>
              </a:rPr>
              <a:t>from </a:t>
            </a:r>
            <a:r>
              <a:rPr b="1" lang="en-US" sz="2400">
                <a:solidFill>
                  <a:srgbClr val="6A8759"/>
                </a:solidFill>
                <a:highlight>
                  <a:schemeClr val="dk1"/>
                </a:highlight>
                <a:latin typeface="Courier New"/>
                <a:ea typeface="Courier New"/>
                <a:cs typeface="Courier New"/>
                <a:sym typeface="Courier New"/>
              </a:rPr>
              <a:t>"./js/exportVariable.js"</a:t>
            </a:r>
            <a:r>
              <a:rPr b="1" lang="en-US" sz="2400">
                <a:solidFill>
                  <a:srgbClr val="CC7832"/>
                </a:solidFill>
                <a:highlight>
                  <a:schemeClr val="dk1"/>
                </a:highlight>
                <a:latin typeface="Courier New"/>
                <a:ea typeface="Courier New"/>
                <a:cs typeface="Courier New"/>
                <a:sym typeface="Courier New"/>
              </a:rPr>
              <a:t>;</a:t>
            </a:r>
            <a:endParaRPr b="1" sz="2400">
              <a:solidFill>
                <a:srgbClr val="CC7832"/>
              </a:solidFill>
              <a:highlight>
                <a:schemeClr val="dk1"/>
              </a:highlight>
              <a:latin typeface="Courier New"/>
              <a:ea typeface="Courier New"/>
              <a:cs typeface="Courier New"/>
              <a:sym typeface="Courier New"/>
            </a:endParaRPr>
          </a:p>
          <a:p>
            <a:pPr indent="0" lvl="0" marL="0" rtl="0" algn="l">
              <a:spcBef>
                <a:spcPts val="0"/>
              </a:spcBef>
              <a:spcAft>
                <a:spcPts val="0"/>
              </a:spcAft>
              <a:buNone/>
            </a:pPr>
            <a:r>
              <a:rPr b="1" lang="en-US" sz="2400">
                <a:solidFill>
                  <a:srgbClr val="CC7832"/>
                </a:solidFill>
                <a:highlight>
                  <a:schemeClr val="dk1"/>
                </a:highlight>
                <a:latin typeface="Courier New"/>
                <a:ea typeface="Courier New"/>
                <a:cs typeface="Courier New"/>
                <a:sym typeface="Courier New"/>
              </a:rPr>
              <a:t>   </a:t>
            </a:r>
            <a:r>
              <a:rPr b="1" i="1" lang="en-US" sz="2400">
                <a:solidFill>
                  <a:srgbClr val="9876AA"/>
                </a:solidFill>
                <a:highlight>
                  <a:schemeClr val="dk1"/>
                </a:highlight>
                <a:latin typeface="Courier New"/>
                <a:ea typeface="Courier New"/>
                <a:cs typeface="Courier New"/>
                <a:sym typeface="Courier New"/>
              </a:rPr>
              <a:t>console</a:t>
            </a:r>
            <a:r>
              <a:rPr b="1" lang="en-US" sz="2400">
                <a:solidFill>
                  <a:srgbClr val="A9B7C6"/>
                </a:solidFill>
                <a:highlight>
                  <a:schemeClr val="dk1"/>
                </a:highlight>
                <a:latin typeface="Courier New"/>
                <a:ea typeface="Courier New"/>
                <a:cs typeface="Courier New"/>
                <a:sym typeface="Courier New"/>
              </a:rPr>
              <a:t>.</a:t>
            </a:r>
            <a:r>
              <a:rPr b="1" lang="en-US" sz="2400">
                <a:solidFill>
                  <a:srgbClr val="FFC66D"/>
                </a:solidFill>
                <a:highlight>
                  <a:schemeClr val="dk1"/>
                </a:highlight>
                <a:latin typeface="Courier New"/>
                <a:ea typeface="Courier New"/>
                <a:cs typeface="Courier New"/>
                <a:sym typeface="Courier New"/>
              </a:rPr>
              <a:t>log</a:t>
            </a:r>
            <a:r>
              <a:rPr b="1" lang="en-US" sz="2400">
                <a:solidFill>
                  <a:srgbClr val="A9B7C6"/>
                </a:solidFill>
                <a:highlight>
                  <a:schemeClr val="dk1"/>
                </a:highlight>
                <a:latin typeface="Courier New"/>
                <a:ea typeface="Courier New"/>
                <a:cs typeface="Courier New"/>
                <a:sym typeface="Courier New"/>
              </a:rPr>
              <a:t>(</a:t>
            </a:r>
            <a:r>
              <a:rPr b="1" i="1" lang="en-US" sz="2400">
                <a:solidFill>
                  <a:srgbClr val="9876AA"/>
                </a:solidFill>
                <a:highlight>
                  <a:schemeClr val="dk1"/>
                </a:highlight>
                <a:latin typeface="Courier New"/>
                <a:ea typeface="Courier New"/>
                <a:cs typeface="Courier New"/>
                <a:sym typeface="Courier New"/>
              </a:rPr>
              <a:t>myName</a:t>
            </a:r>
            <a:r>
              <a:rPr b="1" lang="en-US" sz="2400">
                <a:solidFill>
                  <a:srgbClr val="A9B7C6"/>
                </a:solidFill>
                <a:highlight>
                  <a:schemeClr val="dk1"/>
                </a:highlight>
                <a:latin typeface="Courier New"/>
                <a:ea typeface="Courier New"/>
                <a:cs typeface="Courier New"/>
                <a:sym typeface="Courier New"/>
              </a:rPr>
              <a:t>)</a:t>
            </a:r>
            <a:r>
              <a:rPr b="1" lang="en-US" sz="2400">
                <a:solidFill>
                  <a:srgbClr val="CC7832"/>
                </a:solidFill>
                <a:highlight>
                  <a:schemeClr val="dk1"/>
                </a:highlight>
                <a:latin typeface="Courier New"/>
                <a:ea typeface="Courier New"/>
                <a:cs typeface="Courier New"/>
                <a:sym typeface="Courier New"/>
              </a:rPr>
              <a:t>;</a:t>
            </a:r>
            <a:endParaRPr b="1" sz="2400">
              <a:solidFill>
                <a:srgbClr val="CC7832"/>
              </a:solidFill>
              <a:highlight>
                <a:schemeClr val="dk1"/>
              </a:highlight>
              <a:latin typeface="Courier New"/>
              <a:ea typeface="Courier New"/>
              <a:cs typeface="Courier New"/>
              <a:sym typeface="Courier New"/>
            </a:endParaRPr>
          </a:p>
          <a:p>
            <a:pPr indent="0" lvl="0" marL="0" rtl="0" algn="l">
              <a:spcBef>
                <a:spcPts val="0"/>
              </a:spcBef>
              <a:spcAft>
                <a:spcPts val="0"/>
              </a:spcAft>
              <a:buNone/>
            </a:pPr>
            <a:r>
              <a:rPr b="1" i="1" lang="en-US" sz="2400">
                <a:solidFill>
                  <a:srgbClr val="9876AA"/>
                </a:solidFill>
                <a:highlight>
                  <a:schemeClr val="dk1"/>
                </a:highlight>
                <a:latin typeface="Courier New"/>
                <a:ea typeface="Courier New"/>
                <a:cs typeface="Courier New"/>
                <a:sym typeface="Courier New"/>
              </a:rPr>
              <a:t>&lt;/</a:t>
            </a:r>
            <a:r>
              <a:rPr b="1" lang="en-US" sz="2400">
                <a:solidFill>
                  <a:srgbClr val="E8BF6A"/>
                </a:solidFill>
                <a:highlight>
                  <a:schemeClr val="dk1"/>
                </a:highlight>
                <a:latin typeface="Courier New"/>
                <a:ea typeface="Courier New"/>
                <a:cs typeface="Courier New"/>
                <a:sym typeface="Courier New"/>
              </a:rPr>
              <a:t>script</a:t>
            </a:r>
            <a:r>
              <a:rPr b="1" i="1" lang="en-US" sz="2400">
                <a:solidFill>
                  <a:srgbClr val="9876AA"/>
                </a:solidFill>
                <a:highlight>
                  <a:schemeClr val="dk1"/>
                </a:highlight>
                <a:latin typeface="Courier New"/>
                <a:ea typeface="Courier New"/>
                <a:cs typeface="Courier New"/>
                <a:sym typeface="Courier New"/>
              </a:rPr>
              <a:t>&gt;</a:t>
            </a:r>
            <a:endParaRPr b="1" i="1" sz="2400">
              <a:solidFill>
                <a:srgbClr val="9876AA"/>
              </a:solidFill>
              <a:highlight>
                <a:schemeClr val="dk1"/>
              </a:highlight>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11a1fa9330f_0_8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6" name="Google Shape;196;g11a1fa9330f_0_8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197" name="Google Shape;197;g11a1fa9330f_0_8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98" name="Google Shape;198;g11a1fa9330f_0_8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9" name="Google Shape;199;g11a1fa9330f_0_87"/>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Demo</a:t>
            </a:r>
            <a:endParaRPr b="0" i="0" sz="1400" u="none" cap="none" strike="noStrike">
              <a:solidFill>
                <a:srgbClr val="000000"/>
              </a:solidFill>
              <a:latin typeface="Arial"/>
              <a:ea typeface="Arial"/>
              <a:cs typeface="Arial"/>
              <a:sym typeface="Arial"/>
            </a:endParaRPr>
          </a:p>
        </p:txBody>
      </p:sp>
      <p:sp>
        <p:nvSpPr>
          <p:cNvPr id="200" name="Google Shape;200;g11a1fa9330f_0_87"/>
          <p:cNvSpPr txBox="1"/>
          <p:nvPr/>
        </p:nvSpPr>
        <p:spPr>
          <a:xfrm>
            <a:off x="494175" y="2874900"/>
            <a:ext cx="8019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Giáo viên demo về </a:t>
            </a:r>
            <a:r>
              <a:rPr b="1" lang="en-US" sz="2400">
                <a:latin typeface="Calibri"/>
                <a:ea typeface="Calibri"/>
                <a:cs typeface="Calibri"/>
                <a:sym typeface="Calibri"/>
              </a:rPr>
              <a:t>import/export/export default</a:t>
            </a:r>
            <a:r>
              <a:rPr lang="en-US" sz="2400">
                <a:latin typeface="Calibri"/>
                <a:ea typeface="Calibri"/>
                <a:cs typeface="Calibri"/>
                <a:sym typeface="Calibri"/>
              </a:rPr>
              <a:t> cho học viên</a:t>
            </a:r>
            <a:endParaRPr sz="24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11a1fa9330f_0_76"/>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06" name="Google Shape;206;g11a1fa9330f_0_76"/>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07" name="Google Shape;207;g11a1fa9330f_0_7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08" name="Google Shape;208;g11a1fa9330f_0_76"/>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 name="Google Shape;209;g11a1fa9330f_0_76"/>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ES6 module được import như thế nào</a:t>
            </a:r>
            <a:endParaRPr b="0" i="0" sz="1400" u="none" cap="none" strike="noStrike">
              <a:solidFill>
                <a:srgbClr val="000000"/>
              </a:solidFill>
              <a:latin typeface="Arial"/>
              <a:ea typeface="Arial"/>
              <a:cs typeface="Arial"/>
              <a:sym typeface="Arial"/>
            </a:endParaRPr>
          </a:p>
        </p:txBody>
      </p:sp>
      <p:pic>
        <p:nvPicPr>
          <p:cNvPr id="210" name="Google Shape;210;g11a1fa9330f_0_76"/>
          <p:cNvPicPr preferRelativeResize="0"/>
          <p:nvPr/>
        </p:nvPicPr>
        <p:blipFill>
          <a:blip r:embed="rId4">
            <a:alphaModFix/>
          </a:blip>
          <a:stretch>
            <a:fillRect/>
          </a:stretch>
        </p:blipFill>
        <p:spPr>
          <a:xfrm>
            <a:off x="344975" y="747412"/>
            <a:ext cx="8165456" cy="52514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11a1fa9330f_0_9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6" name="Google Shape;216;g11a1fa9330f_0_9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17" name="Google Shape;217;g11a1fa9330f_0_9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18" name="Google Shape;218;g11a1fa9330f_0_9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g11a1fa9330f_0_99"/>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Module Pattern</a:t>
            </a:r>
            <a:endParaRPr b="0" i="0" sz="1400" u="none" cap="none" strike="noStrike">
              <a:solidFill>
                <a:srgbClr val="000000"/>
              </a:solidFill>
              <a:latin typeface="Arial"/>
              <a:ea typeface="Arial"/>
              <a:cs typeface="Arial"/>
              <a:sym typeface="Arial"/>
            </a:endParaRPr>
          </a:p>
        </p:txBody>
      </p:sp>
      <p:sp>
        <p:nvSpPr>
          <p:cNvPr id="220" name="Google Shape;220;g11a1fa9330f_0_99"/>
          <p:cNvSpPr txBox="1"/>
          <p:nvPr/>
        </p:nvSpPr>
        <p:spPr>
          <a:xfrm>
            <a:off x="444575" y="1028700"/>
            <a:ext cx="8357700" cy="46176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Trước khi native module được giới thiệu trong JavaScript ES6, người ta thường sử dụng một mẫu thiết kế gọi là module pattern để xây dựng các module độc lập trong chương trình </a:t>
            </a:r>
            <a:endParaRPr sz="2400">
              <a:latin typeface="Calibri"/>
              <a:ea typeface="Calibri"/>
              <a:cs typeface="Calibri"/>
              <a:sym typeface="Calibri"/>
            </a:endParaRPr>
          </a:p>
          <a:p>
            <a:pPr indent="-381000" lvl="0" marL="457200" rtl="0" algn="l">
              <a:spcBef>
                <a:spcPts val="0"/>
              </a:spcBef>
              <a:spcAft>
                <a:spcPts val="0"/>
              </a:spcAft>
              <a:buSzPts val="2400"/>
              <a:buChar char="●"/>
            </a:pPr>
            <a:r>
              <a:rPr lang="en-US" sz="2400">
                <a:latin typeface="Calibri"/>
                <a:ea typeface="Calibri"/>
                <a:cs typeface="Calibri"/>
                <a:sym typeface="Calibri"/>
              </a:rPr>
              <a:t>Mẫu thiết kế này sử dụng một IIFE ( I</a:t>
            </a:r>
            <a:r>
              <a:rPr lang="en-US" sz="2400">
                <a:solidFill>
                  <a:srgbClr val="202124"/>
                </a:solidFill>
                <a:highlight>
                  <a:srgbClr val="FFFFFF"/>
                </a:highlight>
              </a:rPr>
              <a:t>mmediately Invoked Function Expression</a:t>
            </a:r>
            <a:r>
              <a:rPr lang="en-US" sz="2400">
                <a:latin typeface="Calibri"/>
                <a:ea typeface="Calibri"/>
                <a:cs typeface="Calibri"/>
                <a:sym typeface="Calibri"/>
              </a:rPr>
              <a:t>) để bao bọc lấy các thành phần bên trong (hàm,biến, hằng…), các thành p</a:t>
            </a:r>
            <a:r>
              <a:rPr lang="en-US" sz="2400">
                <a:latin typeface="Calibri"/>
                <a:ea typeface="Calibri"/>
                <a:cs typeface="Calibri"/>
                <a:sym typeface="Calibri"/>
              </a:rPr>
              <a:t>hần muốn để lộ ra sẽ được trả về bằng câu lệnh return trong hàm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IIFE là một hàm được định nghĩa và gọi ngay lập tức và chỉ có thể thực thi đúng một lần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IIFE còn có tên gọi khác là self invoke function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jQuery là một thư viện JS nổi tiếng sử dụng module pattern này</a:t>
            </a:r>
            <a:endParaRPr sz="24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11a1fa9330f_0_11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26" name="Google Shape;226;g11a1fa9330f_0_11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27" name="Google Shape;227;g11a1fa9330f_0_11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28" name="Google Shape;228;g11a1fa9330f_0_11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9" name="Google Shape;229;g11a1fa9330f_0_110"/>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Module Pattern</a:t>
            </a:r>
            <a:endParaRPr b="0" i="0" sz="1400" u="none" cap="none" strike="noStrike">
              <a:solidFill>
                <a:srgbClr val="000000"/>
              </a:solidFill>
              <a:latin typeface="Arial"/>
              <a:ea typeface="Arial"/>
              <a:cs typeface="Arial"/>
              <a:sym typeface="Arial"/>
            </a:endParaRPr>
          </a:p>
        </p:txBody>
      </p:sp>
      <p:sp>
        <p:nvSpPr>
          <p:cNvPr id="230" name="Google Shape;230;g11a1fa9330f_0_110"/>
          <p:cNvSpPr txBox="1"/>
          <p:nvPr/>
        </p:nvSpPr>
        <p:spPr>
          <a:xfrm>
            <a:off x="123150" y="971963"/>
            <a:ext cx="8897700" cy="4802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const </a:t>
            </a:r>
            <a:r>
              <a:rPr b="1" i="1" lang="en-US" sz="1000">
                <a:solidFill>
                  <a:srgbClr val="9876AA"/>
                </a:solidFill>
                <a:highlight>
                  <a:srgbClr val="2B2B2B"/>
                </a:highlight>
                <a:latin typeface="Courier New"/>
                <a:ea typeface="Courier New"/>
                <a:cs typeface="Courier New"/>
                <a:sym typeface="Courier New"/>
              </a:rPr>
              <a:t>calculator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lang="en-US" sz="1000">
                <a:solidFill>
                  <a:srgbClr val="A9B7C6"/>
                </a:solidFill>
                <a:highlight>
                  <a:srgbClr val="2B2B2B"/>
                </a:highlight>
                <a:latin typeface="Courier New"/>
                <a:ea typeface="Courier New"/>
                <a:cs typeface="Courier New"/>
                <a:sym typeface="Courier New"/>
              </a:rPr>
              <a:t>(){</a:t>
            </a:r>
            <a:endParaRPr b="1"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const </a:t>
            </a:r>
            <a:r>
              <a:rPr b="1" lang="en-US" sz="1000">
                <a:solidFill>
                  <a:srgbClr val="FFC66D"/>
                </a:solidFill>
                <a:highlight>
                  <a:srgbClr val="2B2B2B"/>
                </a:highlight>
                <a:latin typeface="Courier New"/>
                <a:ea typeface="Courier New"/>
                <a:cs typeface="Courier New"/>
                <a:sym typeface="Courier New"/>
              </a:rPr>
              <a:t>add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i="1" lang="en-US" sz="1000">
                <a:solidFill>
                  <a:srgbClr val="9876AA"/>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a</a:t>
            </a:r>
            <a:r>
              <a:rPr b="1" lang="en-US" sz="1000">
                <a:solidFill>
                  <a:srgbClr val="CC7832"/>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b</a:t>
            </a:r>
            <a:r>
              <a:rPr b="1" i="1" lang="en-US" sz="1000">
                <a:solidFill>
                  <a:srgbClr val="9876AA"/>
                </a:solidFill>
                <a:highlight>
                  <a:srgbClr val="2B2B2B"/>
                </a:highlight>
                <a:latin typeface="Courier New"/>
                <a:ea typeface="Courier New"/>
                <a:cs typeface="Courier New"/>
                <a:sym typeface="Courier New"/>
              </a:rPr>
              <a:t>) {</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lang="en-US" sz="1000">
                <a:solidFill>
                  <a:srgbClr val="A9B7C6"/>
                </a:solidFill>
                <a:highlight>
                  <a:srgbClr val="2B2B2B"/>
                </a:highlight>
                <a:latin typeface="Courier New"/>
                <a:ea typeface="Courier New"/>
                <a:cs typeface="Courier New"/>
                <a:sym typeface="Courier New"/>
              </a:rPr>
              <a:t>a+b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const </a:t>
            </a:r>
            <a:r>
              <a:rPr b="1" lang="en-US" sz="1000">
                <a:solidFill>
                  <a:srgbClr val="FFC66D"/>
                </a:solidFill>
                <a:highlight>
                  <a:srgbClr val="2B2B2B"/>
                </a:highlight>
                <a:latin typeface="Courier New"/>
                <a:ea typeface="Courier New"/>
                <a:cs typeface="Courier New"/>
                <a:sym typeface="Courier New"/>
              </a:rPr>
              <a:t>sub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i="1" lang="en-US" sz="1000">
                <a:solidFill>
                  <a:srgbClr val="9876AA"/>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a</a:t>
            </a:r>
            <a:r>
              <a:rPr b="1" lang="en-US" sz="1000">
                <a:solidFill>
                  <a:srgbClr val="CC7832"/>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b</a:t>
            </a:r>
            <a:r>
              <a:rPr b="1" i="1" lang="en-US" sz="1000">
                <a:solidFill>
                  <a:srgbClr val="9876AA"/>
                </a:solidFill>
                <a:highlight>
                  <a:srgbClr val="2B2B2B"/>
                </a:highlight>
                <a:latin typeface="Courier New"/>
                <a:ea typeface="Courier New"/>
                <a:cs typeface="Courier New"/>
                <a:sym typeface="Courier New"/>
              </a:rPr>
              <a:t>) {</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lang="en-US" sz="1000">
                <a:solidFill>
                  <a:srgbClr val="A9B7C6"/>
                </a:solidFill>
                <a:highlight>
                  <a:srgbClr val="2B2B2B"/>
                </a:highlight>
                <a:latin typeface="Courier New"/>
                <a:ea typeface="Courier New"/>
                <a:cs typeface="Courier New"/>
                <a:sym typeface="Courier New"/>
              </a:rPr>
              <a:t>a-b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const </a:t>
            </a:r>
            <a:r>
              <a:rPr b="1" lang="en-US" sz="1000">
                <a:solidFill>
                  <a:srgbClr val="FFC66D"/>
                </a:solidFill>
                <a:highlight>
                  <a:srgbClr val="2B2B2B"/>
                </a:highlight>
                <a:latin typeface="Courier New"/>
                <a:ea typeface="Courier New"/>
                <a:cs typeface="Courier New"/>
                <a:sym typeface="Courier New"/>
              </a:rPr>
              <a:t>mul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i="1" lang="en-US" sz="1000">
                <a:solidFill>
                  <a:srgbClr val="9876AA"/>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a</a:t>
            </a:r>
            <a:r>
              <a:rPr b="1" lang="en-US" sz="1000">
                <a:solidFill>
                  <a:srgbClr val="CC7832"/>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b</a:t>
            </a:r>
            <a:r>
              <a:rPr b="1" i="1" lang="en-US" sz="1000">
                <a:solidFill>
                  <a:srgbClr val="9876AA"/>
                </a:solidFill>
                <a:highlight>
                  <a:srgbClr val="2B2B2B"/>
                </a:highlight>
                <a:latin typeface="Courier New"/>
                <a:ea typeface="Courier New"/>
                <a:cs typeface="Courier New"/>
                <a:sym typeface="Courier New"/>
              </a:rPr>
              <a:t>) {</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lang="en-US" sz="1000">
                <a:solidFill>
                  <a:srgbClr val="A9B7C6"/>
                </a:solidFill>
                <a:highlight>
                  <a:srgbClr val="2B2B2B"/>
                </a:highlight>
                <a:latin typeface="Courier New"/>
                <a:ea typeface="Courier New"/>
                <a:cs typeface="Courier New"/>
                <a:sym typeface="Courier New"/>
              </a:rPr>
              <a:t>a*b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const </a:t>
            </a:r>
            <a:r>
              <a:rPr b="1" lang="en-US" sz="1000">
                <a:solidFill>
                  <a:srgbClr val="FFC66D"/>
                </a:solidFill>
                <a:highlight>
                  <a:srgbClr val="2B2B2B"/>
                </a:highlight>
                <a:latin typeface="Courier New"/>
                <a:ea typeface="Courier New"/>
                <a:cs typeface="Courier New"/>
                <a:sym typeface="Courier New"/>
              </a:rPr>
              <a:t>div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i="1" lang="en-US" sz="1000">
                <a:solidFill>
                  <a:srgbClr val="9876AA"/>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a</a:t>
            </a:r>
            <a:r>
              <a:rPr b="1" lang="en-US" sz="1000">
                <a:solidFill>
                  <a:srgbClr val="CC7832"/>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b</a:t>
            </a:r>
            <a:r>
              <a:rPr b="1" i="1" lang="en-US" sz="1000">
                <a:solidFill>
                  <a:srgbClr val="9876AA"/>
                </a:solidFill>
                <a:highlight>
                  <a:srgbClr val="2B2B2B"/>
                </a:highlight>
                <a:latin typeface="Courier New"/>
                <a:ea typeface="Courier New"/>
                <a:cs typeface="Courier New"/>
                <a:sym typeface="Courier New"/>
              </a:rPr>
              <a:t>) {</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lang="en-US" sz="1000">
                <a:solidFill>
                  <a:srgbClr val="A9B7C6"/>
                </a:solidFill>
                <a:highlight>
                  <a:srgbClr val="2B2B2B"/>
                </a:highlight>
                <a:latin typeface="Courier New"/>
                <a:ea typeface="Courier New"/>
                <a:cs typeface="Courier New"/>
                <a:sym typeface="Courier New"/>
              </a:rPr>
              <a:t>a/b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add</a:t>
            </a:r>
            <a:r>
              <a:rPr b="1" lang="en-US" sz="1000">
                <a:solidFill>
                  <a:srgbClr val="A9B7C6"/>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add</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sub</a:t>
            </a:r>
            <a:r>
              <a:rPr b="1" lang="en-US" sz="1000">
                <a:solidFill>
                  <a:srgbClr val="A9B7C6"/>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sub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mul</a:t>
            </a:r>
            <a:r>
              <a:rPr b="1" lang="en-US" sz="1000">
                <a:solidFill>
                  <a:srgbClr val="A9B7C6"/>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mul</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div</a:t>
            </a:r>
            <a:r>
              <a:rPr b="1" lang="en-US" sz="1000">
                <a:solidFill>
                  <a:srgbClr val="A9B7C6"/>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div</a:t>
            </a:r>
            <a:endParaRPr b="1" sz="1000">
              <a:solidFill>
                <a:srgbClr val="FFC66D"/>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FFC66D"/>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const </a:t>
            </a:r>
            <a:r>
              <a:rPr b="1" i="1" lang="en-US" sz="1000">
                <a:solidFill>
                  <a:srgbClr val="9876AA"/>
                </a:solidFill>
                <a:highlight>
                  <a:srgbClr val="2B2B2B"/>
                </a:highlight>
                <a:latin typeface="Courier New"/>
                <a:ea typeface="Courier New"/>
                <a:cs typeface="Courier New"/>
                <a:sym typeface="Courier New"/>
              </a:rPr>
              <a:t>addValue </a:t>
            </a:r>
            <a:r>
              <a:rPr b="1" lang="en-US" sz="1000">
                <a:solidFill>
                  <a:srgbClr val="A9B7C6"/>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calculator</a:t>
            </a:r>
            <a:r>
              <a:rPr b="1" lang="en-US" sz="1000">
                <a:solidFill>
                  <a:srgbClr val="A9B7C6"/>
                </a:solidFill>
                <a:highlight>
                  <a:srgbClr val="2B2B2B"/>
                </a:highlight>
                <a:latin typeface="Courier New"/>
                <a:ea typeface="Courier New"/>
                <a:cs typeface="Courier New"/>
                <a:sym typeface="Courier New"/>
              </a:rPr>
              <a:t>.</a:t>
            </a:r>
            <a:r>
              <a:rPr b="1" lang="en-US" sz="1000">
                <a:solidFill>
                  <a:srgbClr val="FFC66D"/>
                </a:solidFill>
                <a:highlight>
                  <a:srgbClr val="2B2B2B"/>
                </a:highlight>
                <a:latin typeface="Courier New"/>
                <a:ea typeface="Courier New"/>
                <a:cs typeface="Courier New"/>
                <a:sym typeface="Courier New"/>
              </a:rPr>
              <a:t>add</a:t>
            </a:r>
            <a:r>
              <a:rPr b="1" lang="en-US" sz="1000">
                <a:solidFill>
                  <a:srgbClr val="A9B7C6"/>
                </a:solidFill>
                <a:highlight>
                  <a:srgbClr val="2B2B2B"/>
                </a:highlight>
                <a:latin typeface="Courier New"/>
                <a:ea typeface="Courier New"/>
                <a:cs typeface="Courier New"/>
                <a:sym typeface="Courier New"/>
              </a:rPr>
              <a:t>(</a:t>
            </a:r>
            <a:r>
              <a:rPr b="1" lang="en-US" sz="1000">
                <a:solidFill>
                  <a:srgbClr val="6897BB"/>
                </a:solidFill>
                <a:highlight>
                  <a:srgbClr val="2B2B2B"/>
                </a:highlight>
                <a:latin typeface="Courier New"/>
                <a:ea typeface="Courier New"/>
                <a:cs typeface="Courier New"/>
                <a:sym typeface="Courier New"/>
              </a:rPr>
              <a:t>1</a:t>
            </a:r>
            <a:r>
              <a:rPr b="1" lang="en-US" sz="1000">
                <a:solidFill>
                  <a:srgbClr val="CC7832"/>
                </a:solidFill>
                <a:highlight>
                  <a:srgbClr val="2B2B2B"/>
                </a:highlight>
                <a:latin typeface="Courier New"/>
                <a:ea typeface="Courier New"/>
                <a:cs typeface="Courier New"/>
                <a:sym typeface="Courier New"/>
              </a:rPr>
              <a:t>, </a:t>
            </a:r>
            <a:r>
              <a:rPr b="1" lang="en-US" sz="1000">
                <a:solidFill>
                  <a:srgbClr val="6897BB"/>
                </a:solidFill>
                <a:highlight>
                  <a:srgbClr val="2B2B2B"/>
                </a:highlight>
                <a:latin typeface="Courier New"/>
                <a:ea typeface="Courier New"/>
                <a:cs typeface="Courier New"/>
                <a:sym typeface="Courier New"/>
              </a:rPr>
              <a:t>2</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const </a:t>
            </a:r>
            <a:r>
              <a:rPr b="1" i="1" lang="en-US" sz="1000">
                <a:solidFill>
                  <a:srgbClr val="9876AA"/>
                </a:solidFill>
                <a:highlight>
                  <a:srgbClr val="2B2B2B"/>
                </a:highlight>
                <a:latin typeface="Courier New"/>
                <a:ea typeface="Courier New"/>
                <a:cs typeface="Courier New"/>
                <a:sym typeface="Courier New"/>
              </a:rPr>
              <a:t>subValue </a:t>
            </a:r>
            <a:r>
              <a:rPr b="1" lang="en-US" sz="1000">
                <a:solidFill>
                  <a:srgbClr val="A9B7C6"/>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calculator</a:t>
            </a:r>
            <a:r>
              <a:rPr b="1" lang="en-US" sz="1000">
                <a:solidFill>
                  <a:srgbClr val="A9B7C6"/>
                </a:solidFill>
                <a:highlight>
                  <a:srgbClr val="2B2B2B"/>
                </a:highlight>
                <a:latin typeface="Courier New"/>
                <a:ea typeface="Courier New"/>
                <a:cs typeface="Courier New"/>
                <a:sym typeface="Courier New"/>
              </a:rPr>
              <a:t>.</a:t>
            </a:r>
            <a:r>
              <a:rPr b="1" lang="en-US" sz="1000">
                <a:solidFill>
                  <a:srgbClr val="FFC66D"/>
                </a:solidFill>
                <a:highlight>
                  <a:srgbClr val="2B2B2B"/>
                </a:highlight>
                <a:latin typeface="Courier New"/>
                <a:ea typeface="Courier New"/>
                <a:cs typeface="Courier New"/>
                <a:sym typeface="Courier New"/>
              </a:rPr>
              <a:t>sub</a:t>
            </a:r>
            <a:r>
              <a:rPr b="1" lang="en-US" sz="1000">
                <a:solidFill>
                  <a:srgbClr val="A9B7C6"/>
                </a:solidFill>
                <a:highlight>
                  <a:srgbClr val="2B2B2B"/>
                </a:highlight>
                <a:latin typeface="Courier New"/>
                <a:ea typeface="Courier New"/>
                <a:cs typeface="Courier New"/>
                <a:sym typeface="Courier New"/>
              </a:rPr>
              <a:t>(</a:t>
            </a:r>
            <a:r>
              <a:rPr b="1" lang="en-US" sz="1000">
                <a:solidFill>
                  <a:srgbClr val="6897BB"/>
                </a:solidFill>
                <a:highlight>
                  <a:srgbClr val="2B2B2B"/>
                </a:highlight>
                <a:latin typeface="Courier New"/>
                <a:ea typeface="Courier New"/>
                <a:cs typeface="Courier New"/>
                <a:sym typeface="Courier New"/>
              </a:rPr>
              <a:t>1</a:t>
            </a:r>
            <a:r>
              <a:rPr b="1" lang="en-US" sz="1000">
                <a:solidFill>
                  <a:srgbClr val="CC7832"/>
                </a:solidFill>
                <a:highlight>
                  <a:srgbClr val="2B2B2B"/>
                </a:highlight>
                <a:latin typeface="Courier New"/>
                <a:ea typeface="Courier New"/>
                <a:cs typeface="Courier New"/>
                <a:sym typeface="Courier New"/>
              </a:rPr>
              <a:t>, </a:t>
            </a:r>
            <a:r>
              <a:rPr b="1" lang="en-US" sz="1000">
                <a:solidFill>
                  <a:srgbClr val="6897BB"/>
                </a:solidFill>
                <a:highlight>
                  <a:srgbClr val="2B2B2B"/>
                </a:highlight>
                <a:latin typeface="Courier New"/>
                <a:ea typeface="Courier New"/>
                <a:cs typeface="Courier New"/>
                <a:sym typeface="Courier New"/>
              </a:rPr>
              <a:t>2</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const </a:t>
            </a:r>
            <a:r>
              <a:rPr b="1" i="1" lang="en-US" sz="1000">
                <a:solidFill>
                  <a:srgbClr val="9876AA"/>
                </a:solidFill>
                <a:highlight>
                  <a:srgbClr val="2B2B2B"/>
                </a:highlight>
                <a:latin typeface="Courier New"/>
                <a:ea typeface="Courier New"/>
                <a:cs typeface="Courier New"/>
                <a:sym typeface="Courier New"/>
              </a:rPr>
              <a:t>divValue </a:t>
            </a:r>
            <a:r>
              <a:rPr b="1" lang="en-US" sz="1000">
                <a:solidFill>
                  <a:srgbClr val="A9B7C6"/>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calculator</a:t>
            </a:r>
            <a:r>
              <a:rPr b="1" lang="en-US" sz="1000">
                <a:solidFill>
                  <a:srgbClr val="A9B7C6"/>
                </a:solidFill>
                <a:highlight>
                  <a:srgbClr val="2B2B2B"/>
                </a:highlight>
                <a:latin typeface="Courier New"/>
                <a:ea typeface="Courier New"/>
                <a:cs typeface="Courier New"/>
                <a:sym typeface="Courier New"/>
              </a:rPr>
              <a:t>.</a:t>
            </a:r>
            <a:r>
              <a:rPr b="1" lang="en-US" sz="1000">
                <a:solidFill>
                  <a:srgbClr val="FFC66D"/>
                </a:solidFill>
                <a:highlight>
                  <a:srgbClr val="2B2B2B"/>
                </a:highlight>
                <a:latin typeface="Courier New"/>
                <a:ea typeface="Courier New"/>
                <a:cs typeface="Courier New"/>
                <a:sym typeface="Courier New"/>
              </a:rPr>
              <a:t>div</a:t>
            </a:r>
            <a:r>
              <a:rPr b="1" lang="en-US" sz="1000">
                <a:solidFill>
                  <a:srgbClr val="A9B7C6"/>
                </a:solidFill>
                <a:highlight>
                  <a:srgbClr val="2B2B2B"/>
                </a:highlight>
                <a:latin typeface="Courier New"/>
                <a:ea typeface="Courier New"/>
                <a:cs typeface="Courier New"/>
                <a:sym typeface="Courier New"/>
              </a:rPr>
              <a:t>(</a:t>
            </a:r>
            <a:r>
              <a:rPr b="1" lang="en-US" sz="1000">
                <a:solidFill>
                  <a:srgbClr val="6897BB"/>
                </a:solidFill>
                <a:highlight>
                  <a:srgbClr val="2B2B2B"/>
                </a:highlight>
                <a:latin typeface="Courier New"/>
                <a:ea typeface="Courier New"/>
                <a:cs typeface="Courier New"/>
                <a:sym typeface="Courier New"/>
              </a:rPr>
              <a:t>1</a:t>
            </a:r>
            <a:r>
              <a:rPr b="1" lang="en-US" sz="1000">
                <a:solidFill>
                  <a:srgbClr val="CC7832"/>
                </a:solidFill>
                <a:highlight>
                  <a:srgbClr val="2B2B2B"/>
                </a:highlight>
                <a:latin typeface="Courier New"/>
                <a:ea typeface="Courier New"/>
                <a:cs typeface="Courier New"/>
                <a:sym typeface="Courier New"/>
              </a:rPr>
              <a:t>, </a:t>
            </a:r>
            <a:r>
              <a:rPr b="1" lang="en-US" sz="1000">
                <a:solidFill>
                  <a:srgbClr val="6897BB"/>
                </a:solidFill>
                <a:highlight>
                  <a:srgbClr val="2B2B2B"/>
                </a:highlight>
                <a:latin typeface="Courier New"/>
                <a:ea typeface="Courier New"/>
                <a:cs typeface="Courier New"/>
                <a:sym typeface="Courier New"/>
              </a:rPr>
              <a:t>2</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const </a:t>
            </a:r>
            <a:r>
              <a:rPr b="1" i="1" lang="en-US" sz="1000">
                <a:solidFill>
                  <a:srgbClr val="9876AA"/>
                </a:solidFill>
                <a:highlight>
                  <a:srgbClr val="2B2B2B"/>
                </a:highlight>
                <a:latin typeface="Courier New"/>
                <a:ea typeface="Courier New"/>
                <a:cs typeface="Courier New"/>
                <a:sym typeface="Courier New"/>
              </a:rPr>
              <a:t>mulValue </a:t>
            </a:r>
            <a:r>
              <a:rPr b="1" lang="en-US" sz="1000">
                <a:solidFill>
                  <a:srgbClr val="A9B7C6"/>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calculator</a:t>
            </a:r>
            <a:r>
              <a:rPr b="1" lang="en-US" sz="1000">
                <a:solidFill>
                  <a:srgbClr val="A9B7C6"/>
                </a:solidFill>
                <a:highlight>
                  <a:srgbClr val="2B2B2B"/>
                </a:highlight>
                <a:latin typeface="Courier New"/>
                <a:ea typeface="Courier New"/>
                <a:cs typeface="Courier New"/>
                <a:sym typeface="Courier New"/>
              </a:rPr>
              <a:t>.</a:t>
            </a:r>
            <a:r>
              <a:rPr b="1" lang="en-US" sz="1000">
                <a:solidFill>
                  <a:srgbClr val="FFC66D"/>
                </a:solidFill>
                <a:highlight>
                  <a:srgbClr val="2B2B2B"/>
                </a:highlight>
                <a:latin typeface="Courier New"/>
                <a:ea typeface="Courier New"/>
                <a:cs typeface="Courier New"/>
                <a:sym typeface="Courier New"/>
              </a:rPr>
              <a:t>mul</a:t>
            </a:r>
            <a:r>
              <a:rPr b="1" lang="en-US" sz="1000">
                <a:solidFill>
                  <a:srgbClr val="A9B7C6"/>
                </a:solidFill>
                <a:highlight>
                  <a:srgbClr val="2B2B2B"/>
                </a:highlight>
                <a:latin typeface="Courier New"/>
                <a:ea typeface="Courier New"/>
                <a:cs typeface="Courier New"/>
                <a:sym typeface="Courier New"/>
              </a:rPr>
              <a:t>(</a:t>
            </a:r>
            <a:r>
              <a:rPr b="1" lang="en-US" sz="1000">
                <a:solidFill>
                  <a:srgbClr val="6897BB"/>
                </a:solidFill>
                <a:highlight>
                  <a:srgbClr val="2B2B2B"/>
                </a:highlight>
                <a:latin typeface="Courier New"/>
                <a:ea typeface="Courier New"/>
                <a:cs typeface="Courier New"/>
                <a:sym typeface="Courier New"/>
              </a:rPr>
              <a:t>1</a:t>
            </a:r>
            <a:r>
              <a:rPr b="1" lang="en-US" sz="1000">
                <a:solidFill>
                  <a:srgbClr val="CC7832"/>
                </a:solidFill>
                <a:highlight>
                  <a:srgbClr val="2B2B2B"/>
                </a:highlight>
                <a:latin typeface="Courier New"/>
                <a:ea typeface="Courier New"/>
                <a:cs typeface="Courier New"/>
                <a:sym typeface="Courier New"/>
              </a:rPr>
              <a:t>, </a:t>
            </a:r>
            <a:r>
              <a:rPr b="1" lang="en-US" sz="1000">
                <a:solidFill>
                  <a:srgbClr val="6897BB"/>
                </a:solidFill>
                <a:highlight>
                  <a:srgbClr val="2B2B2B"/>
                </a:highlight>
                <a:latin typeface="Courier New"/>
                <a:ea typeface="Courier New"/>
                <a:cs typeface="Courier New"/>
                <a:sym typeface="Courier New"/>
              </a:rPr>
              <a:t>2</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console</a:t>
            </a:r>
            <a:r>
              <a:rPr b="1" lang="en-US" sz="1000">
                <a:solidFill>
                  <a:srgbClr val="A9B7C6"/>
                </a:solidFill>
                <a:highlight>
                  <a:srgbClr val="2B2B2B"/>
                </a:highlight>
                <a:latin typeface="Courier New"/>
                <a:ea typeface="Courier New"/>
                <a:cs typeface="Courier New"/>
                <a:sym typeface="Courier New"/>
              </a:rPr>
              <a:t>.</a:t>
            </a:r>
            <a:r>
              <a:rPr b="1" lang="en-US" sz="1000">
                <a:solidFill>
                  <a:srgbClr val="FFC66D"/>
                </a:solidFill>
                <a:highlight>
                  <a:srgbClr val="2B2B2B"/>
                </a:highlight>
                <a:latin typeface="Courier New"/>
                <a:ea typeface="Courier New"/>
                <a:cs typeface="Courier New"/>
                <a:sym typeface="Courier New"/>
              </a:rPr>
              <a:t>log</a:t>
            </a:r>
            <a:r>
              <a:rPr b="1" lang="en-US" sz="1000">
                <a:solidFill>
                  <a:srgbClr val="A9B7C6"/>
                </a:solidFill>
                <a:highlight>
                  <a:srgbClr val="2B2B2B"/>
                </a:highlight>
                <a:latin typeface="Courier New"/>
                <a:ea typeface="Courier New"/>
                <a:cs typeface="Courier New"/>
                <a:sym typeface="Courier New"/>
              </a:rPr>
              <a:t>(</a:t>
            </a:r>
            <a:r>
              <a:rPr b="1" i="1" lang="en-US" sz="1000">
                <a:solidFill>
                  <a:srgbClr val="9876AA"/>
                </a:solidFill>
                <a:highlight>
                  <a:srgbClr val="2B2B2B"/>
                </a:highlight>
                <a:latin typeface="Courier New"/>
                <a:ea typeface="Courier New"/>
                <a:cs typeface="Courier New"/>
                <a:sym typeface="Courier New"/>
              </a:rPr>
              <a:t>addValue</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r>
              <a:rPr b="1" lang="en-US" sz="1000">
                <a:solidFill>
                  <a:srgbClr val="808080"/>
                </a:solidFill>
                <a:highlight>
                  <a:srgbClr val="2B2B2B"/>
                </a:highlight>
                <a:latin typeface="Courier New"/>
                <a:ea typeface="Courier New"/>
                <a:cs typeface="Courier New"/>
                <a:sym typeface="Courier New"/>
              </a:rPr>
              <a:t>//3</a:t>
            </a:r>
            <a:endParaRPr b="1" sz="1000">
              <a:solidFill>
                <a:srgbClr val="808080"/>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console</a:t>
            </a:r>
            <a:r>
              <a:rPr b="1" lang="en-US" sz="1000">
                <a:solidFill>
                  <a:srgbClr val="A9B7C6"/>
                </a:solidFill>
                <a:highlight>
                  <a:srgbClr val="2B2B2B"/>
                </a:highlight>
                <a:latin typeface="Courier New"/>
                <a:ea typeface="Courier New"/>
                <a:cs typeface="Courier New"/>
                <a:sym typeface="Courier New"/>
              </a:rPr>
              <a:t>.</a:t>
            </a:r>
            <a:r>
              <a:rPr b="1" lang="en-US" sz="1000">
                <a:solidFill>
                  <a:srgbClr val="FFC66D"/>
                </a:solidFill>
                <a:highlight>
                  <a:srgbClr val="2B2B2B"/>
                </a:highlight>
                <a:latin typeface="Courier New"/>
                <a:ea typeface="Courier New"/>
                <a:cs typeface="Courier New"/>
                <a:sym typeface="Courier New"/>
              </a:rPr>
              <a:t>log</a:t>
            </a:r>
            <a:r>
              <a:rPr b="1" lang="en-US" sz="1000">
                <a:solidFill>
                  <a:srgbClr val="A9B7C6"/>
                </a:solidFill>
                <a:highlight>
                  <a:srgbClr val="2B2B2B"/>
                </a:highlight>
                <a:latin typeface="Courier New"/>
                <a:ea typeface="Courier New"/>
                <a:cs typeface="Courier New"/>
                <a:sym typeface="Courier New"/>
              </a:rPr>
              <a:t>(</a:t>
            </a:r>
            <a:r>
              <a:rPr b="1" i="1" lang="en-US" sz="1000">
                <a:solidFill>
                  <a:srgbClr val="9876AA"/>
                </a:solidFill>
                <a:highlight>
                  <a:srgbClr val="2B2B2B"/>
                </a:highlight>
                <a:latin typeface="Courier New"/>
                <a:ea typeface="Courier New"/>
                <a:cs typeface="Courier New"/>
                <a:sym typeface="Courier New"/>
              </a:rPr>
              <a:t>subValue</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r>
              <a:rPr b="1" lang="en-US" sz="1000">
                <a:solidFill>
                  <a:srgbClr val="808080"/>
                </a:solidFill>
                <a:highlight>
                  <a:srgbClr val="2B2B2B"/>
                </a:highlight>
                <a:latin typeface="Courier New"/>
                <a:ea typeface="Courier New"/>
                <a:cs typeface="Courier New"/>
                <a:sym typeface="Courier New"/>
              </a:rPr>
              <a:t>//-1</a:t>
            </a:r>
            <a:endParaRPr b="1" sz="1000">
              <a:solidFill>
                <a:srgbClr val="808080"/>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console</a:t>
            </a:r>
            <a:r>
              <a:rPr b="1" lang="en-US" sz="1000">
                <a:solidFill>
                  <a:srgbClr val="A9B7C6"/>
                </a:solidFill>
                <a:highlight>
                  <a:srgbClr val="2B2B2B"/>
                </a:highlight>
                <a:latin typeface="Courier New"/>
                <a:ea typeface="Courier New"/>
                <a:cs typeface="Courier New"/>
                <a:sym typeface="Courier New"/>
              </a:rPr>
              <a:t>.</a:t>
            </a:r>
            <a:r>
              <a:rPr b="1" lang="en-US" sz="1000">
                <a:solidFill>
                  <a:srgbClr val="FFC66D"/>
                </a:solidFill>
                <a:highlight>
                  <a:srgbClr val="2B2B2B"/>
                </a:highlight>
                <a:latin typeface="Courier New"/>
                <a:ea typeface="Courier New"/>
                <a:cs typeface="Courier New"/>
                <a:sym typeface="Courier New"/>
              </a:rPr>
              <a:t>log</a:t>
            </a:r>
            <a:r>
              <a:rPr b="1" lang="en-US" sz="1000">
                <a:solidFill>
                  <a:srgbClr val="A9B7C6"/>
                </a:solidFill>
                <a:highlight>
                  <a:srgbClr val="2B2B2B"/>
                </a:highlight>
                <a:latin typeface="Courier New"/>
                <a:ea typeface="Courier New"/>
                <a:cs typeface="Courier New"/>
                <a:sym typeface="Courier New"/>
              </a:rPr>
              <a:t>(</a:t>
            </a:r>
            <a:r>
              <a:rPr b="1" i="1" lang="en-US" sz="1000">
                <a:solidFill>
                  <a:srgbClr val="9876AA"/>
                </a:solidFill>
                <a:highlight>
                  <a:srgbClr val="2B2B2B"/>
                </a:highlight>
                <a:latin typeface="Courier New"/>
                <a:ea typeface="Courier New"/>
                <a:cs typeface="Courier New"/>
                <a:sym typeface="Courier New"/>
              </a:rPr>
              <a:t>divValue</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r>
              <a:rPr b="1" lang="en-US" sz="1000">
                <a:solidFill>
                  <a:srgbClr val="808080"/>
                </a:solidFill>
                <a:highlight>
                  <a:srgbClr val="2B2B2B"/>
                </a:highlight>
                <a:latin typeface="Courier New"/>
                <a:ea typeface="Courier New"/>
                <a:cs typeface="Courier New"/>
                <a:sym typeface="Courier New"/>
              </a:rPr>
              <a:t>//0.5</a:t>
            </a:r>
            <a:endParaRPr b="1" sz="1000">
              <a:solidFill>
                <a:srgbClr val="808080"/>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console</a:t>
            </a:r>
            <a:r>
              <a:rPr b="1" lang="en-US" sz="1000">
                <a:solidFill>
                  <a:srgbClr val="A9B7C6"/>
                </a:solidFill>
                <a:highlight>
                  <a:srgbClr val="2B2B2B"/>
                </a:highlight>
                <a:latin typeface="Courier New"/>
                <a:ea typeface="Courier New"/>
                <a:cs typeface="Courier New"/>
                <a:sym typeface="Courier New"/>
              </a:rPr>
              <a:t>.</a:t>
            </a:r>
            <a:r>
              <a:rPr b="1" lang="en-US" sz="1000">
                <a:solidFill>
                  <a:srgbClr val="FFC66D"/>
                </a:solidFill>
                <a:highlight>
                  <a:srgbClr val="2B2B2B"/>
                </a:highlight>
                <a:latin typeface="Courier New"/>
                <a:ea typeface="Courier New"/>
                <a:cs typeface="Courier New"/>
                <a:sym typeface="Courier New"/>
              </a:rPr>
              <a:t>log</a:t>
            </a:r>
            <a:r>
              <a:rPr b="1" lang="en-US" sz="1000">
                <a:solidFill>
                  <a:srgbClr val="A9B7C6"/>
                </a:solidFill>
                <a:highlight>
                  <a:srgbClr val="2B2B2B"/>
                </a:highlight>
                <a:latin typeface="Courier New"/>
                <a:ea typeface="Courier New"/>
                <a:cs typeface="Courier New"/>
                <a:sym typeface="Courier New"/>
              </a:rPr>
              <a:t>(</a:t>
            </a:r>
            <a:r>
              <a:rPr b="1" i="1" lang="en-US" sz="1000">
                <a:solidFill>
                  <a:srgbClr val="9876AA"/>
                </a:solidFill>
                <a:highlight>
                  <a:srgbClr val="2B2B2B"/>
                </a:highlight>
                <a:latin typeface="Courier New"/>
                <a:ea typeface="Courier New"/>
                <a:cs typeface="Courier New"/>
                <a:sym typeface="Courier New"/>
              </a:rPr>
              <a:t>mulValue</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r>
              <a:rPr b="1" lang="en-US" sz="1000">
                <a:solidFill>
                  <a:srgbClr val="808080"/>
                </a:solidFill>
                <a:highlight>
                  <a:srgbClr val="2B2B2B"/>
                </a:highlight>
                <a:latin typeface="Courier New"/>
                <a:ea typeface="Courier New"/>
                <a:cs typeface="Courier New"/>
                <a:sym typeface="Courier New"/>
              </a:rPr>
              <a:t>//2</a:t>
            </a:r>
            <a:endParaRPr b="1" sz="1000">
              <a:solidFill>
                <a:srgbClr val="808080"/>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sz="1000">
              <a:solidFill>
                <a:srgbClr val="CC7832"/>
              </a:solidFill>
              <a:highlight>
                <a:srgbClr val="2B2B2B"/>
              </a:highlight>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11a1fa9330f_0_12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6" name="Google Shape;236;g11a1fa9330f_0_12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37" name="Google Shape;237;g11a1fa9330f_0_12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38" name="Google Shape;238;g11a1fa9330f_0_12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9" name="Google Shape;239;g11a1fa9330f_0_123"/>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Nhược điểm của </a:t>
            </a:r>
            <a:r>
              <a:rPr b="1" lang="en-US" sz="2800">
                <a:solidFill>
                  <a:schemeClr val="dk2"/>
                </a:solidFill>
              </a:rPr>
              <a:t>Module Pattern</a:t>
            </a:r>
            <a:endParaRPr b="0" i="0" sz="1400" u="none" cap="none" strike="noStrike">
              <a:solidFill>
                <a:srgbClr val="000000"/>
              </a:solidFill>
              <a:latin typeface="Arial"/>
              <a:ea typeface="Arial"/>
              <a:cs typeface="Arial"/>
              <a:sym typeface="Arial"/>
            </a:endParaRPr>
          </a:p>
        </p:txBody>
      </p:sp>
      <p:sp>
        <p:nvSpPr>
          <p:cNvPr id="240" name="Google Shape;240;g11a1fa9330f_0_123"/>
          <p:cNvSpPr txBox="1"/>
          <p:nvPr/>
        </p:nvSpPr>
        <p:spPr>
          <a:xfrm>
            <a:off x="636300" y="2433413"/>
            <a:ext cx="7871400" cy="20319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Khi muốn liên kết các module với nhau, phải sử dụng thông thẻ </a:t>
            </a:r>
            <a:r>
              <a:rPr b="1" lang="en-US" sz="2400">
                <a:latin typeface="Calibri"/>
                <a:ea typeface="Calibri"/>
                <a:cs typeface="Calibri"/>
                <a:sym typeface="Calibri"/>
              </a:rPr>
              <a:t>script</a:t>
            </a:r>
            <a:r>
              <a:rPr lang="en-US" sz="2400">
                <a:latin typeface="Calibri"/>
                <a:ea typeface="Calibri"/>
                <a:cs typeface="Calibri"/>
                <a:sym typeface="Calibri"/>
              </a:rPr>
              <a:t> đặt trong HTML và phải đặt các thẻ theo đúng thứ tự gọi thực thi module</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Không thể đóng gói bằng bundle tool như </a:t>
            </a:r>
            <a:r>
              <a:rPr b="1" lang="en-US" sz="2400">
                <a:latin typeface="Calibri"/>
                <a:ea typeface="Calibri"/>
                <a:cs typeface="Calibri"/>
                <a:sym typeface="Calibri"/>
              </a:rPr>
              <a:t>Parcel</a:t>
            </a:r>
            <a:r>
              <a:rPr lang="en-US" sz="2400">
                <a:latin typeface="Calibri"/>
                <a:ea typeface="Calibri"/>
                <a:cs typeface="Calibri"/>
                <a:sym typeface="Calibri"/>
              </a:rPr>
              <a:t> hay </a:t>
            </a:r>
            <a:r>
              <a:rPr b="1" lang="en-US" sz="2400">
                <a:latin typeface="Calibri"/>
                <a:ea typeface="Calibri"/>
                <a:cs typeface="Calibri"/>
                <a:sym typeface="Calibri"/>
              </a:rPr>
              <a:t>Webpack</a:t>
            </a:r>
            <a:endParaRPr b="1" sz="24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11a1fa9330f_0_14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46" name="Google Shape;246;g11a1fa9330f_0_14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47" name="Google Shape;247;g11a1fa9330f_0_14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48" name="Google Shape;248;g11a1fa9330f_0_14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9" name="Google Shape;249;g11a1fa9330f_0_143"/>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Nhược điểm của Module Pattern</a:t>
            </a:r>
            <a:endParaRPr b="0" i="0" sz="1400" u="none" cap="none" strike="noStrike">
              <a:solidFill>
                <a:srgbClr val="000000"/>
              </a:solidFill>
              <a:latin typeface="Arial"/>
              <a:ea typeface="Arial"/>
              <a:cs typeface="Arial"/>
              <a:sym typeface="Arial"/>
            </a:endParaRPr>
          </a:p>
        </p:txBody>
      </p:sp>
      <p:sp>
        <p:nvSpPr>
          <p:cNvPr id="250" name="Google Shape;250;g11a1fa9330f_0_143"/>
          <p:cNvSpPr txBox="1"/>
          <p:nvPr/>
        </p:nvSpPr>
        <p:spPr>
          <a:xfrm>
            <a:off x="636300" y="2433413"/>
            <a:ext cx="7871400" cy="554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2400">
                <a:latin typeface="Calibri"/>
                <a:ea typeface="Calibri"/>
                <a:cs typeface="Calibri"/>
                <a:sym typeface="Calibri"/>
              </a:rPr>
              <a:t>Giáo viên demo về Module Pattern cho học viên</a:t>
            </a:r>
            <a:endParaRPr b="1" sz="24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11a1fa9330f_0_15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56" name="Google Shape;256;g11a1fa9330f_0_15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57" name="Google Shape;257;g11a1fa9330f_0_15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58" name="Google Shape;258;g11a1fa9330f_0_15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9" name="Google Shape;259;g11a1fa9330f_0_152"/>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CommonJS</a:t>
            </a:r>
            <a:endParaRPr b="0" i="0" sz="1400" u="none" cap="none" strike="noStrike">
              <a:solidFill>
                <a:srgbClr val="000000"/>
              </a:solidFill>
              <a:latin typeface="Arial"/>
              <a:ea typeface="Arial"/>
              <a:cs typeface="Arial"/>
              <a:sym typeface="Arial"/>
            </a:endParaRPr>
          </a:p>
        </p:txBody>
      </p:sp>
      <p:sp>
        <p:nvSpPr>
          <p:cNvPr id="260" name="Google Shape;260;g11a1fa9330f_0_152"/>
          <p:cNvSpPr txBox="1"/>
          <p:nvPr/>
        </p:nvSpPr>
        <p:spPr>
          <a:xfrm>
            <a:off x="636300" y="1505063"/>
            <a:ext cx="7871400" cy="3140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Bên cạnh module native trong ES6 và Module Pattern thì có các đặc tả tiêu chuẩn module khác như CommonJS hay AMD (</a:t>
            </a:r>
            <a:r>
              <a:rPr lang="en-US" sz="2400">
                <a:solidFill>
                  <a:srgbClr val="1B1B1B"/>
                </a:solidFill>
                <a:highlight>
                  <a:srgbClr val="FFFFFF"/>
                </a:highlight>
                <a:latin typeface="Calibri"/>
                <a:ea typeface="Calibri"/>
                <a:cs typeface="Calibri"/>
                <a:sym typeface="Calibri"/>
              </a:rPr>
              <a:t>Asynchronous Module Definition</a:t>
            </a:r>
            <a:r>
              <a:rPr lang="en-US" sz="2400">
                <a:latin typeface="Calibri"/>
                <a:ea typeface="Calibri"/>
                <a:cs typeface="Calibri"/>
                <a:sym typeface="Calibri"/>
              </a:rPr>
              <a:t>)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Đặc tả CommonJS cũng không phải là một dạng module native như ES6, nó </a:t>
            </a:r>
            <a:r>
              <a:rPr lang="en-US" sz="2400">
                <a:solidFill>
                  <a:schemeClr val="dk1"/>
                </a:solidFill>
                <a:latin typeface="Calibri"/>
                <a:ea typeface="Calibri"/>
                <a:cs typeface="Calibri"/>
                <a:sym typeface="Calibri"/>
              </a:rPr>
              <a:t>được ra đời cùng với NodeJS và hoạt động như một thư viện trong NodeJS</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CommonJS không chạy được trong môi trường trình duyệt</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Trong CommonJS mỗi file được coi là một module  </a:t>
            </a:r>
            <a:endParaRPr sz="24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11a1fa9330f_0_16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6" name="Google Shape;266;g11a1fa9330f_0_16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67" name="Google Shape;267;g11a1fa9330f_0_16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68" name="Google Shape;268;g11a1fa9330f_0_16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9" name="Google Shape;269;g11a1fa9330f_0_162"/>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CommonJS</a:t>
            </a:r>
            <a:endParaRPr b="0" i="0" sz="1400" u="none" cap="none" strike="noStrike">
              <a:solidFill>
                <a:srgbClr val="000000"/>
              </a:solidFill>
              <a:latin typeface="Arial"/>
              <a:ea typeface="Arial"/>
              <a:cs typeface="Arial"/>
              <a:sym typeface="Arial"/>
            </a:endParaRPr>
          </a:p>
        </p:txBody>
      </p:sp>
      <p:sp>
        <p:nvSpPr>
          <p:cNvPr id="270" name="Google Shape;270;g11a1fa9330f_0_162"/>
          <p:cNvSpPr txBox="1"/>
          <p:nvPr/>
        </p:nvSpPr>
        <p:spPr>
          <a:xfrm>
            <a:off x="784525" y="1705950"/>
            <a:ext cx="3000000" cy="3263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rgbClr val="A9B7C6"/>
                </a:solidFill>
                <a:highlight>
                  <a:srgbClr val="2B2B2B"/>
                </a:highlight>
                <a:latin typeface="Courier New"/>
                <a:ea typeface="Courier New"/>
                <a:cs typeface="Courier New"/>
                <a:sym typeface="Courier New"/>
              </a:rPr>
              <a:t>exports.</a:t>
            </a:r>
            <a:r>
              <a:rPr b="1" lang="en-US" sz="1000">
                <a:solidFill>
                  <a:srgbClr val="FFC66D"/>
                </a:solidFill>
                <a:highlight>
                  <a:srgbClr val="2B2B2B"/>
                </a:highlight>
                <a:latin typeface="Courier New"/>
                <a:ea typeface="Courier New"/>
                <a:cs typeface="Courier New"/>
                <a:sym typeface="Courier New"/>
              </a:rPr>
              <a:t>caculator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lang="en-US" sz="1000">
                <a:solidFill>
                  <a:srgbClr val="A9B7C6"/>
                </a:solidFill>
                <a:highlight>
                  <a:srgbClr val="2B2B2B"/>
                </a:highlight>
                <a:latin typeface="Courier New"/>
                <a:ea typeface="Courier New"/>
                <a:cs typeface="Courier New"/>
                <a:sym typeface="Courier New"/>
              </a:rPr>
              <a:t>(a</a:t>
            </a:r>
            <a:r>
              <a:rPr b="1" lang="en-US" sz="1000">
                <a:solidFill>
                  <a:srgbClr val="CC7832"/>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b){</a:t>
            </a:r>
            <a:endParaRPr b="1"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const </a:t>
            </a:r>
            <a:r>
              <a:rPr b="1" lang="en-US" sz="1000">
                <a:solidFill>
                  <a:srgbClr val="FFC66D"/>
                </a:solidFill>
                <a:highlight>
                  <a:srgbClr val="2B2B2B"/>
                </a:highlight>
                <a:latin typeface="Courier New"/>
                <a:ea typeface="Courier New"/>
                <a:cs typeface="Courier New"/>
                <a:sym typeface="Courier New"/>
              </a:rPr>
              <a:t>add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lang="en-US" sz="1000">
                <a:solidFill>
                  <a:srgbClr val="A9B7C6"/>
                </a:solidFill>
                <a:highlight>
                  <a:srgbClr val="2B2B2B"/>
                </a:highlight>
                <a:latin typeface="Courier New"/>
                <a:ea typeface="Courier New"/>
                <a:cs typeface="Courier New"/>
                <a:sym typeface="Courier New"/>
              </a:rPr>
              <a:t>(a</a:t>
            </a:r>
            <a:r>
              <a:rPr b="1" lang="en-US" sz="1000">
                <a:solidFill>
                  <a:srgbClr val="CC7832"/>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b)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lang="en-US" sz="1000">
                <a:solidFill>
                  <a:srgbClr val="A9B7C6"/>
                </a:solidFill>
                <a:highlight>
                  <a:srgbClr val="2B2B2B"/>
                </a:highlight>
                <a:latin typeface="Courier New"/>
                <a:ea typeface="Courier New"/>
                <a:cs typeface="Courier New"/>
                <a:sym typeface="Courier New"/>
              </a:rPr>
              <a:t>a+b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const </a:t>
            </a:r>
            <a:r>
              <a:rPr b="1" lang="en-US" sz="1000">
                <a:solidFill>
                  <a:srgbClr val="FFC66D"/>
                </a:solidFill>
                <a:highlight>
                  <a:srgbClr val="2B2B2B"/>
                </a:highlight>
                <a:latin typeface="Courier New"/>
                <a:ea typeface="Courier New"/>
                <a:cs typeface="Courier New"/>
                <a:sym typeface="Courier New"/>
              </a:rPr>
              <a:t>sub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lang="en-US" sz="1000">
                <a:solidFill>
                  <a:srgbClr val="A9B7C6"/>
                </a:solidFill>
                <a:highlight>
                  <a:srgbClr val="2B2B2B"/>
                </a:highlight>
                <a:latin typeface="Courier New"/>
                <a:ea typeface="Courier New"/>
                <a:cs typeface="Courier New"/>
                <a:sym typeface="Courier New"/>
              </a:rPr>
              <a:t>(a</a:t>
            </a:r>
            <a:r>
              <a:rPr b="1" lang="en-US" sz="1000">
                <a:solidFill>
                  <a:srgbClr val="CC7832"/>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b)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lang="en-US" sz="1000">
                <a:solidFill>
                  <a:srgbClr val="A9B7C6"/>
                </a:solidFill>
                <a:highlight>
                  <a:srgbClr val="2B2B2B"/>
                </a:highlight>
                <a:latin typeface="Courier New"/>
                <a:ea typeface="Courier New"/>
                <a:cs typeface="Courier New"/>
                <a:sym typeface="Courier New"/>
              </a:rPr>
              <a:t>a-b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const </a:t>
            </a:r>
            <a:r>
              <a:rPr b="1" lang="en-US" sz="1000">
                <a:solidFill>
                  <a:srgbClr val="FFC66D"/>
                </a:solidFill>
                <a:highlight>
                  <a:srgbClr val="2B2B2B"/>
                </a:highlight>
                <a:latin typeface="Courier New"/>
                <a:ea typeface="Courier New"/>
                <a:cs typeface="Courier New"/>
                <a:sym typeface="Courier New"/>
              </a:rPr>
              <a:t>mul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lang="en-US" sz="1000">
                <a:solidFill>
                  <a:srgbClr val="A9B7C6"/>
                </a:solidFill>
                <a:highlight>
                  <a:srgbClr val="2B2B2B"/>
                </a:highlight>
                <a:latin typeface="Courier New"/>
                <a:ea typeface="Courier New"/>
                <a:cs typeface="Courier New"/>
                <a:sym typeface="Courier New"/>
              </a:rPr>
              <a:t>(a</a:t>
            </a:r>
            <a:r>
              <a:rPr b="1" lang="en-US" sz="1000">
                <a:solidFill>
                  <a:srgbClr val="CC7832"/>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b)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lang="en-US" sz="1000">
                <a:solidFill>
                  <a:srgbClr val="A9B7C6"/>
                </a:solidFill>
                <a:highlight>
                  <a:srgbClr val="2B2B2B"/>
                </a:highlight>
                <a:latin typeface="Courier New"/>
                <a:ea typeface="Courier New"/>
                <a:cs typeface="Courier New"/>
                <a:sym typeface="Courier New"/>
              </a:rPr>
              <a:t>a*b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const </a:t>
            </a:r>
            <a:r>
              <a:rPr b="1" lang="en-US" sz="1000">
                <a:solidFill>
                  <a:srgbClr val="FFC66D"/>
                </a:solidFill>
                <a:highlight>
                  <a:srgbClr val="2B2B2B"/>
                </a:highlight>
                <a:latin typeface="Courier New"/>
                <a:ea typeface="Courier New"/>
                <a:cs typeface="Courier New"/>
                <a:sym typeface="Courier New"/>
              </a:rPr>
              <a:t>div </a:t>
            </a:r>
            <a:r>
              <a:rPr b="1" lang="en-US" sz="1000">
                <a:solidFill>
                  <a:srgbClr val="A9B7C6"/>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function </a:t>
            </a:r>
            <a:r>
              <a:rPr b="1" lang="en-US" sz="1000">
                <a:solidFill>
                  <a:srgbClr val="A9B7C6"/>
                </a:solidFill>
                <a:highlight>
                  <a:srgbClr val="2B2B2B"/>
                </a:highlight>
                <a:latin typeface="Courier New"/>
                <a:ea typeface="Courier New"/>
                <a:cs typeface="Courier New"/>
                <a:sym typeface="Courier New"/>
              </a:rPr>
              <a:t>(a</a:t>
            </a:r>
            <a:r>
              <a:rPr b="1" lang="en-US" sz="1000">
                <a:solidFill>
                  <a:srgbClr val="CC7832"/>
                </a:solidFill>
                <a:highlight>
                  <a:srgbClr val="2B2B2B"/>
                </a:highlight>
                <a:latin typeface="Courier New"/>
                <a:ea typeface="Courier New"/>
                <a:cs typeface="Courier New"/>
                <a:sym typeface="Courier New"/>
              </a:rPr>
              <a:t>,</a:t>
            </a:r>
            <a:r>
              <a:rPr b="1" lang="en-US" sz="1000">
                <a:solidFill>
                  <a:srgbClr val="A9B7C6"/>
                </a:solidFill>
                <a:highlight>
                  <a:srgbClr val="2B2B2B"/>
                </a:highlight>
                <a:latin typeface="Courier New"/>
                <a:ea typeface="Courier New"/>
                <a:cs typeface="Courier New"/>
                <a:sym typeface="Courier New"/>
              </a:rPr>
              <a:t>b)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lang="en-US" sz="1000">
                <a:solidFill>
                  <a:srgbClr val="A9B7C6"/>
                </a:solidFill>
                <a:highlight>
                  <a:srgbClr val="2B2B2B"/>
                </a:highlight>
                <a:latin typeface="Courier New"/>
                <a:ea typeface="Courier New"/>
                <a:cs typeface="Courier New"/>
                <a:sym typeface="Courier New"/>
              </a:rPr>
              <a:t>a/b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CC7832"/>
                </a:solidFill>
                <a:highlight>
                  <a:srgbClr val="2B2B2B"/>
                </a:highlight>
                <a:latin typeface="Courier New"/>
                <a:ea typeface="Courier New"/>
                <a:cs typeface="Courier New"/>
                <a:sym typeface="Courier New"/>
              </a:rPr>
              <a:t>return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000">
                <a:solidFill>
                  <a:srgbClr val="9876AA"/>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add</a:t>
            </a:r>
            <a:r>
              <a:rPr b="1" lang="en-US" sz="1000">
                <a:solidFill>
                  <a:srgbClr val="A9B7C6"/>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add</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sub</a:t>
            </a:r>
            <a:r>
              <a:rPr b="1" lang="en-US" sz="1000">
                <a:solidFill>
                  <a:srgbClr val="A9B7C6"/>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sub</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mul</a:t>
            </a:r>
            <a:r>
              <a:rPr b="1" lang="en-US" sz="1000">
                <a:solidFill>
                  <a:srgbClr val="A9B7C6"/>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mul</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div</a:t>
            </a:r>
            <a:r>
              <a:rPr b="1" lang="en-US" sz="1000">
                <a:solidFill>
                  <a:srgbClr val="A9B7C6"/>
                </a:solidFill>
                <a:highlight>
                  <a:srgbClr val="2B2B2B"/>
                </a:highlight>
                <a:latin typeface="Courier New"/>
                <a:ea typeface="Courier New"/>
                <a:cs typeface="Courier New"/>
                <a:sym typeface="Courier New"/>
              </a:rPr>
              <a:t>: </a:t>
            </a:r>
            <a:r>
              <a:rPr b="1" lang="en-US" sz="1000">
                <a:solidFill>
                  <a:srgbClr val="FFC66D"/>
                </a:solidFill>
                <a:highlight>
                  <a:srgbClr val="2B2B2B"/>
                </a:highlight>
                <a:latin typeface="Courier New"/>
                <a:ea typeface="Courier New"/>
                <a:cs typeface="Courier New"/>
                <a:sym typeface="Courier New"/>
              </a:rPr>
              <a:t>div</a:t>
            </a:r>
            <a:endParaRPr b="1" sz="1000">
              <a:solidFill>
                <a:srgbClr val="FFC66D"/>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FFC66D"/>
                </a:solidFill>
                <a:highlight>
                  <a:srgbClr val="2B2B2B"/>
                </a:highlight>
                <a:latin typeface="Courier New"/>
                <a:ea typeface="Courier New"/>
                <a:cs typeface="Courier New"/>
                <a:sym typeface="Courier New"/>
              </a:rPr>
              <a:t>   </a:t>
            </a:r>
            <a:r>
              <a:rPr b="1" i="1" lang="en-US" sz="1000">
                <a:solidFill>
                  <a:srgbClr val="9876AA"/>
                </a:solidFill>
                <a:highlight>
                  <a:srgbClr val="2B2B2B"/>
                </a:highlight>
                <a:latin typeface="Courier New"/>
                <a:ea typeface="Courier New"/>
                <a:cs typeface="Courier New"/>
                <a:sym typeface="Courier New"/>
              </a:rPr>
              <a:t>}</a:t>
            </a:r>
            <a:endParaRPr b="1" i="1" sz="10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A9B7C6"/>
                </a:solidFill>
                <a:highlight>
                  <a:srgbClr val="2B2B2B"/>
                </a:highlight>
                <a:latin typeface="Courier New"/>
                <a:ea typeface="Courier New"/>
                <a:cs typeface="Courier New"/>
                <a:sym typeface="Courier New"/>
              </a:rPr>
              <a:t>}</a:t>
            </a:r>
            <a:endParaRPr b="1" sz="1000">
              <a:solidFill>
                <a:srgbClr val="A9B7C6"/>
              </a:solidFill>
              <a:highlight>
                <a:srgbClr val="2B2B2B"/>
              </a:highlight>
              <a:latin typeface="Courier New"/>
              <a:ea typeface="Courier New"/>
              <a:cs typeface="Courier New"/>
              <a:sym typeface="Courier New"/>
            </a:endParaRPr>
          </a:p>
        </p:txBody>
      </p:sp>
      <p:sp>
        <p:nvSpPr>
          <p:cNvPr id="271" name="Google Shape;271;g11a1fa9330f_0_162"/>
          <p:cNvSpPr txBox="1"/>
          <p:nvPr/>
        </p:nvSpPr>
        <p:spPr>
          <a:xfrm>
            <a:off x="4975175" y="2713125"/>
            <a:ext cx="3000000" cy="1108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rgbClr val="CC7832"/>
                </a:solidFill>
                <a:highlight>
                  <a:srgbClr val="2B2B2B"/>
                </a:highlight>
                <a:latin typeface="Courier New"/>
                <a:ea typeface="Courier New"/>
                <a:cs typeface="Courier New"/>
                <a:sym typeface="Courier New"/>
              </a:rPr>
              <a:t>const </a:t>
            </a:r>
            <a:r>
              <a:rPr b="1" lang="en-US" sz="1000">
                <a:solidFill>
                  <a:srgbClr val="A9B7C6"/>
                </a:solidFill>
                <a:highlight>
                  <a:srgbClr val="2B2B2B"/>
                </a:highlight>
                <a:latin typeface="Courier New"/>
                <a:ea typeface="Courier New"/>
                <a:cs typeface="Courier New"/>
                <a:sym typeface="Courier New"/>
              </a:rPr>
              <a:t>{caculator} = require(</a:t>
            </a:r>
            <a:r>
              <a:rPr b="1" lang="en-US" sz="1000">
                <a:solidFill>
                  <a:srgbClr val="6A8759"/>
                </a:solidFill>
                <a:highlight>
                  <a:srgbClr val="2B2B2B"/>
                </a:highlight>
                <a:latin typeface="Courier New"/>
                <a:ea typeface="Courier New"/>
                <a:cs typeface="Courier New"/>
                <a:sym typeface="Courier New"/>
              </a:rPr>
              <a:t>'./caculator'</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A9B7C6"/>
                </a:solidFill>
                <a:highlight>
                  <a:srgbClr val="2B2B2B"/>
                </a:highlight>
                <a:latin typeface="Courier New"/>
                <a:ea typeface="Courier New"/>
                <a:cs typeface="Courier New"/>
                <a:sym typeface="Courier New"/>
              </a:rPr>
              <a:t>caculator.</a:t>
            </a:r>
            <a:r>
              <a:rPr b="1" lang="en-US" sz="1000">
                <a:solidFill>
                  <a:srgbClr val="FFC66D"/>
                </a:solidFill>
                <a:highlight>
                  <a:srgbClr val="2B2B2B"/>
                </a:highlight>
                <a:latin typeface="Courier New"/>
                <a:ea typeface="Courier New"/>
                <a:cs typeface="Courier New"/>
                <a:sym typeface="Courier New"/>
              </a:rPr>
              <a:t>add</a:t>
            </a:r>
            <a:r>
              <a:rPr b="1" lang="en-US" sz="1000">
                <a:solidFill>
                  <a:srgbClr val="A9B7C6"/>
                </a:solidFill>
                <a:highlight>
                  <a:srgbClr val="2B2B2B"/>
                </a:highlight>
                <a:latin typeface="Courier New"/>
                <a:ea typeface="Courier New"/>
                <a:cs typeface="Courier New"/>
                <a:sym typeface="Courier New"/>
              </a:rPr>
              <a:t>(</a:t>
            </a:r>
            <a:r>
              <a:rPr b="1" lang="en-US" sz="1000">
                <a:solidFill>
                  <a:srgbClr val="6897BB"/>
                </a:solidFill>
                <a:highlight>
                  <a:srgbClr val="2B2B2B"/>
                </a:highlight>
                <a:latin typeface="Courier New"/>
                <a:ea typeface="Courier New"/>
                <a:cs typeface="Courier New"/>
                <a:sym typeface="Courier New"/>
              </a:rPr>
              <a:t>1</a:t>
            </a:r>
            <a:r>
              <a:rPr b="1" lang="en-US" sz="1000">
                <a:solidFill>
                  <a:srgbClr val="CC7832"/>
                </a:solidFill>
                <a:highlight>
                  <a:srgbClr val="2B2B2B"/>
                </a:highlight>
                <a:latin typeface="Courier New"/>
                <a:ea typeface="Courier New"/>
                <a:cs typeface="Courier New"/>
                <a:sym typeface="Courier New"/>
              </a:rPr>
              <a:t>, </a:t>
            </a:r>
            <a:r>
              <a:rPr b="1" lang="en-US" sz="1000">
                <a:solidFill>
                  <a:srgbClr val="6897BB"/>
                </a:solidFill>
                <a:highlight>
                  <a:srgbClr val="2B2B2B"/>
                </a:highlight>
                <a:latin typeface="Courier New"/>
                <a:ea typeface="Courier New"/>
                <a:cs typeface="Courier New"/>
                <a:sym typeface="Courier New"/>
              </a:rPr>
              <a:t>2</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A9B7C6"/>
                </a:solidFill>
                <a:highlight>
                  <a:srgbClr val="2B2B2B"/>
                </a:highlight>
                <a:latin typeface="Courier New"/>
                <a:ea typeface="Courier New"/>
                <a:cs typeface="Courier New"/>
                <a:sym typeface="Courier New"/>
              </a:rPr>
              <a:t>caculator.</a:t>
            </a:r>
            <a:r>
              <a:rPr b="1" lang="en-US" sz="1000">
                <a:solidFill>
                  <a:srgbClr val="FFC66D"/>
                </a:solidFill>
                <a:highlight>
                  <a:srgbClr val="2B2B2B"/>
                </a:highlight>
                <a:latin typeface="Courier New"/>
                <a:ea typeface="Courier New"/>
                <a:cs typeface="Courier New"/>
                <a:sym typeface="Courier New"/>
              </a:rPr>
              <a:t>sub</a:t>
            </a:r>
            <a:r>
              <a:rPr b="1" lang="en-US" sz="1000">
                <a:solidFill>
                  <a:srgbClr val="A9B7C6"/>
                </a:solidFill>
                <a:highlight>
                  <a:srgbClr val="2B2B2B"/>
                </a:highlight>
                <a:latin typeface="Courier New"/>
                <a:ea typeface="Courier New"/>
                <a:cs typeface="Courier New"/>
                <a:sym typeface="Courier New"/>
              </a:rPr>
              <a:t>(</a:t>
            </a:r>
            <a:r>
              <a:rPr b="1" lang="en-US" sz="1000">
                <a:solidFill>
                  <a:srgbClr val="6897BB"/>
                </a:solidFill>
                <a:highlight>
                  <a:srgbClr val="2B2B2B"/>
                </a:highlight>
                <a:latin typeface="Courier New"/>
                <a:ea typeface="Courier New"/>
                <a:cs typeface="Courier New"/>
                <a:sym typeface="Courier New"/>
              </a:rPr>
              <a:t>1</a:t>
            </a:r>
            <a:r>
              <a:rPr b="1" lang="en-US" sz="1000">
                <a:solidFill>
                  <a:srgbClr val="CC7832"/>
                </a:solidFill>
                <a:highlight>
                  <a:srgbClr val="2B2B2B"/>
                </a:highlight>
                <a:latin typeface="Courier New"/>
                <a:ea typeface="Courier New"/>
                <a:cs typeface="Courier New"/>
                <a:sym typeface="Courier New"/>
              </a:rPr>
              <a:t>, </a:t>
            </a:r>
            <a:r>
              <a:rPr b="1" lang="en-US" sz="1000">
                <a:solidFill>
                  <a:srgbClr val="6897BB"/>
                </a:solidFill>
                <a:highlight>
                  <a:srgbClr val="2B2B2B"/>
                </a:highlight>
                <a:latin typeface="Courier New"/>
                <a:ea typeface="Courier New"/>
                <a:cs typeface="Courier New"/>
                <a:sym typeface="Courier New"/>
              </a:rPr>
              <a:t>2</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A9B7C6"/>
                </a:solidFill>
                <a:highlight>
                  <a:srgbClr val="2B2B2B"/>
                </a:highlight>
                <a:latin typeface="Courier New"/>
                <a:ea typeface="Courier New"/>
                <a:cs typeface="Courier New"/>
                <a:sym typeface="Courier New"/>
              </a:rPr>
              <a:t>caculator.</a:t>
            </a:r>
            <a:r>
              <a:rPr b="1" lang="en-US" sz="1000">
                <a:solidFill>
                  <a:srgbClr val="FFC66D"/>
                </a:solidFill>
                <a:highlight>
                  <a:srgbClr val="2B2B2B"/>
                </a:highlight>
                <a:latin typeface="Courier New"/>
                <a:ea typeface="Courier New"/>
                <a:cs typeface="Courier New"/>
                <a:sym typeface="Courier New"/>
              </a:rPr>
              <a:t>mul</a:t>
            </a:r>
            <a:r>
              <a:rPr b="1" lang="en-US" sz="1000">
                <a:solidFill>
                  <a:srgbClr val="A9B7C6"/>
                </a:solidFill>
                <a:highlight>
                  <a:srgbClr val="2B2B2B"/>
                </a:highlight>
                <a:latin typeface="Courier New"/>
                <a:ea typeface="Courier New"/>
                <a:cs typeface="Courier New"/>
                <a:sym typeface="Courier New"/>
              </a:rPr>
              <a:t>(</a:t>
            </a:r>
            <a:r>
              <a:rPr b="1" lang="en-US" sz="1000">
                <a:solidFill>
                  <a:srgbClr val="6897BB"/>
                </a:solidFill>
                <a:highlight>
                  <a:srgbClr val="2B2B2B"/>
                </a:highlight>
                <a:latin typeface="Courier New"/>
                <a:ea typeface="Courier New"/>
                <a:cs typeface="Courier New"/>
                <a:sym typeface="Courier New"/>
              </a:rPr>
              <a:t>1</a:t>
            </a:r>
            <a:r>
              <a:rPr b="1" lang="en-US" sz="1000">
                <a:solidFill>
                  <a:srgbClr val="CC7832"/>
                </a:solidFill>
                <a:highlight>
                  <a:srgbClr val="2B2B2B"/>
                </a:highlight>
                <a:latin typeface="Courier New"/>
                <a:ea typeface="Courier New"/>
                <a:cs typeface="Courier New"/>
                <a:sym typeface="Courier New"/>
              </a:rPr>
              <a:t>, </a:t>
            </a:r>
            <a:r>
              <a:rPr b="1" lang="en-US" sz="1000">
                <a:solidFill>
                  <a:srgbClr val="6897BB"/>
                </a:solidFill>
                <a:highlight>
                  <a:srgbClr val="2B2B2B"/>
                </a:highlight>
                <a:latin typeface="Courier New"/>
                <a:ea typeface="Courier New"/>
                <a:cs typeface="Courier New"/>
                <a:sym typeface="Courier New"/>
              </a:rPr>
              <a:t>2</a:t>
            </a:r>
            <a:r>
              <a:rPr b="1" lang="en-US" sz="1000">
                <a:solidFill>
                  <a:srgbClr val="A9B7C6"/>
                </a:solidFill>
                <a:highlight>
                  <a:srgbClr val="2B2B2B"/>
                </a:highlight>
                <a:latin typeface="Courier New"/>
                <a:ea typeface="Courier New"/>
                <a:cs typeface="Courier New"/>
                <a:sym typeface="Courier New"/>
              </a:rPr>
              <a:t>)</a:t>
            </a:r>
            <a:r>
              <a:rPr b="1" lang="en-US" sz="1000">
                <a:solidFill>
                  <a:srgbClr val="CC7832"/>
                </a:solidFill>
                <a:highlight>
                  <a:srgbClr val="2B2B2B"/>
                </a:highlight>
                <a:latin typeface="Courier New"/>
                <a:ea typeface="Courier New"/>
                <a:cs typeface="Courier New"/>
                <a:sym typeface="Courier New"/>
              </a:rPr>
              <a:t>;</a:t>
            </a:r>
            <a:endParaRPr b="1"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000">
                <a:solidFill>
                  <a:srgbClr val="A9B7C6"/>
                </a:solidFill>
                <a:highlight>
                  <a:srgbClr val="2B2B2B"/>
                </a:highlight>
                <a:latin typeface="Courier New"/>
                <a:ea typeface="Courier New"/>
                <a:cs typeface="Courier New"/>
                <a:sym typeface="Courier New"/>
              </a:rPr>
              <a:t>caculator.</a:t>
            </a:r>
            <a:r>
              <a:rPr b="1" lang="en-US" sz="1000">
                <a:solidFill>
                  <a:srgbClr val="FFC66D"/>
                </a:solidFill>
                <a:highlight>
                  <a:srgbClr val="2B2B2B"/>
                </a:highlight>
                <a:latin typeface="Courier New"/>
                <a:ea typeface="Courier New"/>
                <a:cs typeface="Courier New"/>
                <a:sym typeface="Courier New"/>
              </a:rPr>
              <a:t>div</a:t>
            </a:r>
            <a:r>
              <a:rPr b="1" lang="en-US" sz="1000">
                <a:solidFill>
                  <a:srgbClr val="A9B7C6"/>
                </a:solidFill>
                <a:highlight>
                  <a:srgbClr val="2B2B2B"/>
                </a:highlight>
                <a:latin typeface="Courier New"/>
                <a:ea typeface="Courier New"/>
                <a:cs typeface="Courier New"/>
                <a:sym typeface="Courier New"/>
              </a:rPr>
              <a:t>(</a:t>
            </a:r>
            <a:r>
              <a:rPr b="1" lang="en-US" sz="1000">
                <a:solidFill>
                  <a:srgbClr val="6897BB"/>
                </a:solidFill>
                <a:highlight>
                  <a:srgbClr val="2B2B2B"/>
                </a:highlight>
                <a:latin typeface="Courier New"/>
                <a:ea typeface="Courier New"/>
                <a:cs typeface="Courier New"/>
                <a:sym typeface="Courier New"/>
              </a:rPr>
              <a:t>1</a:t>
            </a:r>
            <a:r>
              <a:rPr b="1" lang="en-US" sz="1000">
                <a:solidFill>
                  <a:srgbClr val="CC7832"/>
                </a:solidFill>
                <a:highlight>
                  <a:srgbClr val="2B2B2B"/>
                </a:highlight>
                <a:latin typeface="Courier New"/>
                <a:ea typeface="Courier New"/>
                <a:cs typeface="Courier New"/>
                <a:sym typeface="Courier New"/>
              </a:rPr>
              <a:t>,</a:t>
            </a:r>
            <a:r>
              <a:rPr b="1" lang="en-US" sz="1000">
                <a:solidFill>
                  <a:srgbClr val="6897BB"/>
                </a:solidFill>
                <a:highlight>
                  <a:srgbClr val="2B2B2B"/>
                </a:highlight>
                <a:latin typeface="Courier New"/>
                <a:ea typeface="Courier New"/>
                <a:cs typeface="Courier New"/>
                <a:sym typeface="Courier New"/>
              </a:rPr>
              <a:t>2</a:t>
            </a:r>
            <a:r>
              <a:rPr b="1" lang="en-US" sz="1000">
                <a:solidFill>
                  <a:srgbClr val="A9B7C6"/>
                </a:solidFill>
                <a:highlight>
                  <a:srgbClr val="2B2B2B"/>
                </a:highlight>
                <a:latin typeface="Courier New"/>
                <a:ea typeface="Courier New"/>
                <a:cs typeface="Courier New"/>
                <a:sym typeface="Courier New"/>
              </a:rPr>
              <a:t>)</a:t>
            </a:r>
            <a:endParaRPr b="1" sz="1000">
              <a:solidFill>
                <a:srgbClr val="A9B7C6"/>
              </a:solidFill>
              <a:highlight>
                <a:srgbClr val="2B2B2B"/>
              </a:highlight>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11a1fa9330f_0_17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77" name="Google Shape;277;g11a1fa9330f_0_17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78" name="Google Shape;278;g11a1fa9330f_0_17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79" name="Google Shape;279;g11a1fa9330f_0_17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g11a1fa9330f_0_178"/>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NPM</a:t>
            </a:r>
            <a:endParaRPr b="0" i="0" sz="1400" u="none" cap="none" strike="noStrike">
              <a:solidFill>
                <a:srgbClr val="000000"/>
              </a:solidFill>
              <a:latin typeface="Arial"/>
              <a:ea typeface="Arial"/>
              <a:cs typeface="Arial"/>
              <a:sym typeface="Arial"/>
            </a:endParaRPr>
          </a:p>
        </p:txBody>
      </p:sp>
      <p:sp>
        <p:nvSpPr>
          <p:cNvPr id="281" name="Google Shape;281;g11a1fa9330f_0_178"/>
          <p:cNvSpPr txBox="1"/>
          <p:nvPr/>
        </p:nvSpPr>
        <p:spPr>
          <a:xfrm>
            <a:off x="509950" y="1239975"/>
            <a:ext cx="7949700" cy="42483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NPM (Node package Manager) là một công cụ quản lý các package(module/thư viện/dependencies) của NodeJS</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Ban đầu NPM được sử dụng để quản lý các package của Nodejs nhưng sau này nó  đã trở thành một công cụ quản lý package cho tất cả các nền tảng JavaScript</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Concepts của NPM lấy cảm hứng từ các công cụ quản lý package của Unix, Linux, Java …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Ngoài NPM thì Yarn cũng là một công cụ quản lý package cho JavaScript được sử dụng khá nhiều và có tốc độ nhanh hơn NPM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Để sử dụng NPM, ta cần cài đặt NodeJS vào máy tính</a:t>
            </a:r>
            <a:endParaRPr sz="24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11a1fa9330f_0_18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87" name="Google Shape;287;g11a1fa9330f_0_18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88" name="Google Shape;288;g11a1fa9330f_0_18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89" name="Google Shape;289;g11a1fa9330f_0_18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0" name="Google Shape;290;g11a1fa9330f_0_189"/>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NPM</a:t>
            </a:r>
            <a:endParaRPr b="0" i="0" sz="1400" u="none" cap="none" strike="noStrike">
              <a:solidFill>
                <a:srgbClr val="000000"/>
              </a:solidFill>
              <a:latin typeface="Arial"/>
              <a:ea typeface="Arial"/>
              <a:cs typeface="Arial"/>
              <a:sym typeface="Arial"/>
            </a:endParaRPr>
          </a:p>
        </p:txBody>
      </p:sp>
      <p:sp>
        <p:nvSpPr>
          <p:cNvPr id="291" name="Google Shape;291;g11a1fa9330f_0_189"/>
          <p:cNvSpPr txBox="1"/>
          <p:nvPr/>
        </p:nvSpPr>
        <p:spPr>
          <a:xfrm>
            <a:off x="509950" y="1239975"/>
            <a:ext cx="7949700" cy="38790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Trước kia, khi muốn sử dụng các thư viện JavaScript của bên thứ 3, lập trình viên thường lên mạng và download các file JS về rồi nhúng vào project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Cách trên có nhược điểm là mất thời gian và không đồng bộ các thư viện</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NPM ra đời đã khắc phục được những vấn đề trên, NPM có thể download và cài đặt các thư viện từ dòng lệnh, tự động đồng tải và đồng bộ hoá các thư viện trong dự án từ file lưu vết, quản lý và chạy các chương trình JS trong giao diện dòng lệnh</a:t>
            </a:r>
            <a:endParaRPr sz="24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11a1fa9330f_0_19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97" name="Google Shape;297;g11a1fa9330f_0_19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298" name="Google Shape;298;g11a1fa9330f_0_19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99" name="Google Shape;299;g11a1fa9330f_0_19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0" name="Google Shape;300;g11a1fa9330f_0_198"/>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package.json và node_modules folder</a:t>
            </a:r>
            <a:endParaRPr b="0" i="0" sz="1400" u="none" cap="none" strike="noStrike">
              <a:solidFill>
                <a:srgbClr val="000000"/>
              </a:solidFill>
              <a:latin typeface="Arial"/>
              <a:ea typeface="Arial"/>
              <a:cs typeface="Arial"/>
              <a:sym typeface="Arial"/>
            </a:endParaRPr>
          </a:p>
        </p:txBody>
      </p:sp>
      <p:sp>
        <p:nvSpPr>
          <p:cNvPr id="301" name="Google Shape;301;g11a1fa9330f_0_198"/>
          <p:cNvSpPr txBox="1"/>
          <p:nvPr/>
        </p:nvSpPr>
        <p:spPr>
          <a:xfrm>
            <a:off x="509950" y="1239975"/>
            <a:ext cx="7949700" cy="42483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Trong một project  sử dụng NPM sẽ hai thành phần quan trọng là file </a:t>
            </a:r>
            <a:r>
              <a:rPr b="1" lang="en-US" sz="2400">
                <a:latin typeface="Calibri"/>
                <a:ea typeface="Calibri"/>
                <a:cs typeface="Calibri"/>
                <a:sym typeface="Calibri"/>
              </a:rPr>
              <a:t>package.json</a:t>
            </a:r>
            <a:r>
              <a:rPr lang="en-US" sz="2400">
                <a:latin typeface="Calibri"/>
                <a:ea typeface="Calibri"/>
                <a:cs typeface="Calibri"/>
                <a:sym typeface="Calibri"/>
              </a:rPr>
              <a:t> và thư mục </a:t>
            </a:r>
            <a:r>
              <a:rPr b="1" lang="en-US" sz="2400">
                <a:latin typeface="Calibri"/>
                <a:ea typeface="Calibri"/>
                <a:cs typeface="Calibri"/>
                <a:sym typeface="Calibri"/>
              </a:rPr>
              <a:t>node_modules </a:t>
            </a:r>
            <a:endParaRPr b="1"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File</a:t>
            </a:r>
            <a:r>
              <a:rPr b="1" lang="en-US" sz="2400">
                <a:latin typeface="Calibri"/>
                <a:ea typeface="Calibri"/>
                <a:cs typeface="Calibri"/>
                <a:sym typeface="Calibri"/>
              </a:rPr>
              <a:t> package.json l</a:t>
            </a:r>
            <a:r>
              <a:rPr lang="en-US" sz="2400">
                <a:latin typeface="Calibri"/>
                <a:ea typeface="Calibri"/>
                <a:cs typeface="Calibri"/>
                <a:sym typeface="Calibri"/>
              </a:rPr>
              <a:t>ưu vết toàn bộ các thư viện sử dụng trong dự án và các cấu hình công cụ trong dự án</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node_modules là thư mục chứa các thư viện được download và cài đặt thông quan NPM</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Chỉ cần trong dự án có file </a:t>
            </a:r>
            <a:r>
              <a:rPr b="1" lang="en-US" sz="2400">
                <a:latin typeface="Calibri"/>
                <a:ea typeface="Calibri"/>
                <a:cs typeface="Calibri"/>
                <a:sym typeface="Calibri"/>
              </a:rPr>
              <a:t>package.json</a:t>
            </a:r>
            <a:r>
              <a:rPr lang="en-US" sz="2400">
                <a:latin typeface="Calibri"/>
                <a:ea typeface="Calibri"/>
                <a:cs typeface="Calibri"/>
                <a:sym typeface="Calibri"/>
              </a:rPr>
              <a:t> thì có thể dễ dàng sinh ra thư mục </a:t>
            </a:r>
            <a:r>
              <a:rPr b="1" lang="en-US" sz="2400">
                <a:latin typeface="Calibri"/>
                <a:ea typeface="Calibri"/>
                <a:cs typeface="Calibri"/>
                <a:sym typeface="Calibri"/>
              </a:rPr>
              <a:t>node_modules</a:t>
            </a:r>
            <a:r>
              <a:rPr lang="en-US" sz="2400">
                <a:latin typeface="Calibri"/>
                <a:ea typeface="Calibri"/>
                <a:cs typeface="Calibri"/>
                <a:sym typeface="Calibri"/>
              </a:rPr>
              <a:t> nhờ các thông tin lưu vết</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Câu lệnh </a:t>
            </a:r>
            <a:r>
              <a:rPr b="1" lang="en-US" sz="2400">
                <a:latin typeface="Calibri"/>
                <a:ea typeface="Calibri"/>
                <a:cs typeface="Calibri"/>
                <a:sym typeface="Calibri"/>
              </a:rPr>
              <a:t>npm install</a:t>
            </a:r>
            <a:r>
              <a:rPr lang="en-US" sz="2400">
                <a:latin typeface="Calibri"/>
                <a:ea typeface="Calibri"/>
                <a:cs typeface="Calibri"/>
                <a:sym typeface="Calibri"/>
              </a:rPr>
              <a:t> có nhiệm vụ tìm các thư viện lưu vết trong file package.json, download từ npm server và cài đặt các thư viện vào trong dự án</a:t>
            </a:r>
            <a:endParaRPr sz="24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11a1fa9330f_0_20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07" name="Google Shape;307;g11a1fa9330f_0_20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308" name="Google Shape;308;g11a1fa9330f_0_20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09" name="Google Shape;309;g11a1fa9330f_0_20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g11a1fa9330f_0_207"/>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package.json và node_modules folder</a:t>
            </a:r>
            <a:endParaRPr b="0" i="0" sz="1400" u="none" cap="none" strike="noStrike">
              <a:solidFill>
                <a:srgbClr val="000000"/>
              </a:solidFill>
              <a:latin typeface="Arial"/>
              <a:ea typeface="Arial"/>
              <a:cs typeface="Arial"/>
              <a:sym typeface="Arial"/>
            </a:endParaRPr>
          </a:p>
        </p:txBody>
      </p:sp>
      <p:sp>
        <p:nvSpPr>
          <p:cNvPr id="311" name="Google Shape;311;g11a1fa9330f_0_207"/>
          <p:cNvSpPr txBox="1"/>
          <p:nvPr/>
        </p:nvSpPr>
        <p:spPr>
          <a:xfrm>
            <a:off x="483800" y="939250"/>
            <a:ext cx="7949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Một số lệnh NPM quan trọng </a:t>
            </a:r>
            <a:endParaRPr sz="2400">
              <a:latin typeface="Calibri"/>
              <a:ea typeface="Calibri"/>
              <a:cs typeface="Calibri"/>
              <a:sym typeface="Calibri"/>
            </a:endParaRPr>
          </a:p>
        </p:txBody>
      </p:sp>
      <p:graphicFrame>
        <p:nvGraphicFramePr>
          <p:cNvPr id="312" name="Google Shape;312;g11a1fa9330f_0_207"/>
          <p:cNvGraphicFramePr/>
          <p:nvPr/>
        </p:nvGraphicFramePr>
        <p:xfrm>
          <a:off x="648500" y="1853540"/>
          <a:ext cx="3000000" cy="3000000"/>
        </p:xfrm>
        <a:graphic>
          <a:graphicData uri="http://schemas.openxmlformats.org/drawingml/2006/table">
            <a:tbl>
              <a:tblPr>
                <a:noFill/>
                <a:tableStyleId>{4C6CC801-A3FA-4936-8534-4DCC2C097875}</a:tableStyleId>
              </a:tblPr>
              <a:tblGrid>
                <a:gridCol w="3771500"/>
                <a:gridCol w="3771500"/>
              </a:tblGrid>
              <a:tr h="647200">
                <a:tc>
                  <a:txBody>
                    <a:bodyPr/>
                    <a:lstStyle/>
                    <a:p>
                      <a:pPr indent="0" lvl="0" marL="0" rtl="0" algn="l">
                        <a:spcBef>
                          <a:spcPts val="0"/>
                        </a:spcBef>
                        <a:spcAft>
                          <a:spcPts val="0"/>
                        </a:spcAft>
                        <a:buNone/>
                      </a:pPr>
                      <a:r>
                        <a:rPr lang="en-US"/>
                        <a:t>npm install &lt;tên thư viện&gt;</a:t>
                      </a:r>
                      <a:endParaRPr/>
                    </a:p>
                  </a:txBody>
                  <a:tcPr marT="91425" marB="91425" marR="91425" marL="91425"/>
                </a:tc>
                <a:tc>
                  <a:txBody>
                    <a:bodyPr/>
                    <a:lstStyle/>
                    <a:p>
                      <a:pPr indent="0" lvl="0" marL="0" rtl="0" algn="l">
                        <a:spcBef>
                          <a:spcPts val="0"/>
                        </a:spcBef>
                        <a:spcAft>
                          <a:spcPts val="0"/>
                        </a:spcAft>
                        <a:buNone/>
                      </a:pPr>
                      <a:r>
                        <a:rPr lang="en-US"/>
                        <a:t>Cài đặt &lt;tên thư viện&gt; vào dự án</a:t>
                      </a:r>
                      <a:endParaRPr/>
                    </a:p>
                  </a:txBody>
                  <a:tcPr marT="91425" marB="91425" marR="91425" marL="91425"/>
                </a:tc>
              </a:tr>
              <a:tr h="647200">
                <a:tc>
                  <a:txBody>
                    <a:bodyPr/>
                    <a:lstStyle/>
                    <a:p>
                      <a:pPr indent="0" lvl="0" marL="0" rtl="0" algn="l">
                        <a:spcBef>
                          <a:spcPts val="0"/>
                        </a:spcBef>
                        <a:spcAft>
                          <a:spcPts val="0"/>
                        </a:spcAft>
                        <a:buNone/>
                      </a:pPr>
                      <a:r>
                        <a:rPr lang="en-US"/>
                        <a:t>npm install &lt;tên thư viện&gt; –save-dev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Cài đặt &lt;tên thư viện&gt; vào dự án nhưng chỉ trong môi trường dev</a:t>
                      </a:r>
                      <a:endParaRPr>
                        <a:solidFill>
                          <a:schemeClr val="dk1"/>
                        </a:solidFill>
                      </a:endParaRPr>
                    </a:p>
                    <a:p>
                      <a:pPr indent="0" lvl="0" marL="0" rtl="0" algn="l">
                        <a:spcBef>
                          <a:spcPts val="0"/>
                        </a:spcBef>
                        <a:spcAft>
                          <a:spcPts val="0"/>
                        </a:spcAft>
                        <a:buNone/>
                      </a:pPr>
                      <a:r>
                        <a:t/>
                      </a:r>
                      <a:endParaRPr/>
                    </a:p>
                  </a:txBody>
                  <a:tcPr marT="91425" marB="91425" marR="91425" marL="91425"/>
                </a:tc>
              </a:tr>
              <a:tr h="647200">
                <a:tc>
                  <a:txBody>
                    <a:bodyPr/>
                    <a:lstStyle/>
                    <a:p>
                      <a:pPr indent="0" lvl="0" marL="0" rtl="0" algn="l">
                        <a:spcBef>
                          <a:spcPts val="0"/>
                        </a:spcBef>
                        <a:spcAft>
                          <a:spcPts val="0"/>
                        </a:spcAft>
                        <a:buNone/>
                      </a:pPr>
                      <a:r>
                        <a:rPr lang="en-US"/>
                        <a:t>npm install &lt;tên thư viện&gt; –g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Cài đặt &lt;tên thư viện&gt; vào dự án ở cấp độ toàn cục</a:t>
                      </a:r>
                      <a:endParaRPr>
                        <a:solidFill>
                          <a:schemeClr val="dk1"/>
                        </a:solidFill>
                      </a:endParaRPr>
                    </a:p>
                    <a:p>
                      <a:pPr indent="0" lvl="0" marL="0" rtl="0" algn="l">
                        <a:spcBef>
                          <a:spcPts val="0"/>
                        </a:spcBef>
                        <a:spcAft>
                          <a:spcPts val="0"/>
                        </a:spcAft>
                        <a:buNone/>
                      </a:pPr>
                      <a:r>
                        <a:t/>
                      </a:r>
                      <a:endParaRPr/>
                    </a:p>
                  </a:txBody>
                  <a:tcPr marT="91425" marB="91425" marR="91425" marL="91425"/>
                </a:tc>
              </a:tr>
              <a:tr h="647200">
                <a:tc>
                  <a:txBody>
                    <a:bodyPr/>
                    <a:lstStyle/>
                    <a:p>
                      <a:pPr indent="0" lvl="0" marL="0" rtl="0" algn="l">
                        <a:spcBef>
                          <a:spcPts val="0"/>
                        </a:spcBef>
                        <a:spcAft>
                          <a:spcPts val="0"/>
                        </a:spcAft>
                        <a:buNone/>
                      </a:pPr>
                      <a:r>
                        <a:rPr lang="en-US"/>
                        <a:t>npm uninstall &lt;tên thư viện&gt;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Gỡ bỏ</a:t>
                      </a:r>
                      <a:r>
                        <a:rPr lang="en-US">
                          <a:solidFill>
                            <a:schemeClr val="dk1"/>
                          </a:solidFill>
                        </a:rPr>
                        <a:t> &lt;tên thư viện&gt; khỏi dự án</a:t>
                      </a:r>
                      <a:endParaRPr>
                        <a:solidFill>
                          <a:schemeClr val="dk1"/>
                        </a:solidFill>
                      </a:endParaRPr>
                    </a:p>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11a1fa9330f_0_21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18" name="Google Shape;318;g11a1fa9330f_0_21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319" name="Google Shape;319;g11a1fa9330f_0_21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20" name="Google Shape;320;g11a1fa9330f_0_21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1" name="Google Shape;321;g11a1fa9330f_0_217"/>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		Tạo file package.json</a:t>
            </a:r>
            <a:endParaRPr b="0" i="0" sz="1400" u="none" cap="none" strike="noStrike">
              <a:solidFill>
                <a:srgbClr val="000000"/>
              </a:solidFill>
              <a:latin typeface="Arial"/>
              <a:ea typeface="Arial"/>
              <a:cs typeface="Arial"/>
              <a:sym typeface="Arial"/>
            </a:endParaRPr>
          </a:p>
        </p:txBody>
      </p:sp>
      <p:sp>
        <p:nvSpPr>
          <p:cNvPr id="322" name="Google Shape;322;g11a1fa9330f_0_217"/>
          <p:cNvSpPr txBox="1"/>
          <p:nvPr/>
        </p:nvSpPr>
        <p:spPr>
          <a:xfrm>
            <a:off x="509950" y="749650"/>
            <a:ext cx="7949700" cy="20319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File package.json có thể được tạo ra bằng tay hoặc bằng câu lệnh </a:t>
            </a:r>
            <a:r>
              <a:rPr b="1" lang="en-US" sz="2400">
                <a:latin typeface="Calibri"/>
                <a:ea typeface="Calibri"/>
                <a:cs typeface="Calibri"/>
                <a:sym typeface="Calibri"/>
              </a:rPr>
              <a:t>npm init</a:t>
            </a:r>
            <a:endParaRPr b="1"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Câu lệnh </a:t>
            </a:r>
            <a:r>
              <a:rPr b="1" lang="en-US" sz="2400">
                <a:latin typeface="Calibri"/>
                <a:ea typeface="Calibri"/>
                <a:cs typeface="Calibri"/>
                <a:sym typeface="Calibri"/>
              </a:rPr>
              <a:t>npm init</a:t>
            </a:r>
            <a:r>
              <a:rPr lang="en-US" sz="2400">
                <a:latin typeface="Calibri"/>
                <a:ea typeface="Calibri"/>
                <a:cs typeface="Calibri"/>
                <a:sym typeface="Calibri"/>
              </a:rPr>
              <a:t> sẽ lần lượt hỏi các thông tin cấu hình cho file</a:t>
            </a:r>
            <a:r>
              <a:rPr b="1" lang="en-US" sz="2400">
                <a:latin typeface="Calibri"/>
                <a:ea typeface="Calibri"/>
                <a:cs typeface="Calibri"/>
                <a:sym typeface="Calibri"/>
              </a:rPr>
              <a:t> package.json</a:t>
            </a:r>
            <a:endParaRPr b="1"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File </a:t>
            </a:r>
            <a:r>
              <a:rPr b="1" lang="en-US" sz="2400">
                <a:latin typeface="Calibri"/>
                <a:ea typeface="Calibri"/>
                <a:cs typeface="Calibri"/>
                <a:sym typeface="Calibri"/>
              </a:rPr>
              <a:t>package.json </a:t>
            </a:r>
            <a:r>
              <a:rPr lang="en-US" sz="2400">
                <a:latin typeface="Calibri"/>
                <a:ea typeface="Calibri"/>
                <a:cs typeface="Calibri"/>
                <a:sym typeface="Calibri"/>
              </a:rPr>
              <a:t>sẽ có dạng như sau </a:t>
            </a:r>
            <a:endParaRPr sz="2400">
              <a:latin typeface="Calibri"/>
              <a:ea typeface="Calibri"/>
              <a:cs typeface="Calibri"/>
              <a:sym typeface="Calibri"/>
            </a:endParaRPr>
          </a:p>
        </p:txBody>
      </p:sp>
      <p:sp>
        <p:nvSpPr>
          <p:cNvPr id="323" name="Google Shape;323;g11a1fa9330f_0_217"/>
          <p:cNvSpPr txBox="1"/>
          <p:nvPr/>
        </p:nvSpPr>
        <p:spPr>
          <a:xfrm>
            <a:off x="1582100" y="2781550"/>
            <a:ext cx="6269700" cy="31401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rgbClr val="A9B7C6"/>
                </a:solidFill>
                <a:highlight>
                  <a:srgbClr val="2B2B2B"/>
                </a:highlight>
                <a:latin typeface="Courier New"/>
                <a:ea typeface="Courier New"/>
                <a:cs typeface="Courier New"/>
                <a:sym typeface="Courier New"/>
              </a:rPr>
              <a:t>{</a:t>
            </a:r>
            <a:endParaRPr b="1" sz="12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A9B7C6"/>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"name"</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"fe-cy"</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"version"</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"1.0.0"</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"description"</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"main"</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"index.js"</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"scripts"</a:t>
            </a:r>
            <a:r>
              <a:rPr b="1" lang="en-US" sz="1200">
                <a:solidFill>
                  <a:srgbClr val="CC7832"/>
                </a:solidFill>
                <a:highlight>
                  <a:srgbClr val="2B2B2B"/>
                </a:highlight>
                <a:latin typeface="Courier New"/>
                <a:ea typeface="Courier New"/>
                <a:cs typeface="Courier New"/>
                <a:sym typeface="Courier New"/>
              </a:rPr>
              <a:t>: </a:t>
            </a:r>
            <a:r>
              <a:rPr b="1" i="1" lang="en-US" sz="1200">
                <a:solidFill>
                  <a:srgbClr val="9876AA"/>
                </a:solidFill>
                <a:highlight>
                  <a:srgbClr val="2B2B2B"/>
                </a:highlight>
                <a:latin typeface="Courier New"/>
                <a:ea typeface="Courier New"/>
                <a:cs typeface="Courier New"/>
                <a:sym typeface="Courier New"/>
              </a:rPr>
              <a: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"test"</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"echo </a:t>
            </a:r>
            <a:r>
              <a:rPr b="1" lang="en-US" sz="1200">
                <a:solidFill>
                  <a:srgbClr val="CC7832"/>
                </a:solidFill>
                <a:highlight>
                  <a:srgbClr val="2B2B2B"/>
                </a:highlight>
                <a:latin typeface="Courier New"/>
                <a:ea typeface="Courier New"/>
                <a:cs typeface="Courier New"/>
                <a:sym typeface="Courier New"/>
              </a:rPr>
              <a:t>\"</a:t>
            </a:r>
            <a:r>
              <a:rPr b="1" lang="en-US" sz="1200">
                <a:solidFill>
                  <a:srgbClr val="6A8759"/>
                </a:solidFill>
                <a:highlight>
                  <a:srgbClr val="2B2B2B"/>
                </a:highlight>
                <a:latin typeface="Courier New"/>
                <a:ea typeface="Courier New"/>
                <a:cs typeface="Courier New"/>
                <a:sym typeface="Courier New"/>
              </a:rPr>
              <a:t>Error: no test specified</a:t>
            </a:r>
            <a:r>
              <a:rPr b="1" lang="en-US" sz="1200">
                <a:solidFill>
                  <a:srgbClr val="CC7832"/>
                </a:solidFill>
                <a:highlight>
                  <a:srgbClr val="2B2B2B"/>
                </a:highlight>
                <a:latin typeface="Courier New"/>
                <a:ea typeface="Courier New"/>
                <a:cs typeface="Courier New"/>
                <a:sym typeface="Courier New"/>
              </a:rPr>
              <a:t>\"</a:t>
            </a:r>
            <a:r>
              <a:rPr b="1" lang="en-US" sz="1200">
                <a:solidFill>
                  <a:srgbClr val="6A8759"/>
                </a:solidFill>
                <a:highlight>
                  <a:srgbClr val="2B2B2B"/>
                </a:highlight>
                <a:latin typeface="Courier New"/>
                <a:ea typeface="Courier New"/>
                <a:cs typeface="Courier New"/>
                <a:sym typeface="Courier New"/>
              </a:rPr>
              <a:t> &amp;&amp; exit 1"</a:t>
            </a:r>
            <a:endParaRPr b="1" sz="1200">
              <a:solidFill>
                <a:srgbClr val="6A8759"/>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6A8759"/>
                </a:solidFill>
                <a:highlight>
                  <a:srgbClr val="2B2B2B"/>
                </a:highlight>
                <a:latin typeface="Courier New"/>
                <a:ea typeface="Courier New"/>
                <a:cs typeface="Courier New"/>
                <a:sym typeface="Courier New"/>
              </a:rPr>
              <a:t> </a:t>
            </a:r>
            <a:r>
              <a:rPr b="1" i="1" lang="en-US" sz="1200">
                <a:solidFill>
                  <a:srgbClr val="9876AA"/>
                </a:solidFill>
                <a:highlight>
                  <a:srgbClr val="2B2B2B"/>
                </a:highlight>
                <a:latin typeface="Courier New"/>
                <a:ea typeface="Courier New"/>
                <a:cs typeface="Courier New"/>
                <a:sym typeface="Courier New"/>
              </a:rPr>
              <a:t>}</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"author"</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"license"</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"ISC"</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"dependencies"</a:t>
            </a:r>
            <a:r>
              <a:rPr b="1" lang="en-US" sz="1200">
                <a:solidFill>
                  <a:srgbClr val="CC7832"/>
                </a:solidFill>
                <a:highlight>
                  <a:srgbClr val="2B2B2B"/>
                </a:highlight>
                <a:latin typeface="Courier New"/>
                <a:ea typeface="Courier New"/>
                <a:cs typeface="Courier New"/>
                <a:sym typeface="Courier New"/>
              </a:rPr>
              <a:t>: </a:t>
            </a:r>
            <a:r>
              <a:rPr b="1" i="1" lang="en-US" sz="1200">
                <a:solidFill>
                  <a:srgbClr val="9876AA"/>
                </a:solidFill>
                <a:highlight>
                  <a:srgbClr val="2B2B2B"/>
                </a:highlight>
                <a:latin typeface="Courier New"/>
                <a:ea typeface="Courier New"/>
                <a:cs typeface="Courier New"/>
                <a:sym typeface="Courier New"/>
              </a:rPr>
              <a: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"jquery"</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"^3.6.0"</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"lodash-es"</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"^4.17.21"</a:t>
            </a:r>
            <a:endParaRPr b="1" sz="1200">
              <a:solidFill>
                <a:srgbClr val="6A8759"/>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6A8759"/>
                </a:solidFill>
                <a:highlight>
                  <a:srgbClr val="2B2B2B"/>
                </a:highlight>
                <a:latin typeface="Courier New"/>
                <a:ea typeface="Courier New"/>
                <a:cs typeface="Courier New"/>
                <a:sym typeface="Courier New"/>
              </a:rPr>
              <a:t> </a:t>
            </a:r>
            <a:r>
              <a:rPr b="1" i="1" lang="en-US" sz="1200">
                <a:solidFill>
                  <a:srgbClr val="9876AA"/>
                </a:solidFill>
                <a:highlight>
                  <a:srgbClr val="2B2B2B"/>
                </a:highlight>
                <a:latin typeface="Courier New"/>
                <a:ea typeface="Courier New"/>
                <a:cs typeface="Courier New"/>
                <a:sym typeface="Courier New"/>
              </a:rPr>
              <a: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A9B7C6"/>
                </a:solidFill>
                <a:highlight>
                  <a:srgbClr val="2B2B2B"/>
                </a:highlight>
                <a:latin typeface="Courier New"/>
                <a:ea typeface="Courier New"/>
                <a:cs typeface="Courier New"/>
                <a:sym typeface="Courier New"/>
              </a:rPr>
              <a:t>}</a:t>
            </a:r>
            <a:endParaRPr b="1" sz="12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sz="1200">
              <a:solidFill>
                <a:srgbClr val="A9B7C6"/>
              </a:solidFill>
              <a:highlight>
                <a:srgbClr val="2B2B2B"/>
              </a:highlight>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11a1fa9330f_0_24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29" name="Google Shape;329;g11a1fa9330f_0_24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330" name="Google Shape;330;g11a1fa9330f_0_24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31" name="Google Shape;331;g11a1fa9330f_0_24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2" name="Google Shape;332;g11a1fa9330f_0_241"/>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Sử dụng thư viện</a:t>
            </a:r>
            <a:endParaRPr b="0" i="0" sz="1400" u="none" cap="none" strike="noStrike">
              <a:solidFill>
                <a:srgbClr val="000000"/>
              </a:solidFill>
              <a:latin typeface="Arial"/>
              <a:ea typeface="Arial"/>
              <a:cs typeface="Arial"/>
              <a:sym typeface="Arial"/>
            </a:endParaRPr>
          </a:p>
        </p:txBody>
      </p:sp>
      <p:sp>
        <p:nvSpPr>
          <p:cNvPr id="333" name="Google Shape;333;g11a1fa9330f_0_241"/>
          <p:cNvSpPr txBox="1"/>
          <p:nvPr/>
        </p:nvSpPr>
        <p:spPr>
          <a:xfrm>
            <a:off x="509950" y="749650"/>
            <a:ext cx="7949700" cy="16623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Sau khi cài đặt thư viện trong node_modules, ta có thể import nó vào file JS thông qua native module ES6 nếu như thư viện đó hỗ trợ native module ES6 hoặc import bằng CommonJS nếu sử dụng trong môi trường server (NodeJS)</a:t>
            </a:r>
            <a:endParaRPr sz="2400">
              <a:latin typeface="Calibri"/>
              <a:ea typeface="Calibri"/>
              <a:cs typeface="Calibri"/>
              <a:sym typeface="Calibri"/>
            </a:endParaRPr>
          </a:p>
        </p:txBody>
      </p:sp>
      <p:sp>
        <p:nvSpPr>
          <p:cNvPr id="334" name="Google Shape;334;g11a1fa9330f_0_241"/>
          <p:cNvSpPr txBox="1"/>
          <p:nvPr/>
        </p:nvSpPr>
        <p:spPr>
          <a:xfrm>
            <a:off x="1039500" y="2634650"/>
            <a:ext cx="6766500" cy="2216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import </a:t>
            </a:r>
            <a:r>
              <a:rPr b="1" lang="en-US" sz="1200">
                <a:solidFill>
                  <a:srgbClr val="FFC66D"/>
                </a:solidFill>
                <a:highlight>
                  <a:srgbClr val="2B2B2B"/>
                </a:highlight>
                <a:latin typeface="Courier New"/>
                <a:ea typeface="Courier New"/>
                <a:cs typeface="Courier New"/>
                <a:sym typeface="Courier New"/>
              </a:rPr>
              <a:t>cloneDeep </a:t>
            </a:r>
            <a:r>
              <a:rPr b="1" lang="en-US" sz="1200">
                <a:solidFill>
                  <a:srgbClr val="CC7832"/>
                </a:solidFill>
                <a:highlight>
                  <a:srgbClr val="2B2B2B"/>
                </a:highlight>
                <a:latin typeface="Courier New"/>
                <a:ea typeface="Courier New"/>
                <a:cs typeface="Courier New"/>
                <a:sym typeface="Courier New"/>
              </a:rPr>
              <a:t>from </a:t>
            </a:r>
            <a:r>
              <a:rPr b="1" lang="en-US" sz="1200">
                <a:solidFill>
                  <a:srgbClr val="6A8759"/>
                </a:solidFill>
                <a:highlight>
                  <a:srgbClr val="2B2B2B"/>
                </a:highlight>
                <a:latin typeface="Courier New"/>
                <a:ea typeface="Courier New"/>
                <a:cs typeface="Courier New"/>
                <a:sym typeface="Courier New"/>
              </a:rPr>
              <a:t>'./node_modules/lodash-es/cloneDeep.js'</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const </a:t>
            </a:r>
            <a:r>
              <a:rPr b="1" lang="en-US" sz="1200">
                <a:solidFill>
                  <a:srgbClr val="A9B7C6"/>
                </a:solidFill>
                <a:highlight>
                  <a:srgbClr val="2B2B2B"/>
                </a:highlight>
                <a:latin typeface="Courier New"/>
                <a:ea typeface="Courier New"/>
                <a:cs typeface="Courier New"/>
                <a:sym typeface="Courier New"/>
              </a:rPr>
              <a:t>user = {</a:t>
            </a:r>
            <a:endParaRPr b="1" sz="12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A9B7C6"/>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name</a:t>
            </a:r>
            <a:r>
              <a:rPr b="1" lang="en-US" sz="1200">
                <a:solidFill>
                  <a:srgbClr val="A9B7C6"/>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'John'</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age</a:t>
            </a:r>
            <a:r>
              <a:rPr b="1" lang="en-US" sz="1200">
                <a:solidFill>
                  <a:srgbClr val="A9B7C6"/>
                </a:solidFill>
                <a:highlight>
                  <a:srgbClr val="2B2B2B"/>
                </a:highlight>
                <a:latin typeface="Courier New"/>
                <a:ea typeface="Courier New"/>
                <a:cs typeface="Courier New"/>
                <a:sym typeface="Courier New"/>
              </a:rPr>
              <a:t>: </a:t>
            </a:r>
            <a:r>
              <a:rPr b="1" lang="en-US" sz="1200">
                <a:solidFill>
                  <a:srgbClr val="6897BB"/>
                </a:solidFill>
                <a:highlight>
                  <a:srgbClr val="2B2B2B"/>
                </a:highlight>
                <a:latin typeface="Courier New"/>
                <a:ea typeface="Courier New"/>
                <a:cs typeface="Courier New"/>
                <a:sym typeface="Courier New"/>
              </a:rPr>
              <a:t>30</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courses</a:t>
            </a:r>
            <a:r>
              <a:rPr b="1" lang="en-US" sz="1200">
                <a:solidFill>
                  <a:srgbClr val="A9B7C6"/>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'html'</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'css'</a:t>
            </a:r>
            <a:r>
              <a:rPr b="1" lang="en-US" sz="1200">
                <a:solidFill>
                  <a:srgbClr val="CC7832"/>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'js'</a:t>
            </a:r>
            <a:r>
              <a:rPr b="1" lang="en-US" sz="1200">
                <a:solidFill>
                  <a:srgbClr val="A9B7C6"/>
                </a:solidFill>
                <a:highlight>
                  <a:srgbClr val="2B2B2B"/>
                </a:highlight>
                <a:latin typeface="Courier New"/>
                <a:ea typeface="Courier New"/>
                <a:cs typeface="Courier New"/>
                <a:sym typeface="Courier New"/>
              </a:rPr>
              <a:t>]</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   </a:t>
            </a:r>
            <a:r>
              <a:rPr b="1" lang="en-US" sz="1200">
                <a:solidFill>
                  <a:srgbClr val="9876AA"/>
                </a:solidFill>
                <a:highlight>
                  <a:srgbClr val="2B2B2B"/>
                </a:highlight>
                <a:latin typeface="Courier New"/>
                <a:ea typeface="Courier New"/>
                <a:cs typeface="Courier New"/>
                <a:sym typeface="Courier New"/>
              </a:rPr>
              <a:t>wife</a:t>
            </a:r>
            <a:r>
              <a:rPr b="1" lang="en-US" sz="1200">
                <a:solidFill>
                  <a:srgbClr val="A9B7C6"/>
                </a:solidFill>
                <a:highlight>
                  <a:srgbClr val="2B2B2B"/>
                </a:highlight>
                <a:latin typeface="Courier New"/>
                <a:ea typeface="Courier New"/>
                <a:cs typeface="Courier New"/>
                <a:sym typeface="Courier New"/>
              </a:rPr>
              <a:t>: </a:t>
            </a:r>
            <a:r>
              <a:rPr b="1" lang="en-US" sz="1200">
                <a:solidFill>
                  <a:srgbClr val="CC7832"/>
                </a:solidFill>
                <a:highlight>
                  <a:srgbClr val="2B2B2B"/>
                </a:highlight>
                <a:latin typeface="Courier New"/>
                <a:ea typeface="Courier New"/>
                <a:cs typeface="Courier New"/>
                <a:sym typeface="Courier New"/>
              </a:rPr>
              <a:t>null</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A9B7C6"/>
                </a:solidFill>
                <a:highlight>
                  <a:srgbClr val="2B2B2B"/>
                </a:highlight>
                <a:latin typeface="Courier New"/>
                <a:ea typeface="Courier New"/>
                <a:cs typeface="Courier New"/>
                <a:sym typeface="Courier New"/>
              </a:rPr>
              <a:t>}</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CC7832"/>
                </a:solidFill>
                <a:highlight>
                  <a:srgbClr val="2B2B2B"/>
                </a:highlight>
                <a:latin typeface="Courier New"/>
                <a:ea typeface="Courier New"/>
                <a:cs typeface="Courier New"/>
                <a:sym typeface="Courier New"/>
              </a:rPr>
              <a:t>const </a:t>
            </a:r>
            <a:r>
              <a:rPr b="1" lang="en-US" sz="1200">
                <a:solidFill>
                  <a:srgbClr val="A9B7C6"/>
                </a:solidFill>
                <a:highlight>
                  <a:srgbClr val="2B2B2B"/>
                </a:highlight>
                <a:latin typeface="Courier New"/>
                <a:ea typeface="Courier New"/>
                <a:cs typeface="Courier New"/>
                <a:sym typeface="Courier New"/>
              </a:rPr>
              <a:t>cloneUser = </a:t>
            </a:r>
            <a:r>
              <a:rPr b="1" lang="en-US" sz="1200">
                <a:solidFill>
                  <a:srgbClr val="FFC66D"/>
                </a:solidFill>
                <a:highlight>
                  <a:srgbClr val="2B2B2B"/>
                </a:highlight>
                <a:latin typeface="Courier New"/>
                <a:ea typeface="Courier New"/>
                <a:cs typeface="Courier New"/>
                <a:sym typeface="Courier New"/>
              </a:rPr>
              <a:t>cloneDeep</a:t>
            </a:r>
            <a:r>
              <a:rPr b="1" lang="en-US" sz="1200">
                <a:solidFill>
                  <a:srgbClr val="A9B7C6"/>
                </a:solidFill>
                <a:highlight>
                  <a:srgbClr val="2B2B2B"/>
                </a:highlight>
                <a:latin typeface="Courier New"/>
                <a:ea typeface="Courier New"/>
                <a:cs typeface="Courier New"/>
                <a:sym typeface="Courier New"/>
              </a:rPr>
              <a:t>(user)</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200">
                <a:solidFill>
                  <a:srgbClr val="A9B7C6"/>
                </a:solidFill>
                <a:highlight>
                  <a:srgbClr val="2B2B2B"/>
                </a:highlight>
                <a:latin typeface="Courier New"/>
                <a:ea typeface="Courier New"/>
                <a:cs typeface="Courier New"/>
                <a:sym typeface="Courier New"/>
              </a:rPr>
              <a:t>user.</a:t>
            </a:r>
            <a:r>
              <a:rPr b="1" lang="en-US" sz="1200">
                <a:solidFill>
                  <a:srgbClr val="9876AA"/>
                </a:solidFill>
                <a:highlight>
                  <a:srgbClr val="2B2B2B"/>
                </a:highlight>
                <a:latin typeface="Courier New"/>
                <a:ea typeface="Courier New"/>
                <a:cs typeface="Courier New"/>
                <a:sym typeface="Courier New"/>
              </a:rPr>
              <a:t>name </a:t>
            </a:r>
            <a:r>
              <a:rPr b="1" lang="en-US" sz="1200">
                <a:solidFill>
                  <a:srgbClr val="A9B7C6"/>
                </a:solidFill>
                <a:highlight>
                  <a:srgbClr val="2B2B2B"/>
                </a:highlight>
                <a:latin typeface="Courier New"/>
                <a:ea typeface="Courier New"/>
                <a:cs typeface="Courier New"/>
                <a:sym typeface="Courier New"/>
              </a:rPr>
              <a:t>= </a:t>
            </a:r>
            <a:r>
              <a:rPr b="1" lang="en-US" sz="1200">
                <a:solidFill>
                  <a:srgbClr val="6A8759"/>
                </a:solidFill>
                <a:highlight>
                  <a:srgbClr val="2B2B2B"/>
                </a:highlight>
                <a:latin typeface="Courier New"/>
                <a:ea typeface="Courier New"/>
                <a:cs typeface="Courier New"/>
                <a:sym typeface="Courier New"/>
              </a:rPr>
              <a:t>'Pete'</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console</a:t>
            </a:r>
            <a:r>
              <a:rPr b="1" lang="en-US" sz="1200">
                <a:solidFill>
                  <a:srgbClr val="A9B7C6"/>
                </a:solidFill>
                <a:highlight>
                  <a:srgbClr val="2B2B2B"/>
                </a:highlight>
                <a:latin typeface="Courier New"/>
                <a:ea typeface="Courier New"/>
                <a:cs typeface="Courier New"/>
                <a:sym typeface="Courier New"/>
              </a:rPr>
              <a:t>.</a:t>
            </a:r>
            <a:r>
              <a:rPr b="1" lang="en-US" sz="1200">
                <a:solidFill>
                  <a:srgbClr val="FFC66D"/>
                </a:solidFill>
                <a:highlight>
                  <a:srgbClr val="2B2B2B"/>
                </a:highlight>
                <a:latin typeface="Courier New"/>
                <a:ea typeface="Courier New"/>
                <a:cs typeface="Courier New"/>
                <a:sym typeface="Courier New"/>
              </a:rPr>
              <a:t>log</a:t>
            </a:r>
            <a:r>
              <a:rPr b="1" lang="en-US" sz="1200">
                <a:solidFill>
                  <a:srgbClr val="A9B7C6"/>
                </a:solidFill>
                <a:highlight>
                  <a:srgbClr val="2B2B2B"/>
                </a:highlight>
                <a:latin typeface="Courier New"/>
                <a:ea typeface="Courier New"/>
                <a:cs typeface="Courier New"/>
                <a:sym typeface="Courier New"/>
              </a:rPr>
              <a:t>(cloneUser)</a:t>
            </a:r>
            <a:r>
              <a:rPr b="1" lang="en-US" sz="1200">
                <a:solidFill>
                  <a:srgbClr val="CC7832"/>
                </a:solidFill>
                <a:highlight>
                  <a:srgbClr val="2B2B2B"/>
                </a:highlight>
                <a:latin typeface="Courier New"/>
                <a:ea typeface="Courier New"/>
                <a:cs typeface="Courier New"/>
                <a:sym typeface="Courier New"/>
              </a:rPr>
              <a:t>;</a:t>
            </a:r>
            <a:endParaRPr b="1" sz="1200">
              <a:solidFill>
                <a:srgbClr val="CC7832"/>
              </a:solidFill>
              <a:highlight>
                <a:srgbClr val="2B2B2B"/>
              </a:highlight>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11a1fa9330f_0_265"/>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40" name="Google Shape;340;g11a1fa9330f_0_26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341" name="Google Shape;341;g11a1fa9330f_0_26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42" name="Google Shape;342;g11a1fa9330f_0_265"/>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3" name="Google Shape;343;g11a1fa9330f_0_265"/>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Sử dụng thư viện</a:t>
            </a:r>
            <a:endParaRPr b="0" i="0" sz="1400" u="none" cap="none" strike="noStrike">
              <a:solidFill>
                <a:srgbClr val="000000"/>
              </a:solidFill>
              <a:latin typeface="Arial"/>
              <a:ea typeface="Arial"/>
              <a:cs typeface="Arial"/>
              <a:sym typeface="Arial"/>
            </a:endParaRPr>
          </a:p>
        </p:txBody>
      </p:sp>
      <p:sp>
        <p:nvSpPr>
          <p:cNvPr id="344" name="Google Shape;344;g11a1fa9330f_0_265"/>
          <p:cNvSpPr txBox="1"/>
          <p:nvPr/>
        </p:nvSpPr>
        <p:spPr>
          <a:xfrm>
            <a:off x="597150" y="1494925"/>
            <a:ext cx="7949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Giáo viên demo sử dụng NPM cho học viên</a:t>
            </a:r>
            <a:endParaRPr sz="24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11a1fa9330f_0_255"/>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50" name="Google Shape;350;g11a1fa9330f_0_25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351" name="Google Shape;351;g11a1fa9330f_0_25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52" name="Google Shape;352;g11a1fa9330f_0_255"/>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3" name="Google Shape;353;g11a1fa9330f_0_255"/>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Bundling File sử dụng Parcel và NPM</a:t>
            </a:r>
            <a:endParaRPr b="0" i="0" sz="1400" u="none" cap="none" strike="noStrike">
              <a:solidFill>
                <a:srgbClr val="000000"/>
              </a:solidFill>
              <a:latin typeface="Arial"/>
              <a:ea typeface="Arial"/>
              <a:cs typeface="Arial"/>
              <a:sym typeface="Arial"/>
            </a:endParaRPr>
          </a:p>
        </p:txBody>
      </p:sp>
      <p:sp>
        <p:nvSpPr>
          <p:cNvPr id="354" name="Google Shape;354;g11a1fa9330f_0_255"/>
          <p:cNvSpPr txBox="1"/>
          <p:nvPr/>
        </p:nvSpPr>
        <p:spPr>
          <a:xfrm>
            <a:off x="452850" y="2272900"/>
            <a:ext cx="7949700" cy="27705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Parcel là một bundler phổ biến với đặc điểm zero config</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Parcel hỗ trợ cả native module ES6 và cả commonJS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Parcel ngoài việc bundling còn cho phép chạy một live-server có khả năng hot reloading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Parcel có thể bundle cả JS, CSS, HTML…</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Parcel thích hợp sử dụng trong các dự án nhỏ, với dự án vừa và lớn thì cần phải cân nhắc việc sử dụng webpack</a:t>
            </a:r>
            <a:endParaRPr sz="24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11a1fa9330f_0_275"/>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60" name="Google Shape;360;g11a1fa9330f_0_275"/>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361" name="Google Shape;361;g11a1fa9330f_0_275"/>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62" name="Google Shape;362;g11a1fa9330f_0_275"/>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3" name="Google Shape;363;g11a1fa9330f_0_275"/>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Bundling File sử dụng Parcel và NPM</a:t>
            </a:r>
            <a:endParaRPr b="0" i="0" sz="1400" u="none" cap="none" strike="noStrike">
              <a:solidFill>
                <a:srgbClr val="000000"/>
              </a:solidFill>
              <a:latin typeface="Arial"/>
              <a:ea typeface="Arial"/>
              <a:cs typeface="Arial"/>
              <a:sym typeface="Arial"/>
            </a:endParaRPr>
          </a:p>
        </p:txBody>
      </p:sp>
      <p:sp>
        <p:nvSpPr>
          <p:cNvPr id="364" name="Google Shape;364;g11a1fa9330f_0_275"/>
          <p:cNvSpPr txBox="1"/>
          <p:nvPr/>
        </p:nvSpPr>
        <p:spPr>
          <a:xfrm>
            <a:off x="518225" y="1429550"/>
            <a:ext cx="7949700" cy="35094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Để cài đặt Parcel ta sử dụng lệnh sau</a:t>
            </a:r>
            <a:endParaRPr sz="2400">
              <a:latin typeface="Calibri"/>
              <a:ea typeface="Calibri"/>
              <a:cs typeface="Calibri"/>
              <a:sym typeface="Calibri"/>
            </a:endParaRPr>
          </a:p>
          <a:p>
            <a:pPr indent="0" lvl="0" marL="457200" rtl="0" algn="l">
              <a:spcBef>
                <a:spcPts val="0"/>
              </a:spcBef>
              <a:spcAft>
                <a:spcPts val="0"/>
              </a:spcAft>
              <a:buNone/>
            </a:pPr>
            <a:r>
              <a:rPr b="1" lang="en-US" sz="2400">
                <a:latin typeface="Calibri"/>
                <a:ea typeface="Calibri"/>
                <a:cs typeface="Calibri"/>
                <a:sym typeface="Calibri"/>
              </a:rPr>
              <a:t>npm install –save-dev parcel-bundler </a:t>
            </a:r>
            <a:endParaRPr b="1"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Lệnh trên sẽ cài đặt parcel-bundler ở môi trường development tức là module parcel-bundler sẽ không đi cùng dự án khi đẩy lên môi trường production</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Trong môi trường development, để chạy parcel ta sử dụng lệnh </a:t>
            </a:r>
            <a:r>
              <a:rPr b="1" lang="en-US" sz="2400">
                <a:latin typeface="Calibri"/>
                <a:ea typeface="Calibri"/>
                <a:cs typeface="Calibri"/>
                <a:sym typeface="Calibri"/>
              </a:rPr>
              <a:t>parcel &lt;link-entry-point&gt; </a:t>
            </a:r>
            <a:endParaRPr b="1"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Khi muốn bundling file cho môi trường production, sử dụng lệnh </a:t>
            </a:r>
            <a:r>
              <a:rPr b="1" lang="en-US" sz="2400">
                <a:latin typeface="Calibri"/>
                <a:ea typeface="Calibri"/>
                <a:cs typeface="Calibri"/>
                <a:sym typeface="Calibri"/>
              </a:rPr>
              <a:t>parcel build &lt;link-entry-point&gt;</a:t>
            </a:r>
            <a:endParaRPr b="1" sz="24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11a1fa9330f_0_29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70" name="Google Shape;370;g11a1fa9330f_0_29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371" name="Google Shape;371;g11a1fa9330f_0_29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72" name="Google Shape;372;g11a1fa9330f_0_29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3" name="Google Shape;373;g11a1fa9330f_0_293"/>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Bundling File sử dụng Parcel và NPM</a:t>
            </a:r>
            <a:endParaRPr b="0" i="0" sz="1400" u="none" cap="none" strike="noStrike">
              <a:solidFill>
                <a:srgbClr val="000000"/>
              </a:solidFill>
              <a:latin typeface="Arial"/>
              <a:ea typeface="Arial"/>
              <a:cs typeface="Arial"/>
              <a:sym typeface="Arial"/>
            </a:endParaRPr>
          </a:p>
        </p:txBody>
      </p:sp>
      <p:sp>
        <p:nvSpPr>
          <p:cNvPr id="374" name="Google Shape;374;g11a1fa9330f_0_293"/>
          <p:cNvSpPr txBox="1"/>
          <p:nvPr/>
        </p:nvSpPr>
        <p:spPr>
          <a:xfrm>
            <a:off x="524750" y="1547225"/>
            <a:ext cx="7949700" cy="3140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Lệnh parcel trong môi trường development sẽ cho phép tạo ra một live server có khả năng hot-reload (reload thay đổi ngay lập tức)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Link Entry Point là vị trí của file đầu vào, thông thường đây là file .html có link đến các CSS và JS muốn bundling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Lệnh parcel trong môi trường production sẽ gộp và nén toàn bộ module thành một vào tạo ra một folder dist trong thư mục dự án và sẵn sàng để đẩy lên production server</a:t>
            </a:r>
            <a:endParaRPr sz="24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11a1fa9330f_0_31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80" name="Google Shape;380;g11a1fa9330f_0_31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381" name="Google Shape;381;g11a1fa9330f_0_31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82" name="Google Shape;382;g11a1fa9330f_0_31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3" name="Google Shape;383;g11a1fa9330f_0_311"/>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Bundling File sử dụng Parcel và NPM</a:t>
            </a:r>
            <a:endParaRPr b="0" i="0" sz="1400" u="none" cap="none" strike="noStrike">
              <a:solidFill>
                <a:srgbClr val="000000"/>
              </a:solidFill>
              <a:latin typeface="Arial"/>
              <a:ea typeface="Arial"/>
              <a:cs typeface="Arial"/>
              <a:sym typeface="Arial"/>
            </a:endParaRPr>
          </a:p>
        </p:txBody>
      </p:sp>
      <p:sp>
        <p:nvSpPr>
          <p:cNvPr id="384" name="Google Shape;384;g11a1fa9330f_0_311"/>
          <p:cNvSpPr txBox="1"/>
          <p:nvPr/>
        </p:nvSpPr>
        <p:spPr>
          <a:xfrm>
            <a:off x="304800" y="993725"/>
            <a:ext cx="3000000" cy="1693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lt1"/>
                </a:solidFill>
              </a:rPr>
              <a:t>src</a:t>
            </a:r>
            <a:endParaRPr>
              <a:solidFill>
                <a:schemeClr val="lt1"/>
              </a:solidFill>
            </a:endParaRPr>
          </a:p>
          <a:p>
            <a:pPr indent="0" lvl="0" marL="0" rtl="0" algn="l">
              <a:spcBef>
                <a:spcPts val="0"/>
              </a:spcBef>
              <a:spcAft>
                <a:spcPts val="0"/>
              </a:spcAft>
              <a:buNone/>
            </a:pPr>
            <a:r>
              <a:rPr lang="en-US">
                <a:solidFill>
                  <a:schemeClr val="lt1"/>
                </a:solidFill>
              </a:rPr>
              <a:t>├── index.html</a:t>
            </a:r>
            <a:endParaRPr>
              <a:solidFill>
                <a:schemeClr val="lt1"/>
              </a:solidFill>
            </a:endParaRPr>
          </a:p>
          <a:p>
            <a:pPr indent="0" lvl="0" marL="0" rtl="0" algn="l">
              <a:spcBef>
                <a:spcPts val="0"/>
              </a:spcBef>
              <a:spcAft>
                <a:spcPts val="0"/>
              </a:spcAft>
              <a:buNone/>
            </a:pPr>
            <a:r>
              <a:rPr lang="en-US">
                <a:solidFill>
                  <a:schemeClr val="lt1"/>
                </a:solidFill>
              </a:rPr>
              <a:t>├── index.js</a:t>
            </a:r>
            <a:endParaRPr>
              <a:solidFill>
                <a:schemeClr val="lt1"/>
              </a:solidFill>
            </a:endParaRPr>
          </a:p>
          <a:p>
            <a:pPr indent="0" lvl="0" marL="0" rtl="0" algn="l">
              <a:spcBef>
                <a:spcPts val="0"/>
              </a:spcBef>
              <a:spcAft>
                <a:spcPts val="0"/>
              </a:spcAft>
              <a:buNone/>
            </a:pPr>
            <a:r>
              <a:rPr lang="en-US">
                <a:solidFill>
                  <a:schemeClr val="lt1"/>
                </a:solidFill>
              </a:rPr>
              <a:t>├── modules</a:t>
            </a:r>
            <a:endParaRPr>
              <a:solidFill>
                <a:schemeClr val="lt1"/>
              </a:solidFill>
            </a:endParaRPr>
          </a:p>
          <a:p>
            <a:pPr indent="0" lvl="0" marL="0" rtl="0" algn="l">
              <a:spcBef>
                <a:spcPts val="0"/>
              </a:spcBef>
              <a:spcAft>
                <a:spcPts val="0"/>
              </a:spcAft>
              <a:buNone/>
            </a:pPr>
            <a:r>
              <a:rPr lang="en-US">
                <a:solidFill>
                  <a:schemeClr val="lt1"/>
                </a:solidFill>
              </a:rPr>
              <a:t>│   └── calculator.js</a:t>
            </a:r>
            <a:endParaRPr>
              <a:solidFill>
                <a:schemeClr val="lt1"/>
              </a:solidFill>
            </a:endParaRPr>
          </a:p>
          <a:p>
            <a:pPr indent="0" lvl="0" marL="0" rtl="0" algn="l">
              <a:spcBef>
                <a:spcPts val="0"/>
              </a:spcBef>
              <a:spcAft>
                <a:spcPts val="0"/>
              </a:spcAft>
              <a:buNone/>
            </a:pPr>
            <a:r>
              <a:rPr lang="en-US">
                <a:solidFill>
                  <a:schemeClr val="lt1"/>
                </a:solidFill>
              </a:rPr>
              <a:t>└── style.css</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385" name="Google Shape;385;g11a1fa9330f_0_311"/>
          <p:cNvSpPr txBox="1"/>
          <p:nvPr/>
        </p:nvSpPr>
        <p:spPr>
          <a:xfrm>
            <a:off x="3606550" y="639725"/>
            <a:ext cx="4942500" cy="2401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&lt;!DOCTYPE </a:t>
            </a:r>
            <a:r>
              <a:rPr b="1" lang="en-US" sz="1200">
                <a:solidFill>
                  <a:srgbClr val="BABABA"/>
                </a:solidFill>
                <a:highlight>
                  <a:srgbClr val="2B2B2B"/>
                </a:highlight>
                <a:latin typeface="Courier New"/>
                <a:ea typeface="Courier New"/>
                <a:cs typeface="Courier New"/>
                <a:sym typeface="Courier New"/>
              </a:rPr>
              <a:t>html</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&lt;</a:t>
            </a:r>
            <a:r>
              <a:rPr b="1" lang="en-US" sz="1200">
                <a:solidFill>
                  <a:srgbClr val="E8BF6A"/>
                </a:solidFill>
                <a:highlight>
                  <a:srgbClr val="2B2B2B"/>
                </a:highlight>
                <a:latin typeface="Courier New"/>
                <a:ea typeface="Courier New"/>
                <a:cs typeface="Courier New"/>
                <a:sym typeface="Courier New"/>
              </a:rPr>
              <a:t>html </a:t>
            </a:r>
            <a:r>
              <a:rPr b="1" lang="en-US" sz="1200">
                <a:solidFill>
                  <a:srgbClr val="BABABA"/>
                </a:solidFill>
                <a:highlight>
                  <a:srgbClr val="2B2B2B"/>
                </a:highlight>
                <a:latin typeface="Courier New"/>
                <a:ea typeface="Courier New"/>
                <a:cs typeface="Courier New"/>
                <a:sym typeface="Courier New"/>
              </a:rPr>
              <a:t>lang</a:t>
            </a:r>
            <a:r>
              <a:rPr b="1" lang="en-US" sz="1200">
                <a:solidFill>
                  <a:srgbClr val="A5C261"/>
                </a:solidFill>
                <a:highlight>
                  <a:srgbClr val="2B2B2B"/>
                </a:highlight>
                <a:latin typeface="Courier New"/>
                <a:ea typeface="Courier New"/>
                <a:cs typeface="Courier New"/>
                <a:sym typeface="Courier New"/>
              </a:rPr>
              <a:t>="en"</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&lt;</a:t>
            </a:r>
            <a:r>
              <a:rPr b="1" lang="en-US" sz="1200">
                <a:solidFill>
                  <a:srgbClr val="E8BF6A"/>
                </a:solidFill>
                <a:highlight>
                  <a:srgbClr val="2B2B2B"/>
                </a:highlight>
                <a:latin typeface="Courier New"/>
                <a:ea typeface="Courier New"/>
                <a:cs typeface="Courier New"/>
                <a:sym typeface="Courier New"/>
              </a:rPr>
              <a:t>head</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   &lt;</a:t>
            </a:r>
            <a:r>
              <a:rPr b="1" lang="en-US" sz="1200">
                <a:solidFill>
                  <a:srgbClr val="E8BF6A"/>
                </a:solidFill>
                <a:highlight>
                  <a:srgbClr val="2B2B2B"/>
                </a:highlight>
                <a:latin typeface="Courier New"/>
                <a:ea typeface="Courier New"/>
                <a:cs typeface="Courier New"/>
                <a:sym typeface="Courier New"/>
              </a:rPr>
              <a:t>meta </a:t>
            </a:r>
            <a:r>
              <a:rPr b="1" lang="en-US" sz="1200">
                <a:solidFill>
                  <a:srgbClr val="BABABA"/>
                </a:solidFill>
                <a:highlight>
                  <a:srgbClr val="2B2B2B"/>
                </a:highlight>
                <a:latin typeface="Courier New"/>
                <a:ea typeface="Courier New"/>
                <a:cs typeface="Courier New"/>
                <a:sym typeface="Courier New"/>
              </a:rPr>
              <a:t>charset</a:t>
            </a:r>
            <a:r>
              <a:rPr b="1" lang="en-US" sz="1200">
                <a:solidFill>
                  <a:srgbClr val="A5C261"/>
                </a:solidFill>
                <a:highlight>
                  <a:srgbClr val="2B2B2B"/>
                </a:highlight>
                <a:latin typeface="Courier New"/>
                <a:ea typeface="Courier New"/>
                <a:cs typeface="Courier New"/>
                <a:sym typeface="Courier New"/>
              </a:rPr>
              <a:t>="UTF-8"</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   &lt;</a:t>
            </a:r>
            <a:r>
              <a:rPr b="1" lang="en-US" sz="1200">
                <a:solidFill>
                  <a:srgbClr val="E8BF6A"/>
                </a:solidFill>
                <a:highlight>
                  <a:srgbClr val="2B2B2B"/>
                </a:highlight>
                <a:latin typeface="Courier New"/>
                <a:ea typeface="Courier New"/>
                <a:cs typeface="Courier New"/>
                <a:sym typeface="Courier New"/>
              </a:rPr>
              <a:t>title</a:t>
            </a:r>
            <a:r>
              <a:rPr b="1" i="1" lang="en-US" sz="1200">
                <a:solidFill>
                  <a:srgbClr val="9876AA"/>
                </a:solidFill>
                <a:highlight>
                  <a:srgbClr val="2B2B2B"/>
                </a:highlight>
                <a:latin typeface="Courier New"/>
                <a:ea typeface="Courier New"/>
                <a:cs typeface="Courier New"/>
                <a:sym typeface="Courier New"/>
              </a:rPr>
              <a:t>&gt;</a:t>
            </a:r>
            <a:r>
              <a:rPr b="1" lang="en-US" sz="1200">
                <a:solidFill>
                  <a:srgbClr val="A9B7C6"/>
                </a:solidFill>
                <a:highlight>
                  <a:srgbClr val="2B2B2B"/>
                </a:highlight>
                <a:latin typeface="Courier New"/>
                <a:ea typeface="Courier New"/>
                <a:cs typeface="Courier New"/>
                <a:sym typeface="Courier New"/>
              </a:rPr>
              <a:t>Title</a:t>
            </a:r>
            <a:r>
              <a:rPr b="1" i="1" lang="en-US" sz="1200">
                <a:solidFill>
                  <a:srgbClr val="9876AA"/>
                </a:solidFill>
                <a:highlight>
                  <a:srgbClr val="2B2B2B"/>
                </a:highlight>
                <a:latin typeface="Courier New"/>
                <a:ea typeface="Courier New"/>
                <a:cs typeface="Courier New"/>
                <a:sym typeface="Courier New"/>
              </a:rPr>
              <a:t>&lt;/</a:t>
            </a:r>
            <a:r>
              <a:rPr b="1" lang="en-US" sz="1200">
                <a:solidFill>
                  <a:srgbClr val="E8BF6A"/>
                </a:solidFill>
                <a:highlight>
                  <a:srgbClr val="2B2B2B"/>
                </a:highlight>
                <a:latin typeface="Courier New"/>
                <a:ea typeface="Courier New"/>
                <a:cs typeface="Courier New"/>
                <a:sym typeface="Courier New"/>
              </a:rPr>
              <a:t>title</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   &lt;</a:t>
            </a:r>
            <a:r>
              <a:rPr b="1" lang="en-US" sz="1200">
                <a:solidFill>
                  <a:srgbClr val="E8BF6A"/>
                </a:solidFill>
                <a:highlight>
                  <a:srgbClr val="2B2B2B"/>
                </a:highlight>
                <a:latin typeface="Courier New"/>
                <a:ea typeface="Courier New"/>
                <a:cs typeface="Courier New"/>
                <a:sym typeface="Courier New"/>
              </a:rPr>
              <a:t>link </a:t>
            </a:r>
            <a:r>
              <a:rPr b="1" lang="en-US" sz="1200">
                <a:solidFill>
                  <a:srgbClr val="BABABA"/>
                </a:solidFill>
                <a:highlight>
                  <a:srgbClr val="2B2B2B"/>
                </a:highlight>
                <a:latin typeface="Courier New"/>
                <a:ea typeface="Courier New"/>
                <a:cs typeface="Courier New"/>
                <a:sym typeface="Courier New"/>
              </a:rPr>
              <a:t>rel</a:t>
            </a:r>
            <a:r>
              <a:rPr b="1" lang="en-US" sz="1200">
                <a:solidFill>
                  <a:srgbClr val="A5C261"/>
                </a:solidFill>
                <a:highlight>
                  <a:srgbClr val="2B2B2B"/>
                </a:highlight>
                <a:latin typeface="Courier New"/>
                <a:ea typeface="Courier New"/>
                <a:cs typeface="Courier New"/>
                <a:sym typeface="Courier New"/>
              </a:rPr>
              <a:t>="stylesheet" </a:t>
            </a:r>
            <a:r>
              <a:rPr b="1" lang="en-US" sz="1200">
                <a:solidFill>
                  <a:srgbClr val="BABABA"/>
                </a:solidFill>
                <a:highlight>
                  <a:srgbClr val="2B2B2B"/>
                </a:highlight>
                <a:latin typeface="Courier New"/>
                <a:ea typeface="Courier New"/>
                <a:cs typeface="Courier New"/>
                <a:sym typeface="Courier New"/>
              </a:rPr>
              <a:t>href</a:t>
            </a:r>
            <a:r>
              <a:rPr b="1" lang="en-US" sz="1200">
                <a:solidFill>
                  <a:srgbClr val="A5C261"/>
                </a:solidFill>
                <a:highlight>
                  <a:srgbClr val="2B2B2B"/>
                </a:highlight>
                <a:latin typeface="Courier New"/>
                <a:ea typeface="Courier New"/>
                <a:cs typeface="Courier New"/>
                <a:sym typeface="Courier New"/>
              </a:rPr>
              <a:t>="style.css"</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   &lt;</a:t>
            </a:r>
            <a:r>
              <a:rPr b="1" lang="en-US" sz="1200">
                <a:solidFill>
                  <a:srgbClr val="E8BF6A"/>
                </a:solidFill>
                <a:highlight>
                  <a:srgbClr val="2B2B2B"/>
                </a:highlight>
                <a:latin typeface="Courier New"/>
                <a:ea typeface="Courier New"/>
                <a:cs typeface="Courier New"/>
                <a:sym typeface="Courier New"/>
              </a:rPr>
              <a:t>script </a:t>
            </a:r>
            <a:r>
              <a:rPr b="1" lang="en-US" sz="1200">
                <a:solidFill>
                  <a:srgbClr val="BABABA"/>
                </a:solidFill>
                <a:highlight>
                  <a:srgbClr val="2B2B2B"/>
                </a:highlight>
                <a:latin typeface="Courier New"/>
                <a:ea typeface="Courier New"/>
                <a:cs typeface="Courier New"/>
                <a:sym typeface="Courier New"/>
              </a:rPr>
              <a:t>src</a:t>
            </a:r>
            <a:r>
              <a:rPr b="1" lang="en-US" sz="1200">
                <a:solidFill>
                  <a:srgbClr val="A5C261"/>
                </a:solidFill>
                <a:highlight>
                  <a:srgbClr val="2B2B2B"/>
                </a:highlight>
                <a:latin typeface="Courier New"/>
                <a:ea typeface="Courier New"/>
                <a:cs typeface="Courier New"/>
                <a:sym typeface="Courier New"/>
              </a:rPr>
              <a:t>="index.js"</a:t>
            </a:r>
            <a:r>
              <a:rPr b="1" i="1" lang="en-US" sz="1200">
                <a:solidFill>
                  <a:srgbClr val="9876AA"/>
                </a:solidFill>
                <a:highlight>
                  <a:srgbClr val="2B2B2B"/>
                </a:highlight>
                <a:latin typeface="Courier New"/>
                <a:ea typeface="Courier New"/>
                <a:cs typeface="Courier New"/>
                <a:sym typeface="Courier New"/>
              </a:rPr>
              <a:t>&gt;&lt;/</a:t>
            </a:r>
            <a:r>
              <a:rPr b="1" lang="en-US" sz="1200">
                <a:solidFill>
                  <a:srgbClr val="E8BF6A"/>
                </a:solidFill>
                <a:highlight>
                  <a:srgbClr val="2B2B2B"/>
                </a:highlight>
                <a:latin typeface="Courier New"/>
                <a:ea typeface="Courier New"/>
                <a:cs typeface="Courier New"/>
                <a:sym typeface="Courier New"/>
              </a:rPr>
              <a:t>script</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&lt;/</a:t>
            </a:r>
            <a:r>
              <a:rPr b="1" lang="en-US" sz="1200">
                <a:solidFill>
                  <a:srgbClr val="E8BF6A"/>
                </a:solidFill>
                <a:highlight>
                  <a:srgbClr val="2B2B2B"/>
                </a:highlight>
                <a:latin typeface="Courier New"/>
                <a:ea typeface="Courier New"/>
                <a:cs typeface="Courier New"/>
                <a:sym typeface="Courier New"/>
              </a:rPr>
              <a:t>head</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&lt;</a:t>
            </a:r>
            <a:r>
              <a:rPr b="1" lang="en-US" sz="1200">
                <a:solidFill>
                  <a:srgbClr val="E8BF6A"/>
                </a:solidFill>
                <a:highlight>
                  <a:srgbClr val="2B2B2B"/>
                </a:highlight>
                <a:latin typeface="Courier New"/>
                <a:ea typeface="Courier New"/>
                <a:cs typeface="Courier New"/>
                <a:sym typeface="Courier New"/>
              </a:rPr>
              <a:t>body</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&lt;/</a:t>
            </a:r>
            <a:r>
              <a:rPr b="1" lang="en-US" sz="1200">
                <a:solidFill>
                  <a:srgbClr val="E8BF6A"/>
                </a:solidFill>
                <a:highlight>
                  <a:srgbClr val="2B2B2B"/>
                </a:highlight>
                <a:latin typeface="Courier New"/>
                <a:ea typeface="Courier New"/>
                <a:cs typeface="Courier New"/>
                <a:sym typeface="Courier New"/>
              </a:rPr>
              <a:t>body</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200">
                <a:solidFill>
                  <a:srgbClr val="9876AA"/>
                </a:solidFill>
                <a:highlight>
                  <a:srgbClr val="2B2B2B"/>
                </a:highlight>
                <a:latin typeface="Courier New"/>
                <a:ea typeface="Courier New"/>
                <a:cs typeface="Courier New"/>
                <a:sym typeface="Courier New"/>
              </a:rPr>
              <a:t>&lt;/</a:t>
            </a:r>
            <a:r>
              <a:rPr b="1" lang="en-US" sz="1200">
                <a:solidFill>
                  <a:srgbClr val="E8BF6A"/>
                </a:solidFill>
                <a:highlight>
                  <a:srgbClr val="2B2B2B"/>
                </a:highlight>
                <a:latin typeface="Courier New"/>
                <a:ea typeface="Courier New"/>
                <a:cs typeface="Courier New"/>
                <a:sym typeface="Courier New"/>
              </a:rPr>
              <a:t>html</a:t>
            </a:r>
            <a:r>
              <a:rPr b="1" i="1" lang="en-US" sz="1200">
                <a:solidFill>
                  <a:srgbClr val="9876AA"/>
                </a:solidFill>
                <a:highlight>
                  <a:srgbClr val="2B2B2B"/>
                </a:highlight>
                <a:latin typeface="Courier New"/>
                <a:ea typeface="Courier New"/>
                <a:cs typeface="Courier New"/>
                <a:sym typeface="Courier New"/>
              </a:rPr>
              <a:t>&gt;</a:t>
            </a:r>
            <a:endParaRPr b="1" i="1" sz="1200">
              <a:solidFill>
                <a:srgbClr val="9876AA"/>
              </a:solidFill>
              <a:highlight>
                <a:srgbClr val="2B2B2B"/>
              </a:highlight>
              <a:latin typeface="Courier New"/>
              <a:ea typeface="Courier New"/>
              <a:cs typeface="Courier New"/>
              <a:sym typeface="Courier New"/>
            </a:endParaRPr>
          </a:p>
        </p:txBody>
      </p:sp>
      <p:pic>
        <p:nvPicPr>
          <p:cNvPr id="386" name="Google Shape;386;g11a1fa9330f_0_311"/>
          <p:cNvPicPr preferRelativeResize="0"/>
          <p:nvPr/>
        </p:nvPicPr>
        <p:blipFill>
          <a:blip r:embed="rId4">
            <a:alphaModFix/>
          </a:blip>
          <a:stretch>
            <a:fillRect/>
          </a:stretch>
        </p:blipFill>
        <p:spPr>
          <a:xfrm>
            <a:off x="201225" y="3542000"/>
            <a:ext cx="3103578" cy="486300"/>
          </a:xfrm>
          <a:prstGeom prst="rect">
            <a:avLst/>
          </a:prstGeom>
          <a:noFill/>
          <a:ln>
            <a:noFill/>
          </a:ln>
        </p:spPr>
      </p:pic>
      <p:pic>
        <p:nvPicPr>
          <p:cNvPr id="387" name="Google Shape;387;g11a1fa9330f_0_311"/>
          <p:cNvPicPr preferRelativeResize="0"/>
          <p:nvPr/>
        </p:nvPicPr>
        <p:blipFill>
          <a:blip r:embed="rId5">
            <a:alphaModFix/>
          </a:blip>
          <a:stretch>
            <a:fillRect/>
          </a:stretch>
        </p:blipFill>
        <p:spPr>
          <a:xfrm>
            <a:off x="3606540" y="3359050"/>
            <a:ext cx="5430823" cy="2307442"/>
          </a:xfrm>
          <a:prstGeom prst="rect">
            <a:avLst/>
          </a:prstGeom>
          <a:noFill/>
          <a:ln>
            <a:noFill/>
          </a:ln>
        </p:spPr>
      </p:pic>
      <p:sp>
        <p:nvSpPr>
          <p:cNvPr id="388" name="Google Shape;388;g11a1fa9330f_0_311"/>
          <p:cNvSpPr txBox="1"/>
          <p:nvPr/>
        </p:nvSpPr>
        <p:spPr>
          <a:xfrm>
            <a:off x="594925" y="4312675"/>
            <a:ext cx="376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Chạy parcel ở môi trường dev</a:t>
            </a:r>
            <a:endParaRPr>
              <a:latin typeface="Calibri"/>
              <a:ea typeface="Calibri"/>
              <a:cs typeface="Calibri"/>
              <a:sym typeface="Calibri"/>
            </a:endParaRPr>
          </a:p>
        </p:txBody>
      </p:sp>
      <p:sp>
        <p:nvSpPr>
          <p:cNvPr id="389" name="Google Shape;389;g11a1fa9330f_0_311"/>
          <p:cNvSpPr txBox="1"/>
          <p:nvPr/>
        </p:nvSpPr>
        <p:spPr>
          <a:xfrm>
            <a:off x="4750038" y="56745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Chạy parcel ở môi trường prod</a:t>
            </a:r>
            <a:endParaRPr>
              <a:solidFill>
                <a:schemeClr val="dk1"/>
              </a:solidFill>
              <a:latin typeface="Calibri"/>
              <a:ea typeface="Calibri"/>
              <a:cs typeface="Calibri"/>
              <a:sym typeface="Calibri"/>
            </a:endParaRPr>
          </a:p>
        </p:txBody>
      </p:sp>
      <p:sp>
        <p:nvSpPr>
          <p:cNvPr id="390" name="Google Shape;390;g11a1fa9330f_0_311"/>
          <p:cNvSpPr txBox="1"/>
          <p:nvPr/>
        </p:nvSpPr>
        <p:spPr>
          <a:xfrm>
            <a:off x="5549042" y="2962349"/>
            <a:ext cx="111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File entry </a:t>
            </a:r>
            <a:endParaRPr>
              <a:solidFill>
                <a:schemeClr val="dk1"/>
              </a:solidFill>
              <a:latin typeface="Calibri"/>
              <a:ea typeface="Calibri"/>
              <a:cs typeface="Calibri"/>
              <a:sym typeface="Calibri"/>
            </a:endParaRPr>
          </a:p>
        </p:txBody>
      </p:sp>
      <p:sp>
        <p:nvSpPr>
          <p:cNvPr id="391" name="Google Shape;391;g11a1fa9330f_0_311"/>
          <p:cNvSpPr txBox="1"/>
          <p:nvPr/>
        </p:nvSpPr>
        <p:spPr>
          <a:xfrm>
            <a:off x="1027030" y="2686925"/>
            <a:ext cx="177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Calibri"/>
                <a:ea typeface="Calibri"/>
                <a:cs typeface="Calibri"/>
                <a:sym typeface="Calibri"/>
              </a:rPr>
              <a:t>Cấu trúc thư mục</a:t>
            </a:r>
            <a:endParaRPr>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11a1fa9330f_0_302"/>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97" name="Google Shape;397;g11a1fa9330f_0_30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398" name="Google Shape;398;g11a1fa9330f_0_30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99" name="Google Shape;399;g11a1fa9330f_0_302"/>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0" name="Google Shape;400;g11a1fa9330f_0_302"/>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Bundling File sử dụng Parcel và NPM</a:t>
            </a:r>
            <a:endParaRPr b="0" i="0" sz="1400" u="none" cap="none" strike="noStrike">
              <a:solidFill>
                <a:srgbClr val="000000"/>
              </a:solidFill>
              <a:latin typeface="Arial"/>
              <a:ea typeface="Arial"/>
              <a:cs typeface="Arial"/>
              <a:sym typeface="Arial"/>
            </a:endParaRPr>
          </a:p>
        </p:txBody>
      </p:sp>
      <p:sp>
        <p:nvSpPr>
          <p:cNvPr id="401" name="Google Shape;401;g11a1fa9330f_0_302"/>
          <p:cNvSpPr txBox="1"/>
          <p:nvPr/>
        </p:nvSpPr>
        <p:spPr>
          <a:xfrm>
            <a:off x="518225" y="854225"/>
            <a:ext cx="7949700" cy="9234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Có thể cài đặt các lệnh của parcel vào key script trong file package.json để đơn giản hoá các lệnh này như sau </a:t>
            </a:r>
            <a:endParaRPr sz="2400">
              <a:latin typeface="Calibri"/>
              <a:ea typeface="Calibri"/>
              <a:cs typeface="Calibri"/>
              <a:sym typeface="Calibri"/>
            </a:endParaRPr>
          </a:p>
        </p:txBody>
      </p:sp>
      <p:sp>
        <p:nvSpPr>
          <p:cNvPr id="402" name="Google Shape;402;g11a1fa9330f_0_302"/>
          <p:cNvSpPr txBox="1"/>
          <p:nvPr/>
        </p:nvSpPr>
        <p:spPr>
          <a:xfrm>
            <a:off x="4572000" y="1685125"/>
            <a:ext cx="4393200" cy="4109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a:t>
            </a:r>
            <a:endParaRPr b="1" sz="15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"name"</a:t>
            </a:r>
            <a:r>
              <a:rPr b="1" lang="en-US" sz="1500">
                <a:solidFill>
                  <a:srgbClr val="CC7832"/>
                </a:solidFill>
                <a:highlight>
                  <a:srgbClr val="2B2B2B"/>
                </a:highlight>
                <a:latin typeface="Courier New"/>
                <a:ea typeface="Courier New"/>
                <a:cs typeface="Courier New"/>
                <a:sym typeface="Courier New"/>
              </a:rPr>
              <a:t>: </a:t>
            </a:r>
            <a:r>
              <a:rPr b="1" lang="en-US" sz="1500">
                <a:solidFill>
                  <a:srgbClr val="6A8759"/>
                </a:solidFill>
                <a:highlight>
                  <a:srgbClr val="2B2B2B"/>
                </a:highlight>
                <a:latin typeface="Courier New"/>
                <a:ea typeface="Courier New"/>
                <a:cs typeface="Courier New"/>
                <a:sym typeface="Courier New"/>
              </a:rPr>
              <a:t>"parcel-demo"</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"version"</a:t>
            </a:r>
            <a:r>
              <a:rPr b="1" lang="en-US" sz="1500">
                <a:solidFill>
                  <a:srgbClr val="CC7832"/>
                </a:solidFill>
                <a:highlight>
                  <a:srgbClr val="2B2B2B"/>
                </a:highlight>
                <a:latin typeface="Courier New"/>
                <a:ea typeface="Courier New"/>
                <a:cs typeface="Courier New"/>
                <a:sym typeface="Courier New"/>
              </a:rPr>
              <a:t>: </a:t>
            </a:r>
            <a:r>
              <a:rPr b="1" lang="en-US" sz="1500">
                <a:solidFill>
                  <a:srgbClr val="6A8759"/>
                </a:solidFill>
                <a:highlight>
                  <a:srgbClr val="2B2B2B"/>
                </a:highlight>
                <a:latin typeface="Courier New"/>
                <a:ea typeface="Courier New"/>
                <a:cs typeface="Courier New"/>
                <a:sym typeface="Courier New"/>
              </a:rPr>
              <a:t>"1.0.0"</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"description"</a:t>
            </a:r>
            <a:r>
              <a:rPr b="1" lang="en-US" sz="1500">
                <a:solidFill>
                  <a:srgbClr val="CC7832"/>
                </a:solidFill>
                <a:highlight>
                  <a:srgbClr val="2B2B2B"/>
                </a:highlight>
                <a:latin typeface="Courier New"/>
                <a:ea typeface="Courier New"/>
                <a:cs typeface="Courier New"/>
                <a:sym typeface="Courier New"/>
              </a:rPr>
              <a:t>: </a:t>
            </a:r>
            <a:r>
              <a:rPr b="1" lang="en-US" sz="1500">
                <a:solidFill>
                  <a:srgbClr val="6A8759"/>
                </a:solidFill>
                <a:highlight>
                  <a:srgbClr val="2B2B2B"/>
                </a:highlight>
                <a:latin typeface="Courier New"/>
                <a:ea typeface="Courier New"/>
                <a:cs typeface="Courier New"/>
                <a:sym typeface="Courier New"/>
              </a:rPr>
              <a:t>""</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"main"</a:t>
            </a:r>
            <a:r>
              <a:rPr b="1" lang="en-US" sz="1500">
                <a:solidFill>
                  <a:srgbClr val="CC7832"/>
                </a:solidFill>
                <a:highlight>
                  <a:srgbClr val="2B2B2B"/>
                </a:highlight>
                <a:latin typeface="Courier New"/>
                <a:ea typeface="Courier New"/>
                <a:cs typeface="Courier New"/>
                <a:sym typeface="Courier New"/>
              </a:rPr>
              <a:t>: </a:t>
            </a:r>
            <a:r>
              <a:rPr b="1" lang="en-US" sz="1500">
                <a:solidFill>
                  <a:srgbClr val="6A8759"/>
                </a:solidFill>
                <a:highlight>
                  <a:srgbClr val="2B2B2B"/>
                </a:highlight>
                <a:latin typeface="Courier New"/>
                <a:ea typeface="Courier New"/>
                <a:cs typeface="Courier New"/>
                <a:sym typeface="Courier New"/>
              </a:rPr>
              <a:t>"index.js"</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"scripts"</a:t>
            </a:r>
            <a:r>
              <a:rPr b="1" lang="en-US" sz="1500">
                <a:solidFill>
                  <a:srgbClr val="CC7832"/>
                </a:solidFill>
                <a:highlight>
                  <a:srgbClr val="2B2B2B"/>
                </a:highlight>
                <a:latin typeface="Courier New"/>
                <a:ea typeface="Courier New"/>
                <a:cs typeface="Courier New"/>
                <a:sym typeface="Courier New"/>
              </a:rPr>
              <a:t>: </a:t>
            </a: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"dev"</a:t>
            </a:r>
            <a:r>
              <a:rPr b="1" lang="en-US" sz="1500">
                <a:solidFill>
                  <a:srgbClr val="CC7832"/>
                </a:solidFill>
                <a:highlight>
                  <a:srgbClr val="2B2B2B"/>
                </a:highlight>
                <a:latin typeface="Courier New"/>
                <a:ea typeface="Courier New"/>
                <a:cs typeface="Courier New"/>
                <a:sym typeface="Courier New"/>
              </a:rPr>
              <a:t>: </a:t>
            </a:r>
            <a:r>
              <a:rPr b="1" lang="en-US" sz="1500">
                <a:solidFill>
                  <a:srgbClr val="6A8759"/>
                </a:solidFill>
                <a:highlight>
                  <a:srgbClr val="2B2B2B"/>
                </a:highlight>
                <a:latin typeface="Courier New"/>
                <a:ea typeface="Courier New"/>
                <a:cs typeface="Courier New"/>
                <a:sym typeface="Courier New"/>
              </a:rPr>
              <a:t>"parcel src/index.html --open"</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"build"</a:t>
            </a:r>
            <a:r>
              <a:rPr b="1" lang="en-US" sz="1500">
                <a:solidFill>
                  <a:srgbClr val="CC7832"/>
                </a:solidFill>
                <a:highlight>
                  <a:srgbClr val="2B2B2B"/>
                </a:highlight>
                <a:latin typeface="Courier New"/>
                <a:ea typeface="Courier New"/>
                <a:cs typeface="Courier New"/>
                <a:sym typeface="Courier New"/>
              </a:rPr>
              <a:t>: </a:t>
            </a:r>
            <a:r>
              <a:rPr b="1" lang="en-US" sz="1500">
                <a:solidFill>
                  <a:srgbClr val="6A8759"/>
                </a:solidFill>
                <a:highlight>
                  <a:srgbClr val="2B2B2B"/>
                </a:highlight>
                <a:latin typeface="Courier New"/>
                <a:ea typeface="Courier New"/>
                <a:cs typeface="Courier New"/>
                <a:sym typeface="Courier New"/>
              </a:rPr>
              <a:t>"parcel build src/index.html"</a:t>
            </a:r>
            <a:endParaRPr b="1" sz="1500">
              <a:solidFill>
                <a:srgbClr val="6A8759"/>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6A8759"/>
                </a:solidFill>
                <a:highlight>
                  <a:srgbClr val="2B2B2B"/>
                </a:highlight>
                <a:latin typeface="Courier New"/>
                <a:ea typeface="Courier New"/>
                <a:cs typeface="Courier New"/>
                <a:sym typeface="Courier New"/>
              </a:rPr>
              <a:t> </a:t>
            </a:r>
            <a:r>
              <a:rPr b="1" i="1" lang="en-US" sz="1500">
                <a:solidFill>
                  <a:srgbClr val="9876AA"/>
                </a:solidFill>
                <a:highlight>
                  <a:srgbClr val="2B2B2B"/>
                </a:highlight>
                <a:latin typeface="Courier New"/>
                <a:ea typeface="Courier New"/>
                <a:cs typeface="Courier New"/>
                <a:sym typeface="Courier New"/>
              </a:rPr>
              <a:t>}</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"author"</a:t>
            </a:r>
            <a:r>
              <a:rPr b="1" lang="en-US" sz="1500">
                <a:solidFill>
                  <a:srgbClr val="CC7832"/>
                </a:solidFill>
                <a:highlight>
                  <a:srgbClr val="2B2B2B"/>
                </a:highlight>
                <a:latin typeface="Courier New"/>
                <a:ea typeface="Courier New"/>
                <a:cs typeface="Courier New"/>
                <a:sym typeface="Courier New"/>
              </a:rPr>
              <a:t>: </a:t>
            </a:r>
            <a:r>
              <a:rPr b="1" lang="en-US" sz="1500">
                <a:solidFill>
                  <a:srgbClr val="6A8759"/>
                </a:solidFill>
                <a:highlight>
                  <a:srgbClr val="2B2B2B"/>
                </a:highlight>
                <a:latin typeface="Courier New"/>
                <a:ea typeface="Courier New"/>
                <a:cs typeface="Courier New"/>
                <a:sym typeface="Courier New"/>
              </a:rPr>
              <a:t>""</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"license"</a:t>
            </a:r>
            <a:r>
              <a:rPr b="1" lang="en-US" sz="1500">
                <a:solidFill>
                  <a:srgbClr val="CC7832"/>
                </a:solidFill>
                <a:highlight>
                  <a:srgbClr val="2B2B2B"/>
                </a:highlight>
                <a:latin typeface="Courier New"/>
                <a:ea typeface="Courier New"/>
                <a:cs typeface="Courier New"/>
                <a:sym typeface="Courier New"/>
              </a:rPr>
              <a:t>: </a:t>
            </a:r>
            <a:r>
              <a:rPr b="1" lang="en-US" sz="1500">
                <a:solidFill>
                  <a:srgbClr val="6A8759"/>
                </a:solidFill>
                <a:highlight>
                  <a:srgbClr val="2B2B2B"/>
                </a:highlight>
                <a:latin typeface="Courier New"/>
                <a:ea typeface="Courier New"/>
                <a:cs typeface="Courier New"/>
                <a:sym typeface="Courier New"/>
              </a:rPr>
              <a:t>"ISC"</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"devDependencies"</a:t>
            </a:r>
            <a:r>
              <a:rPr b="1" lang="en-US" sz="1500">
                <a:solidFill>
                  <a:srgbClr val="CC7832"/>
                </a:solidFill>
                <a:highlight>
                  <a:srgbClr val="2B2B2B"/>
                </a:highlight>
                <a:latin typeface="Courier New"/>
                <a:ea typeface="Courier New"/>
                <a:cs typeface="Courier New"/>
                <a:sym typeface="Courier New"/>
              </a:rPr>
              <a:t>: </a:t>
            </a: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i="1" lang="en-US" sz="1500">
                <a:solidFill>
                  <a:srgbClr val="9876AA"/>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"parcel-bundler"</a:t>
            </a:r>
            <a:r>
              <a:rPr b="1" lang="en-US" sz="1500">
                <a:solidFill>
                  <a:srgbClr val="CC7832"/>
                </a:solidFill>
                <a:highlight>
                  <a:srgbClr val="2B2B2B"/>
                </a:highlight>
                <a:latin typeface="Courier New"/>
                <a:ea typeface="Courier New"/>
                <a:cs typeface="Courier New"/>
                <a:sym typeface="Courier New"/>
              </a:rPr>
              <a:t>: </a:t>
            </a:r>
            <a:r>
              <a:rPr b="1" lang="en-US" sz="1500">
                <a:solidFill>
                  <a:srgbClr val="6A8759"/>
                </a:solidFill>
                <a:highlight>
                  <a:srgbClr val="2B2B2B"/>
                </a:highlight>
                <a:latin typeface="Courier New"/>
                <a:ea typeface="Courier New"/>
                <a:cs typeface="Courier New"/>
                <a:sym typeface="Courier New"/>
              </a:rPr>
              <a:t>"^1.12.5"</a:t>
            </a:r>
            <a:endParaRPr b="1" sz="1500">
              <a:solidFill>
                <a:srgbClr val="6A8759"/>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6A8759"/>
                </a:solidFill>
                <a:highlight>
                  <a:srgbClr val="2B2B2B"/>
                </a:highlight>
                <a:latin typeface="Courier New"/>
                <a:ea typeface="Courier New"/>
                <a:cs typeface="Courier New"/>
                <a:sym typeface="Courier New"/>
              </a:rPr>
              <a:t> </a:t>
            </a:r>
            <a:r>
              <a:rPr b="1" i="1" lang="en-US" sz="1500">
                <a:solidFill>
                  <a:srgbClr val="9876AA"/>
                </a:solidFill>
                <a:highlight>
                  <a:srgbClr val="2B2B2B"/>
                </a:highlight>
                <a:latin typeface="Courier New"/>
                <a:ea typeface="Courier New"/>
                <a:cs typeface="Courier New"/>
                <a:sym typeface="Courier New"/>
              </a:rPr>
              <a:t>}</a:t>
            </a:r>
            <a:endParaRPr b="1" i="1" sz="1500">
              <a:solidFill>
                <a:srgbClr val="9876A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a:t>
            </a:r>
            <a:endParaRPr b="1" sz="1500">
              <a:solidFill>
                <a:srgbClr val="A9B7C6"/>
              </a:solidFill>
              <a:highlight>
                <a:srgbClr val="2B2B2B"/>
              </a:highlight>
              <a:latin typeface="Courier New"/>
              <a:ea typeface="Courier New"/>
              <a:cs typeface="Courier New"/>
              <a:sym typeface="Courier New"/>
            </a:endParaRPr>
          </a:p>
        </p:txBody>
      </p:sp>
      <p:sp>
        <p:nvSpPr>
          <p:cNvPr id="403" name="Google Shape;403;g11a1fa9330f_0_302"/>
          <p:cNvSpPr txBox="1"/>
          <p:nvPr/>
        </p:nvSpPr>
        <p:spPr>
          <a:xfrm>
            <a:off x="699525" y="2724025"/>
            <a:ext cx="37656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Chỉ cần chạy lệnh </a:t>
            </a:r>
            <a:r>
              <a:rPr b="1" lang="en-US" sz="2400">
                <a:latin typeface="Calibri"/>
                <a:ea typeface="Calibri"/>
                <a:cs typeface="Calibri"/>
                <a:sym typeface="Calibri"/>
              </a:rPr>
              <a:t>npm run dev</a:t>
            </a:r>
            <a:r>
              <a:rPr lang="en-US" sz="2400">
                <a:latin typeface="Calibri"/>
                <a:ea typeface="Calibri"/>
                <a:cs typeface="Calibri"/>
                <a:sym typeface="Calibri"/>
              </a:rPr>
              <a:t> để bundling cho môi trường development và lệnh </a:t>
            </a:r>
            <a:r>
              <a:rPr b="1" lang="en-US" sz="2400">
                <a:latin typeface="Calibri"/>
                <a:ea typeface="Calibri"/>
                <a:cs typeface="Calibri"/>
                <a:sym typeface="Calibri"/>
              </a:rPr>
              <a:t>npm run build </a:t>
            </a:r>
            <a:r>
              <a:rPr lang="en-US" sz="2400">
                <a:latin typeface="Calibri"/>
                <a:ea typeface="Calibri"/>
                <a:cs typeface="Calibri"/>
                <a:sym typeface="Calibri"/>
              </a:rPr>
              <a:t>cho môi trường production</a:t>
            </a:r>
            <a:endParaRPr sz="24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11a1fa9330f_0_34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09" name="Google Shape;409;g11a1fa9330f_0_34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410" name="Google Shape;410;g11a1fa9330f_0_34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11" name="Google Shape;411;g11a1fa9330f_0_34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2" name="Google Shape;412;g11a1fa9330f_0_349"/>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Bundling File sử dụng Parcel và NPM</a:t>
            </a:r>
            <a:endParaRPr b="0" i="0" sz="1400" u="none" cap="none" strike="noStrike">
              <a:solidFill>
                <a:srgbClr val="000000"/>
              </a:solidFill>
              <a:latin typeface="Arial"/>
              <a:ea typeface="Arial"/>
              <a:cs typeface="Arial"/>
              <a:sym typeface="Arial"/>
            </a:endParaRPr>
          </a:p>
        </p:txBody>
      </p:sp>
      <p:sp>
        <p:nvSpPr>
          <p:cNvPr id="413" name="Google Shape;413;g11a1fa9330f_0_349"/>
          <p:cNvSpPr txBox="1"/>
          <p:nvPr/>
        </p:nvSpPr>
        <p:spPr>
          <a:xfrm>
            <a:off x="511675" y="2599775"/>
            <a:ext cx="79497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Giáo viên demo cài đặt và sử dụng parcel cho học viên</a:t>
            </a:r>
            <a:endParaRPr sz="240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11a1fa9330f_0_33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19" name="Google Shape;419;g11a1fa9330f_0_33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420" name="Google Shape;420;g11a1fa9330f_0_33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21" name="Google Shape;421;g11a1fa9330f_0_33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2" name="Google Shape;422;g11a1fa9330f_0_338"/>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Transplill/PolyFilling sử dụng Babel</a:t>
            </a:r>
            <a:endParaRPr b="0" i="0" sz="1400" u="none" cap="none" strike="noStrike">
              <a:solidFill>
                <a:srgbClr val="000000"/>
              </a:solidFill>
              <a:latin typeface="Arial"/>
              <a:ea typeface="Arial"/>
              <a:cs typeface="Arial"/>
              <a:sym typeface="Arial"/>
            </a:endParaRPr>
          </a:p>
        </p:txBody>
      </p:sp>
      <p:sp>
        <p:nvSpPr>
          <p:cNvPr id="423" name="Google Shape;423;g11a1fa9330f_0_338"/>
          <p:cNvSpPr txBox="1"/>
          <p:nvPr/>
        </p:nvSpPr>
        <p:spPr>
          <a:xfrm>
            <a:off x="505150" y="1475300"/>
            <a:ext cx="7949700" cy="3140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Transpill/polyfilling là quá trình biến đổi các mã JavaScript đời mới về các mã JavaScript đời cũ để có thể tương thức với các trình duyệt đời cũ</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Thông thường quá trình này chuyển đổi ES6+ về ES5-</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Babel là một công cụ rất mạnh mẽ cho phép thực hiện quá trình này mà không mất nhiều công sức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Có thể cài đặt babel trong các bundling tool như Parcel hay webpack</a:t>
            </a:r>
            <a:endParaRPr sz="2400">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11a1fa9330f_0_36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29" name="Google Shape;429;g11a1fa9330f_0_36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430" name="Google Shape;430;g11a1fa9330f_0_36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31" name="Google Shape;431;g11a1fa9330f_0_36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2" name="Google Shape;432;g11a1fa9330f_0_360"/>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Transplill/PolyFilling sử dụng Babel</a:t>
            </a:r>
            <a:endParaRPr b="0" i="0" sz="1400" u="none" cap="none" strike="noStrike">
              <a:solidFill>
                <a:srgbClr val="000000"/>
              </a:solidFill>
              <a:latin typeface="Arial"/>
              <a:ea typeface="Arial"/>
              <a:cs typeface="Arial"/>
              <a:sym typeface="Arial"/>
            </a:endParaRPr>
          </a:p>
        </p:txBody>
      </p:sp>
      <p:sp>
        <p:nvSpPr>
          <p:cNvPr id="433" name="Google Shape;433;g11a1fa9330f_0_360"/>
          <p:cNvSpPr txBox="1"/>
          <p:nvPr/>
        </p:nvSpPr>
        <p:spPr>
          <a:xfrm>
            <a:off x="505150" y="1475300"/>
            <a:ext cx="7949700" cy="3140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Transpill/polyfilling là quá trình biến đổi các mã JavaScript với cú pháp đời mới về các mã JavaScript với cú pháp đời cũ để có thể tương thức với các trình duyệt đời cũ</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Thông thường quá trình này chuyển đổi ES6+ về ES5-</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Babel là một công cụ rất mạnh mẽ cho phép thực hiện quá trình này mà không mất nhiều công sức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Mặc định Parcel đã tích hợp sẵn Babel để transpill, ta có thể cấu hình thêm các thông số transpill nếu muốn</a:t>
            </a:r>
            <a:endParaRPr sz="2400">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11a1fa9330f_0_36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39" name="Google Shape;439;g11a1fa9330f_0_36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0"/>
              </a:srgbClr>
            </a:outerShdw>
          </a:effectLst>
        </p:spPr>
      </p:cxnSp>
      <p:pic>
        <p:nvPicPr>
          <p:cNvPr id="440" name="Google Shape;440;g11a1fa9330f_0_36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41" name="Google Shape;441;g11a1fa9330f_0_36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2" name="Google Shape;442;g11a1fa9330f_0_369"/>
          <p:cNvSpPr txBox="1"/>
          <p:nvPr/>
        </p:nvSpPr>
        <p:spPr>
          <a:xfrm flipH="1">
            <a:off x="92400" y="127125"/>
            <a:ext cx="86706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Transplill/PolyFilling sử dụng Babel</a:t>
            </a:r>
            <a:endParaRPr b="0" i="0" sz="1400" u="none" cap="none" strike="noStrike">
              <a:solidFill>
                <a:srgbClr val="000000"/>
              </a:solidFill>
              <a:latin typeface="Arial"/>
              <a:ea typeface="Arial"/>
              <a:cs typeface="Arial"/>
              <a:sym typeface="Arial"/>
            </a:endParaRPr>
          </a:p>
        </p:txBody>
      </p:sp>
      <p:sp>
        <p:nvSpPr>
          <p:cNvPr id="443" name="Google Shape;443;g11a1fa9330f_0_369"/>
          <p:cNvSpPr txBox="1"/>
          <p:nvPr/>
        </p:nvSpPr>
        <p:spPr>
          <a:xfrm>
            <a:off x="505150" y="1475300"/>
            <a:ext cx="7949700" cy="9234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Giáo viên demo về transpill/polyfilling ES6 -&gt; ES5 trong parcel cho học viên</a:t>
            </a:r>
            <a:endParaRPr sz="2400">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9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449" name="Google Shape;449;p9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862"/>
              </a:srgbClr>
            </a:outerShdw>
          </a:effectLst>
        </p:spPr>
      </p:cxnSp>
      <p:sp>
        <p:nvSpPr>
          <p:cNvPr id="450" name="Google Shape;450;p9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451" name="Google Shape;451;p9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452" name="Google Shape;452;p9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53" name="Google Shape;453;p91"/>
          <p:cNvPicPr preferRelativeResize="0"/>
          <p:nvPr/>
        </p:nvPicPr>
        <p:blipFill rotWithShape="1">
          <a:blip r:embed="rId4">
            <a:alphaModFix/>
          </a:blip>
          <a:srcRect b="0" l="0" r="0" t="0"/>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2021-03-05T02:20:42Z</dcterms:created>
  <dc:creator>GIAOVU</dc:creator>
</cp:coreProperties>
</file>