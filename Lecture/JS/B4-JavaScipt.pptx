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hgVyLVr4f78/QlfJfS2v3KPTUNZ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322" y="-101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1dce87aba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g11dce87abac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 name="Google Shape;250;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2" name="Google Shape;272;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4" name="Google Shape;284;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6" name="Google Shape;296;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11a0e12f12b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8" name="Google Shape;308;g11a0e12f12b_0_1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9" name="Google Shape;319;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0" name="Google Shape;330;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1" name="Google Shape;341;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3" name="Google Shape;353;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5" name="Google Shape;365;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6" name="Google Shape;376;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7" name="Google Shape;387;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8" name="Google Shape;398;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0" name="Google Shape;410;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1" name="Google Shape;421;p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2" name="Google Shape;432;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3" name="Google Shape;443;p3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4" name="Google Shape;454;p3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5" name="Google Shape;465;p3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7" name="Google Shape;477;p3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8" name="Google Shape;488;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1" name="Google Shape;501;p3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3" name="Google Shape;513;p4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4" name="Google Shape;524;p4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4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4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4" name="Google Shape;14;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 name="Google Shape;20;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4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26" name="Google Shape;26;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4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2" name="Google Shape;32;p4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3" name="Google Shape;33;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4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4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9" name="Google Shape;39;p4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0" name="Google Shape;40;p4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1" name="Google Shape;41;p4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2" name="Google Shape;42;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4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5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5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5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5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5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51"/>
          <p:cNvSpPr>
            <a:spLocks noGrp="1"/>
          </p:cNvSpPr>
          <p:nvPr>
            <p:ph type="pic" idx="2"/>
          </p:nvPr>
        </p:nvSpPr>
        <p:spPr>
          <a:xfrm>
            <a:off x="1792288" y="612775"/>
            <a:ext cx="5486400" cy="4114800"/>
          </a:xfrm>
          <a:prstGeom prst="rect">
            <a:avLst/>
          </a:prstGeom>
          <a:noFill/>
          <a:ln>
            <a:noFill/>
          </a:ln>
        </p:spPr>
      </p:sp>
      <p:sp>
        <p:nvSpPr>
          <p:cNvPr id="64" name="Google Shape;64;p5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5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5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5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5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5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5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5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4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85" name="Google Shape;85;p1"/>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86" name="Google Shape;86;p1"/>
          <p:cNvSpPr txBox="1">
            <a:spLocks noGrp="1"/>
          </p:cNvSpPr>
          <p:nvPr>
            <p:ph type="ctrTitle"/>
          </p:nvPr>
        </p:nvSpPr>
        <p:spPr>
          <a:xfrm>
            <a:off x="381000" y="762000"/>
            <a:ext cx="8382000" cy="3581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2"/>
              </a:buClr>
              <a:buSzPts val="4400"/>
              <a:buFont typeface="Calibri"/>
              <a:buNone/>
            </a:pPr>
            <a:r>
              <a:rPr lang="en-US" b="1">
                <a:solidFill>
                  <a:schemeClr val="dk2"/>
                </a:solidFill>
              </a:rPr>
              <a:t>Làm việc với ngày tháng và DOM</a:t>
            </a:r>
            <a:endParaRPr sz="4200">
              <a:solidFill>
                <a:schemeClr val="dk2"/>
              </a:solidFill>
              <a:latin typeface="Calibri"/>
              <a:ea typeface="Calibri"/>
              <a:cs typeface="Calibri"/>
              <a:sym typeface="Calibri"/>
            </a:endParaRPr>
          </a:p>
        </p:txBody>
      </p:sp>
      <p:pic>
        <p:nvPicPr>
          <p:cNvPr id="87" name="Google Shape;87;p1"/>
          <p:cNvPicPr preferRelativeResize="0"/>
          <p:nvPr/>
        </p:nvPicPr>
        <p:blipFill rotWithShape="1">
          <a:blip r:embed="rId3">
            <a:alphaModFix/>
          </a:blip>
          <a:srcRect/>
          <a:stretch/>
        </p:blipFill>
        <p:spPr>
          <a:xfrm>
            <a:off x="7373841" y="6206612"/>
            <a:ext cx="1389157" cy="48620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g11dce87abac_0_0"/>
          <p:cNvSpPr txBox="1">
            <a:spLocks noGrp="1"/>
          </p:cNvSpPr>
          <p:nvPr>
            <p:ph type="subTitle" idx="1"/>
          </p:nvPr>
        </p:nvSpPr>
        <p:spPr>
          <a:xfrm>
            <a:off x="304800" y="6248400"/>
            <a:ext cx="5867400" cy="486300"/>
          </a:xfrm>
          <a:prstGeom prst="rect">
            <a:avLst/>
          </a:prstGeom>
          <a:noFill/>
          <a:ln>
            <a:noFill/>
          </a:ln>
        </p:spPr>
        <p:txBody>
          <a:bodyPr spcFirstLastPara="1" wrap="square" lIns="91425" tIns="45700" rIns="91425" bIns="45700" anchor="t" anchorCtr="0">
            <a:normAutofit fontScale="325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93" name="Google Shape;93;g11dce87abac_0_0"/>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50"/>
              </a:srgbClr>
            </a:outerShdw>
          </a:effectLst>
        </p:spPr>
      </p:cxnSp>
      <p:sp>
        <p:nvSpPr>
          <p:cNvPr id="94" name="Google Shape;94;g11dce87abac_0_0"/>
          <p:cNvSpPr txBox="1">
            <a:spLocks noGrp="1"/>
          </p:cNvSpPr>
          <p:nvPr>
            <p:ph type="ctrTitle"/>
          </p:nvPr>
        </p:nvSpPr>
        <p:spPr>
          <a:xfrm>
            <a:off x="381000" y="762000"/>
            <a:ext cx="8382000" cy="3581400"/>
          </a:xfrm>
          <a:prstGeom prst="rect">
            <a:avLst/>
          </a:prstGeom>
          <a:noFill/>
          <a:ln>
            <a:noFill/>
          </a:ln>
        </p:spPr>
        <p:txBody>
          <a:bodyPr spcFirstLastPara="1" wrap="square" lIns="91425" tIns="45700" rIns="91425" bIns="45700" anchor="ctr" anchorCtr="0">
            <a:normAutofit/>
          </a:bodyPr>
          <a:lstStyle/>
          <a:p>
            <a:pPr marL="457200" lvl="0" indent="-406400" algn="l" rtl="0">
              <a:spcBef>
                <a:spcPts val="0"/>
              </a:spcBef>
              <a:spcAft>
                <a:spcPts val="0"/>
              </a:spcAft>
              <a:buClr>
                <a:schemeClr val="dk2"/>
              </a:buClr>
              <a:buSzPts val="2800"/>
              <a:buChar char="●"/>
            </a:pPr>
            <a:r>
              <a:rPr lang="en-US" sz="2800">
                <a:solidFill>
                  <a:schemeClr val="dk2"/>
                </a:solidFill>
              </a:rPr>
              <a:t>Làm việc với ngày tháng</a:t>
            </a:r>
            <a:endParaRPr sz="2800">
              <a:solidFill>
                <a:schemeClr val="dk2"/>
              </a:solidFill>
            </a:endParaRPr>
          </a:p>
          <a:p>
            <a:pPr marL="457200" lvl="0" indent="-406400" algn="l" rtl="0">
              <a:spcBef>
                <a:spcPts val="0"/>
              </a:spcBef>
              <a:spcAft>
                <a:spcPts val="0"/>
              </a:spcAft>
              <a:buClr>
                <a:schemeClr val="dk2"/>
              </a:buClr>
              <a:buSzPts val="2800"/>
              <a:buChar char="●"/>
            </a:pPr>
            <a:r>
              <a:rPr lang="en-US" sz="2800">
                <a:solidFill>
                  <a:schemeClr val="dk2"/>
                </a:solidFill>
              </a:rPr>
              <a:t>Tìm hiểu về DOM</a:t>
            </a:r>
            <a:endParaRPr sz="2800">
              <a:solidFill>
                <a:schemeClr val="dk2"/>
              </a:solidFill>
            </a:endParaRPr>
          </a:p>
        </p:txBody>
      </p:sp>
      <p:pic>
        <p:nvPicPr>
          <p:cNvPr id="95" name="Google Shape;95;g11dce87abac_0_0"/>
          <p:cNvPicPr preferRelativeResize="0"/>
          <p:nvPr/>
        </p:nvPicPr>
        <p:blipFill rotWithShape="1">
          <a:blip r:embed="rId3">
            <a:alphaModFix/>
          </a:blip>
          <a:srcRect/>
          <a:stretch/>
        </p:blipFill>
        <p:spPr>
          <a:xfrm>
            <a:off x="7373841" y="6206612"/>
            <a:ext cx="1389157" cy="48620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01" name="Google Shape;101;p2"/>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102" name="Google Shape;102;p2"/>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Date Object</a:t>
            </a:r>
            <a:endParaRPr/>
          </a:p>
        </p:txBody>
      </p:sp>
      <p:pic>
        <p:nvPicPr>
          <p:cNvPr id="103" name="Google Shape;103;p2"/>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04" name="Google Shape;104;p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2"/>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i="0" u="none" strike="noStrike" cap="none">
                <a:solidFill>
                  <a:schemeClr val="dk2"/>
                </a:solidFill>
                <a:latin typeface="Arial"/>
                <a:ea typeface="Arial"/>
                <a:cs typeface="Arial"/>
                <a:sym typeface="Arial"/>
              </a:rPr>
              <a:t>NỘI DUNG</a:t>
            </a:r>
            <a:endParaRPr/>
          </a:p>
        </p:txBody>
      </p:sp>
      <p:sp>
        <p:nvSpPr>
          <p:cNvPr id="106" name="Google Shape;106;p2"/>
          <p:cNvSpPr txBox="1"/>
          <p:nvPr/>
        </p:nvSpPr>
        <p:spPr>
          <a:xfrm>
            <a:off x="685800" y="1752600"/>
            <a:ext cx="7848600" cy="41549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Calibri"/>
                <a:ea typeface="Calibri"/>
                <a:cs typeface="Calibri"/>
                <a:sym typeface="Calibri"/>
              </a:rPr>
              <a:t>Khái niệm</a:t>
            </a: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Date là một Object hỗ trợ ta có thể lấy thời gian ở client</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Cú pháp</a:t>
            </a: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Ngoài ra chúng ta còn có truyền giá trị khởi tạo như: date string, một value number đại diện cho ngày, tháng, năm, giờ phút, giây</a:t>
            </a: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pic>
        <p:nvPicPr>
          <p:cNvPr id="107" name="Google Shape;107;p2"/>
          <p:cNvPicPr preferRelativeResize="0"/>
          <p:nvPr/>
        </p:nvPicPr>
        <p:blipFill rotWithShape="1">
          <a:blip r:embed="rId4">
            <a:alphaModFix/>
          </a:blip>
          <a:srcRect/>
          <a:stretch/>
        </p:blipFill>
        <p:spPr>
          <a:xfrm>
            <a:off x="2133600" y="3209925"/>
            <a:ext cx="3790950" cy="438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13" name="Google Shape;113;p3"/>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114" name="Google Shape;114;p3"/>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Date Object</a:t>
            </a:r>
            <a:endParaRPr/>
          </a:p>
        </p:txBody>
      </p:sp>
      <p:pic>
        <p:nvPicPr>
          <p:cNvPr id="115" name="Google Shape;115;p3"/>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16" name="Google Shape;116;p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 name="Google Shape;117;p3"/>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118" name="Google Shape;118;p3"/>
          <p:cNvSpPr txBox="1"/>
          <p:nvPr/>
        </p:nvSpPr>
        <p:spPr>
          <a:xfrm>
            <a:off x="715563" y="1582025"/>
            <a:ext cx="7848600" cy="83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Ví dụ</a:t>
            </a: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pic>
        <p:nvPicPr>
          <p:cNvPr id="119" name="Google Shape;119;p3"/>
          <p:cNvPicPr preferRelativeResize="0"/>
          <p:nvPr/>
        </p:nvPicPr>
        <p:blipFill rotWithShape="1">
          <a:blip r:embed="rId4">
            <a:alphaModFix/>
          </a:blip>
          <a:srcRect/>
          <a:stretch/>
        </p:blipFill>
        <p:spPr>
          <a:xfrm>
            <a:off x="1444225" y="2360184"/>
            <a:ext cx="6391275" cy="35337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4"/>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25" name="Google Shape;125;p4"/>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126" name="Google Shape;126;p4"/>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Date Object</a:t>
            </a:r>
            <a:endParaRPr/>
          </a:p>
        </p:txBody>
      </p:sp>
      <p:pic>
        <p:nvPicPr>
          <p:cNvPr id="127" name="Google Shape;127;p4"/>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28" name="Google Shape;128;p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9" name="Google Shape;129;p4"/>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130" name="Google Shape;130;p4"/>
          <p:cNvSpPr txBox="1"/>
          <p:nvPr/>
        </p:nvSpPr>
        <p:spPr>
          <a:xfrm>
            <a:off x="685800" y="1752600"/>
            <a:ext cx="7848600" cy="2678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Các định dạng của Date:</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Short date:</a:t>
            </a:r>
            <a:endParaRPr sz="24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Long date</a:t>
            </a:r>
            <a:endParaRPr sz="24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Full date</a:t>
            </a:r>
            <a:endParaRPr sz="24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ISO date</a:t>
            </a:r>
            <a:endParaRPr/>
          </a:p>
          <a:p>
            <a:pPr marL="342900" marR="0" lvl="0" indent="-190500" algn="l" rtl="0">
              <a:spcBef>
                <a:spcPts val="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5"/>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36" name="Google Shape;136;p5"/>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137" name="Google Shape;137;p5"/>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Date Object</a:t>
            </a:r>
            <a:endParaRPr/>
          </a:p>
        </p:txBody>
      </p:sp>
      <p:pic>
        <p:nvPicPr>
          <p:cNvPr id="138" name="Google Shape;138;p5"/>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39" name="Google Shape;139;p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0" name="Google Shape;140;p5"/>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141" name="Google Shape;141;p5"/>
          <p:cNvSpPr txBox="1"/>
          <p:nvPr/>
        </p:nvSpPr>
        <p:spPr>
          <a:xfrm>
            <a:off x="685800" y="1752600"/>
            <a:ext cx="7848600"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Short date:</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Có dạng DD/MM/YYYY, DD-MM-YYYY, YYYY/MM/DD hoặc YYYY-MM-DD</a:t>
            </a:r>
            <a:endParaRPr/>
          </a:p>
        </p:txBody>
      </p:sp>
      <p:pic>
        <p:nvPicPr>
          <p:cNvPr id="142" name="Google Shape;142;p5"/>
          <p:cNvPicPr preferRelativeResize="0"/>
          <p:nvPr/>
        </p:nvPicPr>
        <p:blipFill rotWithShape="1">
          <a:blip r:embed="rId4">
            <a:alphaModFix/>
          </a:blip>
          <a:srcRect/>
          <a:stretch/>
        </p:blipFill>
        <p:spPr>
          <a:xfrm>
            <a:off x="709177" y="3772787"/>
            <a:ext cx="5972175" cy="1485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6"/>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48" name="Google Shape;148;p6"/>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149" name="Google Shape;149;p6"/>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Date Object</a:t>
            </a:r>
            <a:endParaRPr/>
          </a:p>
        </p:txBody>
      </p:sp>
      <p:pic>
        <p:nvPicPr>
          <p:cNvPr id="150" name="Google Shape;150;p6"/>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51" name="Google Shape;151;p6"/>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2" name="Google Shape;152;p6"/>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153" name="Google Shape;153;p6"/>
          <p:cNvSpPr txBox="1"/>
          <p:nvPr/>
        </p:nvSpPr>
        <p:spPr>
          <a:xfrm>
            <a:off x="685800" y="1752600"/>
            <a:ext cx="7848600"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Long date:</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Có dạng Month DD YYYY, với Month là chữ đầy đủ của tháng hoặc chữ viết tắt của tháng</a:t>
            </a:r>
            <a:endParaRPr sz="2400">
              <a:solidFill>
                <a:schemeClr val="dk1"/>
              </a:solidFill>
              <a:latin typeface="Calibri"/>
              <a:ea typeface="Calibri"/>
              <a:cs typeface="Calibri"/>
              <a:sym typeface="Calibri"/>
            </a:endParaRPr>
          </a:p>
        </p:txBody>
      </p:sp>
      <p:pic>
        <p:nvPicPr>
          <p:cNvPr id="154" name="Google Shape;154;p6"/>
          <p:cNvPicPr preferRelativeResize="0"/>
          <p:nvPr/>
        </p:nvPicPr>
        <p:blipFill rotWithShape="1">
          <a:blip r:embed="rId4">
            <a:alphaModFix/>
          </a:blip>
          <a:srcRect/>
          <a:stretch/>
        </p:blipFill>
        <p:spPr>
          <a:xfrm>
            <a:off x="685800" y="3942072"/>
            <a:ext cx="5762625" cy="1590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7"/>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60" name="Google Shape;160;p7"/>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161" name="Google Shape;161;p7"/>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Date Object</a:t>
            </a:r>
            <a:endParaRPr/>
          </a:p>
        </p:txBody>
      </p:sp>
      <p:pic>
        <p:nvPicPr>
          <p:cNvPr id="162" name="Google Shape;162;p7"/>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63" name="Google Shape;163;p7"/>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4" name="Google Shape;164;p7"/>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165" name="Google Shape;165;p7"/>
          <p:cNvSpPr txBox="1"/>
          <p:nvPr/>
        </p:nvSpPr>
        <p:spPr>
          <a:xfrm>
            <a:off x="685800" y="1752600"/>
            <a:ext cx="7848600"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Full date:</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Có dạng Day Month DD YYYY với Day và Month là thứ trong tuần và tháng có thể ghi đầy đủ hoặc viết tắt, </a:t>
            </a:r>
            <a:endParaRPr/>
          </a:p>
        </p:txBody>
      </p:sp>
      <p:pic>
        <p:nvPicPr>
          <p:cNvPr id="166" name="Google Shape;166;p7"/>
          <p:cNvPicPr preferRelativeResize="0"/>
          <p:nvPr/>
        </p:nvPicPr>
        <p:blipFill rotWithShape="1">
          <a:blip r:embed="rId4">
            <a:alphaModFix/>
          </a:blip>
          <a:srcRect/>
          <a:stretch/>
        </p:blipFill>
        <p:spPr>
          <a:xfrm>
            <a:off x="762000" y="3794730"/>
            <a:ext cx="5695950" cy="914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8"/>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72" name="Google Shape;172;p8"/>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173" name="Google Shape;173;p8"/>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Date Object</a:t>
            </a:r>
            <a:endParaRPr/>
          </a:p>
        </p:txBody>
      </p:sp>
      <p:pic>
        <p:nvPicPr>
          <p:cNvPr id="174" name="Google Shape;174;p8"/>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75" name="Google Shape;175;p8"/>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6" name="Google Shape;176;p8"/>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177" name="Google Shape;177;p8"/>
          <p:cNvSpPr txBox="1"/>
          <p:nvPr/>
        </p:nvSpPr>
        <p:spPr>
          <a:xfrm>
            <a:off x="685800" y="1752600"/>
            <a:ext cx="7848600" cy="2677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ISO date:</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Có dạng theo chuẩn ISO 8601: YYYY-MM-DD, YYYY-MM, YYYY</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Nếu bạn truyền vào không đủ(ngày, tháng, năm hay giờ, phút, giây) thì mặc định các tham số khác sẽ lấy thời gian nhỏ nhất</a:t>
            </a:r>
            <a:endParaRPr sz="2400">
              <a:solidFill>
                <a:schemeClr val="dk1"/>
              </a:solidFill>
              <a:latin typeface="Calibri"/>
              <a:ea typeface="Calibri"/>
              <a:cs typeface="Calibri"/>
              <a:sym typeface="Calibri"/>
            </a:endParaRPr>
          </a:p>
        </p:txBody>
      </p:sp>
      <p:pic>
        <p:nvPicPr>
          <p:cNvPr id="178" name="Google Shape;178;p8"/>
          <p:cNvPicPr preferRelativeResize="0"/>
          <p:nvPr/>
        </p:nvPicPr>
        <p:blipFill rotWithShape="1">
          <a:blip r:embed="rId4">
            <a:alphaModFix/>
          </a:blip>
          <a:srcRect/>
          <a:stretch/>
        </p:blipFill>
        <p:spPr>
          <a:xfrm>
            <a:off x="685800" y="4495801"/>
            <a:ext cx="5972175" cy="1447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9"/>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84" name="Google Shape;184;p9"/>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185" name="Google Shape;185;p9"/>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Date Object</a:t>
            </a:r>
            <a:endParaRPr/>
          </a:p>
        </p:txBody>
      </p:sp>
      <p:pic>
        <p:nvPicPr>
          <p:cNvPr id="186" name="Google Shape;186;p9"/>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87" name="Google Shape;187;p9"/>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8" name="Google Shape;188;p9"/>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189" name="Google Shape;189;p9"/>
          <p:cNvSpPr txBox="1"/>
          <p:nvPr/>
        </p:nvSpPr>
        <p:spPr>
          <a:xfrm>
            <a:off x="685800" y="1752600"/>
            <a:ext cx="7848600" cy="2677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ISO date:</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Có dạng theo chuẩn ISO 8601: YYYY-MM-DD, YYYY-MM, YYYY</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Nếu bạn truyền vào không đủ(ngày, tháng, năm hay giờ, phút, giây) thì mặc định các tham số khác sẽ lấy thời gian nhỏ nhất</a:t>
            </a:r>
            <a:endParaRPr sz="2400">
              <a:solidFill>
                <a:schemeClr val="dk1"/>
              </a:solidFill>
              <a:latin typeface="Calibri"/>
              <a:ea typeface="Calibri"/>
              <a:cs typeface="Calibri"/>
              <a:sym typeface="Calibri"/>
            </a:endParaRPr>
          </a:p>
        </p:txBody>
      </p:sp>
      <p:pic>
        <p:nvPicPr>
          <p:cNvPr id="190" name="Google Shape;190;p9"/>
          <p:cNvPicPr preferRelativeResize="0"/>
          <p:nvPr/>
        </p:nvPicPr>
        <p:blipFill rotWithShape="1">
          <a:blip r:embed="rId4">
            <a:alphaModFix/>
          </a:blip>
          <a:srcRect/>
          <a:stretch/>
        </p:blipFill>
        <p:spPr>
          <a:xfrm>
            <a:off x="685800" y="4495801"/>
            <a:ext cx="5972175" cy="1447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0"/>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96" name="Google Shape;196;p10"/>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197" name="Google Shape;197;p10"/>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Date Object</a:t>
            </a:r>
            <a:endParaRPr/>
          </a:p>
        </p:txBody>
      </p:sp>
      <p:pic>
        <p:nvPicPr>
          <p:cNvPr id="198" name="Google Shape;198;p10"/>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99" name="Google Shape;199;p10"/>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0" name="Google Shape;200;p10"/>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201" name="Google Shape;201;p10"/>
          <p:cNvSpPr txBox="1"/>
          <p:nvPr/>
        </p:nvSpPr>
        <p:spPr>
          <a:xfrm>
            <a:off x="685800" y="1752600"/>
            <a:ext cx="7848600" cy="39087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Các hàm Date get thông dụng:</a:t>
            </a:r>
            <a:endParaRPr/>
          </a:p>
          <a:p>
            <a:pPr marL="342900" marR="0" lvl="0" indent="-190500" algn="l" rtl="0">
              <a:spcBef>
                <a:spcPts val="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getDate() lấy ngày (1 - 31)</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getDay() lấy ngày trong tuần (0-6)</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getFullYear() lấy năm đầy đủ (YYYY)</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getYear() lấy năm 2 số cuối (YY)</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getHours() lấy số giờ (0 - 23)</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getMiliSeconds() lấy số mili giây (0 - 999)</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getMinutes() lấy số phút (0 - 59)</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getMonth() lấy tháng (0 - 11)</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getSeconds() lấy số giây (0 - 59)</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getTime() thời gian đã được convert sang dạng miliseconds.**</a:t>
            </a:r>
            <a:endParaRPr sz="20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1"/>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07" name="Google Shape;207;p11"/>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208" name="Google Shape;208;p11"/>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Date Object</a:t>
            </a:r>
            <a:endParaRPr/>
          </a:p>
        </p:txBody>
      </p:sp>
      <p:pic>
        <p:nvPicPr>
          <p:cNvPr id="209" name="Google Shape;209;p11"/>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210" name="Google Shape;210;p11"/>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1" name="Google Shape;211;p11"/>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212" name="Google Shape;212;p11"/>
          <p:cNvSpPr txBox="1"/>
          <p:nvPr/>
        </p:nvSpPr>
        <p:spPr>
          <a:xfrm>
            <a:off x="685800" y="1752600"/>
            <a:ext cx="78486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Các hàm Date get thông dụng:</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pic>
        <p:nvPicPr>
          <p:cNvPr id="213" name="Google Shape;213;p11"/>
          <p:cNvPicPr preferRelativeResize="0"/>
          <p:nvPr/>
        </p:nvPicPr>
        <p:blipFill rotWithShape="1">
          <a:blip r:embed="rId4">
            <a:alphaModFix/>
          </a:blip>
          <a:srcRect/>
          <a:stretch/>
        </p:blipFill>
        <p:spPr>
          <a:xfrm>
            <a:off x="1701175" y="2238364"/>
            <a:ext cx="5162550" cy="3705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12"/>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19" name="Google Shape;219;p12"/>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220" name="Google Shape;220;p12"/>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Date Object</a:t>
            </a:r>
            <a:endParaRPr/>
          </a:p>
        </p:txBody>
      </p:sp>
      <p:pic>
        <p:nvPicPr>
          <p:cNvPr id="221" name="Google Shape;221;p12"/>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222" name="Google Shape;222;p1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3" name="Google Shape;223;p12"/>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224" name="Google Shape;224;p12"/>
          <p:cNvSpPr txBox="1"/>
          <p:nvPr/>
        </p:nvSpPr>
        <p:spPr>
          <a:xfrm>
            <a:off x="685800" y="1752600"/>
            <a:ext cx="7848600" cy="36009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Các hàm Date set thông dụng:</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setDate() thiết lập ngày (1 - 31)</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setFullYear() thiết lập năm đầy đủ (YYYY)</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setYear() thiết lậpnăm 2 số cuối (YY)</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setHours() thiết lập số giờ (0 - 23)</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setMiliSeconds() thiết lập số mili giây (0 - 999)</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setMinutes() thiết lập số phút (0 - 59)</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setMonth() thiết lập tháng (0 - 11)</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setSeconds() thiết lập số giây (0 - 59)</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setTime() thiết lập thời gian đã được convert sang dạng miliseconds.</a:t>
            </a:r>
            <a:endParaRPr sz="20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3"/>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30" name="Google Shape;230;p13"/>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231" name="Google Shape;231;p13"/>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Date Object</a:t>
            </a:r>
            <a:endParaRPr/>
          </a:p>
        </p:txBody>
      </p:sp>
      <p:pic>
        <p:nvPicPr>
          <p:cNvPr id="232" name="Google Shape;232;p13"/>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233" name="Google Shape;233;p1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4" name="Google Shape;234;p13"/>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235" name="Google Shape;235;p13"/>
          <p:cNvSpPr txBox="1"/>
          <p:nvPr/>
        </p:nvSpPr>
        <p:spPr>
          <a:xfrm>
            <a:off x="685800" y="1752600"/>
            <a:ext cx="7848600"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Các hàm Date set thông dụng:</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pic>
        <p:nvPicPr>
          <p:cNvPr id="236" name="Google Shape;236;p13"/>
          <p:cNvPicPr preferRelativeResize="0"/>
          <p:nvPr/>
        </p:nvPicPr>
        <p:blipFill rotWithShape="1">
          <a:blip r:embed="rId4">
            <a:alphaModFix/>
          </a:blip>
          <a:srcRect/>
          <a:stretch/>
        </p:blipFill>
        <p:spPr>
          <a:xfrm>
            <a:off x="685800" y="2507639"/>
            <a:ext cx="5038725" cy="29051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4"/>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42" name="Google Shape;242;p14"/>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243" name="Google Shape;243;p14"/>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Date Object</a:t>
            </a:r>
            <a:endParaRPr/>
          </a:p>
        </p:txBody>
      </p:sp>
      <p:pic>
        <p:nvPicPr>
          <p:cNvPr id="244" name="Google Shape;244;p14"/>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245" name="Google Shape;245;p1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6" name="Google Shape;246;p14"/>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247" name="Google Shape;247;p14"/>
          <p:cNvSpPr txBox="1"/>
          <p:nvPr/>
        </p:nvSpPr>
        <p:spPr>
          <a:xfrm>
            <a:off x="685800" y="1752600"/>
            <a:ext cx="7848600" cy="37856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Các hàm Date set có một số lưu ý:</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Hàm set là dùng để khởi tạo, do đó ta cần truyền tham số khi sử dụng</a:t>
            </a: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Các hàm này có tác động với nhau, tức là khi ta set sai ngày giờ thì nó sẽ tự động lấy ngày giờ mặc định</a:t>
            </a: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Nếu dùng setTime() để set thời gian thì nó sẽ ảnh hưởng tới tất cả giá trị còn lại, bởi vì hàm setTime() là hàm thiết lập thời gian đầy đủ đã chuyển sang định dạng miniseconds.</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5"/>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53" name="Google Shape;253;p15"/>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254" name="Google Shape;254;p15"/>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rPr>
              <a:t>Demo</a:t>
            </a:r>
            <a:endParaRPr/>
          </a:p>
        </p:txBody>
      </p:sp>
      <p:pic>
        <p:nvPicPr>
          <p:cNvPr id="255" name="Google Shape;255;p15"/>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256" name="Google Shape;256;p1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7" name="Google Shape;257;p15"/>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258" name="Google Shape;258;p15"/>
          <p:cNvSpPr txBox="1"/>
          <p:nvPr/>
        </p:nvSpPr>
        <p:spPr>
          <a:xfrm>
            <a:off x="685800" y="1752600"/>
            <a:ext cx="78486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Giáo viên demo về sử dụng date cho học viên</a:t>
            </a:r>
            <a:endParaRPr sz="24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7"/>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64" name="Google Shape;264;p17"/>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265" name="Google Shape;265;p17"/>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Date Object</a:t>
            </a:r>
            <a:endParaRPr/>
          </a:p>
        </p:txBody>
      </p:sp>
      <p:pic>
        <p:nvPicPr>
          <p:cNvPr id="266" name="Google Shape;266;p17"/>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267" name="Google Shape;267;p17"/>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8" name="Google Shape;268;p17"/>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269" name="Google Shape;269;p17"/>
          <p:cNvSpPr txBox="1"/>
          <p:nvPr/>
        </p:nvSpPr>
        <p:spPr>
          <a:xfrm>
            <a:off x="685800" y="1752600"/>
            <a:ext cx="7848600" cy="3417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setTimeout()</a:t>
            </a:r>
            <a:endParaRPr b="1"/>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Hàm </a:t>
            </a:r>
            <a:r>
              <a:rPr lang="en-US" sz="2400" b="1">
                <a:solidFill>
                  <a:schemeClr val="dk1"/>
                </a:solidFill>
                <a:latin typeface="Calibri"/>
                <a:ea typeface="Calibri"/>
                <a:cs typeface="Calibri"/>
                <a:sym typeface="Calibri"/>
              </a:rPr>
              <a:t>setTimeout() </a:t>
            </a:r>
            <a:r>
              <a:rPr lang="en-US" sz="2400">
                <a:solidFill>
                  <a:schemeClr val="dk1"/>
                </a:solidFill>
                <a:latin typeface="Calibri"/>
                <a:ea typeface="Calibri"/>
                <a:cs typeface="Calibri"/>
                <a:sym typeface="Calibri"/>
              </a:rPr>
              <a:t>thường được sử dụng nếu bạn muốn hàm của mình thực thi bao nhiêu mili giây kể từ khi gọi hàm.</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Cú pháp : </a:t>
            </a:r>
            <a:r>
              <a:rPr lang="en-US" sz="2400" b="1">
                <a:solidFill>
                  <a:schemeClr val="dk1"/>
                </a:solidFill>
                <a:latin typeface="Calibri"/>
                <a:ea typeface="Calibri"/>
                <a:cs typeface="Calibri"/>
                <a:sym typeface="Calibri"/>
              </a:rPr>
              <a:t>setTimeout(expression, timeout);</a:t>
            </a:r>
            <a:endParaRPr b="1"/>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Expression là đoạn mã JS được thực thi sau khi timeout chạy hết số mili giây đã thiết lập</a:t>
            </a:r>
            <a:endParaRPr sz="24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19"/>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75" name="Google Shape;275;p19"/>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276" name="Google Shape;276;p19"/>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Date Object</a:t>
            </a:r>
            <a:endParaRPr/>
          </a:p>
        </p:txBody>
      </p:sp>
      <p:pic>
        <p:nvPicPr>
          <p:cNvPr id="277" name="Google Shape;277;p19"/>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278" name="Google Shape;278;p19"/>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9" name="Google Shape;279;p19"/>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280" name="Google Shape;280;p19"/>
          <p:cNvSpPr txBox="1"/>
          <p:nvPr/>
        </p:nvSpPr>
        <p:spPr>
          <a:xfrm>
            <a:off x="685800" y="1752600"/>
            <a:ext cx="7848600" cy="3417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setTimeout()</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Để dừng hàm này ta có thể sử dụng hàm</a:t>
            </a:r>
            <a:r>
              <a:rPr lang="en-US" sz="2400" b="1">
                <a:solidFill>
                  <a:schemeClr val="dk1"/>
                </a:solidFill>
                <a:latin typeface="Calibri"/>
                <a:ea typeface="Calibri"/>
                <a:cs typeface="Calibri"/>
                <a:sym typeface="Calibri"/>
              </a:rPr>
              <a:t> clearTimeout(myVar)</a:t>
            </a:r>
            <a:endParaRPr b="1"/>
          </a:p>
          <a:p>
            <a:pPr marL="0" marR="0" lvl="0" indent="0" algn="l" rtl="0">
              <a:spcBef>
                <a:spcPts val="0"/>
              </a:spcBef>
              <a:spcAft>
                <a:spcPts val="0"/>
              </a:spcAft>
              <a:buNone/>
            </a:pPr>
            <a:r>
              <a:rPr lang="en-US" sz="2400">
                <a:solidFill>
                  <a:schemeClr val="dk1"/>
                </a:solidFill>
                <a:latin typeface="Calibri"/>
                <a:ea typeface="Calibri"/>
                <a:cs typeface="Calibri"/>
                <a:sym typeface="Calibri"/>
              </a:rPr>
              <a:t>Trong đó </a:t>
            </a:r>
            <a:r>
              <a:rPr lang="en-US" sz="2400" b="1">
                <a:solidFill>
                  <a:schemeClr val="dk1"/>
                </a:solidFill>
                <a:latin typeface="Calibri"/>
                <a:ea typeface="Calibri"/>
                <a:cs typeface="Calibri"/>
                <a:sym typeface="Calibri"/>
              </a:rPr>
              <a:t>myVar </a:t>
            </a:r>
            <a:r>
              <a:rPr lang="en-US" sz="2400">
                <a:solidFill>
                  <a:schemeClr val="dk1"/>
                </a:solidFill>
                <a:latin typeface="Calibri"/>
                <a:ea typeface="Calibri"/>
                <a:cs typeface="Calibri"/>
                <a:sym typeface="Calibri"/>
              </a:rPr>
              <a:t>ta gán cho hàm </a:t>
            </a:r>
            <a:r>
              <a:rPr lang="en-US" sz="2400" b="1">
                <a:solidFill>
                  <a:schemeClr val="dk1"/>
                </a:solidFill>
                <a:latin typeface="Calibri"/>
                <a:ea typeface="Calibri"/>
                <a:cs typeface="Calibri"/>
                <a:sym typeface="Calibri"/>
              </a:rPr>
              <a:t>setTimeout()</a:t>
            </a:r>
            <a:endParaRPr b="1"/>
          </a:p>
        </p:txBody>
      </p:sp>
      <p:pic>
        <p:nvPicPr>
          <p:cNvPr id="281" name="Google Shape;281;p19"/>
          <p:cNvPicPr preferRelativeResize="0"/>
          <p:nvPr/>
        </p:nvPicPr>
        <p:blipFill rotWithShape="1">
          <a:blip r:embed="rId4">
            <a:alphaModFix/>
          </a:blip>
          <a:srcRect/>
          <a:stretch/>
        </p:blipFill>
        <p:spPr>
          <a:xfrm>
            <a:off x="682461" y="2490052"/>
            <a:ext cx="5505450" cy="10382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20"/>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87" name="Google Shape;287;p20"/>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288" name="Google Shape;288;p20"/>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Date Object</a:t>
            </a:r>
            <a:endParaRPr/>
          </a:p>
        </p:txBody>
      </p:sp>
      <p:pic>
        <p:nvPicPr>
          <p:cNvPr id="289" name="Google Shape;289;p20"/>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290" name="Google Shape;290;p20"/>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1" name="Google Shape;291;p20"/>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292" name="Google Shape;292;p20"/>
          <p:cNvSpPr txBox="1"/>
          <p:nvPr/>
        </p:nvSpPr>
        <p:spPr>
          <a:xfrm>
            <a:off x="685800" y="1479875"/>
            <a:ext cx="7848600" cy="3786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setInterval()</a:t>
            </a:r>
            <a:endParaRPr b="1"/>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Hàm </a:t>
            </a:r>
            <a:r>
              <a:rPr lang="en-US" sz="2400" b="1">
                <a:solidFill>
                  <a:schemeClr val="dk1"/>
                </a:solidFill>
                <a:latin typeface="Calibri"/>
                <a:ea typeface="Calibri"/>
                <a:cs typeface="Calibri"/>
                <a:sym typeface="Calibri"/>
              </a:rPr>
              <a:t>setInterval()</a:t>
            </a:r>
            <a:r>
              <a:rPr lang="en-US" sz="2400">
                <a:solidFill>
                  <a:schemeClr val="dk1"/>
                </a:solidFill>
                <a:latin typeface="Calibri"/>
                <a:ea typeface="Calibri"/>
                <a:cs typeface="Calibri"/>
                <a:sym typeface="Calibri"/>
              </a:rPr>
              <a:t> cũng được sử dụng nếu bạn muốn hàm của mình thực thi bao nhiêu mili giây. Tuy nhiên </a:t>
            </a:r>
            <a:r>
              <a:rPr lang="en-US" sz="2400" b="1">
                <a:solidFill>
                  <a:schemeClr val="dk1"/>
                </a:solidFill>
                <a:latin typeface="Calibri"/>
                <a:ea typeface="Calibri"/>
                <a:cs typeface="Calibri"/>
                <a:sym typeface="Calibri"/>
              </a:rPr>
              <a:t>setInterval()</a:t>
            </a:r>
            <a:r>
              <a:rPr lang="en-US" sz="2400">
                <a:solidFill>
                  <a:schemeClr val="dk1"/>
                </a:solidFill>
                <a:latin typeface="Calibri"/>
                <a:ea typeface="Calibri"/>
                <a:cs typeface="Calibri"/>
                <a:sym typeface="Calibri"/>
              </a:rPr>
              <a:t> sẽ lặp lại sau khoảng thời gian thiết lập</a:t>
            </a: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Cú pháp: </a:t>
            </a:r>
            <a:r>
              <a:rPr lang="en-US" sz="2400" b="1">
                <a:solidFill>
                  <a:schemeClr val="dk1"/>
                </a:solidFill>
                <a:latin typeface="Calibri"/>
                <a:ea typeface="Calibri"/>
                <a:cs typeface="Calibri"/>
                <a:sym typeface="Calibri"/>
              </a:rPr>
              <a:t>setInterval(expression, interval)</a:t>
            </a:r>
            <a:endParaRPr b="1"/>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pic>
        <p:nvPicPr>
          <p:cNvPr id="293" name="Google Shape;293;p20"/>
          <p:cNvPicPr preferRelativeResize="0"/>
          <p:nvPr/>
        </p:nvPicPr>
        <p:blipFill rotWithShape="1">
          <a:blip r:embed="rId4">
            <a:alphaModFix/>
          </a:blip>
          <a:srcRect/>
          <a:stretch/>
        </p:blipFill>
        <p:spPr>
          <a:xfrm>
            <a:off x="783325" y="4400560"/>
            <a:ext cx="4067175" cy="15430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21"/>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99" name="Google Shape;299;p21"/>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300" name="Google Shape;300;p21"/>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Date Object</a:t>
            </a:r>
            <a:endParaRPr/>
          </a:p>
        </p:txBody>
      </p:sp>
      <p:pic>
        <p:nvPicPr>
          <p:cNvPr id="301" name="Google Shape;301;p21"/>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302" name="Google Shape;302;p21"/>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3" name="Google Shape;303;p21"/>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304" name="Google Shape;304;p21"/>
          <p:cNvSpPr txBox="1"/>
          <p:nvPr/>
        </p:nvSpPr>
        <p:spPr>
          <a:xfrm>
            <a:off x="685800" y="1752600"/>
            <a:ext cx="7848600" cy="2308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setInterval()</a:t>
            </a:r>
            <a:endParaRPr b="1"/>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Để dừng hoạt động của </a:t>
            </a:r>
            <a:r>
              <a:rPr lang="en-US" sz="2400" b="1">
                <a:solidFill>
                  <a:schemeClr val="dk1"/>
                </a:solidFill>
                <a:latin typeface="Calibri"/>
                <a:ea typeface="Calibri"/>
                <a:cs typeface="Calibri"/>
                <a:sym typeface="Calibri"/>
              </a:rPr>
              <a:t>setInterval()</a:t>
            </a:r>
            <a:r>
              <a:rPr lang="en-US" sz="2400">
                <a:solidFill>
                  <a:schemeClr val="dk1"/>
                </a:solidFill>
                <a:latin typeface="Calibri"/>
                <a:ea typeface="Calibri"/>
                <a:cs typeface="Calibri"/>
                <a:sym typeface="Calibri"/>
              </a:rPr>
              <a:t>, ta sử dụng hàm </a:t>
            </a:r>
            <a:r>
              <a:rPr lang="en-US" sz="2400" b="1">
                <a:solidFill>
                  <a:schemeClr val="dk1"/>
                </a:solidFill>
                <a:latin typeface="Calibri"/>
                <a:ea typeface="Calibri"/>
                <a:cs typeface="Calibri"/>
                <a:sym typeface="Calibri"/>
              </a:rPr>
              <a:t>clearInterval(timeId)</a:t>
            </a:r>
            <a:endParaRPr b="1"/>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pic>
        <p:nvPicPr>
          <p:cNvPr id="305" name="Google Shape;305;p21"/>
          <p:cNvPicPr preferRelativeResize="0"/>
          <p:nvPr/>
        </p:nvPicPr>
        <p:blipFill rotWithShape="1">
          <a:blip r:embed="rId4">
            <a:alphaModFix/>
          </a:blip>
          <a:srcRect/>
          <a:stretch/>
        </p:blipFill>
        <p:spPr>
          <a:xfrm>
            <a:off x="762000" y="3735436"/>
            <a:ext cx="6858000" cy="13430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g11a0e12f12b_0_11"/>
          <p:cNvSpPr txBox="1">
            <a:spLocks noGrp="1"/>
          </p:cNvSpPr>
          <p:nvPr>
            <p:ph type="subTitle" idx="1"/>
          </p:nvPr>
        </p:nvSpPr>
        <p:spPr>
          <a:xfrm>
            <a:off x="304800" y="6248400"/>
            <a:ext cx="5867400" cy="486300"/>
          </a:xfrm>
          <a:prstGeom prst="rect">
            <a:avLst/>
          </a:prstGeom>
          <a:noFill/>
          <a:ln>
            <a:noFill/>
          </a:ln>
        </p:spPr>
        <p:txBody>
          <a:bodyPr spcFirstLastPara="1" wrap="square" lIns="91425" tIns="45700" rIns="91425" bIns="45700" anchor="t" anchorCtr="0">
            <a:normAutofit fontScale="325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11" name="Google Shape;311;g11a0e12f12b_0_11"/>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50"/>
              </a:srgbClr>
            </a:outerShdw>
          </a:effectLst>
        </p:spPr>
      </p:cxnSp>
      <p:sp>
        <p:nvSpPr>
          <p:cNvPr id="312" name="Google Shape;312;g11a0e12f12b_0_11"/>
          <p:cNvSpPr txBox="1">
            <a:spLocks noGrp="1"/>
          </p:cNvSpPr>
          <p:nvPr>
            <p:ph type="ctrTitle"/>
          </p:nvPr>
        </p:nvSpPr>
        <p:spPr>
          <a:xfrm>
            <a:off x="609600" y="761999"/>
            <a:ext cx="7924800" cy="5943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rPr>
              <a:t>Demo</a:t>
            </a:r>
            <a:endParaRPr/>
          </a:p>
        </p:txBody>
      </p:sp>
      <p:pic>
        <p:nvPicPr>
          <p:cNvPr id="313" name="Google Shape;313;g11a0e12f12b_0_11"/>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314" name="Google Shape;314;g11a0e12f12b_0_11"/>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5" name="Google Shape;315;g11a0e12f12b_0_11"/>
          <p:cNvSpPr txBox="1"/>
          <p:nvPr/>
        </p:nvSpPr>
        <p:spPr>
          <a:xfrm flipH="1">
            <a:off x="4599597" y="127123"/>
            <a:ext cx="4163400" cy="5232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316" name="Google Shape;316;g11a0e12f12b_0_11"/>
          <p:cNvSpPr txBox="1"/>
          <p:nvPr/>
        </p:nvSpPr>
        <p:spPr>
          <a:xfrm>
            <a:off x="685800" y="1752600"/>
            <a:ext cx="78486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Giáo viên demo về</a:t>
            </a:r>
            <a:r>
              <a:rPr lang="en-US" sz="2400" b="1">
                <a:solidFill>
                  <a:schemeClr val="dk1"/>
                </a:solidFill>
                <a:latin typeface="Calibri"/>
                <a:ea typeface="Calibri"/>
                <a:cs typeface="Calibri"/>
                <a:sym typeface="Calibri"/>
              </a:rPr>
              <a:t> setTimeout() </a:t>
            </a:r>
            <a:r>
              <a:rPr lang="en-US" sz="2400">
                <a:solidFill>
                  <a:schemeClr val="dk1"/>
                </a:solidFill>
                <a:latin typeface="Calibri"/>
                <a:ea typeface="Calibri"/>
                <a:cs typeface="Calibri"/>
                <a:sym typeface="Calibri"/>
              </a:rPr>
              <a:t>và </a:t>
            </a:r>
            <a:r>
              <a:rPr lang="en-US" sz="2400" b="1">
                <a:solidFill>
                  <a:schemeClr val="dk1"/>
                </a:solidFill>
                <a:latin typeface="Calibri"/>
                <a:ea typeface="Calibri"/>
                <a:cs typeface="Calibri"/>
                <a:sym typeface="Calibri"/>
              </a:rPr>
              <a:t>setInterval() </a:t>
            </a:r>
            <a:r>
              <a:rPr lang="en-US" sz="2400">
                <a:solidFill>
                  <a:schemeClr val="dk1"/>
                </a:solidFill>
                <a:latin typeface="Calibri"/>
                <a:ea typeface="Calibri"/>
                <a:cs typeface="Calibri"/>
                <a:sym typeface="Calibri"/>
              </a:rPr>
              <a:t>cho học viên</a:t>
            </a:r>
            <a:endParaRPr sz="24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3"/>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22" name="Google Shape;322;p23"/>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323" name="Google Shape;323;p23"/>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DOM</a:t>
            </a:r>
            <a:endParaRPr/>
          </a:p>
        </p:txBody>
      </p:sp>
      <p:pic>
        <p:nvPicPr>
          <p:cNvPr id="324" name="Google Shape;324;p23"/>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325" name="Google Shape;325;p2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6" name="Google Shape;326;p23"/>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327" name="Google Shape;327;p23"/>
          <p:cNvSpPr txBox="1"/>
          <p:nvPr/>
        </p:nvSpPr>
        <p:spPr>
          <a:xfrm>
            <a:off x="685800" y="1752600"/>
            <a:ext cx="7848600" cy="2308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DOM (Document Object Model):</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Là một giao diện lập trình ứng dụng (API)</a:t>
            </a:r>
            <a:endParaRPr sz="24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Biểu diễn cấu trúc đại diện của văn bản HTML</a:t>
            </a:r>
            <a:endParaRPr sz="24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Cho phép JavaScript truy cập vào các phần tử HTML (HTML element) và CSS Styles để tùy biến chúng</a:t>
            </a:r>
            <a:endParaRPr sz="24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24"/>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33" name="Google Shape;333;p24"/>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334" name="Google Shape;334;p24"/>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DOM</a:t>
            </a:r>
            <a:endParaRPr/>
          </a:p>
        </p:txBody>
      </p:sp>
      <p:pic>
        <p:nvPicPr>
          <p:cNvPr id="335" name="Google Shape;335;p24"/>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336" name="Google Shape;336;p2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7" name="Google Shape;337;p24"/>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pic>
        <p:nvPicPr>
          <p:cNvPr id="338" name="Google Shape;338;p24"/>
          <p:cNvPicPr preferRelativeResize="0"/>
          <p:nvPr/>
        </p:nvPicPr>
        <p:blipFill rotWithShape="1">
          <a:blip r:embed="rId4">
            <a:alphaModFix/>
          </a:blip>
          <a:srcRect/>
          <a:stretch/>
        </p:blipFill>
        <p:spPr>
          <a:xfrm>
            <a:off x="0" y="1508759"/>
            <a:ext cx="9144000" cy="433425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25"/>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44" name="Google Shape;344;p25"/>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345" name="Google Shape;345;p25"/>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DOM</a:t>
            </a:r>
            <a:endParaRPr/>
          </a:p>
        </p:txBody>
      </p:sp>
      <p:pic>
        <p:nvPicPr>
          <p:cNvPr id="346" name="Google Shape;346;p25"/>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347" name="Google Shape;347;p2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8" name="Google Shape;348;p25"/>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349" name="Google Shape;349;p25"/>
          <p:cNvSpPr txBox="1"/>
          <p:nvPr/>
        </p:nvSpPr>
        <p:spPr>
          <a:xfrm>
            <a:off x="762000" y="1468000"/>
            <a:ext cx="79248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DOM không phải là một phần của JavaScript, nó là một phần của WEB API</a:t>
            </a:r>
            <a:endParaRPr/>
          </a:p>
        </p:txBody>
      </p:sp>
      <p:pic>
        <p:nvPicPr>
          <p:cNvPr id="350" name="Google Shape;350;p25"/>
          <p:cNvPicPr preferRelativeResize="0"/>
          <p:nvPr/>
        </p:nvPicPr>
        <p:blipFill rotWithShape="1">
          <a:blip r:embed="rId4">
            <a:alphaModFix/>
          </a:blip>
          <a:srcRect/>
          <a:stretch/>
        </p:blipFill>
        <p:spPr>
          <a:xfrm>
            <a:off x="982300" y="2030827"/>
            <a:ext cx="7000727" cy="362772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26"/>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56" name="Google Shape;356;p26"/>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357" name="Google Shape;357;p26"/>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DOM</a:t>
            </a:r>
            <a:endParaRPr/>
          </a:p>
        </p:txBody>
      </p:sp>
      <p:pic>
        <p:nvPicPr>
          <p:cNvPr id="358" name="Google Shape;358;p26"/>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359" name="Google Shape;359;p26"/>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0" name="Google Shape;360;p26"/>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361" name="Google Shape;361;p26"/>
          <p:cNvSpPr txBox="1"/>
          <p:nvPr/>
        </p:nvSpPr>
        <p:spPr>
          <a:xfrm>
            <a:off x="762000" y="1828800"/>
            <a:ext cx="311634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Cây cấu trúc trong DOM</a:t>
            </a:r>
            <a:endParaRPr/>
          </a:p>
        </p:txBody>
      </p:sp>
      <p:pic>
        <p:nvPicPr>
          <p:cNvPr id="362" name="Google Shape;362;p26"/>
          <p:cNvPicPr preferRelativeResize="0"/>
          <p:nvPr/>
        </p:nvPicPr>
        <p:blipFill rotWithShape="1">
          <a:blip r:embed="rId4">
            <a:alphaModFix/>
          </a:blip>
          <a:srcRect/>
          <a:stretch/>
        </p:blipFill>
        <p:spPr>
          <a:xfrm>
            <a:off x="3878341" y="1324016"/>
            <a:ext cx="4886326" cy="425070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27"/>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68" name="Google Shape;368;p27"/>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369" name="Google Shape;369;p27"/>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DOM</a:t>
            </a:r>
            <a:endParaRPr/>
          </a:p>
        </p:txBody>
      </p:sp>
      <p:pic>
        <p:nvPicPr>
          <p:cNvPr id="370" name="Google Shape;370;p27"/>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371" name="Google Shape;371;p27"/>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2" name="Google Shape;372;p27"/>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373" name="Google Shape;373;p27"/>
          <p:cNvSpPr txBox="1"/>
          <p:nvPr/>
        </p:nvSpPr>
        <p:spPr>
          <a:xfrm>
            <a:off x="762000" y="1828800"/>
            <a:ext cx="7772400" cy="255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Cây cấu trúc trong DOM</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Mỗi một thành phần được coi là 1 Node</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Các phần tử khác nhau sẽ được phân loại node khác nhau nhưng quan trọng nhất có 3 loại:</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Document Node (Nút gốc): thường biểu diễn bởi tag &lt;html&gt;</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Element Node (Nút phần tử): biểu thị cho 1 phần tử html</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Text Node (Nút văn bản): đoạn ký tự trong thẻ html</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28"/>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79" name="Google Shape;379;p28"/>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380" name="Google Shape;380;p28"/>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DOM</a:t>
            </a:r>
            <a:endParaRPr/>
          </a:p>
        </p:txBody>
      </p:sp>
      <p:pic>
        <p:nvPicPr>
          <p:cNvPr id="381" name="Google Shape;381;p28"/>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382" name="Google Shape;382;p28"/>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3" name="Google Shape;383;p28"/>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384" name="Google Shape;384;p28"/>
          <p:cNvSpPr txBox="1"/>
          <p:nvPr/>
        </p:nvSpPr>
        <p:spPr>
          <a:xfrm>
            <a:off x="762000" y="1828800"/>
            <a:ext cx="7772400" cy="2862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Cây cấu trúc trong DOM</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Quan hệ giữa các node:</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Document Node luôn luôn là node đầu tiên</a:t>
            </a: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Tất cả các node (trừ document node) đều có 1 node cha (parent)</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Một node có thể không có hoặc có một, nhiều node con (child)</a:t>
            </a: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Những node anh em (siblings) thì có cùng node cha</a:t>
            </a: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Trong node anh em (siblings), nút đầu tiên là firstChild và nút cuối cùng là lastChild</a:t>
            </a:r>
            <a:endParaRPr sz="20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29"/>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90" name="Google Shape;390;p29"/>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391" name="Google Shape;391;p29"/>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DOM</a:t>
            </a:r>
            <a:endParaRPr/>
          </a:p>
        </p:txBody>
      </p:sp>
      <p:pic>
        <p:nvPicPr>
          <p:cNvPr id="392" name="Google Shape;392;p29"/>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393" name="Google Shape;393;p29"/>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4" name="Google Shape;394;p29"/>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395" name="Google Shape;395;p29"/>
          <p:cNvSpPr txBox="1"/>
          <p:nvPr/>
        </p:nvSpPr>
        <p:spPr>
          <a:xfrm>
            <a:off x="762000" y="1556550"/>
            <a:ext cx="7772400" cy="3786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Cây cấu trúc trong DOM</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Mỗi node đều có 6 thuộc tính quan hệ để giúp ta truy xuất gián tiếp theo vị trí của node:</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Node.parentNode: tham chiếu đến node cha của node hiện tại</a:t>
            </a: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Node.childNodes: mảng các node con của node hiện tại</a:t>
            </a: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Node.firstChild: tham chiếu đến node con đầu tiên</a:t>
            </a: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Node.lastChild: tham chiếu đến node con cuối cùng</a:t>
            </a: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Node.nextSibling: tham chiếu đến node anh em tiếp theo, nằm sau node hiện tại</a:t>
            </a: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Node.previousSibling: tham chiếu đến node anh em trước đó, nằm trước node hiện tại</a:t>
            </a:r>
            <a:endParaRPr sz="20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30"/>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01" name="Google Shape;401;p30"/>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402" name="Google Shape;402;p30"/>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DOM</a:t>
            </a:r>
            <a:endParaRPr/>
          </a:p>
        </p:txBody>
      </p:sp>
      <p:pic>
        <p:nvPicPr>
          <p:cNvPr id="403" name="Google Shape;403;p30"/>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404" name="Google Shape;404;p30"/>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5" name="Google Shape;405;p30"/>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406" name="Google Shape;406;p30"/>
          <p:cNvSpPr txBox="1"/>
          <p:nvPr/>
        </p:nvSpPr>
        <p:spPr>
          <a:xfrm>
            <a:off x="762000" y="1828800"/>
            <a:ext cx="7772400"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Quan hệ giữa các Node</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pic>
        <p:nvPicPr>
          <p:cNvPr id="407" name="Google Shape;407;p30"/>
          <p:cNvPicPr preferRelativeResize="0"/>
          <p:nvPr/>
        </p:nvPicPr>
        <p:blipFill rotWithShape="1">
          <a:blip r:embed="rId4">
            <a:alphaModFix/>
          </a:blip>
          <a:srcRect/>
          <a:stretch/>
        </p:blipFill>
        <p:spPr>
          <a:xfrm>
            <a:off x="762744" y="2526526"/>
            <a:ext cx="7305675" cy="332832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31"/>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13" name="Google Shape;413;p31"/>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414" name="Google Shape;414;p31"/>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DOM</a:t>
            </a:r>
            <a:endParaRPr/>
          </a:p>
        </p:txBody>
      </p:sp>
      <p:pic>
        <p:nvPicPr>
          <p:cNvPr id="415" name="Google Shape;415;p31"/>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416" name="Google Shape;416;p31"/>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7" name="Google Shape;417;p31"/>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418" name="Google Shape;418;p31"/>
          <p:cNvSpPr txBox="1"/>
          <p:nvPr/>
        </p:nvSpPr>
        <p:spPr>
          <a:xfrm>
            <a:off x="762000" y="1828800"/>
            <a:ext cx="8001000" cy="2862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Cách lấy một phần tử HTML để tương tác, ta có thể sử dụng các cách sau:</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Sử dụng Id của phần tử HTML</a:t>
            </a: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Sử dụng tag name của phần tử HTML</a:t>
            </a: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Sử dụng class name của phần tử HTML</a:t>
            </a: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Sử dụng CSS selectors</a:t>
            </a: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Sử dụng tập hợp HTML object </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32"/>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24" name="Google Shape;424;p32"/>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425" name="Google Shape;425;p32"/>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DOM</a:t>
            </a:r>
            <a:endParaRPr/>
          </a:p>
        </p:txBody>
      </p:sp>
      <p:pic>
        <p:nvPicPr>
          <p:cNvPr id="426" name="Google Shape;426;p32"/>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427" name="Google Shape;427;p3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8" name="Google Shape;428;p32"/>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pic>
        <p:nvPicPr>
          <p:cNvPr id="429" name="Google Shape;429;p32"/>
          <p:cNvPicPr preferRelativeResize="0"/>
          <p:nvPr/>
        </p:nvPicPr>
        <p:blipFill rotWithShape="1">
          <a:blip r:embed="rId4">
            <a:alphaModFix/>
          </a:blip>
          <a:srcRect/>
          <a:stretch/>
        </p:blipFill>
        <p:spPr>
          <a:xfrm>
            <a:off x="2126475" y="1422444"/>
            <a:ext cx="5133975" cy="44767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33"/>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35" name="Google Shape;435;p33"/>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436" name="Google Shape;436;p33"/>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DOM</a:t>
            </a:r>
            <a:endParaRPr/>
          </a:p>
        </p:txBody>
      </p:sp>
      <p:pic>
        <p:nvPicPr>
          <p:cNvPr id="437" name="Google Shape;437;p33"/>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438" name="Google Shape;438;p3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9" name="Google Shape;439;p33"/>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440" name="Google Shape;440;p33"/>
          <p:cNvSpPr txBox="1"/>
          <p:nvPr/>
        </p:nvSpPr>
        <p:spPr>
          <a:xfrm>
            <a:off x="762000" y="1828800"/>
            <a:ext cx="8000997" cy="31700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Trong DOM, tất các các thành phần HTML được định nghĩa là các object</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Mỗi một object thì có các thuộc tính (properties) và các phương thức (methods)</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Một thuộc tính là một giá trị ta có thể tùy biến với các set hoặc get (như thay đổi các nội dung của phần tử HTML)</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Một phương thức là một hành động mà ta dùng để tác động đến (như thêm hoặc xóa một phần tử HTML)</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34"/>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46" name="Google Shape;446;p34"/>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447" name="Google Shape;447;p34"/>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DOM</a:t>
            </a:r>
            <a:endParaRPr/>
          </a:p>
        </p:txBody>
      </p:sp>
      <p:pic>
        <p:nvPicPr>
          <p:cNvPr id="448" name="Google Shape;448;p34"/>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449" name="Google Shape;449;p3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0" name="Google Shape;450;p34"/>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451" name="Google Shape;451;p34"/>
          <p:cNvSpPr txBox="1"/>
          <p:nvPr/>
        </p:nvSpPr>
        <p:spPr>
          <a:xfrm>
            <a:off x="762000" y="1497500"/>
            <a:ext cx="8001000" cy="471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Một số thuộc tính dùng để thay đổi các thành phần của HTML</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Thay đổi nội dung bên trong HTML</a:t>
            </a:r>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element.innerHTML = “new html content”</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Thay đổi giá trị attribute của phần tử</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element.attribute = ‘’new value”</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Thay đổi style của phần tử</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element.style.property = “new style”</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Thay đổi hoặc thêm attribute cho phần tử</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element.setAttribute(attribute, value)</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35"/>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57" name="Google Shape;457;p35"/>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458" name="Google Shape;458;p35"/>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DOM</a:t>
            </a:r>
            <a:endParaRPr/>
          </a:p>
        </p:txBody>
      </p:sp>
      <p:pic>
        <p:nvPicPr>
          <p:cNvPr id="459" name="Google Shape;459;p35"/>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460" name="Google Shape;460;p3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1" name="Google Shape;461;p35"/>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462" name="Google Shape;462;p35"/>
          <p:cNvSpPr txBox="1"/>
          <p:nvPr/>
        </p:nvSpPr>
        <p:spPr>
          <a:xfrm>
            <a:off x="762000" y="1828800"/>
            <a:ext cx="8001000" cy="3170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Một số phương pháp dùng để thêm, xóa các thành phần của HTML</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Document.createElement(element): Tạo một thành phần HTML</a:t>
            </a: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Document.removeChild(element): Xóa một thành phần HTML</a:t>
            </a: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Document.appendChild(element): Thêm một thành phần con HTML</a:t>
            </a: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Document.replace(new, old): Thay thế một thành phần HTML</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36"/>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68" name="Google Shape;468;p36"/>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469" name="Google Shape;469;p36"/>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DOM</a:t>
            </a:r>
            <a:endParaRPr/>
          </a:p>
        </p:txBody>
      </p:sp>
      <p:pic>
        <p:nvPicPr>
          <p:cNvPr id="470" name="Google Shape;470;p36"/>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471" name="Google Shape;471;p36"/>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2" name="Google Shape;472;p36"/>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473" name="Google Shape;473;p36"/>
          <p:cNvSpPr txBox="1"/>
          <p:nvPr/>
        </p:nvSpPr>
        <p:spPr>
          <a:xfrm>
            <a:off x="762000" y="1828800"/>
            <a:ext cx="8001000" cy="2247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HTML DOM cho phép JavaScript tương tác với các sự kiện trong HTML:</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Các sự kiện như: người dùng di chuột đến đến phần tử HTML, người dùng click chuột vào phần tử HTML, v.v…</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Ví dụ:</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pic>
        <p:nvPicPr>
          <p:cNvPr id="474" name="Google Shape;474;p36"/>
          <p:cNvPicPr preferRelativeResize="0"/>
          <p:nvPr/>
        </p:nvPicPr>
        <p:blipFill rotWithShape="1">
          <a:blip r:embed="rId4">
            <a:alphaModFix/>
          </a:blip>
          <a:srcRect/>
          <a:stretch/>
        </p:blipFill>
        <p:spPr>
          <a:xfrm>
            <a:off x="876025" y="3562146"/>
            <a:ext cx="5353050" cy="17526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37"/>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80" name="Google Shape;480;p37"/>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481" name="Google Shape;481;p37"/>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DOM</a:t>
            </a:r>
            <a:endParaRPr/>
          </a:p>
        </p:txBody>
      </p:sp>
      <p:pic>
        <p:nvPicPr>
          <p:cNvPr id="482" name="Google Shape;482;p37"/>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483" name="Google Shape;483;p37"/>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4" name="Google Shape;484;p37"/>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485" name="Google Shape;485;p37"/>
          <p:cNvSpPr txBox="1"/>
          <p:nvPr/>
        </p:nvSpPr>
        <p:spPr>
          <a:xfrm>
            <a:off x="762000" y="1828800"/>
            <a:ext cx="8001000" cy="2862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HTML DOM cho phép JavaScript tương tác với các sự kiện trong HTML:</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Các sự kiện thường dùng:</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Khi người dùng click chuột/giữ/thả chuột: </a:t>
            </a:r>
            <a:r>
              <a:rPr lang="en-US" sz="2000" b="1">
                <a:solidFill>
                  <a:schemeClr val="dk1"/>
                </a:solidFill>
                <a:latin typeface="Calibri"/>
                <a:ea typeface="Calibri"/>
                <a:cs typeface="Calibri"/>
                <a:sym typeface="Calibri"/>
              </a:rPr>
              <a:t>onclick/onmousedown/onmouseup</a:t>
            </a:r>
            <a:endParaRPr sz="2000" b="1">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Khi người dùng vào và thoát khỏi trang: onload/onunload</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Khi dữ liệu trong input thay đổi: </a:t>
            </a:r>
            <a:r>
              <a:rPr lang="en-US" sz="2000" b="1">
                <a:solidFill>
                  <a:schemeClr val="dk1"/>
                </a:solidFill>
                <a:latin typeface="Calibri"/>
                <a:ea typeface="Calibri"/>
                <a:cs typeface="Calibri"/>
                <a:sym typeface="Calibri"/>
              </a:rPr>
              <a:t>onchange</a:t>
            </a:r>
            <a:endParaRPr sz="2000" b="1">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Khi người dùng di chuột vào hoặc ra khỏi phần tử: </a:t>
            </a:r>
            <a:r>
              <a:rPr lang="en-US" sz="2000" b="1">
                <a:solidFill>
                  <a:schemeClr val="dk1"/>
                </a:solidFill>
                <a:latin typeface="Calibri"/>
                <a:ea typeface="Calibri"/>
                <a:cs typeface="Calibri"/>
                <a:sym typeface="Calibri"/>
              </a:rPr>
              <a:t>onmouseover/onmouseout</a:t>
            </a:r>
            <a:endParaRPr sz="2000" b="1">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38"/>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91" name="Google Shape;491;p38"/>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492" name="Google Shape;492;p38"/>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DOM</a:t>
            </a:r>
            <a:endParaRPr/>
          </a:p>
        </p:txBody>
      </p:sp>
      <p:pic>
        <p:nvPicPr>
          <p:cNvPr id="493" name="Google Shape;493;p38"/>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494" name="Google Shape;494;p38"/>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5" name="Google Shape;495;p38"/>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496" name="Google Shape;496;p38"/>
          <p:cNvSpPr txBox="1"/>
          <p:nvPr/>
        </p:nvSpPr>
        <p:spPr>
          <a:xfrm>
            <a:off x="765500" y="1599345"/>
            <a:ext cx="8001000" cy="2862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Các cách gắn sự kiện cho phần tử HTML</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Sử dụng attribute của phần tử HTML:</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Sử dụng HTML DOM bằng JavaScript:</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pic>
        <p:nvPicPr>
          <p:cNvPr id="497" name="Google Shape;497;p38"/>
          <p:cNvPicPr preferRelativeResize="0"/>
          <p:nvPr/>
        </p:nvPicPr>
        <p:blipFill rotWithShape="1">
          <a:blip r:embed="rId4">
            <a:alphaModFix/>
          </a:blip>
          <a:srcRect/>
          <a:stretch/>
        </p:blipFill>
        <p:spPr>
          <a:xfrm>
            <a:off x="865000" y="4164089"/>
            <a:ext cx="5172075" cy="1295400"/>
          </a:xfrm>
          <a:prstGeom prst="rect">
            <a:avLst/>
          </a:prstGeom>
          <a:noFill/>
          <a:ln>
            <a:noFill/>
          </a:ln>
        </p:spPr>
      </p:pic>
      <p:pic>
        <p:nvPicPr>
          <p:cNvPr id="498" name="Google Shape;498;p38"/>
          <p:cNvPicPr preferRelativeResize="0"/>
          <p:nvPr/>
        </p:nvPicPr>
        <p:blipFill rotWithShape="1">
          <a:blip r:embed="rId5">
            <a:alphaModFix/>
          </a:blip>
          <a:srcRect/>
          <a:stretch/>
        </p:blipFill>
        <p:spPr>
          <a:xfrm>
            <a:off x="864991" y="2369007"/>
            <a:ext cx="4014787" cy="138176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39"/>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504" name="Google Shape;504;p39"/>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505" name="Google Shape;505;p39"/>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DOM</a:t>
            </a:r>
            <a:endParaRPr/>
          </a:p>
        </p:txBody>
      </p:sp>
      <p:pic>
        <p:nvPicPr>
          <p:cNvPr id="506" name="Google Shape;506;p39"/>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507" name="Google Shape;507;p39"/>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8" name="Google Shape;508;p39"/>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509" name="Google Shape;509;p39"/>
          <p:cNvSpPr txBox="1"/>
          <p:nvPr/>
        </p:nvSpPr>
        <p:spPr>
          <a:xfrm>
            <a:off x="762000" y="1828800"/>
            <a:ext cx="8000997" cy="22467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Sử dụng DOM EventListener</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Phương thức addEventListener() gắn code xử lý sự kiện dựa trên sự kiện khai báo của thành phần HTML chỉ định</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pic>
        <p:nvPicPr>
          <p:cNvPr id="510" name="Google Shape;510;p39"/>
          <p:cNvPicPr preferRelativeResize="0"/>
          <p:nvPr/>
        </p:nvPicPr>
        <p:blipFill rotWithShape="1">
          <a:blip r:embed="rId4">
            <a:alphaModFix/>
          </a:blip>
          <a:srcRect/>
          <a:stretch/>
        </p:blipFill>
        <p:spPr>
          <a:xfrm>
            <a:off x="762000" y="3238321"/>
            <a:ext cx="6838950" cy="26193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40"/>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516" name="Google Shape;516;p40"/>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517" name="Google Shape;517;p40"/>
          <p:cNvSpPr txBox="1">
            <a:spLocks noGrp="1"/>
          </p:cNvSpPr>
          <p:nvPr>
            <p:ph type="ctrTitle"/>
          </p:nvPr>
        </p:nvSpPr>
        <p:spPr>
          <a:xfrm>
            <a:off x="609600" y="761999"/>
            <a:ext cx="7924800" cy="594361"/>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200">
                <a:solidFill>
                  <a:schemeClr val="dk2"/>
                </a:solidFill>
                <a:latin typeface="Calibri"/>
                <a:ea typeface="Calibri"/>
                <a:cs typeface="Calibri"/>
                <a:sym typeface="Calibri"/>
              </a:rPr>
              <a:t>DOM</a:t>
            </a:r>
            <a:endParaRPr/>
          </a:p>
        </p:txBody>
      </p:sp>
      <p:pic>
        <p:nvPicPr>
          <p:cNvPr id="518" name="Google Shape;518;p40"/>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519" name="Google Shape;519;p40"/>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0" name="Google Shape;520;p40"/>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521" name="Google Shape;521;p40"/>
          <p:cNvSpPr txBox="1"/>
          <p:nvPr/>
        </p:nvSpPr>
        <p:spPr>
          <a:xfrm>
            <a:off x="762000" y="1651125"/>
            <a:ext cx="8001000" cy="3478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Sử dụng DOM EventListener</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Có thể thêm nhiều sự kiện cho một thành phần</a:t>
            </a: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Có thể thêm nhiều cách xử lý cho cùng một loại sự kiện trên một thành phần</a:t>
            </a: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Có thể lắng nghe sự kiện cho bất cứ một object DOM nào ngoài các thành phần HTML. Ví dụ window object</a:t>
            </a: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Có thể dễ dàng loại bỏ event listener bằng cách sử dụng phương thức removeEventListener()</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41"/>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527" name="Google Shape;527;p41"/>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528" name="Google Shape;528;p41"/>
          <p:cNvSpPr txBox="1">
            <a:spLocks noGrp="1"/>
          </p:cNvSpPr>
          <p:nvPr>
            <p:ph type="ctrTitle"/>
          </p:nvPr>
        </p:nvSpPr>
        <p:spPr>
          <a:xfrm>
            <a:off x="381000" y="762000"/>
            <a:ext cx="8382000" cy="3581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3999"/>
              </a:buClr>
              <a:buSzPts val="4400"/>
              <a:buFont typeface="Calibri"/>
              <a:buNone/>
            </a:pPr>
            <a:br>
              <a:rPr lang="en-US">
                <a:solidFill>
                  <a:srgbClr val="003999"/>
                </a:solidFill>
              </a:rPr>
            </a:br>
            <a:endParaRPr sz="4200">
              <a:solidFill>
                <a:schemeClr val="dk2"/>
              </a:solidFill>
              <a:latin typeface="Calibri"/>
              <a:ea typeface="Calibri"/>
              <a:cs typeface="Calibri"/>
              <a:sym typeface="Calibri"/>
            </a:endParaRPr>
          </a:p>
        </p:txBody>
      </p:sp>
      <p:pic>
        <p:nvPicPr>
          <p:cNvPr id="529" name="Google Shape;529;p41"/>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530" name="Google Shape;530;p41"/>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31" name="Google Shape;531;p41"/>
          <p:cNvPicPr preferRelativeResize="0"/>
          <p:nvPr/>
        </p:nvPicPr>
        <p:blipFill rotWithShape="1">
          <a:blip r:embed="rId4">
            <a:alphaModFix/>
          </a:blip>
          <a:srcRect/>
          <a:stretch/>
        </p:blipFill>
        <p:spPr>
          <a:xfrm>
            <a:off x="1309686" y="762000"/>
            <a:ext cx="6829425" cy="484822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2395</Words>
  <Application>Microsoft Office PowerPoint</Application>
  <PresentationFormat>On-screen Show (4:3)</PresentationFormat>
  <Paragraphs>340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Làm việc với ngày tháng và DOM</vt:lpstr>
      <vt:lpstr>Làm việc với ngày tháng Tìm hiểu về DOM</vt:lpstr>
      <vt:lpstr>Date Object</vt:lpstr>
      <vt:lpstr>Date Object</vt:lpstr>
      <vt:lpstr>Date Object</vt:lpstr>
      <vt:lpstr>Date Object</vt:lpstr>
      <vt:lpstr>Date Object</vt:lpstr>
      <vt:lpstr>Date Object</vt:lpstr>
      <vt:lpstr>Date Object</vt:lpstr>
      <vt:lpstr>Date Object</vt:lpstr>
      <vt:lpstr>Date Object</vt:lpstr>
      <vt:lpstr>Date Object</vt:lpstr>
      <vt:lpstr>Date Object</vt:lpstr>
      <vt:lpstr>Date Object</vt:lpstr>
      <vt:lpstr>Date Object</vt:lpstr>
      <vt:lpstr>Demo</vt:lpstr>
      <vt:lpstr>Date Object</vt:lpstr>
      <vt:lpstr>Date Object</vt:lpstr>
      <vt:lpstr>Date Object</vt:lpstr>
      <vt:lpstr>Date Object</vt:lpstr>
      <vt:lpstr>Demo</vt:lpstr>
      <vt:lpstr>DOM</vt:lpstr>
      <vt:lpstr>DOM</vt:lpstr>
      <vt:lpstr>DOM</vt:lpstr>
      <vt:lpstr>DOM</vt:lpstr>
      <vt:lpstr>DOM</vt:lpstr>
      <vt:lpstr>DOM</vt:lpstr>
      <vt:lpstr>DOM</vt:lpstr>
      <vt:lpstr>DOM</vt:lpstr>
      <vt:lpstr>DOM</vt:lpstr>
      <vt:lpstr>DOM</vt:lpstr>
      <vt:lpstr>DOM</vt:lpstr>
      <vt:lpstr>DOM</vt:lpstr>
      <vt:lpstr>DOM</vt:lpstr>
      <vt:lpstr>DOM</vt:lpstr>
      <vt:lpstr>DOM</vt:lpstr>
      <vt:lpstr>DOM</vt:lpstr>
      <vt:lpstr>DOM</vt:lpstr>
      <vt:lpstr>DOM</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GIAOVU</dc:creator>
  <cp:lastModifiedBy>Nguyen Thuy Linh 20225031</cp:lastModifiedBy>
  <cp:revision>1</cp:revision>
  <dcterms:created xsi:type="dcterms:W3CDTF">2021-03-05T02:20:42Z</dcterms:created>
  <dcterms:modified xsi:type="dcterms:W3CDTF">2025-09-13T09:57:50Z</dcterms:modified>
</cp:coreProperties>
</file>