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29" roundtripDataSignature="AMtx7mj/YOCEkkNWDE3DZOVKM1052PKz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1dc37477a8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g11dc37477a8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dc37477a8_1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g11dc37477a8_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1dc37477a8_1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11dc37477a8_1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1dc37477a8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g11dc37477a8_1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1dc37477a8_1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g11dc37477a8_1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1dc37477a8_1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11dc37477a8_1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dc37477a8_1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g11dc37477a8_1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1dc37477a8_1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11dc37477a8_1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1dc37477a8_1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11dc37477a8_1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1dc37477a8_1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g11dc37477a8_1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dc37477a8_1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g11dc37477a8_1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1dc37477a8_1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11dc37477a8_1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1dc37477a8_1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g11dc37477a8_1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1dc37477a8_1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11dc37477a8_1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1dc37477a8_1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11dc37477a8_1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1dc37477a8_1_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g11dc37477a8_1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1dc37477a8_1_1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g11dc37477a8_1_1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1dc37477a8_1_2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g11dc37477a8_1_2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1dc37477a8_1_2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g11dc37477a8_1_2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1dc37477a8_1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11dc37477a8_1_2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9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9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9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9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9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9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9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9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9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9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9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9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9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0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1"/>
          <p:cNvSpPr/>
          <p:nvPr>
            <p:ph idx="2" type="pic"/>
          </p:nvPr>
        </p:nvSpPr>
        <p:spPr>
          <a:xfrm>
            <a:off x="1792288" y="612775"/>
            <a:ext cx="5486400" cy="4114800"/>
          </a:xfrm>
          <a:prstGeom prst="rect">
            <a:avLst/>
          </a:prstGeom>
          <a:noFill/>
          <a:ln>
            <a:noFill/>
          </a:ln>
        </p:spPr>
      </p:sp>
      <p:sp>
        <p:nvSpPr>
          <p:cNvPr id="64" name="Google Shape;64;p10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0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0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0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0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0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9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85" name="Google Shape;85;p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sp>
        <p:nvSpPr>
          <p:cNvPr id="86" name="Google Shape;86;p1"/>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3999"/>
              </a:buClr>
              <a:buSzPts val="4400"/>
              <a:buFont typeface="Calibri"/>
              <a:buNone/>
            </a:pPr>
            <a:br>
              <a:rPr lang="en-US">
                <a:solidFill>
                  <a:srgbClr val="003999"/>
                </a:solidFill>
              </a:rPr>
            </a:br>
            <a:r>
              <a:rPr b="1" lang="en-US">
                <a:solidFill>
                  <a:schemeClr val="dk2"/>
                </a:solidFill>
                <a:latin typeface="Calibri"/>
                <a:ea typeface="Calibri"/>
                <a:cs typeface="Calibri"/>
                <a:sym typeface="Calibri"/>
              </a:rPr>
              <a:t>Bài </a:t>
            </a:r>
            <a:r>
              <a:rPr b="1" lang="en-US">
                <a:solidFill>
                  <a:schemeClr val="dk2"/>
                </a:solidFill>
              </a:rPr>
              <a:t>9</a:t>
            </a:r>
            <a:r>
              <a:rPr b="1" lang="en-US">
                <a:solidFill>
                  <a:schemeClr val="dk2"/>
                </a:solidFill>
              </a:rPr>
              <a:t>. </a:t>
            </a:r>
            <a:endParaRPr b="1">
              <a:solidFill>
                <a:schemeClr val="dk2"/>
              </a:solidFill>
            </a:endParaRPr>
          </a:p>
          <a:p>
            <a:pPr indent="0" lvl="0" marL="0" rtl="0" algn="ctr">
              <a:lnSpc>
                <a:spcPct val="100000"/>
              </a:lnSpc>
              <a:spcBef>
                <a:spcPts val="0"/>
              </a:spcBef>
              <a:spcAft>
                <a:spcPts val="0"/>
              </a:spcAft>
              <a:buClr>
                <a:srgbClr val="003999"/>
              </a:buClr>
              <a:buSzPts val="4400"/>
              <a:buFont typeface="Calibri"/>
              <a:buNone/>
            </a:pPr>
            <a:r>
              <a:rPr b="1" lang="en-US">
                <a:solidFill>
                  <a:schemeClr val="dk2"/>
                </a:solidFill>
              </a:rPr>
              <a:t>Tìm hiểu webpack và Babel</a:t>
            </a:r>
            <a:endParaRPr sz="4200">
              <a:solidFill>
                <a:schemeClr val="dk2"/>
              </a:solidFill>
              <a:latin typeface="Calibri"/>
              <a:ea typeface="Calibri"/>
              <a:cs typeface="Calibri"/>
              <a:sym typeface="Calibri"/>
            </a:endParaRPr>
          </a:p>
        </p:txBody>
      </p:sp>
      <p:pic>
        <p:nvPicPr>
          <p:cNvPr id="87" name="Google Shape;87;p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93" name="Google Shape;93;p2"/>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94" name="Google Shape;94;p2"/>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95" name="Google Shape;95;p2"/>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2"/>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Arial"/>
                <a:ea typeface="Arial"/>
                <a:cs typeface="Arial"/>
                <a:sym typeface="Arial"/>
              </a:rPr>
              <a:t>Tổng quan</a:t>
            </a:r>
            <a:endParaRPr b="0" i="0" sz="1400" u="none" cap="none" strike="noStrike">
              <a:solidFill>
                <a:srgbClr val="000000"/>
              </a:solidFill>
              <a:latin typeface="Arial"/>
              <a:ea typeface="Arial"/>
              <a:cs typeface="Arial"/>
              <a:sym typeface="Arial"/>
            </a:endParaRPr>
          </a:p>
        </p:txBody>
      </p:sp>
      <p:sp>
        <p:nvSpPr>
          <p:cNvPr id="97" name="Google Shape;97;p2"/>
          <p:cNvSpPr txBox="1"/>
          <p:nvPr/>
        </p:nvSpPr>
        <p:spPr>
          <a:xfrm>
            <a:off x="651050" y="1675285"/>
            <a:ext cx="7883400" cy="19395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Webpack là gì ?</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Các khái niệm trong webpack</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Khái niệm Dependency Graph</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Case Study cấu hình webpack</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Cấu hình Babel nâng cao</a:t>
            </a:r>
            <a:endParaRPr sz="24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11dc37477a8_1_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03" name="Google Shape;103;g11dc37477a8_1_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104" name="Google Shape;104;g11dc37477a8_1_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05" name="Google Shape;105;g11dc37477a8_1_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g11dc37477a8_1_0"/>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Webpack là gì ?</a:t>
            </a:r>
            <a:endParaRPr b="0" i="0" sz="1400" u="none" cap="none" strike="noStrike">
              <a:solidFill>
                <a:srgbClr val="000000"/>
              </a:solidFill>
              <a:latin typeface="Arial"/>
              <a:ea typeface="Arial"/>
              <a:cs typeface="Arial"/>
              <a:sym typeface="Arial"/>
            </a:endParaRPr>
          </a:p>
        </p:txBody>
      </p:sp>
      <p:sp>
        <p:nvSpPr>
          <p:cNvPr id="107" name="Google Shape;107;g11dc37477a8_1_0"/>
          <p:cNvSpPr txBox="1"/>
          <p:nvPr/>
        </p:nvSpPr>
        <p:spPr>
          <a:xfrm>
            <a:off x="630300" y="959710"/>
            <a:ext cx="7883400" cy="45252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Webpack là một bundler tool như Parcel </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Webpack là một bundler tool rất nổi tiếng được sử dụng trong rất nhiều framework khác nhau như reactjs, angular, vuejs ….</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Webpack có thể biến đổi(ghép module, nén file,...) JS, CSS, image, …. và rất nhiều loại file khác nhau</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Webpack coi mọi thứ đều là module, không chỉ JS mà còn cả CSS, image, ….</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Webpack thích hợp sử dụng cho các dự án vừa và lớn </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Webpack được cài đặt như một module của Nodejs</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Điểm yếu của webpack là khó cấu hình, với người mới tiếp cận webpack sẽ thấy nó khá khó hiểu </a:t>
            </a:r>
            <a:endParaRPr sz="2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1dc37477a8_1_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13" name="Google Shape;113;g11dc37477a8_1_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114" name="Google Shape;114;g11dc37477a8_1_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15" name="Google Shape;115;g11dc37477a8_1_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 name="Google Shape;116;g11dc37477a8_1_9"/>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Cài đặt webpack</a:t>
            </a:r>
            <a:endParaRPr b="0" i="0" sz="1400" u="none" cap="none" strike="noStrike">
              <a:solidFill>
                <a:srgbClr val="000000"/>
              </a:solidFill>
              <a:latin typeface="Arial"/>
              <a:ea typeface="Arial"/>
              <a:cs typeface="Arial"/>
              <a:sym typeface="Arial"/>
            </a:endParaRPr>
          </a:p>
        </p:txBody>
      </p:sp>
      <p:sp>
        <p:nvSpPr>
          <p:cNvPr id="117" name="Google Shape;117;g11dc37477a8_1_9"/>
          <p:cNvSpPr txBox="1"/>
          <p:nvPr/>
        </p:nvSpPr>
        <p:spPr>
          <a:xfrm>
            <a:off x="630300" y="975760"/>
            <a:ext cx="7883400" cy="37866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Để cài đặt webpack cho dự án ta sử dụng lệnh </a:t>
            </a:r>
            <a:endParaRPr sz="24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b="1" lang="en-US" sz="2400">
                <a:solidFill>
                  <a:schemeClr val="dk1"/>
                </a:solidFill>
                <a:latin typeface="Calibri"/>
                <a:ea typeface="Calibri"/>
                <a:cs typeface="Calibri"/>
                <a:sym typeface="Calibri"/>
              </a:rPr>
              <a:t>npm install –save-dev webpack  </a:t>
            </a:r>
            <a:r>
              <a:rPr lang="en-US" sz="2400">
                <a:solidFill>
                  <a:schemeClr val="dk1"/>
                </a:solidFill>
                <a:latin typeface="Calibri"/>
                <a:ea typeface="Calibri"/>
                <a:cs typeface="Calibri"/>
                <a:sym typeface="Calibri"/>
              </a:rPr>
              <a:t>hoặc</a:t>
            </a:r>
            <a:r>
              <a:rPr b="1" lang="en-US" sz="2400">
                <a:solidFill>
                  <a:schemeClr val="dk1"/>
                </a:solidFill>
                <a:latin typeface="Calibri"/>
                <a:ea typeface="Calibri"/>
                <a:cs typeface="Calibri"/>
                <a:sym typeface="Calibri"/>
              </a:rPr>
              <a:t> npm install </a:t>
            </a:r>
            <a:r>
              <a:rPr b="1" lang="en-US" sz="2400">
                <a:solidFill>
                  <a:schemeClr val="dk1"/>
                </a:solidFill>
                <a:latin typeface="Calibri"/>
                <a:ea typeface="Calibri"/>
                <a:cs typeface="Calibri"/>
                <a:sym typeface="Calibri"/>
              </a:rPr>
              <a:t>-g webpack </a:t>
            </a:r>
            <a:r>
              <a:rPr lang="en-US" sz="2400">
                <a:solidFill>
                  <a:schemeClr val="dk1"/>
                </a:solidFill>
                <a:latin typeface="Calibri"/>
                <a:ea typeface="Calibri"/>
                <a:cs typeface="Calibri"/>
                <a:sym typeface="Calibri"/>
              </a:rPr>
              <a:t>nếu muốn sử dụng webpack ở bất kỳ vị trí nào</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Để có thể giao tiếp và chạy được webpack ta cần cài đặt một công cụ gọi là webpack-cli với dòng lệnh sau </a:t>
            </a:r>
            <a:r>
              <a:rPr b="1" lang="en-US" sz="2400">
                <a:solidFill>
                  <a:schemeClr val="dk1"/>
                </a:solidFill>
                <a:latin typeface="Calibri"/>
                <a:ea typeface="Calibri"/>
                <a:cs typeface="Calibri"/>
                <a:sym typeface="Calibri"/>
              </a:rPr>
              <a:t>npm install –save-dev webpack-cli</a:t>
            </a:r>
            <a:endParaRPr b="1"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Để tiến hành bundling files, sử dụng lệnh </a:t>
            </a:r>
            <a:r>
              <a:rPr b="1" lang="en-US" sz="2400">
                <a:solidFill>
                  <a:schemeClr val="dk1"/>
                </a:solidFill>
                <a:latin typeface="Calibri"/>
                <a:ea typeface="Calibri"/>
                <a:cs typeface="Calibri"/>
                <a:sym typeface="Calibri"/>
              </a:rPr>
              <a:t>webpack </a:t>
            </a:r>
            <a:r>
              <a:rPr lang="en-US" sz="2400">
                <a:solidFill>
                  <a:schemeClr val="dk1"/>
                </a:solidFill>
                <a:latin typeface="Calibri"/>
                <a:ea typeface="Calibri"/>
                <a:cs typeface="Calibri"/>
                <a:sym typeface="Calibri"/>
              </a:rPr>
              <a:t>hoặc</a:t>
            </a:r>
            <a:r>
              <a:rPr b="1" lang="en-US" sz="2400">
                <a:solidFill>
                  <a:schemeClr val="dk1"/>
                </a:solidFill>
                <a:latin typeface="Calibri"/>
                <a:ea typeface="Calibri"/>
                <a:cs typeface="Calibri"/>
                <a:sym typeface="Calibri"/>
              </a:rPr>
              <a:t> webpack –watch </a:t>
            </a:r>
            <a:r>
              <a:rPr lang="en-US" sz="2400">
                <a:solidFill>
                  <a:schemeClr val="dk1"/>
                </a:solidFill>
                <a:latin typeface="Calibri"/>
                <a:ea typeface="Calibri"/>
                <a:cs typeface="Calibri"/>
                <a:sym typeface="Calibri"/>
              </a:rPr>
              <a:t>để</a:t>
            </a:r>
            <a:r>
              <a:rPr b="1" lang="en-US" sz="24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tự động bundling khi file thay đổi</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Lưu ý rằng các file mặc định khi đóng gói xong sẽ có dạng JavaScript, kể cả SCSS hay CSS</a:t>
            </a:r>
            <a:endParaRPr sz="24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11dc37477a8_1_1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23" name="Google Shape;123;g11dc37477a8_1_18"/>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124" name="Google Shape;124;g11dc37477a8_1_1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25" name="Google Shape;125;g11dc37477a8_1_1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g11dc37477a8_1_18"/>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Các khái niệm cần nhớ</a:t>
            </a:r>
            <a:endParaRPr b="0" i="0" sz="1400" u="none" cap="none" strike="noStrike">
              <a:solidFill>
                <a:srgbClr val="000000"/>
              </a:solidFill>
              <a:latin typeface="Arial"/>
              <a:ea typeface="Arial"/>
              <a:cs typeface="Arial"/>
              <a:sym typeface="Arial"/>
            </a:endParaRPr>
          </a:p>
        </p:txBody>
      </p:sp>
      <p:sp>
        <p:nvSpPr>
          <p:cNvPr id="127" name="Google Shape;127;g11dc37477a8_1_18"/>
          <p:cNvSpPr txBox="1"/>
          <p:nvPr/>
        </p:nvSpPr>
        <p:spPr>
          <a:xfrm>
            <a:off x="676075" y="2263710"/>
            <a:ext cx="7883400" cy="19395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Entry</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Output</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Loaders</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Plugin</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Mode</a:t>
            </a:r>
            <a:endParaRPr sz="2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11dc37477a8_1_2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33" name="Google Shape;133;g11dc37477a8_1_2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134" name="Google Shape;134;g11dc37477a8_1_2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35" name="Google Shape;135;g11dc37477a8_1_2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g11dc37477a8_1_27"/>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Entry</a:t>
            </a:r>
            <a:endParaRPr b="0" i="0" sz="1400" u="none" cap="none" strike="noStrike">
              <a:solidFill>
                <a:srgbClr val="000000"/>
              </a:solidFill>
              <a:latin typeface="Arial"/>
              <a:ea typeface="Arial"/>
              <a:cs typeface="Arial"/>
              <a:sym typeface="Arial"/>
            </a:endParaRPr>
          </a:p>
        </p:txBody>
      </p:sp>
      <p:sp>
        <p:nvSpPr>
          <p:cNvPr id="137" name="Google Shape;137;g11dc37477a8_1_27"/>
          <p:cNvSpPr txBox="1"/>
          <p:nvPr/>
        </p:nvSpPr>
        <p:spPr>
          <a:xfrm>
            <a:off x="663000" y="1322285"/>
            <a:ext cx="7883400" cy="19395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Entry point chỉ ra module đầu vào bắt vào bắt đầu quá trình bundling </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Mặc định module đầu vào sẽ nằm ở vị trí ./src/index.js nhưng ta hoàn toàn có thể cấu hình entry point trong file webpack.config.js (file cấu hình chung cho webpack)</a:t>
            </a:r>
            <a:endParaRPr sz="2400">
              <a:solidFill>
                <a:schemeClr val="dk1"/>
              </a:solidFill>
              <a:latin typeface="Calibri"/>
              <a:ea typeface="Calibri"/>
              <a:cs typeface="Calibri"/>
              <a:sym typeface="Calibri"/>
            </a:endParaRPr>
          </a:p>
        </p:txBody>
      </p:sp>
      <p:sp>
        <p:nvSpPr>
          <p:cNvPr id="138" name="Google Shape;138;g11dc37477a8_1_27"/>
          <p:cNvSpPr txBox="1"/>
          <p:nvPr/>
        </p:nvSpPr>
        <p:spPr>
          <a:xfrm>
            <a:off x="876050" y="4157975"/>
            <a:ext cx="7328700" cy="923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rgbClr val="A5CEE1"/>
                </a:solidFill>
                <a:highlight>
                  <a:srgbClr val="2B3A42"/>
                </a:highlight>
                <a:latin typeface="Calibri"/>
                <a:ea typeface="Calibri"/>
                <a:cs typeface="Calibri"/>
                <a:sym typeface="Calibri"/>
              </a:rPr>
              <a:t>module</a:t>
            </a:r>
            <a:r>
              <a:rPr b="1" lang="en-US" sz="1600">
                <a:solidFill>
                  <a:srgbClr val="E1E6E9"/>
                </a:solidFill>
                <a:highlight>
                  <a:srgbClr val="2B3A42"/>
                </a:highlight>
                <a:latin typeface="Calibri"/>
                <a:ea typeface="Calibri"/>
                <a:cs typeface="Calibri"/>
                <a:sym typeface="Calibri"/>
              </a:rPr>
              <a:t>.</a:t>
            </a:r>
            <a:r>
              <a:rPr b="1" lang="en-US" sz="1600">
                <a:solidFill>
                  <a:srgbClr val="A5CEE1"/>
                </a:solidFill>
                <a:highlight>
                  <a:srgbClr val="2B3A42"/>
                </a:highlight>
                <a:latin typeface="Calibri"/>
                <a:ea typeface="Calibri"/>
                <a:cs typeface="Calibri"/>
                <a:sym typeface="Calibri"/>
              </a:rPr>
              <a:t>exports </a:t>
            </a:r>
            <a:r>
              <a:rPr b="1" lang="en-US" sz="1600">
                <a:solidFill>
                  <a:srgbClr val="A9BECC"/>
                </a:solidFill>
                <a:highlight>
                  <a:srgbClr val="2B3A42"/>
                </a:highlight>
                <a:latin typeface="Calibri"/>
                <a:ea typeface="Calibri"/>
                <a:cs typeface="Calibri"/>
                <a:sym typeface="Calibri"/>
              </a:rPr>
              <a:t>=</a:t>
            </a:r>
            <a:r>
              <a:rPr b="1" lang="en-US" sz="1600">
                <a:solidFill>
                  <a:srgbClr val="A5CEE1"/>
                </a:solidFill>
                <a:highlight>
                  <a:srgbClr val="2B3A42"/>
                </a:highlight>
                <a:latin typeface="Calibri"/>
                <a:ea typeface="Calibri"/>
                <a:cs typeface="Calibri"/>
                <a:sym typeface="Calibri"/>
              </a:rPr>
              <a:t> </a:t>
            </a:r>
            <a:r>
              <a:rPr b="1" lang="en-US" sz="1600">
                <a:solidFill>
                  <a:srgbClr val="E1E6E9"/>
                </a:solidFill>
                <a:highlight>
                  <a:srgbClr val="2B3A42"/>
                </a:highlight>
                <a:latin typeface="Calibri"/>
                <a:ea typeface="Calibri"/>
                <a:cs typeface="Calibri"/>
                <a:sym typeface="Calibri"/>
              </a:rPr>
              <a:t>{</a:t>
            </a:r>
            <a:endParaRPr b="1" sz="1600">
              <a:solidFill>
                <a:srgbClr val="A5CEE1"/>
              </a:solidFill>
              <a:highlight>
                <a:srgbClr val="2B3A42"/>
              </a:highlight>
              <a:latin typeface="Calibri"/>
              <a:ea typeface="Calibri"/>
              <a:cs typeface="Calibri"/>
              <a:sym typeface="Calibri"/>
            </a:endParaRPr>
          </a:p>
          <a:p>
            <a:pPr indent="0" lvl="0" marL="0" rtl="0" algn="l">
              <a:spcBef>
                <a:spcPts val="0"/>
              </a:spcBef>
              <a:spcAft>
                <a:spcPts val="0"/>
              </a:spcAft>
              <a:buNone/>
            </a:pPr>
            <a:r>
              <a:rPr b="1" lang="en-US" sz="1600">
                <a:solidFill>
                  <a:srgbClr val="A5CEE1"/>
                </a:solidFill>
                <a:highlight>
                  <a:srgbClr val="2B3A42"/>
                </a:highlight>
                <a:latin typeface="Calibri"/>
                <a:ea typeface="Calibri"/>
                <a:cs typeface="Calibri"/>
                <a:sym typeface="Calibri"/>
              </a:rPr>
              <a:t>   entry</a:t>
            </a:r>
            <a:r>
              <a:rPr b="1" lang="en-US" sz="1600">
                <a:solidFill>
                  <a:srgbClr val="A9BECC"/>
                </a:solidFill>
                <a:highlight>
                  <a:srgbClr val="2B3A42"/>
                </a:highlight>
                <a:latin typeface="Calibri"/>
                <a:ea typeface="Calibri"/>
                <a:cs typeface="Calibri"/>
                <a:sym typeface="Calibri"/>
              </a:rPr>
              <a:t>:</a:t>
            </a:r>
            <a:r>
              <a:rPr b="1" lang="en-US" sz="1600">
                <a:solidFill>
                  <a:srgbClr val="A5CEE1"/>
                </a:solidFill>
                <a:highlight>
                  <a:srgbClr val="2B3A42"/>
                </a:highlight>
                <a:latin typeface="Calibri"/>
                <a:ea typeface="Calibri"/>
                <a:cs typeface="Calibri"/>
                <a:sym typeface="Calibri"/>
              </a:rPr>
              <a:t> </a:t>
            </a:r>
            <a:r>
              <a:rPr b="1" lang="en-US" sz="1600">
                <a:solidFill>
                  <a:srgbClr val="4AB576"/>
                </a:solidFill>
                <a:highlight>
                  <a:srgbClr val="2B3A42"/>
                </a:highlight>
                <a:latin typeface="Calibri"/>
                <a:ea typeface="Calibri"/>
                <a:cs typeface="Calibri"/>
                <a:sym typeface="Calibri"/>
              </a:rPr>
              <a:t>'./path/to/my/entry/file.js'</a:t>
            </a:r>
            <a:r>
              <a:rPr b="1" lang="en-US" sz="1600">
                <a:solidFill>
                  <a:srgbClr val="E1E6E9"/>
                </a:solidFill>
                <a:highlight>
                  <a:srgbClr val="2B3A42"/>
                </a:highlight>
                <a:latin typeface="Calibri"/>
                <a:ea typeface="Calibri"/>
                <a:cs typeface="Calibri"/>
                <a:sym typeface="Calibri"/>
              </a:rPr>
              <a:t>,</a:t>
            </a:r>
            <a:endParaRPr b="1" sz="1600">
              <a:solidFill>
                <a:srgbClr val="A5CEE1"/>
              </a:solidFill>
              <a:highlight>
                <a:srgbClr val="2B3A42"/>
              </a:highlight>
              <a:latin typeface="Calibri"/>
              <a:ea typeface="Calibri"/>
              <a:cs typeface="Calibri"/>
              <a:sym typeface="Calibri"/>
            </a:endParaRPr>
          </a:p>
          <a:p>
            <a:pPr indent="0" lvl="0" marL="0" rtl="0" algn="l">
              <a:spcBef>
                <a:spcPts val="0"/>
              </a:spcBef>
              <a:spcAft>
                <a:spcPts val="0"/>
              </a:spcAft>
              <a:buNone/>
            </a:pPr>
            <a:r>
              <a:rPr b="1" lang="en-US" sz="1600">
                <a:solidFill>
                  <a:srgbClr val="E1E6E9"/>
                </a:solidFill>
                <a:highlight>
                  <a:srgbClr val="2B3A42"/>
                </a:highlight>
                <a:latin typeface="Calibri"/>
                <a:ea typeface="Calibri"/>
                <a:cs typeface="Calibri"/>
                <a:sym typeface="Calibri"/>
              </a:rPr>
              <a:t>};</a:t>
            </a:r>
            <a:endParaRPr b="1" sz="1600">
              <a:solidFill>
                <a:srgbClr val="E1E6E9"/>
              </a:solidFill>
              <a:highlight>
                <a:srgbClr val="2B3A42"/>
              </a:highlight>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11dc37477a8_1_3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44" name="Google Shape;144;g11dc37477a8_1_3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145" name="Google Shape;145;g11dc37477a8_1_3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46" name="Google Shape;146;g11dc37477a8_1_3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 name="Google Shape;147;g11dc37477a8_1_39"/>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Output</a:t>
            </a:r>
            <a:endParaRPr b="0" i="0" sz="1400" u="none" cap="none" strike="noStrike">
              <a:solidFill>
                <a:srgbClr val="000000"/>
              </a:solidFill>
              <a:latin typeface="Arial"/>
              <a:ea typeface="Arial"/>
              <a:cs typeface="Arial"/>
              <a:sym typeface="Arial"/>
            </a:endParaRPr>
          </a:p>
        </p:txBody>
      </p:sp>
      <p:sp>
        <p:nvSpPr>
          <p:cNvPr id="148" name="Google Shape;148;g11dc37477a8_1_39"/>
          <p:cNvSpPr txBox="1"/>
          <p:nvPr/>
        </p:nvSpPr>
        <p:spPr>
          <a:xfrm>
            <a:off x="663000" y="1081560"/>
            <a:ext cx="7883400" cy="15699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Output chỉ ra vị trí đặt các file sau khi đã được bundling và tên các file đó. Mặc định output trỏ đến file ./dist/main.js và thư mục ./dist. Ta cũng có thể cấu hình vị trí output trong file webpack.config.js</a:t>
            </a:r>
            <a:endParaRPr sz="2400">
              <a:solidFill>
                <a:schemeClr val="dk1"/>
              </a:solidFill>
              <a:latin typeface="Calibri"/>
              <a:ea typeface="Calibri"/>
              <a:cs typeface="Calibri"/>
              <a:sym typeface="Calibri"/>
            </a:endParaRPr>
          </a:p>
        </p:txBody>
      </p:sp>
      <p:sp>
        <p:nvSpPr>
          <p:cNvPr id="149" name="Google Shape;149;g11dc37477a8_1_39"/>
          <p:cNvSpPr txBox="1"/>
          <p:nvPr/>
        </p:nvSpPr>
        <p:spPr>
          <a:xfrm>
            <a:off x="907650" y="3429000"/>
            <a:ext cx="7328700" cy="2154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rgbClr val="62B1D8"/>
                </a:solidFill>
                <a:highlight>
                  <a:srgbClr val="2B3A42"/>
                </a:highlight>
                <a:latin typeface="Courier New"/>
                <a:ea typeface="Courier New"/>
                <a:cs typeface="Courier New"/>
                <a:sym typeface="Courier New"/>
              </a:rPr>
              <a:t>const</a:t>
            </a:r>
            <a:r>
              <a:rPr b="1" lang="en-US" sz="1600">
                <a:solidFill>
                  <a:srgbClr val="A5CEE1"/>
                </a:solidFill>
                <a:highlight>
                  <a:srgbClr val="2B3A42"/>
                </a:highlight>
                <a:latin typeface="Courier New"/>
                <a:ea typeface="Courier New"/>
                <a:cs typeface="Courier New"/>
                <a:sym typeface="Courier New"/>
              </a:rPr>
              <a:t> path </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62B1D8"/>
                </a:solidFill>
                <a:highlight>
                  <a:srgbClr val="2B3A42"/>
                </a:highlight>
                <a:latin typeface="Courier New"/>
                <a:ea typeface="Courier New"/>
                <a:cs typeface="Courier New"/>
                <a:sym typeface="Courier New"/>
              </a:rPr>
              <a:t>require</a:t>
            </a:r>
            <a:r>
              <a:rPr b="1" lang="en-US" sz="1600">
                <a:solidFill>
                  <a:srgbClr val="E1E6E9"/>
                </a:solidFill>
                <a:highlight>
                  <a:srgbClr val="2B3A42"/>
                </a:highlight>
                <a:latin typeface="Courier New"/>
                <a:ea typeface="Courier New"/>
                <a:cs typeface="Courier New"/>
                <a:sym typeface="Courier New"/>
              </a:rPr>
              <a:t>(</a:t>
            </a:r>
            <a:r>
              <a:rPr b="1" lang="en-US" sz="1600">
                <a:solidFill>
                  <a:srgbClr val="4AB576"/>
                </a:solidFill>
                <a:highlight>
                  <a:srgbClr val="2B3A42"/>
                </a:highlight>
                <a:latin typeface="Courier New"/>
                <a:ea typeface="Courier New"/>
                <a:cs typeface="Courier New"/>
                <a:sym typeface="Courier New"/>
              </a:rPr>
              <a:t>'path'</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module</a:t>
            </a:r>
            <a:r>
              <a:rPr b="1" lang="en-US" sz="1600">
                <a:solidFill>
                  <a:srgbClr val="E1E6E9"/>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exports </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entry</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4AB576"/>
                </a:solidFill>
                <a:highlight>
                  <a:srgbClr val="2B3A42"/>
                </a:highlight>
                <a:latin typeface="Courier New"/>
                <a:ea typeface="Courier New"/>
                <a:cs typeface="Courier New"/>
                <a:sym typeface="Courier New"/>
              </a:rPr>
              <a:t>'./path/to/my/entry/file.js'</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output</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path</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path</a:t>
            </a:r>
            <a:r>
              <a:rPr b="1" lang="en-US" sz="1600">
                <a:solidFill>
                  <a:srgbClr val="E1E6E9"/>
                </a:solidFill>
                <a:highlight>
                  <a:srgbClr val="2B3A42"/>
                </a:highlight>
                <a:latin typeface="Courier New"/>
                <a:ea typeface="Courier New"/>
                <a:cs typeface="Courier New"/>
                <a:sym typeface="Courier New"/>
              </a:rPr>
              <a:t>.</a:t>
            </a:r>
            <a:r>
              <a:rPr b="1" lang="en-US" sz="1600">
                <a:solidFill>
                  <a:srgbClr val="62B1D8"/>
                </a:solidFill>
                <a:highlight>
                  <a:srgbClr val="2B3A42"/>
                </a:highlight>
                <a:latin typeface="Courier New"/>
                <a:ea typeface="Courier New"/>
                <a:cs typeface="Courier New"/>
                <a:sym typeface="Courier New"/>
              </a:rPr>
              <a:t>resolve</a:t>
            </a:r>
            <a:r>
              <a:rPr b="1" lang="en-US" sz="1600">
                <a:solidFill>
                  <a:srgbClr val="E1E6E9"/>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__dirname</a:t>
            </a:r>
            <a:r>
              <a:rPr b="1" lang="en-US" sz="1600">
                <a:solidFill>
                  <a:srgbClr val="E1E6E9"/>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4AB576"/>
                </a:solidFill>
                <a:highlight>
                  <a:srgbClr val="2B3A42"/>
                </a:highlight>
                <a:latin typeface="Courier New"/>
                <a:ea typeface="Courier New"/>
                <a:cs typeface="Courier New"/>
                <a:sym typeface="Courier New"/>
              </a:rPr>
              <a:t>'dist'</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filename</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4AB576"/>
                </a:solidFill>
                <a:highlight>
                  <a:srgbClr val="2B3A42"/>
                </a:highlight>
                <a:latin typeface="Courier New"/>
                <a:ea typeface="Courier New"/>
                <a:cs typeface="Courier New"/>
                <a:sym typeface="Courier New"/>
              </a:rPr>
              <a:t>'my-first-webpack.bundle.js'</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11dc37477a8_1_5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55" name="Google Shape;155;g11dc37477a8_1_5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156" name="Google Shape;156;g11dc37477a8_1_5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57" name="Google Shape;157;g11dc37477a8_1_5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8" name="Google Shape;158;g11dc37477a8_1_50"/>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Output</a:t>
            </a:r>
            <a:endParaRPr b="0" i="0" sz="1400" u="none" cap="none" strike="noStrike">
              <a:solidFill>
                <a:srgbClr val="000000"/>
              </a:solidFill>
              <a:latin typeface="Arial"/>
              <a:ea typeface="Arial"/>
              <a:cs typeface="Arial"/>
              <a:sym typeface="Arial"/>
            </a:endParaRPr>
          </a:p>
        </p:txBody>
      </p:sp>
      <p:sp>
        <p:nvSpPr>
          <p:cNvPr id="159" name="Google Shape;159;g11dc37477a8_1_50"/>
          <p:cNvSpPr txBox="1"/>
          <p:nvPr/>
        </p:nvSpPr>
        <p:spPr>
          <a:xfrm>
            <a:off x="663000" y="1081560"/>
            <a:ext cx="7883400" cy="15699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Output chỉ ra vị trí đặt các file sau khi đã được bundling và tên các file đó. Mặc định output trỏ đến file ./dist/main.js và thư mục ./dist. Ta cũng có thể cấu hình vị trí output trong file webpack.config.js</a:t>
            </a:r>
            <a:endParaRPr sz="2400">
              <a:solidFill>
                <a:schemeClr val="dk1"/>
              </a:solidFill>
              <a:latin typeface="Calibri"/>
              <a:ea typeface="Calibri"/>
              <a:cs typeface="Calibri"/>
              <a:sym typeface="Calibri"/>
            </a:endParaRPr>
          </a:p>
        </p:txBody>
      </p:sp>
      <p:sp>
        <p:nvSpPr>
          <p:cNvPr id="160" name="Google Shape;160;g11dc37477a8_1_50"/>
          <p:cNvSpPr txBox="1"/>
          <p:nvPr/>
        </p:nvSpPr>
        <p:spPr>
          <a:xfrm>
            <a:off x="907650" y="3429000"/>
            <a:ext cx="7328700" cy="2154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rgbClr val="62B1D8"/>
                </a:solidFill>
                <a:highlight>
                  <a:srgbClr val="2B3A42"/>
                </a:highlight>
                <a:latin typeface="Courier New"/>
                <a:ea typeface="Courier New"/>
                <a:cs typeface="Courier New"/>
                <a:sym typeface="Courier New"/>
              </a:rPr>
              <a:t>const</a:t>
            </a:r>
            <a:r>
              <a:rPr b="1" lang="en-US" sz="1600">
                <a:solidFill>
                  <a:srgbClr val="A5CEE1"/>
                </a:solidFill>
                <a:highlight>
                  <a:srgbClr val="2B3A42"/>
                </a:highlight>
                <a:latin typeface="Courier New"/>
                <a:ea typeface="Courier New"/>
                <a:cs typeface="Courier New"/>
                <a:sym typeface="Courier New"/>
              </a:rPr>
              <a:t> path </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62B1D8"/>
                </a:solidFill>
                <a:highlight>
                  <a:srgbClr val="2B3A42"/>
                </a:highlight>
                <a:latin typeface="Courier New"/>
                <a:ea typeface="Courier New"/>
                <a:cs typeface="Courier New"/>
                <a:sym typeface="Courier New"/>
              </a:rPr>
              <a:t>require</a:t>
            </a:r>
            <a:r>
              <a:rPr b="1" lang="en-US" sz="1600">
                <a:solidFill>
                  <a:srgbClr val="E1E6E9"/>
                </a:solidFill>
                <a:highlight>
                  <a:srgbClr val="2B3A42"/>
                </a:highlight>
                <a:latin typeface="Courier New"/>
                <a:ea typeface="Courier New"/>
                <a:cs typeface="Courier New"/>
                <a:sym typeface="Courier New"/>
              </a:rPr>
              <a:t>(</a:t>
            </a:r>
            <a:r>
              <a:rPr b="1" lang="en-US" sz="1600">
                <a:solidFill>
                  <a:srgbClr val="4AB576"/>
                </a:solidFill>
                <a:highlight>
                  <a:srgbClr val="2B3A42"/>
                </a:highlight>
                <a:latin typeface="Courier New"/>
                <a:ea typeface="Courier New"/>
                <a:cs typeface="Courier New"/>
                <a:sym typeface="Courier New"/>
              </a:rPr>
              <a:t>'path'</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module</a:t>
            </a:r>
            <a:r>
              <a:rPr b="1" lang="en-US" sz="1600">
                <a:solidFill>
                  <a:srgbClr val="E1E6E9"/>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exports </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entry</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4AB576"/>
                </a:solidFill>
                <a:highlight>
                  <a:srgbClr val="2B3A42"/>
                </a:highlight>
                <a:latin typeface="Courier New"/>
                <a:ea typeface="Courier New"/>
                <a:cs typeface="Courier New"/>
                <a:sym typeface="Courier New"/>
              </a:rPr>
              <a:t>'./path/to/my/entry/file.js'</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output</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path</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path</a:t>
            </a:r>
            <a:r>
              <a:rPr b="1" lang="en-US" sz="1600">
                <a:solidFill>
                  <a:srgbClr val="E1E6E9"/>
                </a:solidFill>
                <a:highlight>
                  <a:srgbClr val="2B3A42"/>
                </a:highlight>
                <a:latin typeface="Courier New"/>
                <a:ea typeface="Courier New"/>
                <a:cs typeface="Courier New"/>
                <a:sym typeface="Courier New"/>
              </a:rPr>
              <a:t>.</a:t>
            </a:r>
            <a:r>
              <a:rPr b="1" lang="en-US" sz="1600">
                <a:solidFill>
                  <a:srgbClr val="62B1D8"/>
                </a:solidFill>
                <a:highlight>
                  <a:srgbClr val="2B3A42"/>
                </a:highlight>
                <a:latin typeface="Courier New"/>
                <a:ea typeface="Courier New"/>
                <a:cs typeface="Courier New"/>
                <a:sym typeface="Courier New"/>
              </a:rPr>
              <a:t>resolve</a:t>
            </a:r>
            <a:r>
              <a:rPr b="1" lang="en-US" sz="1600">
                <a:solidFill>
                  <a:srgbClr val="E1E6E9"/>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__dirname</a:t>
            </a:r>
            <a:r>
              <a:rPr b="1" lang="en-US" sz="1600">
                <a:solidFill>
                  <a:srgbClr val="E1E6E9"/>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4AB576"/>
                </a:solidFill>
                <a:highlight>
                  <a:srgbClr val="2B3A42"/>
                </a:highlight>
                <a:latin typeface="Courier New"/>
                <a:ea typeface="Courier New"/>
                <a:cs typeface="Courier New"/>
                <a:sym typeface="Courier New"/>
              </a:rPr>
              <a:t>'dist'</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filename</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4AB576"/>
                </a:solidFill>
                <a:highlight>
                  <a:srgbClr val="2B3A42"/>
                </a:highlight>
                <a:latin typeface="Courier New"/>
                <a:ea typeface="Courier New"/>
                <a:cs typeface="Courier New"/>
                <a:sym typeface="Courier New"/>
              </a:rPr>
              <a:t>'my-first-webpack.bundle.js'</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11dc37477a8_1_6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66" name="Google Shape;166;g11dc37477a8_1_6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167" name="Google Shape;167;g11dc37477a8_1_6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68" name="Google Shape;168;g11dc37477a8_1_6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g11dc37477a8_1_60"/>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Loaders</a:t>
            </a:r>
            <a:endParaRPr b="0" i="0" sz="1400" u="none" cap="none" strike="noStrike">
              <a:solidFill>
                <a:srgbClr val="000000"/>
              </a:solidFill>
              <a:latin typeface="Arial"/>
              <a:ea typeface="Arial"/>
              <a:cs typeface="Arial"/>
              <a:sym typeface="Arial"/>
            </a:endParaRPr>
          </a:p>
        </p:txBody>
      </p:sp>
      <p:sp>
        <p:nvSpPr>
          <p:cNvPr id="170" name="Google Shape;170;g11dc37477a8_1_60"/>
          <p:cNvSpPr txBox="1"/>
          <p:nvPr/>
        </p:nvSpPr>
        <p:spPr>
          <a:xfrm>
            <a:off x="669550" y="610335"/>
            <a:ext cx="7883400" cy="52641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Mặc định webpack chỉ hiểu và biến đổi được Javascript và JSON files. Nếu muốn webpack có thể biến đổi các loại file khác ta cần sử dụng loaders</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Loaders sinh ra với mục đích tải các loại file khác đưa vào quá trình bundling của webpack</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Loaders được cài đặt trong thuộc tính module.rules trong file </a:t>
            </a:r>
            <a:r>
              <a:rPr b="1" lang="en-US" sz="2400">
                <a:solidFill>
                  <a:schemeClr val="dk1"/>
                </a:solidFill>
                <a:latin typeface="Calibri"/>
                <a:ea typeface="Calibri"/>
                <a:cs typeface="Calibri"/>
                <a:sym typeface="Calibri"/>
              </a:rPr>
              <a:t>webpack.config.js</a:t>
            </a:r>
            <a:r>
              <a:rPr lang="en-US" sz="2400">
                <a:solidFill>
                  <a:schemeClr val="dk1"/>
                </a:solidFill>
                <a:latin typeface="Calibri"/>
                <a:ea typeface="Calibri"/>
                <a:cs typeface="Calibri"/>
                <a:sym typeface="Calibri"/>
              </a:rPr>
              <a:t> và mỗi cấu hình loaders sẽ có hai thuộc tính là </a:t>
            </a:r>
            <a:r>
              <a:rPr b="1" lang="en-US" sz="2400">
                <a:solidFill>
                  <a:schemeClr val="dk1"/>
                </a:solidFill>
                <a:latin typeface="Calibri"/>
                <a:ea typeface="Calibri"/>
                <a:cs typeface="Calibri"/>
                <a:sym typeface="Calibri"/>
              </a:rPr>
              <a:t>test</a:t>
            </a:r>
            <a:r>
              <a:rPr lang="en-US" sz="2400">
                <a:solidFill>
                  <a:schemeClr val="dk1"/>
                </a:solidFill>
                <a:latin typeface="Calibri"/>
                <a:ea typeface="Calibri"/>
                <a:cs typeface="Calibri"/>
                <a:sym typeface="Calibri"/>
              </a:rPr>
              <a:t> và </a:t>
            </a:r>
            <a:r>
              <a:rPr b="1" lang="en-US" sz="2400">
                <a:solidFill>
                  <a:schemeClr val="dk1"/>
                </a:solidFill>
                <a:latin typeface="Calibri"/>
                <a:ea typeface="Calibri"/>
                <a:cs typeface="Calibri"/>
                <a:sym typeface="Calibri"/>
              </a:rPr>
              <a:t>use</a:t>
            </a:r>
            <a:endParaRPr b="1"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Thuộc tính </a:t>
            </a:r>
            <a:r>
              <a:rPr b="1" lang="en-US" sz="2400">
                <a:solidFill>
                  <a:schemeClr val="dk1"/>
                </a:solidFill>
                <a:latin typeface="Calibri"/>
                <a:ea typeface="Calibri"/>
                <a:cs typeface="Calibri"/>
                <a:sym typeface="Calibri"/>
              </a:rPr>
              <a:t>test</a:t>
            </a:r>
            <a:r>
              <a:rPr lang="en-US" sz="2400">
                <a:solidFill>
                  <a:schemeClr val="dk1"/>
                </a:solidFill>
                <a:latin typeface="Calibri"/>
                <a:ea typeface="Calibri"/>
                <a:cs typeface="Calibri"/>
                <a:sym typeface="Calibri"/>
              </a:rPr>
              <a:t> chỉ ra các file nào sẽ được biến đổi, có thể sử dụng chuỗi regex</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Thuộc tính </a:t>
            </a:r>
            <a:r>
              <a:rPr b="1" lang="en-US" sz="2400">
                <a:solidFill>
                  <a:schemeClr val="dk1"/>
                </a:solidFill>
                <a:latin typeface="Calibri"/>
                <a:ea typeface="Calibri"/>
                <a:cs typeface="Calibri"/>
                <a:sym typeface="Calibri"/>
              </a:rPr>
              <a:t>use</a:t>
            </a:r>
            <a:r>
              <a:rPr lang="en-US" sz="2400">
                <a:solidFill>
                  <a:schemeClr val="dk1"/>
                </a:solidFill>
                <a:latin typeface="Calibri"/>
                <a:ea typeface="Calibri"/>
                <a:cs typeface="Calibri"/>
                <a:sym typeface="Calibri"/>
              </a:rPr>
              <a:t> được sử dụng để chỉ ra thư viện loader nào sẽ được sử dụng</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Loaders trong webpack được phân thành 3 loại: </a:t>
            </a:r>
            <a:r>
              <a:rPr b="1" lang="en-US" sz="2400">
                <a:solidFill>
                  <a:schemeClr val="dk1"/>
                </a:solidFill>
                <a:latin typeface="Calibri"/>
                <a:ea typeface="Calibri"/>
                <a:cs typeface="Calibri"/>
                <a:sym typeface="Calibri"/>
              </a:rPr>
              <a:t>preLoaders</a:t>
            </a:r>
            <a:r>
              <a:rPr lang="en-US" sz="2400">
                <a:solidFill>
                  <a:schemeClr val="dk1"/>
                </a:solidFill>
                <a:latin typeface="Calibri"/>
                <a:ea typeface="Calibri"/>
                <a:cs typeface="Calibri"/>
                <a:sym typeface="Calibri"/>
              </a:rPr>
              <a:t>, </a:t>
            </a:r>
            <a:r>
              <a:rPr b="1" lang="en-US" sz="2400">
                <a:solidFill>
                  <a:schemeClr val="dk1"/>
                </a:solidFill>
                <a:latin typeface="Calibri"/>
                <a:ea typeface="Calibri"/>
                <a:cs typeface="Calibri"/>
                <a:sym typeface="Calibri"/>
              </a:rPr>
              <a:t>loaders</a:t>
            </a:r>
            <a:r>
              <a:rPr lang="en-US" sz="2400">
                <a:solidFill>
                  <a:schemeClr val="dk1"/>
                </a:solidFill>
                <a:latin typeface="Calibri"/>
                <a:ea typeface="Calibri"/>
                <a:cs typeface="Calibri"/>
                <a:sym typeface="Calibri"/>
              </a:rPr>
              <a:t> và </a:t>
            </a:r>
            <a:r>
              <a:rPr b="1" lang="en-US" sz="2400">
                <a:solidFill>
                  <a:schemeClr val="dk1"/>
                </a:solidFill>
                <a:latin typeface="Calibri"/>
                <a:ea typeface="Calibri"/>
                <a:cs typeface="Calibri"/>
                <a:sym typeface="Calibri"/>
              </a:rPr>
              <a:t>postLoaders</a:t>
            </a:r>
            <a:endParaRPr b="1" sz="2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11dc37477a8_1_99"/>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76" name="Google Shape;176;g11dc37477a8_1_99"/>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177" name="Google Shape;177;g11dc37477a8_1_99"/>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78" name="Google Shape;178;g11dc37477a8_1_99"/>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9" name="Google Shape;179;g11dc37477a8_1_99"/>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Loaders</a:t>
            </a:r>
            <a:endParaRPr b="0" i="0" sz="1400" u="none" cap="none" strike="noStrike">
              <a:solidFill>
                <a:srgbClr val="000000"/>
              </a:solidFill>
              <a:latin typeface="Arial"/>
              <a:ea typeface="Arial"/>
              <a:cs typeface="Arial"/>
              <a:sym typeface="Arial"/>
            </a:endParaRPr>
          </a:p>
        </p:txBody>
      </p:sp>
      <p:sp>
        <p:nvSpPr>
          <p:cNvPr id="180" name="Google Shape;180;g11dc37477a8_1_99"/>
          <p:cNvSpPr txBox="1"/>
          <p:nvPr/>
        </p:nvSpPr>
        <p:spPr>
          <a:xfrm>
            <a:off x="630300" y="1401410"/>
            <a:ext cx="7883400" cy="37866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preLoaders: Đây là các loaders được trước khi các modules khác được nạp và thực hiện việc tiền xử lý</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loaders: thường là các compiler các ngôn ngữ khác nhau như SCSS, LESS, JSX … quá trình này giúp chuyển đổi một file từ nhiều ngôn ngữ thành JS thuần </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postLoaders: Là các loaders sau cùng thực hiện hậu xử lý</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Để cấu h</a:t>
            </a:r>
            <a:r>
              <a:rPr lang="en-US" sz="2400">
                <a:solidFill>
                  <a:schemeClr val="dk1"/>
                </a:solidFill>
                <a:latin typeface="Calibri"/>
                <a:ea typeface="Calibri"/>
                <a:cs typeface="Calibri"/>
                <a:sym typeface="Calibri"/>
              </a:rPr>
              <a:t>ình một </a:t>
            </a:r>
            <a:r>
              <a:rPr lang="en-US" sz="2400">
                <a:solidFill>
                  <a:schemeClr val="dk1"/>
                </a:solidFill>
                <a:latin typeface="Calibri"/>
                <a:ea typeface="Calibri"/>
                <a:cs typeface="Calibri"/>
                <a:sym typeface="Calibri"/>
              </a:rPr>
              <a:t>preLoaders ta sử dụng thuộc tính enforce:”pre” trong đoạn cấu hình loader đó</a:t>
            </a:r>
            <a:endParaRPr sz="2400">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Để cấu hình một postLoaders ta sử dụng thuộc tính enforce:”post” trong đoạn cấu hình loader đó</a:t>
            </a:r>
            <a:endParaRPr sz="2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11dc37477a8_1_7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86" name="Google Shape;186;g11dc37477a8_1_70"/>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187" name="Google Shape;187;g11dc37477a8_1_7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88" name="Google Shape;188;g11dc37477a8_1_7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9" name="Google Shape;189;g11dc37477a8_1_70"/>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Loaders</a:t>
            </a:r>
            <a:endParaRPr b="0" i="0" sz="1400" u="none" cap="none" strike="noStrike">
              <a:solidFill>
                <a:srgbClr val="000000"/>
              </a:solidFill>
              <a:latin typeface="Arial"/>
              <a:ea typeface="Arial"/>
              <a:cs typeface="Arial"/>
              <a:sym typeface="Arial"/>
            </a:endParaRPr>
          </a:p>
        </p:txBody>
      </p:sp>
      <p:sp>
        <p:nvSpPr>
          <p:cNvPr id="190" name="Google Shape;190;g11dc37477a8_1_70"/>
          <p:cNvSpPr txBox="1"/>
          <p:nvPr/>
        </p:nvSpPr>
        <p:spPr>
          <a:xfrm>
            <a:off x="1013325" y="1915525"/>
            <a:ext cx="7028100" cy="2775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rgbClr val="62B1D8"/>
                </a:solidFill>
                <a:highlight>
                  <a:srgbClr val="2B3A42"/>
                </a:highlight>
                <a:latin typeface="Courier New"/>
                <a:ea typeface="Courier New"/>
                <a:cs typeface="Courier New"/>
                <a:sym typeface="Courier New"/>
              </a:rPr>
              <a:t>const</a:t>
            </a:r>
            <a:r>
              <a:rPr b="1" lang="en-US" sz="1600">
                <a:solidFill>
                  <a:srgbClr val="A5CEE1"/>
                </a:solidFill>
                <a:highlight>
                  <a:srgbClr val="2B3A42"/>
                </a:highlight>
                <a:latin typeface="Courier New"/>
                <a:ea typeface="Courier New"/>
                <a:cs typeface="Courier New"/>
                <a:sym typeface="Courier New"/>
              </a:rPr>
              <a:t> path </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62B1D8"/>
                </a:solidFill>
                <a:highlight>
                  <a:srgbClr val="2B3A42"/>
                </a:highlight>
                <a:latin typeface="Courier New"/>
                <a:ea typeface="Courier New"/>
                <a:cs typeface="Courier New"/>
                <a:sym typeface="Courier New"/>
              </a:rPr>
              <a:t>require</a:t>
            </a:r>
            <a:r>
              <a:rPr b="1" lang="en-US" sz="1600">
                <a:solidFill>
                  <a:srgbClr val="E1E6E9"/>
                </a:solidFill>
                <a:highlight>
                  <a:srgbClr val="2B3A42"/>
                </a:highlight>
                <a:latin typeface="Courier New"/>
                <a:ea typeface="Courier New"/>
                <a:cs typeface="Courier New"/>
                <a:sym typeface="Courier New"/>
              </a:rPr>
              <a:t>(</a:t>
            </a:r>
            <a:r>
              <a:rPr b="1" lang="en-US" sz="1600">
                <a:solidFill>
                  <a:srgbClr val="4AB576"/>
                </a:solidFill>
                <a:highlight>
                  <a:srgbClr val="2B3A42"/>
                </a:highlight>
                <a:latin typeface="Courier New"/>
                <a:ea typeface="Courier New"/>
                <a:cs typeface="Courier New"/>
                <a:sym typeface="Courier New"/>
              </a:rPr>
              <a:t>'path'</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module</a:t>
            </a:r>
            <a:r>
              <a:rPr b="1" lang="en-US" sz="1600">
                <a:solidFill>
                  <a:srgbClr val="E1E6E9"/>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exports </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output</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filename</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4AB576"/>
                </a:solidFill>
                <a:highlight>
                  <a:srgbClr val="2B3A42"/>
                </a:highlight>
                <a:latin typeface="Courier New"/>
                <a:ea typeface="Courier New"/>
                <a:cs typeface="Courier New"/>
                <a:sym typeface="Courier New"/>
              </a:rPr>
              <a:t>'my-first-webpack.bundle.js'</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module</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rules</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test</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4AB576"/>
                </a:solidFill>
                <a:highlight>
                  <a:srgbClr val="2B3A42"/>
                </a:highlight>
                <a:latin typeface="Courier New"/>
                <a:ea typeface="Courier New"/>
                <a:cs typeface="Courier New"/>
                <a:sym typeface="Courier New"/>
              </a:rPr>
              <a:t>/\.txt$/</a:t>
            </a:r>
            <a:r>
              <a:rPr b="1" lang="en-US" sz="1600">
                <a:solidFill>
                  <a:srgbClr val="E1E6E9"/>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use</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4AB576"/>
                </a:solidFill>
                <a:highlight>
                  <a:srgbClr val="2B3A42"/>
                </a:highlight>
                <a:latin typeface="Courier New"/>
                <a:ea typeface="Courier New"/>
                <a:cs typeface="Courier New"/>
                <a:sym typeface="Courier New"/>
              </a:rPr>
              <a:t>'raw-loader'</a:t>
            </a: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152400" marR="152400" rtl="0" algn="l">
              <a:lnSpc>
                <a:spcPct val="142500"/>
              </a:lnSpc>
              <a:spcBef>
                <a:spcPts val="1000"/>
              </a:spcBef>
              <a:spcAft>
                <a:spcPts val="1000"/>
              </a:spcAft>
              <a:buNone/>
            </a:pPr>
            <a:r>
              <a:rPr b="1" lang="en-US" sz="1600">
                <a:solidFill>
                  <a:srgbClr val="E1E6E9"/>
                </a:solidFill>
                <a:highlight>
                  <a:srgbClr val="2B3A42"/>
                </a:highlight>
                <a:latin typeface="Courier New"/>
                <a:ea typeface="Courier New"/>
                <a:cs typeface="Courier New"/>
                <a:sym typeface="Courier New"/>
              </a:rPr>
              <a:t>};</a:t>
            </a:r>
            <a:endParaRPr b="1" sz="1600">
              <a:solidFill>
                <a:srgbClr val="E1E6E9"/>
              </a:solidFill>
              <a:highlight>
                <a:srgbClr val="2B3A42"/>
              </a:highlight>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11dc37477a8_1_8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196" name="Google Shape;196;g11dc37477a8_1_8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197" name="Google Shape;197;g11dc37477a8_1_8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198" name="Google Shape;198;g11dc37477a8_1_8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9" name="Google Shape;199;g11dc37477a8_1_83"/>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Plugin</a:t>
            </a:r>
            <a:endParaRPr b="0" i="0" sz="1400" u="none" cap="none" strike="noStrike">
              <a:solidFill>
                <a:srgbClr val="000000"/>
              </a:solidFill>
              <a:latin typeface="Arial"/>
              <a:ea typeface="Arial"/>
              <a:cs typeface="Arial"/>
              <a:sym typeface="Arial"/>
            </a:endParaRPr>
          </a:p>
        </p:txBody>
      </p:sp>
      <p:sp>
        <p:nvSpPr>
          <p:cNvPr id="200" name="Google Shape;200;g11dc37477a8_1_83"/>
          <p:cNvSpPr txBox="1"/>
          <p:nvPr/>
        </p:nvSpPr>
        <p:spPr>
          <a:xfrm>
            <a:off x="332325" y="739225"/>
            <a:ext cx="85317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Plugin được sử dụng để thực thi nhiều loại tác vụ khác nhau như tối ưu dòng lệnh, quản lý tài nguyên …v.v</a:t>
            </a:r>
            <a:endParaRPr sz="24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Để sử dụng plugin cần require nó vào trong file </a:t>
            </a:r>
            <a:r>
              <a:rPr b="1" lang="en-US" sz="2400">
                <a:latin typeface="Calibri"/>
                <a:ea typeface="Calibri"/>
                <a:cs typeface="Calibri"/>
                <a:sym typeface="Calibri"/>
              </a:rPr>
              <a:t>webpack.config.js</a:t>
            </a:r>
            <a:r>
              <a:rPr lang="en-US" sz="2400">
                <a:latin typeface="Calibri"/>
                <a:ea typeface="Calibri"/>
                <a:cs typeface="Calibri"/>
                <a:sym typeface="Calibri"/>
              </a:rPr>
              <a:t> </a:t>
            </a:r>
            <a:endParaRPr sz="24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và cài đặt nó trong thuộc tính </a:t>
            </a:r>
            <a:r>
              <a:rPr b="1" lang="en-US" sz="2400">
                <a:latin typeface="Calibri"/>
                <a:ea typeface="Calibri"/>
                <a:cs typeface="Calibri"/>
                <a:sym typeface="Calibri"/>
              </a:rPr>
              <a:t>plugins</a:t>
            </a:r>
            <a:r>
              <a:rPr lang="en-US" sz="2400">
                <a:latin typeface="Calibri"/>
                <a:ea typeface="Calibri"/>
                <a:cs typeface="Calibri"/>
                <a:sym typeface="Calibri"/>
              </a:rPr>
              <a:t> </a:t>
            </a:r>
            <a:endParaRPr sz="2400">
              <a:latin typeface="Calibri"/>
              <a:ea typeface="Calibri"/>
              <a:cs typeface="Calibri"/>
              <a:sym typeface="Calibri"/>
            </a:endParaRPr>
          </a:p>
        </p:txBody>
      </p:sp>
      <p:sp>
        <p:nvSpPr>
          <p:cNvPr id="201" name="Google Shape;201;g11dc37477a8_1_83"/>
          <p:cNvSpPr txBox="1"/>
          <p:nvPr/>
        </p:nvSpPr>
        <p:spPr>
          <a:xfrm>
            <a:off x="234225" y="2490425"/>
            <a:ext cx="8727900" cy="3360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62B1D8"/>
                </a:solidFill>
                <a:highlight>
                  <a:srgbClr val="2B3A42"/>
                </a:highlight>
                <a:latin typeface="Courier New"/>
                <a:ea typeface="Courier New"/>
                <a:cs typeface="Courier New"/>
                <a:sym typeface="Courier New"/>
              </a:rPr>
              <a:t>const</a:t>
            </a:r>
            <a:r>
              <a:rPr b="1" lang="en-US" sz="1800">
                <a:solidFill>
                  <a:srgbClr val="A5CEE1"/>
                </a:solidFill>
                <a:highlight>
                  <a:srgbClr val="2B3A42"/>
                </a:highlight>
                <a:latin typeface="Courier New"/>
                <a:ea typeface="Courier New"/>
                <a:cs typeface="Courier New"/>
                <a:sym typeface="Courier New"/>
              </a:rPr>
              <a:t> HtmlWebpackPlugin </a:t>
            </a:r>
            <a:r>
              <a:rPr b="1" lang="en-US" sz="1800">
                <a:solidFill>
                  <a:srgbClr val="A9BECC"/>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a:t>
            </a:r>
            <a:r>
              <a:rPr b="1" lang="en-US" sz="1800">
                <a:solidFill>
                  <a:srgbClr val="62B1D8"/>
                </a:solidFill>
                <a:highlight>
                  <a:srgbClr val="2B3A42"/>
                </a:highlight>
                <a:latin typeface="Courier New"/>
                <a:ea typeface="Courier New"/>
                <a:cs typeface="Courier New"/>
                <a:sym typeface="Courier New"/>
              </a:rPr>
              <a:t>require</a:t>
            </a:r>
            <a:r>
              <a:rPr b="1" lang="en-US" sz="1800">
                <a:solidFill>
                  <a:srgbClr val="E1E6E9"/>
                </a:solidFill>
                <a:highlight>
                  <a:srgbClr val="2B3A42"/>
                </a:highlight>
                <a:latin typeface="Courier New"/>
                <a:ea typeface="Courier New"/>
                <a:cs typeface="Courier New"/>
                <a:sym typeface="Courier New"/>
              </a:rPr>
              <a:t>(</a:t>
            </a:r>
            <a:r>
              <a:rPr b="1" lang="en-US" sz="1800">
                <a:solidFill>
                  <a:srgbClr val="4AB576"/>
                </a:solidFill>
                <a:highlight>
                  <a:srgbClr val="2B3A42"/>
                </a:highlight>
                <a:latin typeface="Courier New"/>
                <a:ea typeface="Courier New"/>
                <a:cs typeface="Courier New"/>
                <a:sym typeface="Courier New"/>
              </a:rPr>
              <a:t>'html-webpack-plugin'</a:t>
            </a:r>
            <a:r>
              <a:rPr b="1" lang="en-US" sz="1800">
                <a:solidFill>
                  <a:srgbClr val="E1E6E9"/>
                </a:solidFill>
                <a:highlight>
                  <a:srgbClr val="2B3A42"/>
                </a:highlight>
                <a:latin typeface="Courier New"/>
                <a:ea typeface="Courier New"/>
                <a:cs typeface="Courier New"/>
                <a:sym typeface="Courier New"/>
              </a:rPr>
              <a:t>);</a:t>
            </a:r>
            <a:endParaRPr b="1" sz="18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800">
                <a:solidFill>
                  <a:srgbClr val="62B1D8"/>
                </a:solidFill>
                <a:highlight>
                  <a:srgbClr val="2B3A42"/>
                </a:highlight>
                <a:latin typeface="Courier New"/>
                <a:ea typeface="Courier New"/>
                <a:cs typeface="Courier New"/>
                <a:sym typeface="Courier New"/>
              </a:rPr>
              <a:t>const</a:t>
            </a:r>
            <a:r>
              <a:rPr b="1" lang="en-US" sz="1800">
                <a:solidFill>
                  <a:srgbClr val="A5CEE1"/>
                </a:solidFill>
                <a:highlight>
                  <a:srgbClr val="2B3A42"/>
                </a:highlight>
                <a:latin typeface="Courier New"/>
                <a:ea typeface="Courier New"/>
                <a:cs typeface="Courier New"/>
                <a:sym typeface="Courier New"/>
              </a:rPr>
              <a:t> webpack </a:t>
            </a:r>
            <a:r>
              <a:rPr b="1" lang="en-US" sz="1800">
                <a:solidFill>
                  <a:srgbClr val="A9BECC"/>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a:t>
            </a:r>
            <a:r>
              <a:rPr b="1" lang="en-US" sz="1800">
                <a:solidFill>
                  <a:srgbClr val="62B1D8"/>
                </a:solidFill>
                <a:highlight>
                  <a:srgbClr val="2B3A42"/>
                </a:highlight>
                <a:latin typeface="Courier New"/>
                <a:ea typeface="Courier New"/>
                <a:cs typeface="Courier New"/>
                <a:sym typeface="Courier New"/>
              </a:rPr>
              <a:t>require</a:t>
            </a:r>
            <a:r>
              <a:rPr b="1" lang="en-US" sz="1800">
                <a:solidFill>
                  <a:srgbClr val="E1E6E9"/>
                </a:solidFill>
                <a:highlight>
                  <a:srgbClr val="2B3A42"/>
                </a:highlight>
                <a:latin typeface="Courier New"/>
                <a:ea typeface="Courier New"/>
                <a:cs typeface="Courier New"/>
                <a:sym typeface="Courier New"/>
              </a:rPr>
              <a:t>(</a:t>
            </a:r>
            <a:r>
              <a:rPr b="1" lang="en-US" sz="1800">
                <a:solidFill>
                  <a:srgbClr val="4AB576"/>
                </a:solidFill>
                <a:highlight>
                  <a:srgbClr val="2B3A42"/>
                </a:highlight>
                <a:latin typeface="Courier New"/>
                <a:ea typeface="Courier New"/>
                <a:cs typeface="Courier New"/>
                <a:sym typeface="Courier New"/>
              </a:rPr>
              <a:t>'webpack'</a:t>
            </a:r>
            <a:r>
              <a:rPr b="1" lang="en-US" sz="1800">
                <a:solidFill>
                  <a:srgbClr val="E1E6E9"/>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a:t>
            </a:r>
            <a:r>
              <a:rPr b="1" lang="en-US" sz="1800">
                <a:solidFill>
                  <a:srgbClr val="93A4AD"/>
                </a:solidFill>
                <a:highlight>
                  <a:srgbClr val="2B3A42"/>
                </a:highlight>
                <a:latin typeface="Courier New"/>
                <a:ea typeface="Courier New"/>
                <a:cs typeface="Courier New"/>
                <a:sym typeface="Courier New"/>
              </a:rPr>
              <a:t>//to access built-in plugins</a:t>
            </a:r>
            <a:endParaRPr b="1" sz="18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t/>
            </a:r>
            <a:endParaRPr b="1" sz="18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800">
                <a:solidFill>
                  <a:srgbClr val="A5CEE1"/>
                </a:solidFill>
                <a:highlight>
                  <a:srgbClr val="2B3A42"/>
                </a:highlight>
                <a:latin typeface="Courier New"/>
                <a:ea typeface="Courier New"/>
                <a:cs typeface="Courier New"/>
                <a:sym typeface="Courier New"/>
              </a:rPr>
              <a:t>module</a:t>
            </a:r>
            <a:r>
              <a:rPr b="1" lang="en-US" sz="1800">
                <a:solidFill>
                  <a:srgbClr val="E1E6E9"/>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exports </a:t>
            </a:r>
            <a:r>
              <a:rPr b="1" lang="en-US" sz="1800">
                <a:solidFill>
                  <a:srgbClr val="A9BECC"/>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a:t>
            </a:r>
            <a:r>
              <a:rPr b="1" lang="en-US" sz="1800">
                <a:solidFill>
                  <a:srgbClr val="E1E6E9"/>
                </a:solidFill>
                <a:highlight>
                  <a:srgbClr val="2B3A42"/>
                </a:highlight>
                <a:latin typeface="Courier New"/>
                <a:ea typeface="Courier New"/>
                <a:cs typeface="Courier New"/>
                <a:sym typeface="Courier New"/>
              </a:rPr>
              <a:t>{</a:t>
            </a:r>
            <a:endParaRPr b="1" sz="18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800">
                <a:solidFill>
                  <a:srgbClr val="A5CEE1"/>
                </a:solidFill>
                <a:highlight>
                  <a:srgbClr val="2B3A42"/>
                </a:highlight>
                <a:latin typeface="Courier New"/>
                <a:ea typeface="Courier New"/>
                <a:cs typeface="Courier New"/>
                <a:sym typeface="Courier New"/>
              </a:rPr>
              <a:t>  module</a:t>
            </a:r>
            <a:r>
              <a:rPr b="1" lang="en-US" sz="1800">
                <a:solidFill>
                  <a:srgbClr val="A9BECC"/>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a:t>
            </a:r>
            <a:r>
              <a:rPr b="1" lang="en-US" sz="1800">
                <a:solidFill>
                  <a:srgbClr val="E1E6E9"/>
                </a:solidFill>
                <a:highlight>
                  <a:srgbClr val="2B3A42"/>
                </a:highlight>
                <a:latin typeface="Courier New"/>
                <a:ea typeface="Courier New"/>
                <a:cs typeface="Courier New"/>
                <a:sym typeface="Courier New"/>
              </a:rPr>
              <a:t>{</a:t>
            </a:r>
            <a:endParaRPr b="1" sz="18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800">
                <a:solidFill>
                  <a:srgbClr val="A5CEE1"/>
                </a:solidFill>
                <a:highlight>
                  <a:srgbClr val="2B3A42"/>
                </a:highlight>
                <a:latin typeface="Courier New"/>
                <a:ea typeface="Courier New"/>
                <a:cs typeface="Courier New"/>
                <a:sym typeface="Courier New"/>
              </a:rPr>
              <a:t>    rules</a:t>
            </a:r>
            <a:r>
              <a:rPr b="1" lang="en-US" sz="1800">
                <a:solidFill>
                  <a:srgbClr val="A9BECC"/>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a:t>
            </a:r>
            <a:r>
              <a:rPr b="1" lang="en-US" sz="1800">
                <a:solidFill>
                  <a:srgbClr val="E1E6E9"/>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test</a:t>
            </a:r>
            <a:r>
              <a:rPr b="1" lang="en-US" sz="1800">
                <a:solidFill>
                  <a:srgbClr val="A9BECC"/>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a:t>
            </a:r>
            <a:r>
              <a:rPr b="1" lang="en-US" sz="1800">
                <a:solidFill>
                  <a:srgbClr val="4AB576"/>
                </a:solidFill>
                <a:highlight>
                  <a:srgbClr val="2B3A42"/>
                </a:highlight>
                <a:latin typeface="Courier New"/>
                <a:ea typeface="Courier New"/>
                <a:cs typeface="Courier New"/>
                <a:sym typeface="Courier New"/>
              </a:rPr>
              <a:t>/\.txt$/</a:t>
            </a:r>
            <a:r>
              <a:rPr b="1" lang="en-US" sz="1800">
                <a:solidFill>
                  <a:srgbClr val="E1E6E9"/>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use</a:t>
            </a:r>
            <a:r>
              <a:rPr b="1" lang="en-US" sz="1800">
                <a:solidFill>
                  <a:srgbClr val="A9BECC"/>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a:t>
            </a:r>
            <a:r>
              <a:rPr b="1" lang="en-US" sz="1800">
                <a:solidFill>
                  <a:srgbClr val="4AB576"/>
                </a:solidFill>
                <a:highlight>
                  <a:srgbClr val="2B3A42"/>
                </a:highlight>
                <a:latin typeface="Courier New"/>
                <a:ea typeface="Courier New"/>
                <a:cs typeface="Courier New"/>
                <a:sym typeface="Courier New"/>
              </a:rPr>
              <a:t>'raw-loader'</a:t>
            </a:r>
            <a:r>
              <a:rPr b="1" lang="en-US" sz="1800">
                <a:solidFill>
                  <a:srgbClr val="A5CEE1"/>
                </a:solidFill>
                <a:highlight>
                  <a:srgbClr val="2B3A42"/>
                </a:highlight>
                <a:latin typeface="Courier New"/>
                <a:ea typeface="Courier New"/>
                <a:cs typeface="Courier New"/>
                <a:sym typeface="Courier New"/>
              </a:rPr>
              <a:t> </a:t>
            </a:r>
            <a:r>
              <a:rPr b="1" lang="en-US" sz="1800">
                <a:solidFill>
                  <a:srgbClr val="E1E6E9"/>
                </a:solidFill>
                <a:highlight>
                  <a:srgbClr val="2B3A42"/>
                </a:highlight>
                <a:latin typeface="Courier New"/>
                <a:ea typeface="Courier New"/>
                <a:cs typeface="Courier New"/>
                <a:sym typeface="Courier New"/>
              </a:rPr>
              <a:t>}],</a:t>
            </a:r>
            <a:endParaRPr b="1" sz="18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800">
                <a:solidFill>
                  <a:srgbClr val="A5CEE1"/>
                </a:solidFill>
                <a:highlight>
                  <a:srgbClr val="2B3A42"/>
                </a:highlight>
                <a:latin typeface="Courier New"/>
                <a:ea typeface="Courier New"/>
                <a:cs typeface="Courier New"/>
                <a:sym typeface="Courier New"/>
              </a:rPr>
              <a:t>  </a:t>
            </a:r>
            <a:r>
              <a:rPr b="1" lang="en-US" sz="1800">
                <a:solidFill>
                  <a:srgbClr val="E1E6E9"/>
                </a:solidFill>
                <a:highlight>
                  <a:srgbClr val="2B3A42"/>
                </a:highlight>
                <a:latin typeface="Courier New"/>
                <a:ea typeface="Courier New"/>
                <a:cs typeface="Courier New"/>
                <a:sym typeface="Courier New"/>
              </a:rPr>
              <a:t>},</a:t>
            </a:r>
            <a:endParaRPr b="1" sz="18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800">
                <a:solidFill>
                  <a:srgbClr val="A5CEE1"/>
                </a:solidFill>
                <a:highlight>
                  <a:srgbClr val="2B3A42"/>
                </a:highlight>
                <a:latin typeface="Courier New"/>
                <a:ea typeface="Courier New"/>
                <a:cs typeface="Courier New"/>
                <a:sym typeface="Courier New"/>
              </a:rPr>
              <a:t>  plugins</a:t>
            </a:r>
            <a:r>
              <a:rPr b="1" lang="en-US" sz="1800">
                <a:solidFill>
                  <a:srgbClr val="A9BECC"/>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a:t>
            </a:r>
            <a:r>
              <a:rPr b="1" lang="en-US" sz="1800">
                <a:solidFill>
                  <a:srgbClr val="E1E6E9"/>
                </a:solidFill>
                <a:highlight>
                  <a:srgbClr val="2B3A42"/>
                </a:highlight>
                <a:latin typeface="Courier New"/>
                <a:ea typeface="Courier New"/>
                <a:cs typeface="Courier New"/>
                <a:sym typeface="Courier New"/>
              </a:rPr>
              <a:t>[</a:t>
            </a:r>
            <a:r>
              <a:rPr b="1" lang="en-US" sz="1800">
                <a:solidFill>
                  <a:srgbClr val="62B1D8"/>
                </a:solidFill>
                <a:highlight>
                  <a:srgbClr val="2B3A42"/>
                </a:highlight>
                <a:latin typeface="Courier New"/>
                <a:ea typeface="Courier New"/>
                <a:cs typeface="Courier New"/>
                <a:sym typeface="Courier New"/>
              </a:rPr>
              <a:t>new</a:t>
            </a:r>
            <a:r>
              <a:rPr b="1" lang="en-US" sz="1800">
                <a:solidFill>
                  <a:srgbClr val="A5CEE1"/>
                </a:solidFill>
                <a:highlight>
                  <a:srgbClr val="2B3A42"/>
                </a:highlight>
                <a:latin typeface="Courier New"/>
                <a:ea typeface="Courier New"/>
                <a:cs typeface="Courier New"/>
                <a:sym typeface="Courier New"/>
              </a:rPr>
              <a:t> HtmlWebpackPlugin</a:t>
            </a:r>
            <a:r>
              <a:rPr b="1" lang="en-US" sz="1800">
                <a:solidFill>
                  <a:srgbClr val="E1E6E9"/>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template</a:t>
            </a:r>
            <a:r>
              <a:rPr b="1" lang="en-US" sz="1800">
                <a:solidFill>
                  <a:srgbClr val="A9BECC"/>
                </a:solidFill>
                <a:highlight>
                  <a:srgbClr val="2B3A42"/>
                </a:highlight>
                <a:latin typeface="Courier New"/>
                <a:ea typeface="Courier New"/>
                <a:cs typeface="Courier New"/>
                <a:sym typeface="Courier New"/>
              </a:rPr>
              <a:t>:</a:t>
            </a:r>
            <a:r>
              <a:rPr b="1" lang="en-US" sz="1800">
                <a:solidFill>
                  <a:srgbClr val="A5CEE1"/>
                </a:solidFill>
                <a:highlight>
                  <a:srgbClr val="2B3A42"/>
                </a:highlight>
                <a:latin typeface="Courier New"/>
                <a:ea typeface="Courier New"/>
                <a:cs typeface="Courier New"/>
                <a:sym typeface="Courier New"/>
              </a:rPr>
              <a:t> </a:t>
            </a:r>
            <a:r>
              <a:rPr b="1" lang="en-US" sz="1800">
                <a:solidFill>
                  <a:srgbClr val="4AB576"/>
                </a:solidFill>
                <a:highlight>
                  <a:srgbClr val="2B3A42"/>
                </a:highlight>
                <a:latin typeface="Courier New"/>
                <a:ea typeface="Courier New"/>
                <a:cs typeface="Courier New"/>
                <a:sym typeface="Courier New"/>
              </a:rPr>
              <a:t>'./src/index.html'</a:t>
            </a:r>
            <a:r>
              <a:rPr b="1" lang="en-US" sz="1800">
                <a:solidFill>
                  <a:srgbClr val="A5CEE1"/>
                </a:solidFill>
                <a:highlight>
                  <a:srgbClr val="2B3A42"/>
                </a:highlight>
                <a:latin typeface="Courier New"/>
                <a:ea typeface="Courier New"/>
                <a:cs typeface="Courier New"/>
                <a:sym typeface="Courier New"/>
              </a:rPr>
              <a:t> </a:t>
            </a:r>
            <a:r>
              <a:rPr b="1" lang="en-US" sz="1800">
                <a:solidFill>
                  <a:srgbClr val="E1E6E9"/>
                </a:solidFill>
                <a:highlight>
                  <a:srgbClr val="2B3A42"/>
                </a:highlight>
                <a:latin typeface="Courier New"/>
                <a:ea typeface="Courier New"/>
                <a:cs typeface="Courier New"/>
                <a:sym typeface="Courier New"/>
              </a:rPr>
              <a:t>})],</a:t>
            </a:r>
            <a:endParaRPr b="1" sz="1800">
              <a:solidFill>
                <a:srgbClr val="A5CEE1"/>
              </a:solidFill>
              <a:highlight>
                <a:srgbClr val="2B3A42"/>
              </a:highlight>
              <a:latin typeface="Courier New"/>
              <a:ea typeface="Courier New"/>
              <a:cs typeface="Courier New"/>
              <a:sym typeface="Courier New"/>
            </a:endParaRPr>
          </a:p>
          <a:p>
            <a:pPr indent="0" lvl="0" marL="152400" marR="152400" rtl="0" algn="l">
              <a:lnSpc>
                <a:spcPct val="142500"/>
              </a:lnSpc>
              <a:spcBef>
                <a:spcPts val="1000"/>
              </a:spcBef>
              <a:spcAft>
                <a:spcPts val="1000"/>
              </a:spcAft>
              <a:buNone/>
            </a:pPr>
            <a:r>
              <a:rPr b="1" lang="en-US" sz="1800">
                <a:solidFill>
                  <a:srgbClr val="E1E6E9"/>
                </a:solidFill>
                <a:highlight>
                  <a:srgbClr val="2B3A42"/>
                </a:highlight>
                <a:latin typeface="Courier New"/>
                <a:ea typeface="Courier New"/>
                <a:cs typeface="Courier New"/>
                <a:sym typeface="Courier New"/>
              </a:rPr>
              <a:t>};</a:t>
            </a:r>
            <a:endParaRPr b="1" sz="1800">
              <a:solidFill>
                <a:srgbClr val="E1E6E9"/>
              </a:solidFill>
              <a:highlight>
                <a:srgbClr val="2B3A42"/>
              </a:highlight>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11dc37477a8_1_117"/>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07" name="Google Shape;207;g11dc37477a8_1_117"/>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208" name="Google Shape;208;g11dc37477a8_1_117"/>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09" name="Google Shape;209;g11dc37477a8_1_117"/>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0" name="Google Shape;210;g11dc37477a8_1_117"/>
          <p:cNvSpPr txBox="1"/>
          <p:nvPr/>
        </p:nvSpPr>
        <p:spPr>
          <a:xfrm flipH="1">
            <a:off x="4599597" y="127123"/>
            <a:ext cx="41634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Mode</a:t>
            </a:r>
            <a:endParaRPr b="0" i="0" sz="1400" u="none" cap="none" strike="noStrike">
              <a:solidFill>
                <a:srgbClr val="000000"/>
              </a:solidFill>
              <a:latin typeface="Arial"/>
              <a:ea typeface="Arial"/>
              <a:cs typeface="Arial"/>
              <a:sym typeface="Arial"/>
            </a:endParaRPr>
          </a:p>
        </p:txBody>
      </p:sp>
      <p:sp>
        <p:nvSpPr>
          <p:cNvPr id="211" name="Google Shape;211;g11dc37477a8_1_117"/>
          <p:cNvSpPr txBox="1"/>
          <p:nvPr/>
        </p:nvSpPr>
        <p:spPr>
          <a:xfrm>
            <a:off x="338850" y="706525"/>
            <a:ext cx="85317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Webpack cho phép thiết lập chế độ bundling bao gồm </a:t>
            </a:r>
            <a:r>
              <a:rPr b="1" lang="en-US" sz="2400">
                <a:latin typeface="Calibri"/>
                <a:ea typeface="Calibri"/>
                <a:cs typeface="Calibri"/>
                <a:sym typeface="Calibri"/>
              </a:rPr>
              <a:t>development</a:t>
            </a:r>
            <a:r>
              <a:rPr lang="en-US" sz="2400">
                <a:latin typeface="Calibri"/>
                <a:ea typeface="Calibri"/>
                <a:cs typeface="Calibri"/>
                <a:sym typeface="Calibri"/>
              </a:rPr>
              <a:t> và </a:t>
            </a:r>
            <a:r>
              <a:rPr b="1" lang="en-US" sz="2400">
                <a:latin typeface="Calibri"/>
                <a:ea typeface="Calibri"/>
                <a:cs typeface="Calibri"/>
                <a:sym typeface="Calibri"/>
              </a:rPr>
              <a:t>production</a:t>
            </a:r>
            <a:endParaRPr b="1" sz="24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Chế độ </a:t>
            </a:r>
            <a:r>
              <a:rPr b="1" lang="en-US" sz="2400">
                <a:latin typeface="Calibri"/>
                <a:ea typeface="Calibri"/>
                <a:cs typeface="Calibri"/>
                <a:sym typeface="Calibri"/>
              </a:rPr>
              <a:t>development</a:t>
            </a:r>
            <a:r>
              <a:rPr lang="en-US" sz="2400">
                <a:latin typeface="Calibri"/>
                <a:ea typeface="Calibri"/>
                <a:cs typeface="Calibri"/>
                <a:sym typeface="Calibri"/>
              </a:rPr>
              <a:t> giúp quá trình build nhanh hơn nhưng ít tối ưu hoá code, nén code và không xoá bỏ các comment trong code nhưng bù lại sẽ cung cấp thêm nhiều thông tin lỗi và giúp debug tốt hơn</a:t>
            </a:r>
            <a:endParaRPr sz="24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Chế độ </a:t>
            </a:r>
            <a:r>
              <a:rPr b="1" lang="en-US" sz="2400">
                <a:latin typeface="Calibri"/>
                <a:ea typeface="Calibri"/>
                <a:cs typeface="Calibri"/>
                <a:sym typeface="Calibri"/>
              </a:rPr>
              <a:t>production</a:t>
            </a:r>
            <a:r>
              <a:rPr lang="en-US" sz="2400">
                <a:latin typeface="Calibri"/>
                <a:ea typeface="Calibri"/>
                <a:cs typeface="Calibri"/>
                <a:sym typeface="Calibri"/>
              </a:rPr>
              <a:t> thì ngược lại với </a:t>
            </a:r>
            <a:r>
              <a:rPr b="1" lang="en-US" sz="2400">
                <a:latin typeface="Calibri"/>
                <a:ea typeface="Calibri"/>
                <a:cs typeface="Calibri"/>
                <a:sym typeface="Calibri"/>
              </a:rPr>
              <a:t>development</a:t>
            </a:r>
            <a:endParaRPr b="1" sz="2400">
              <a:latin typeface="Calibri"/>
              <a:ea typeface="Calibri"/>
              <a:cs typeface="Calibri"/>
              <a:sym typeface="Calibri"/>
            </a:endParaRPr>
          </a:p>
          <a:p>
            <a:pPr indent="0" lvl="0" marL="0" rtl="0" algn="l">
              <a:spcBef>
                <a:spcPts val="0"/>
              </a:spcBef>
              <a:spcAft>
                <a:spcPts val="0"/>
              </a:spcAft>
              <a:buNone/>
            </a:pPr>
            <a:r>
              <a:rPr lang="en-US" sz="2400">
                <a:latin typeface="Calibri"/>
                <a:ea typeface="Calibri"/>
                <a:cs typeface="Calibri"/>
                <a:sym typeface="Calibri"/>
              </a:rPr>
              <a:t>Để cài đặt chế độ bundling, ta sử dụng thuộc tính</a:t>
            </a:r>
            <a:r>
              <a:rPr b="1" lang="en-US" sz="2400">
                <a:latin typeface="Calibri"/>
                <a:ea typeface="Calibri"/>
                <a:cs typeface="Calibri"/>
                <a:sym typeface="Calibri"/>
              </a:rPr>
              <a:t> mode </a:t>
            </a:r>
            <a:r>
              <a:rPr lang="en-US" sz="2400">
                <a:latin typeface="Calibri"/>
                <a:ea typeface="Calibri"/>
                <a:cs typeface="Calibri"/>
                <a:sym typeface="Calibri"/>
              </a:rPr>
              <a:t>trong file </a:t>
            </a:r>
            <a:r>
              <a:rPr b="1" lang="en-US" sz="2400">
                <a:latin typeface="Calibri"/>
                <a:ea typeface="Calibri"/>
                <a:cs typeface="Calibri"/>
                <a:sym typeface="Calibri"/>
              </a:rPr>
              <a:t>webpack.config.js</a:t>
            </a:r>
            <a:endParaRPr b="1" sz="2400">
              <a:latin typeface="Calibri"/>
              <a:ea typeface="Calibri"/>
              <a:cs typeface="Calibri"/>
              <a:sym typeface="Calibri"/>
            </a:endParaRPr>
          </a:p>
        </p:txBody>
      </p:sp>
      <p:sp>
        <p:nvSpPr>
          <p:cNvPr id="212" name="Google Shape;212;g11dc37477a8_1_117"/>
          <p:cNvSpPr txBox="1"/>
          <p:nvPr/>
        </p:nvSpPr>
        <p:spPr>
          <a:xfrm>
            <a:off x="438025" y="4426025"/>
            <a:ext cx="7825500" cy="9234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module</a:t>
            </a:r>
            <a:r>
              <a:rPr b="1" lang="en-US" sz="1600">
                <a:solidFill>
                  <a:srgbClr val="E1E6E9"/>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exports </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E1E6E9"/>
                </a:solidFill>
                <a:highlight>
                  <a:srgbClr val="2B3A42"/>
                </a:highlight>
                <a:latin typeface="Courier New"/>
                <a:ea typeface="Courier New"/>
                <a:cs typeface="Courier New"/>
                <a:sym typeface="Courier New"/>
              </a:rPr>
              <a:t>{</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A5CEE1"/>
                </a:solidFill>
                <a:highlight>
                  <a:srgbClr val="2B3A42"/>
                </a:highlight>
                <a:latin typeface="Courier New"/>
                <a:ea typeface="Courier New"/>
                <a:cs typeface="Courier New"/>
                <a:sym typeface="Courier New"/>
              </a:rPr>
              <a:t>  mode</a:t>
            </a:r>
            <a:r>
              <a:rPr b="1" lang="en-US" sz="1600">
                <a:solidFill>
                  <a:srgbClr val="A9BECC"/>
                </a:solidFill>
                <a:highlight>
                  <a:srgbClr val="2B3A42"/>
                </a:highlight>
                <a:latin typeface="Courier New"/>
                <a:ea typeface="Courier New"/>
                <a:cs typeface="Courier New"/>
                <a:sym typeface="Courier New"/>
              </a:rPr>
              <a:t>:</a:t>
            </a:r>
            <a:r>
              <a:rPr b="1" lang="en-US" sz="1600">
                <a:solidFill>
                  <a:srgbClr val="A5CEE1"/>
                </a:solidFill>
                <a:highlight>
                  <a:srgbClr val="2B3A42"/>
                </a:highlight>
                <a:latin typeface="Courier New"/>
                <a:ea typeface="Courier New"/>
                <a:cs typeface="Courier New"/>
                <a:sym typeface="Courier New"/>
              </a:rPr>
              <a:t> </a:t>
            </a:r>
            <a:r>
              <a:rPr b="1" lang="en-US" sz="1600">
                <a:solidFill>
                  <a:srgbClr val="4AB576"/>
                </a:solidFill>
                <a:highlight>
                  <a:srgbClr val="2B3A42"/>
                </a:highlight>
                <a:latin typeface="Courier New"/>
                <a:ea typeface="Courier New"/>
                <a:cs typeface="Courier New"/>
                <a:sym typeface="Courier New"/>
              </a:rPr>
              <a:t>'production'</a:t>
            </a:r>
            <a:endParaRPr b="1" sz="1600">
              <a:solidFill>
                <a:srgbClr val="A5CEE1"/>
              </a:solidFill>
              <a:highlight>
                <a:srgbClr val="2B3A42"/>
              </a:highlight>
              <a:latin typeface="Courier New"/>
              <a:ea typeface="Courier New"/>
              <a:cs typeface="Courier New"/>
              <a:sym typeface="Courier New"/>
            </a:endParaRPr>
          </a:p>
          <a:p>
            <a:pPr indent="0" lvl="0" marL="0" rtl="0" algn="l">
              <a:spcBef>
                <a:spcPts val="0"/>
              </a:spcBef>
              <a:spcAft>
                <a:spcPts val="0"/>
              </a:spcAft>
              <a:buNone/>
            </a:pPr>
            <a:r>
              <a:rPr b="1" lang="en-US" sz="1600">
                <a:solidFill>
                  <a:srgbClr val="E1E6E9"/>
                </a:solidFill>
                <a:highlight>
                  <a:srgbClr val="2B3A42"/>
                </a:highlight>
                <a:latin typeface="Courier New"/>
                <a:ea typeface="Courier New"/>
                <a:cs typeface="Courier New"/>
                <a:sym typeface="Courier New"/>
              </a:rPr>
              <a:t>};</a:t>
            </a:r>
            <a:endParaRPr b="1" sz="1600">
              <a:solidFill>
                <a:srgbClr val="E1E6E9"/>
              </a:solidFill>
              <a:highlight>
                <a:srgbClr val="2B3A42"/>
              </a:highlight>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11dc37477a8_1_13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18" name="Google Shape;218;g11dc37477a8_1_13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219" name="Google Shape;219;g11dc37477a8_1_13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20" name="Google Shape;220;g11dc37477a8_1_13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 name="Google Shape;221;g11dc37477a8_1_131"/>
          <p:cNvSpPr txBox="1"/>
          <p:nvPr/>
        </p:nvSpPr>
        <p:spPr>
          <a:xfrm flipH="1">
            <a:off x="2497502" y="127124"/>
            <a:ext cx="62655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Khái niệm Dependency Graph</a:t>
            </a:r>
            <a:endParaRPr b="0" i="0" sz="1400" u="none" cap="none" strike="noStrike">
              <a:solidFill>
                <a:srgbClr val="000000"/>
              </a:solidFill>
              <a:latin typeface="Arial"/>
              <a:ea typeface="Arial"/>
              <a:cs typeface="Arial"/>
              <a:sym typeface="Arial"/>
            </a:endParaRPr>
          </a:p>
        </p:txBody>
      </p:sp>
      <p:sp>
        <p:nvSpPr>
          <p:cNvPr id="222" name="Google Shape;222;g11dc37477a8_1_131"/>
          <p:cNvSpPr txBox="1"/>
          <p:nvPr/>
        </p:nvSpPr>
        <p:spPr>
          <a:xfrm>
            <a:off x="266925" y="2340925"/>
            <a:ext cx="85317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Khi bắt đầu quá trình bundling, webpack sẽ bắt đầu scan và đọc file cầu hình. Tiếp theo, bắt đầu từ entry point, webpack sẽ sử dụng phép đệ quy để tìm và nạp toàn bộ các module trong các thư mục dự án và tạo thành một đồ thị các dependency (file), sau đó webpack tiến hành đóng gói các modules trong các dependency lại thành một bundles(gói)</a:t>
            </a:r>
            <a:endParaRPr sz="24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11dc37477a8_1_14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28" name="Google Shape;228;g11dc37477a8_1_14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229" name="Google Shape;229;g11dc37477a8_1_14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30" name="Google Shape;230;g11dc37477a8_1_14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1" name="Google Shape;231;g11dc37477a8_1_141"/>
          <p:cNvSpPr txBox="1"/>
          <p:nvPr/>
        </p:nvSpPr>
        <p:spPr>
          <a:xfrm flipH="1">
            <a:off x="2497502" y="127124"/>
            <a:ext cx="62655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Khái niệm Dependency Graph</a:t>
            </a:r>
            <a:endParaRPr b="0" i="0" sz="1400" u="none" cap="none" strike="noStrike">
              <a:solidFill>
                <a:srgbClr val="000000"/>
              </a:solidFill>
              <a:latin typeface="Arial"/>
              <a:ea typeface="Arial"/>
              <a:cs typeface="Arial"/>
              <a:sym typeface="Arial"/>
            </a:endParaRPr>
          </a:p>
        </p:txBody>
      </p:sp>
      <p:pic>
        <p:nvPicPr>
          <p:cNvPr id="232" name="Google Shape;232;g11dc37477a8_1_141"/>
          <p:cNvPicPr preferRelativeResize="0"/>
          <p:nvPr/>
        </p:nvPicPr>
        <p:blipFill>
          <a:blip r:embed="rId4">
            <a:alphaModFix/>
          </a:blip>
          <a:stretch>
            <a:fillRect/>
          </a:stretch>
        </p:blipFill>
        <p:spPr>
          <a:xfrm>
            <a:off x="152400" y="1286524"/>
            <a:ext cx="8839200" cy="39928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11dc37477a8_1_15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38" name="Google Shape;238;g11dc37477a8_1_15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239" name="Google Shape;239;g11dc37477a8_1_15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40" name="Google Shape;240;g11dc37477a8_1_15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g11dc37477a8_1_151"/>
          <p:cNvSpPr txBox="1"/>
          <p:nvPr/>
        </p:nvSpPr>
        <p:spPr>
          <a:xfrm flipH="1">
            <a:off x="2497502" y="127124"/>
            <a:ext cx="62655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Case Study cấu hình Webpack</a:t>
            </a:r>
            <a:endParaRPr b="0" i="0" sz="1400" u="none" cap="none" strike="noStrike">
              <a:solidFill>
                <a:srgbClr val="000000"/>
              </a:solidFill>
              <a:latin typeface="Arial"/>
              <a:ea typeface="Arial"/>
              <a:cs typeface="Arial"/>
              <a:sym typeface="Arial"/>
            </a:endParaRPr>
          </a:p>
        </p:txBody>
      </p:sp>
      <p:sp>
        <p:nvSpPr>
          <p:cNvPr id="242" name="Google Shape;242;g11dc37477a8_1_151"/>
          <p:cNvSpPr txBox="1"/>
          <p:nvPr/>
        </p:nvSpPr>
        <p:spPr>
          <a:xfrm>
            <a:off x="773550" y="1566850"/>
            <a:ext cx="7596900" cy="16623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Cài đặt webpack để biên dịch SASS/SCSS</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solidFill>
                  <a:schemeClr val="dk1"/>
                </a:solidFill>
                <a:latin typeface="Calibri"/>
                <a:ea typeface="Calibri"/>
                <a:cs typeface="Calibri"/>
                <a:sym typeface="Calibri"/>
              </a:rPr>
              <a:t>Cài đặt và optimize Image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Cài đặt và cấu hình Babel để transpile ES6 thành ES5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Code Splitting</a:t>
            </a:r>
            <a:endParaRPr sz="2400">
              <a:latin typeface="Calibri"/>
              <a:ea typeface="Calibri"/>
              <a:cs typeface="Calibri"/>
              <a:sym typeface="Calibri"/>
            </a:endParaRPr>
          </a:p>
        </p:txBody>
      </p:sp>
      <p:sp>
        <p:nvSpPr>
          <p:cNvPr id="243" name="Google Shape;243;g11dc37477a8_1_151"/>
          <p:cNvSpPr txBox="1"/>
          <p:nvPr/>
        </p:nvSpPr>
        <p:spPr>
          <a:xfrm>
            <a:off x="974100" y="3711225"/>
            <a:ext cx="7459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latin typeface="Calibri"/>
                <a:ea typeface="Calibri"/>
                <a:cs typeface="Calibri"/>
                <a:sym typeface="Calibri"/>
              </a:rPr>
              <a:t>Giáo viên hướng dẫn cài đặt webpack với các case-study trên </a:t>
            </a:r>
            <a:endParaRPr sz="24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11dc37477a8_1_161"/>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49" name="Google Shape;249;g11dc37477a8_1_16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250" name="Google Shape;250;g11dc37477a8_1_16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51" name="Google Shape;251;g11dc37477a8_1_161"/>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 name="Google Shape;252;g11dc37477a8_1_161"/>
          <p:cNvSpPr txBox="1"/>
          <p:nvPr/>
        </p:nvSpPr>
        <p:spPr>
          <a:xfrm flipH="1">
            <a:off x="2497502" y="127124"/>
            <a:ext cx="62655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Babel nâng cao</a:t>
            </a:r>
            <a:endParaRPr b="0" i="0" sz="1400" u="none" cap="none" strike="noStrike">
              <a:solidFill>
                <a:srgbClr val="000000"/>
              </a:solidFill>
              <a:latin typeface="Arial"/>
              <a:ea typeface="Arial"/>
              <a:cs typeface="Arial"/>
              <a:sym typeface="Arial"/>
            </a:endParaRPr>
          </a:p>
        </p:txBody>
      </p:sp>
      <p:sp>
        <p:nvSpPr>
          <p:cNvPr id="253" name="Google Shape;253;g11dc37477a8_1_161"/>
          <p:cNvSpPr txBox="1"/>
          <p:nvPr/>
        </p:nvSpPr>
        <p:spPr>
          <a:xfrm>
            <a:off x="719150" y="1272675"/>
            <a:ext cx="7583700" cy="3140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Babel là một công cụ được sử dụng để chuyển đổi các đoạn mã JS viết theo kiểu mới thành kiểu cũ để có thể tương thích với nhiều phiên bản trình duyệt khác nhau</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Có thể sử dụng babel riêng rẽ hoặc sử dụng chung với webpack, parcel hoặc bất kỳ một loại công cụ build nào khác (grunt,gulp,rollup…)</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Babel cũng được sử dụng trong rất nhiều các framework JS hiện nay </a:t>
            </a:r>
            <a:endParaRPr sz="24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11dc37477a8_1_17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59" name="Google Shape;259;g11dc37477a8_1_17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260" name="Google Shape;260;g11dc37477a8_1_17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61" name="Google Shape;261;g11dc37477a8_1_17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2" name="Google Shape;262;g11dc37477a8_1_173"/>
          <p:cNvSpPr txBox="1"/>
          <p:nvPr/>
        </p:nvSpPr>
        <p:spPr>
          <a:xfrm flipH="1">
            <a:off x="2497502" y="127124"/>
            <a:ext cx="62655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Cấu hình Babel</a:t>
            </a:r>
            <a:endParaRPr b="0" i="0" sz="1400" u="none" cap="none" strike="noStrike">
              <a:solidFill>
                <a:srgbClr val="000000"/>
              </a:solidFill>
              <a:latin typeface="Arial"/>
              <a:ea typeface="Arial"/>
              <a:cs typeface="Arial"/>
              <a:sym typeface="Arial"/>
            </a:endParaRPr>
          </a:p>
        </p:txBody>
      </p:sp>
      <p:sp>
        <p:nvSpPr>
          <p:cNvPr id="263" name="Google Shape;263;g11dc37477a8_1_173"/>
          <p:cNvSpPr txBox="1"/>
          <p:nvPr/>
        </p:nvSpPr>
        <p:spPr>
          <a:xfrm>
            <a:off x="738750" y="710450"/>
            <a:ext cx="7583700" cy="49872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Nếu sử dụng babel chung với các build tool khác thì mỗi loại build tool sẽ có tuỳ biến cấu hình khác nhau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Nếu sử dụng babel độc lập thì ta cần phải cài đặt </a:t>
            </a:r>
            <a:r>
              <a:rPr b="1" lang="en-US" sz="2400">
                <a:latin typeface="Calibri"/>
                <a:ea typeface="Calibri"/>
                <a:cs typeface="Calibri"/>
                <a:sym typeface="Calibri"/>
              </a:rPr>
              <a:t>babel cli </a:t>
            </a:r>
            <a:r>
              <a:rPr lang="en-US" sz="2400">
                <a:latin typeface="Calibri"/>
                <a:ea typeface="Calibri"/>
                <a:cs typeface="Calibri"/>
                <a:sym typeface="Calibri"/>
              </a:rPr>
              <a:t>và </a:t>
            </a:r>
            <a:r>
              <a:rPr b="1" lang="en-US" sz="2400">
                <a:latin typeface="Calibri"/>
                <a:ea typeface="Calibri"/>
                <a:cs typeface="Calibri"/>
                <a:sym typeface="Calibri"/>
              </a:rPr>
              <a:t>babel core </a:t>
            </a:r>
            <a:r>
              <a:rPr lang="en-US" sz="2400">
                <a:latin typeface="Calibri"/>
                <a:ea typeface="Calibri"/>
                <a:cs typeface="Calibri"/>
                <a:sym typeface="Calibri"/>
              </a:rPr>
              <a:t>sử dụng dòng lệnh </a:t>
            </a:r>
            <a:r>
              <a:rPr b="1" lang="en-US" sz="2400">
                <a:latin typeface="Calibri"/>
                <a:ea typeface="Calibri"/>
                <a:cs typeface="Calibri"/>
                <a:sym typeface="Calibri"/>
              </a:rPr>
              <a:t>npm install –save-dev @babel/core @babel/cli</a:t>
            </a:r>
            <a:endParaRPr b="1"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Để cấu hình Babel, trong thực mục dự án ta đặt một file </a:t>
            </a:r>
            <a:r>
              <a:rPr b="1" lang="en-US" sz="2400">
                <a:latin typeface="Calibri"/>
                <a:ea typeface="Calibri"/>
                <a:cs typeface="Calibri"/>
                <a:sym typeface="Calibri"/>
              </a:rPr>
              <a:t>babel.config.json </a:t>
            </a:r>
            <a:r>
              <a:rPr lang="en-US" sz="2400">
                <a:latin typeface="Calibri"/>
                <a:ea typeface="Calibri"/>
                <a:cs typeface="Calibri"/>
                <a:sym typeface="Calibri"/>
              </a:rPr>
              <a:t>hoặc có thể sử dụng file</a:t>
            </a:r>
            <a:r>
              <a:rPr b="1" lang="en-US" sz="2400">
                <a:latin typeface="Calibri"/>
                <a:ea typeface="Calibri"/>
                <a:cs typeface="Calibri"/>
                <a:sym typeface="Calibri"/>
              </a:rPr>
              <a:t> .babelsrc.json </a:t>
            </a:r>
            <a:r>
              <a:rPr lang="en-US" sz="2400">
                <a:latin typeface="Calibri"/>
                <a:ea typeface="Calibri"/>
                <a:cs typeface="Calibri"/>
                <a:sym typeface="Calibri"/>
              </a:rPr>
              <a:t>nếu muốn cấu hình chi tiết riêng cho từng thư mục con</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Ngoài ra có thể sử dụng file .JS làm file cấu hình thay cho .JSON</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Babel cũng cho phép cấu hình cùng với file </a:t>
            </a:r>
            <a:r>
              <a:rPr b="1" lang="en-US" sz="2400">
                <a:latin typeface="Calibri"/>
                <a:ea typeface="Calibri"/>
                <a:cs typeface="Calibri"/>
                <a:sym typeface="Calibri"/>
              </a:rPr>
              <a:t>package.json</a:t>
            </a:r>
            <a:endParaRPr b="1" sz="24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11dc37477a8_1_183"/>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269" name="Google Shape;269;g11dc37477a8_1_183"/>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pic>
        <p:nvPicPr>
          <p:cNvPr id="270" name="Google Shape;270;g11dc37477a8_1_183"/>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71" name="Google Shape;271;g11dc37477a8_1_183"/>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2" name="Google Shape;272;g11dc37477a8_1_183"/>
          <p:cNvSpPr txBox="1"/>
          <p:nvPr/>
        </p:nvSpPr>
        <p:spPr>
          <a:xfrm flipH="1">
            <a:off x="2497502" y="127124"/>
            <a:ext cx="62655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Cấu hình Babel</a:t>
            </a:r>
            <a:endParaRPr b="0" i="0" sz="1400" u="none" cap="none" strike="noStrike">
              <a:solidFill>
                <a:srgbClr val="000000"/>
              </a:solidFill>
              <a:latin typeface="Arial"/>
              <a:ea typeface="Arial"/>
              <a:cs typeface="Arial"/>
              <a:sym typeface="Arial"/>
            </a:endParaRPr>
          </a:p>
        </p:txBody>
      </p:sp>
      <p:sp>
        <p:nvSpPr>
          <p:cNvPr id="273" name="Google Shape;273;g11dc37477a8_1_183"/>
          <p:cNvSpPr txBox="1"/>
          <p:nvPr/>
        </p:nvSpPr>
        <p:spPr>
          <a:xfrm>
            <a:off x="817200" y="723525"/>
            <a:ext cx="7583700" cy="12930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Nội dung một file babel.config.js có dạng như sau trong đó presets chứa danh sách các presets và plugins chứa danh sách các plugins sử dụng khi transpile</a:t>
            </a:r>
            <a:endParaRPr sz="2400">
              <a:latin typeface="Calibri"/>
              <a:ea typeface="Calibri"/>
              <a:cs typeface="Calibri"/>
              <a:sym typeface="Calibri"/>
            </a:endParaRPr>
          </a:p>
        </p:txBody>
      </p:sp>
      <p:sp>
        <p:nvSpPr>
          <p:cNvPr id="274" name="Google Shape;274;g11dc37477a8_1_183"/>
          <p:cNvSpPr txBox="1"/>
          <p:nvPr/>
        </p:nvSpPr>
        <p:spPr>
          <a:xfrm>
            <a:off x="1915500" y="1944550"/>
            <a:ext cx="5387100" cy="15699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a:t>
            </a:r>
            <a:endParaRPr b="1" sz="15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"presets"</a:t>
            </a:r>
            <a:r>
              <a:rPr b="1" lang="en-US" sz="1500">
                <a:solidFill>
                  <a:srgbClr val="CC7832"/>
                </a:solidFill>
                <a:highlight>
                  <a:srgbClr val="2B2B2B"/>
                </a:highlight>
                <a:latin typeface="Courier New"/>
                <a:ea typeface="Courier New"/>
                <a:cs typeface="Courier New"/>
                <a:sym typeface="Courier New"/>
              </a:rPr>
              <a:t>: </a:t>
            </a:r>
            <a:r>
              <a:rPr b="1" lang="en-US" sz="1500">
                <a:solidFill>
                  <a:srgbClr val="A9B7C6"/>
                </a:solidFill>
                <a:highlight>
                  <a:srgbClr val="2B2B2B"/>
                </a:highlight>
                <a:latin typeface="Courier New"/>
                <a:ea typeface="Courier New"/>
                <a:cs typeface="Courier New"/>
                <a:sym typeface="Courier New"/>
              </a:rPr>
              <a:t>[</a:t>
            </a:r>
            <a:r>
              <a:rPr b="1" lang="en-US" sz="1500">
                <a:solidFill>
                  <a:srgbClr val="6A8759"/>
                </a:solidFill>
                <a:highlight>
                  <a:srgbClr val="2B2B2B"/>
                </a:highlight>
                <a:latin typeface="Courier New"/>
                <a:ea typeface="Courier New"/>
                <a:cs typeface="Courier New"/>
                <a:sym typeface="Courier New"/>
              </a:rPr>
              <a:t>"@babel/preset-env"</a:t>
            </a:r>
            <a:r>
              <a:rPr b="1" lang="en-US" sz="1500">
                <a:solidFill>
                  <a:srgbClr val="A9B7C6"/>
                </a:solidFill>
                <a:highlight>
                  <a:srgbClr val="2B2B2B"/>
                </a:highlight>
                <a:latin typeface="Courier New"/>
                <a:ea typeface="Courier New"/>
                <a:cs typeface="Courier New"/>
                <a:sym typeface="Courier New"/>
              </a:rPr>
              <a:t>]</a:t>
            </a:r>
            <a:r>
              <a:rPr b="1" lang="en-US" sz="1500">
                <a:solidFill>
                  <a:srgbClr val="CC7832"/>
                </a:solidFill>
                <a:highlight>
                  <a:srgbClr val="2B2B2B"/>
                </a:highlight>
                <a:latin typeface="Courier New"/>
                <a:ea typeface="Courier New"/>
                <a:cs typeface="Courier New"/>
                <a:sym typeface="Courier New"/>
              </a:rPr>
              <a:t>,</a:t>
            </a:r>
            <a:endParaRPr b="1" sz="15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CC7832"/>
                </a:solidFill>
                <a:highlight>
                  <a:srgbClr val="2B2B2B"/>
                </a:highlight>
                <a:latin typeface="Courier New"/>
                <a:ea typeface="Courier New"/>
                <a:cs typeface="Courier New"/>
                <a:sym typeface="Courier New"/>
              </a:rPr>
              <a:t> </a:t>
            </a:r>
            <a:r>
              <a:rPr b="1" lang="en-US" sz="1500">
                <a:solidFill>
                  <a:srgbClr val="9876AA"/>
                </a:solidFill>
                <a:highlight>
                  <a:srgbClr val="2B2B2B"/>
                </a:highlight>
                <a:latin typeface="Courier New"/>
                <a:ea typeface="Courier New"/>
                <a:cs typeface="Courier New"/>
                <a:sym typeface="Courier New"/>
              </a:rPr>
              <a:t>"plugins"</a:t>
            </a:r>
            <a:r>
              <a:rPr b="1" lang="en-US" sz="1500">
                <a:solidFill>
                  <a:srgbClr val="CC7832"/>
                </a:solidFill>
                <a:highlight>
                  <a:srgbClr val="2B2B2B"/>
                </a:highlight>
                <a:latin typeface="Courier New"/>
                <a:ea typeface="Courier New"/>
                <a:cs typeface="Courier New"/>
                <a:sym typeface="Courier New"/>
              </a:rPr>
              <a:t>: </a:t>
            </a:r>
            <a:r>
              <a:rPr b="1" lang="en-US" sz="1500">
                <a:solidFill>
                  <a:srgbClr val="A9B7C6"/>
                </a:solidFill>
                <a:highlight>
                  <a:srgbClr val="2B2B2B"/>
                </a:highlight>
                <a:latin typeface="Courier New"/>
                <a:ea typeface="Courier New"/>
                <a:cs typeface="Courier New"/>
                <a:sym typeface="Courier New"/>
              </a:rPr>
              <a:t>[</a:t>
            </a:r>
            <a:r>
              <a:rPr b="1" lang="en-US" sz="1500">
                <a:solidFill>
                  <a:srgbClr val="6A8759"/>
                </a:solidFill>
                <a:highlight>
                  <a:srgbClr val="2B2B2B"/>
                </a:highlight>
                <a:latin typeface="Courier New"/>
                <a:ea typeface="Courier New"/>
                <a:cs typeface="Courier New"/>
                <a:sym typeface="Courier New"/>
              </a:rPr>
              <a:t>"@babel/plugin-proposal-decorators"</a:t>
            </a:r>
            <a:r>
              <a:rPr b="1" lang="en-US" sz="1500">
                <a:solidFill>
                  <a:srgbClr val="A9B7C6"/>
                </a:solidFill>
                <a:highlight>
                  <a:srgbClr val="2B2B2B"/>
                </a:highlight>
                <a:latin typeface="Courier New"/>
                <a:ea typeface="Courier New"/>
                <a:cs typeface="Courier New"/>
                <a:sym typeface="Courier New"/>
              </a:rPr>
              <a:t>]</a:t>
            </a:r>
            <a:endParaRPr b="1" sz="15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b="1" lang="en-US" sz="1500">
                <a:solidFill>
                  <a:srgbClr val="A9B7C6"/>
                </a:solidFill>
                <a:highlight>
                  <a:srgbClr val="2B2B2B"/>
                </a:highlight>
                <a:latin typeface="Courier New"/>
                <a:ea typeface="Courier New"/>
                <a:cs typeface="Courier New"/>
                <a:sym typeface="Courier New"/>
              </a:rPr>
              <a:t>}</a:t>
            </a:r>
            <a:endParaRPr b="1" sz="15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t/>
            </a:r>
            <a:endParaRPr b="1" sz="1500">
              <a:solidFill>
                <a:srgbClr val="A9B7C6"/>
              </a:solidFill>
              <a:highlight>
                <a:srgbClr val="2B2B2B"/>
              </a:highlight>
              <a:latin typeface="Courier New"/>
              <a:ea typeface="Courier New"/>
              <a:cs typeface="Courier New"/>
              <a:sym typeface="Courier New"/>
            </a:endParaRPr>
          </a:p>
        </p:txBody>
      </p:sp>
      <p:sp>
        <p:nvSpPr>
          <p:cNvPr id="275" name="Google Shape;275;g11dc37477a8_1_183"/>
          <p:cNvSpPr txBox="1"/>
          <p:nvPr/>
        </p:nvSpPr>
        <p:spPr>
          <a:xfrm>
            <a:off x="780150" y="3516850"/>
            <a:ext cx="75837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Để có chạy babel transpile sử dụng lệnh với cú pháp sau  </a:t>
            </a:r>
            <a:endParaRPr sz="2400">
              <a:latin typeface="Calibri"/>
              <a:ea typeface="Calibri"/>
              <a:cs typeface="Calibri"/>
              <a:sym typeface="Calibri"/>
            </a:endParaRPr>
          </a:p>
        </p:txBody>
      </p:sp>
      <p:sp>
        <p:nvSpPr>
          <p:cNvPr id="276" name="Google Shape;276;g11dc37477a8_1_183"/>
          <p:cNvSpPr txBox="1"/>
          <p:nvPr/>
        </p:nvSpPr>
        <p:spPr>
          <a:xfrm>
            <a:off x="1914275" y="4171400"/>
            <a:ext cx="5445900" cy="400200"/>
          </a:xfrm>
          <a:prstGeom prst="rect">
            <a:avLst/>
          </a:prstGeom>
          <a:solidFill>
            <a:schemeClr val="dk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lt1"/>
                </a:solidFill>
              </a:rPr>
              <a:t> babel &lt;folder_js_can_transpile&gt; &lt;forlder_saukhi_transpile&gt;</a:t>
            </a:r>
            <a:endParaRPr>
              <a:solidFill>
                <a:schemeClr val="lt1"/>
              </a:solidFill>
            </a:endParaRPr>
          </a:p>
        </p:txBody>
      </p:sp>
      <p:sp>
        <p:nvSpPr>
          <p:cNvPr id="277" name="Google Shape;277;g11dc37477a8_1_183"/>
          <p:cNvSpPr txBox="1"/>
          <p:nvPr/>
        </p:nvSpPr>
        <p:spPr>
          <a:xfrm>
            <a:off x="845375" y="4604425"/>
            <a:ext cx="7583700" cy="9234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Ta có thể sử dụng tham số –watch hoặc –w để babel tự động transpile khi file thay đổi</a:t>
            </a:r>
            <a:endParaRPr sz="24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11dc37477a8_1_200"/>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pic>
        <p:nvPicPr>
          <p:cNvPr id="283" name="Google Shape;283;g11dc37477a8_1_200"/>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84" name="Google Shape;284;g11dc37477a8_1_200"/>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5" name="Google Shape;285;g11dc37477a8_1_200"/>
          <p:cNvSpPr txBox="1"/>
          <p:nvPr/>
        </p:nvSpPr>
        <p:spPr>
          <a:xfrm flipH="1">
            <a:off x="2497502" y="127124"/>
            <a:ext cx="62655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Babel Plugin</a:t>
            </a:r>
            <a:endParaRPr b="0" i="0" sz="1400" u="none" cap="none" strike="noStrike">
              <a:solidFill>
                <a:srgbClr val="000000"/>
              </a:solidFill>
              <a:latin typeface="Arial"/>
              <a:ea typeface="Arial"/>
              <a:cs typeface="Arial"/>
              <a:sym typeface="Arial"/>
            </a:endParaRPr>
          </a:p>
        </p:txBody>
      </p:sp>
      <p:sp>
        <p:nvSpPr>
          <p:cNvPr id="286" name="Google Shape;286;g11dc37477a8_1_200"/>
          <p:cNvSpPr txBox="1"/>
          <p:nvPr/>
        </p:nvSpPr>
        <p:spPr>
          <a:xfrm>
            <a:off x="535050" y="1645325"/>
            <a:ext cx="8073900" cy="27705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Babel plugin là những thư viện cho phép thực hiện một tác vụ nào đó trong quá trình transpile ví dụ như chuyển đổi arrow function thành normal function, plugin chuyển const,let thành var …vv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Babel cung cấp sẵn rất nhiều các plugin để thực hiện nhiều công việc khác nhau, ta cũng có thể tự tạo hoặc sử dụng plugin bên thứ ba tuỳ theo mục đích sử dụng</a:t>
            </a:r>
            <a:endParaRPr sz="24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11dc37477a8_1_218"/>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pic>
        <p:nvPicPr>
          <p:cNvPr id="292" name="Google Shape;292;g11dc37477a8_1_218"/>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293" name="Google Shape;293;g11dc37477a8_1_218"/>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4" name="Google Shape;294;g11dc37477a8_1_218"/>
          <p:cNvSpPr txBox="1"/>
          <p:nvPr/>
        </p:nvSpPr>
        <p:spPr>
          <a:xfrm flipH="1">
            <a:off x="2497502" y="127124"/>
            <a:ext cx="62655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Babel Presets</a:t>
            </a:r>
            <a:endParaRPr b="0" i="0" sz="1400" u="none" cap="none" strike="noStrike">
              <a:solidFill>
                <a:srgbClr val="000000"/>
              </a:solidFill>
              <a:latin typeface="Arial"/>
              <a:ea typeface="Arial"/>
              <a:cs typeface="Arial"/>
              <a:sym typeface="Arial"/>
            </a:endParaRPr>
          </a:p>
        </p:txBody>
      </p:sp>
      <p:sp>
        <p:nvSpPr>
          <p:cNvPr id="295" name="Google Shape;295;g11dc37477a8_1_218"/>
          <p:cNvSpPr txBox="1"/>
          <p:nvPr/>
        </p:nvSpPr>
        <p:spPr>
          <a:xfrm>
            <a:off x="535050" y="1645325"/>
            <a:ext cx="8073900" cy="27705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Presets là một gói các plugins thực hiện một công việc nào đó giống nhau, babel cung cấp sẵn các presets sau </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@babel/preset-env: chuyển đổi ES6 -&gt;ES5</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@babel/preset-react: chuyển đổi cú pháp React -&gt; JS</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@babe/preset-typescript: chuyển đổi cú pháp TS -&gt; JS</a:t>
            </a:r>
            <a:endParaRPr sz="2400">
              <a:latin typeface="Calibri"/>
              <a:ea typeface="Calibri"/>
              <a:cs typeface="Calibri"/>
              <a:sym typeface="Calibri"/>
            </a:endParaRPr>
          </a:p>
          <a:p>
            <a:pPr indent="-381000" lvl="0" marL="457200" rtl="0" algn="l">
              <a:spcBef>
                <a:spcPts val="0"/>
              </a:spcBef>
              <a:spcAft>
                <a:spcPts val="0"/>
              </a:spcAft>
              <a:buSzPts val="2400"/>
              <a:buFont typeface="Calibri"/>
              <a:buChar char="●"/>
            </a:pPr>
            <a:r>
              <a:rPr lang="en-US" sz="2400">
                <a:latin typeface="Calibri"/>
                <a:ea typeface="Calibri"/>
                <a:cs typeface="Calibri"/>
                <a:sym typeface="Calibri"/>
              </a:rPr>
              <a:t>@babe/preset-flow: sử dụng khi dùng thư viện flow để check type</a:t>
            </a:r>
            <a:endParaRPr sz="24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11dc37477a8_1_226"/>
          <p:cNvSpPr txBox="1"/>
          <p:nvPr>
            <p:ph idx="1" type="subTitle"/>
          </p:nvPr>
        </p:nvSpPr>
        <p:spPr>
          <a:xfrm>
            <a:off x="304800" y="6248400"/>
            <a:ext cx="5867400" cy="486300"/>
          </a:xfrm>
          <a:prstGeom prst="rect">
            <a:avLst/>
          </a:prstGeom>
          <a:noFill/>
          <a:ln>
            <a:noFill/>
          </a:ln>
        </p:spPr>
        <p:txBody>
          <a:bodyPr anchorCtr="0" anchor="t" bIns="45700" lIns="91425" spcFirstLastPara="1" rIns="91425" wrap="square" tIns="45700">
            <a:normAutofit fontScale="325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pic>
        <p:nvPicPr>
          <p:cNvPr id="301" name="Google Shape;301;g11dc37477a8_1_226"/>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02" name="Google Shape;302;g11dc37477a8_1_226"/>
          <p:cNvSpPr/>
          <p:nvPr/>
        </p:nvSpPr>
        <p:spPr>
          <a:xfrm>
            <a:off x="0" y="533400"/>
            <a:ext cx="9144000" cy="45600"/>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3" name="Google Shape;303;g11dc37477a8_1_226"/>
          <p:cNvSpPr txBox="1"/>
          <p:nvPr/>
        </p:nvSpPr>
        <p:spPr>
          <a:xfrm flipH="1">
            <a:off x="2497502" y="127124"/>
            <a:ext cx="6265500" cy="523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Arial"/>
              <a:buNone/>
            </a:pPr>
            <a:r>
              <a:rPr b="1" lang="en-US" sz="2800">
                <a:solidFill>
                  <a:schemeClr val="dk2"/>
                </a:solidFill>
              </a:rPr>
              <a:t>Demo</a:t>
            </a:r>
            <a:endParaRPr b="0" i="0" sz="1400" u="none" cap="none" strike="noStrike">
              <a:solidFill>
                <a:srgbClr val="000000"/>
              </a:solidFill>
              <a:latin typeface="Arial"/>
              <a:ea typeface="Arial"/>
              <a:cs typeface="Arial"/>
              <a:sym typeface="Arial"/>
            </a:endParaRPr>
          </a:p>
        </p:txBody>
      </p:sp>
      <p:sp>
        <p:nvSpPr>
          <p:cNvPr id="304" name="Google Shape;304;g11dc37477a8_1_226"/>
          <p:cNvSpPr txBox="1"/>
          <p:nvPr/>
        </p:nvSpPr>
        <p:spPr>
          <a:xfrm>
            <a:off x="535050" y="1645325"/>
            <a:ext cx="8073900" cy="554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2400">
                <a:latin typeface="Calibri"/>
                <a:ea typeface="Calibri"/>
                <a:cs typeface="Calibri"/>
                <a:sym typeface="Calibri"/>
              </a:rPr>
              <a:t>Giáo viên demo cấu hình babel cho học viên</a:t>
            </a:r>
            <a:endParaRPr sz="24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91"/>
          <p:cNvSpPr txBox="1"/>
          <p:nvPr>
            <p:ph idx="1" type="subTitle"/>
          </p:nvPr>
        </p:nvSpPr>
        <p:spPr>
          <a:xfrm>
            <a:off x="304800" y="6248400"/>
            <a:ext cx="5867400" cy="486206"/>
          </a:xfrm>
          <a:prstGeom prst="rect">
            <a:avLst/>
          </a:prstGeom>
          <a:noFill/>
          <a:ln>
            <a:noFill/>
          </a:ln>
        </p:spPr>
        <p:txBody>
          <a:bodyPr anchorCtr="0" anchor="t" bIns="45700" lIns="91425" spcFirstLastPara="1" rIns="91425" wrap="square" tIns="45700">
            <a:normAutofit fontScale="32500" lnSpcReduction="20000"/>
          </a:bodyPr>
          <a:lstStyle/>
          <a:p>
            <a:pPr indent="0" lvl="0" marL="0" rtl="0" algn="ctr">
              <a:lnSpc>
                <a:spcPct val="100000"/>
              </a:lnSpc>
              <a:spcBef>
                <a:spcPts val="0"/>
              </a:spcBef>
              <a:spcAft>
                <a:spcPts val="0"/>
              </a:spcAft>
              <a:buClr>
                <a:srgbClr val="888888"/>
              </a:buClr>
              <a:buSzPct val="100000"/>
              <a:buNone/>
            </a:pPr>
            <a:r>
              <a:rPr b="1" lang="en-US"/>
              <a:t> </a:t>
            </a:r>
            <a:endParaRPr/>
          </a:p>
          <a:p>
            <a:pPr indent="0" lvl="0" marL="0" rtl="0" algn="l">
              <a:lnSpc>
                <a:spcPct val="100000"/>
              </a:lnSpc>
              <a:spcBef>
                <a:spcPts val="240"/>
              </a:spcBef>
              <a:spcAft>
                <a:spcPts val="0"/>
              </a:spcAft>
              <a:buClr>
                <a:srgbClr val="888888"/>
              </a:buClr>
              <a:buSzPct val="100000"/>
              <a:buNone/>
            </a:pPr>
            <a:r>
              <a:rPr b="1" lang="en-US" sz="3700">
                <a:latin typeface="Arial"/>
                <a:ea typeface="Arial"/>
                <a:cs typeface="Arial"/>
                <a:sym typeface="Arial"/>
              </a:rPr>
              <a:t> HỌC THỰC TẾ + TUYỂN DỤNG NGAY   |   NIITHANOI.EDU.VN   |   0383.180086</a:t>
            </a:r>
            <a:endParaRPr sz="3700">
              <a:latin typeface="Arial"/>
              <a:ea typeface="Arial"/>
              <a:cs typeface="Arial"/>
              <a:sym typeface="Arial"/>
            </a:endParaRPr>
          </a:p>
        </p:txBody>
      </p:sp>
      <p:cxnSp>
        <p:nvCxnSpPr>
          <p:cNvPr id="310" name="Google Shape;310;p91"/>
          <p:cNvCxnSpPr/>
          <p:nvPr/>
        </p:nvCxnSpPr>
        <p:spPr>
          <a:xfrm>
            <a:off x="0" y="6096000"/>
            <a:ext cx="9144000" cy="0"/>
          </a:xfrm>
          <a:prstGeom prst="straightConnector1">
            <a:avLst/>
          </a:prstGeom>
          <a:noFill/>
          <a:ln cap="flat" cmpd="sng" w="25400">
            <a:solidFill>
              <a:srgbClr val="003999"/>
            </a:solidFill>
            <a:prstDash val="solid"/>
            <a:round/>
            <a:headEnd len="sm" w="sm" type="none"/>
            <a:tailEnd len="sm" w="sm" type="none"/>
          </a:ln>
          <a:effectLst>
            <a:outerShdw blurRad="40000" rotWithShape="0" dir="5400000" dist="20000">
              <a:srgbClr val="000000">
                <a:alpha val="36470"/>
              </a:srgbClr>
            </a:outerShdw>
          </a:effectLst>
        </p:spPr>
      </p:cxnSp>
      <p:sp>
        <p:nvSpPr>
          <p:cNvPr id="311" name="Google Shape;311;p91"/>
          <p:cNvSpPr txBox="1"/>
          <p:nvPr>
            <p:ph type="ctrTitle"/>
          </p:nvPr>
        </p:nvSpPr>
        <p:spPr>
          <a:xfrm>
            <a:off x="381000" y="762000"/>
            <a:ext cx="8382000" cy="3581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3999"/>
              </a:buClr>
              <a:buSzPts val="4400"/>
              <a:buFont typeface="Calibri"/>
              <a:buNone/>
            </a:pPr>
            <a:br>
              <a:rPr lang="en-US">
                <a:solidFill>
                  <a:srgbClr val="003999"/>
                </a:solidFill>
              </a:rPr>
            </a:br>
            <a:endParaRPr sz="4200">
              <a:solidFill>
                <a:schemeClr val="dk2"/>
              </a:solidFill>
              <a:latin typeface="Calibri"/>
              <a:ea typeface="Calibri"/>
              <a:cs typeface="Calibri"/>
              <a:sym typeface="Calibri"/>
            </a:endParaRPr>
          </a:p>
        </p:txBody>
      </p:sp>
      <p:pic>
        <p:nvPicPr>
          <p:cNvPr id="312" name="Google Shape;312;p91"/>
          <p:cNvPicPr preferRelativeResize="0"/>
          <p:nvPr/>
        </p:nvPicPr>
        <p:blipFill rotWithShape="1">
          <a:blip r:embed="rId3">
            <a:alphaModFix/>
          </a:blip>
          <a:srcRect b="0" l="0" r="0" t="0"/>
          <a:stretch/>
        </p:blipFill>
        <p:spPr>
          <a:xfrm>
            <a:off x="7373841" y="6206612"/>
            <a:ext cx="1389157" cy="486205"/>
          </a:xfrm>
          <a:prstGeom prst="rect">
            <a:avLst/>
          </a:prstGeom>
          <a:noFill/>
          <a:ln>
            <a:noFill/>
          </a:ln>
        </p:spPr>
      </p:pic>
      <p:sp>
        <p:nvSpPr>
          <p:cNvPr id="313" name="Google Shape;313;p91"/>
          <p:cNvSpPr/>
          <p:nvPr/>
        </p:nvSpPr>
        <p:spPr>
          <a:xfrm>
            <a:off x="0" y="533400"/>
            <a:ext cx="9144000" cy="45719"/>
          </a:xfrm>
          <a:prstGeom prst="rect">
            <a:avLst/>
          </a:prstGeom>
          <a:gradFill>
            <a:gsLst>
              <a:gs pos="0">
                <a:srgbClr val="E0E8F4"/>
              </a:gs>
              <a:gs pos="2000">
                <a:srgbClr val="E0E8F4"/>
              </a:gs>
              <a:gs pos="50000">
                <a:srgbClr val="BFCFEC"/>
              </a:gs>
              <a:gs pos="98000">
                <a:srgbClr val="97B4E4"/>
              </a:gs>
              <a:gs pos="100000">
                <a:srgbClr val="97B4E4"/>
              </a:gs>
            </a:gsLst>
            <a:lin ang="0" scaled="0"/>
          </a:gradFill>
          <a:ln cap="flat" cmpd="sng" w="25400">
            <a:solidFill>
              <a:srgbClr val="97B4E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14" name="Google Shape;314;p91"/>
          <p:cNvPicPr preferRelativeResize="0"/>
          <p:nvPr/>
        </p:nvPicPr>
        <p:blipFill rotWithShape="1">
          <a:blip r:embed="rId4">
            <a:alphaModFix/>
          </a:blip>
          <a:srcRect b="0" l="0" r="0" t="0"/>
          <a:stretch/>
        </p:blipFill>
        <p:spPr>
          <a:xfrm>
            <a:off x="1309686" y="762000"/>
            <a:ext cx="6829425" cy="4848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2021-03-05T02:20:42Z</dcterms:created>
  <dc:creator>GIAOVU</dc:creator>
</cp:coreProperties>
</file>