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1" roundtripDataSignature="AMtx7mgAobawVIsKAa9f2Q6584yQQ//g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61c1426d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1161c1426d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77ca90c18cbf43d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77ca90c18cbf43d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77ca90c18cbf43d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77ca90c18cbf43d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77ca90c18cbf43d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77ca90c18cbf43d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77ca90c18cbf43d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77ca90c18cbf43d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77ca90c18cbf43d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77ca90c18cbf43d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65ac7f65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1165ac7f65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77ca90c18cbf43d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g77ca90c18cbf43d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81b15a82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1181b15a82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7faabe95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117faabe95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81b15a820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g1181b15a820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81b15a820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1181b15a820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792288" y="612775"/>
            <a:ext cx="5486400" cy="4114800"/>
          </a:xfrm>
          <a:prstGeom prst="rect">
            <a:avLst/>
          </a:prstGeom>
          <a:noFill/>
          <a:ln>
            <a:noFill/>
          </a:ln>
        </p:spPr>
      </p:sp>
      <p:sp>
        <p:nvSpPr>
          <p:cNvPr id="64" name="Google Shape;64;p1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1</a:t>
            </a:r>
            <a:r>
              <a:rPr b="1" lang="en-US">
                <a:solidFill>
                  <a:schemeClr val="dk2"/>
                </a:solidFill>
              </a:rPr>
              <a:t>. </a:t>
            </a:r>
            <a:br>
              <a:rPr b="1" lang="en-US">
                <a:solidFill>
                  <a:schemeClr val="dk2"/>
                </a:solidFill>
              </a:rPr>
            </a:br>
            <a:r>
              <a:rPr b="1" lang="en-US">
                <a:solidFill>
                  <a:schemeClr val="dk2"/>
                </a:solidFill>
              </a:rPr>
              <a:t>Section 3</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94" name="Google Shape;94;p2"/>
          <p:cNvSpPr txBox="1"/>
          <p:nvPr>
            <p:ph type="ctrTitle"/>
          </p:nvPr>
        </p:nvSpPr>
        <p:spPr>
          <a:xfrm>
            <a:off x="650100" y="1235499"/>
            <a:ext cx="7983600" cy="5264100"/>
          </a:xfrm>
          <a:prstGeom prst="rect">
            <a:avLst/>
          </a:prstGeom>
          <a:noFill/>
          <a:ln>
            <a:noFill/>
          </a:ln>
        </p:spPr>
        <p:txBody>
          <a:bodyPr anchorCtr="0" anchor="ctr" bIns="45700" lIns="91425" spcFirstLastPara="1" rIns="91425" wrap="square" tIns="45700">
            <a:spAutoFit/>
          </a:bodyPr>
          <a:lstStyle/>
          <a:p>
            <a:pPr indent="-457200" lvl="0" marL="457200" rtl="0" algn="l">
              <a:lnSpc>
                <a:spcPct val="100000"/>
              </a:lnSpc>
              <a:spcBef>
                <a:spcPts val="0"/>
              </a:spcBef>
              <a:spcAft>
                <a:spcPts val="0"/>
              </a:spcAft>
              <a:buClr>
                <a:schemeClr val="dk2"/>
              </a:buClr>
              <a:buSzPts val="4200"/>
              <a:buChar char="❖"/>
            </a:pPr>
            <a:r>
              <a:rPr lang="en-US" sz="4200">
                <a:solidFill>
                  <a:schemeClr val="dk2"/>
                </a:solidFill>
              </a:rPr>
              <a:t>Hiển thị block và inline</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Thuộc tính display </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S</a:t>
            </a:r>
            <a:r>
              <a:rPr lang="en-US" sz="4200">
                <a:solidFill>
                  <a:schemeClr val="dk2"/>
                </a:solidFill>
              </a:rPr>
              <a:t>ắp xếp bố cục(layout giao diện)</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Thuộc tính float, clear</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Kỹ thuật clearfix</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Kỹ thuật sắp xếp bố cục sử dụng float</a:t>
            </a:r>
            <a:endParaRPr sz="4200">
              <a:solidFill>
                <a:schemeClr val="dk2"/>
              </a:solidFill>
            </a:endParaRPr>
          </a:p>
          <a:p>
            <a:pPr indent="0" lvl="0" marL="0" rtl="0" algn="l">
              <a:lnSpc>
                <a:spcPct val="100000"/>
              </a:lnSpc>
              <a:spcBef>
                <a:spcPts val="0"/>
              </a:spcBef>
              <a:spcAft>
                <a:spcPts val="0"/>
              </a:spcAft>
              <a:buSzPts val="1800"/>
              <a:buNone/>
            </a:pPr>
            <a:r>
              <a:t/>
            </a:r>
            <a:endParaRPr sz="4200">
              <a:solidFill>
                <a:schemeClr val="dk2"/>
              </a:solidFill>
              <a:latin typeface="Calibri"/>
              <a:ea typeface="Calibri"/>
              <a:cs typeface="Calibri"/>
              <a:sym typeface="Calibri"/>
            </a:endParaRPr>
          </a:p>
        </p:txBody>
      </p:sp>
      <p:pic>
        <p:nvPicPr>
          <p:cNvPr id="95" name="Google Shape;95;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96" name="Google Shape;96;p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Tổng quan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1161c1426dc_0_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3" name="Google Shape;103;g1161c1426dc_0_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104" name="Google Shape;104;g1161c1426dc_0_7"/>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400"/>
              <a:buChar char="●"/>
            </a:pPr>
            <a:r>
              <a:rPr lang="en-US" sz="2400">
                <a:solidFill>
                  <a:schemeClr val="dk2"/>
                </a:solidFill>
              </a:rPr>
              <a:t>Thuộc tính display cho phép xác định kiểu hiển thị của phần tử HTML</a:t>
            </a:r>
            <a:endParaRPr sz="2400">
              <a:solidFill>
                <a:schemeClr val="dk2"/>
              </a:solidFill>
            </a:endParaRPr>
          </a:p>
          <a:p>
            <a:pPr indent="0" lvl="0" marL="0" rtl="0" algn="l">
              <a:lnSpc>
                <a:spcPct val="100000"/>
              </a:lnSpc>
              <a:spcBef>
                <a:spcPts val="0"/>
              </a:spcBef>
              <a:spcAft>
                <a:spcPts val="0"/>
              </a:spcAft>
              <a:buClr>
                <a:schemeClr val="dk2"/>
              </a:buClr>
              <a:buSzPts val="2400"/>
              <a:buChar char="●"/>
            </a:pPr>
            <a:r>
              <a:rPr lang="en-US" sz="2400">
                <a:solidFill>
                  <a:schemeClr val="dk2"/>
                </a:solidFill>
              </a:rPr>
              <a:t>Trong mô hình hộp, một box sẽ có hai cấp độ hiển thị là block hoặc inline </a:t>
            </a:r>
            <a:endParaRPr sz="2400">
              <a:solidFill>
                <a:schemeClr val="dk2"/>
              </a:solidFill>
            </a:endParaRPr>
          </a:p>
          <a:p>
            <a:pPr indent="0" lvl="0" marL="0" rtl="0" algn="l">
              <a:lnSpc>
                <a:spcPct val="100000"/>
              </a:lnSpc>
              <a:spcBef>
                <a:spcPts val="0"/>
              </a:spcBef>
              <a:spcAft>
                <a:spcPts val="0"/>
              </a:spcAft>
              <a:buClr>
                <a:schemeClr val="dk2"/>
              </a:buClr>
              <a:buSzPts val="2400"/>
              <a:buChar char="●"/>
            </a:pPr>
            <a:r>
              <a:rPr lang="en-US" sz="2400">
                <a:solidFill>
                  <a:schemeClr val="dk2"/>
                </a:solidFill>
              </a:rPr>
              <a:t>Các thẻ HTML mặc định sẽ có cách hiển thị là block(theo khối) hoặc inline(theo dòng), thẻ có cách hiển thị là block được goi là block level tag, thẻ có cách hiển thị inline được gọi là inline level tag</a:t>
            </a:r>
            <a:endParaRPr sz="2400">
              <a:solidFill>
                <a:schemeClr val="dk2"/>
              </a:solidFill>
            </a:endParaRPr>
          </a:p>
          <a:p>
            <a:pPr indent="0" lvl="0" marL="0" rtl="0" algn="l">
              <a:lnSpc>
                <a:spcPct val="100000"/>
              </a:lnSpc>
              <a:spcBef>
                <a:spcPts val="0"/>
              </a:spcBef>
              <a:spcAft>
                <a:spcPts val="0"/>
              </a:spcAft>
              <a:buClr>
                <a:schemeClr val="dk2"/>
              </a:buClr>
              <a:buSzPts val="2400"/>
              <a:buChar char="●"/>
            </a:pPr>
            <a:r>
              <a:rPr lang="en-US" sz="2400">
                <a:solidFill>
                  <a:schemeClr val="dk2"/>
                </a:solidFill>
              </a:rPr>
              <a:t>Thuộc tính display của CSS cho phép ghi đè nên thuộc tính mặc đinh của thẻ, có thể biến đổi một thẻ từ cách hiển thị block thành inline và ngược lại, ngoài ra nó còn có thể làm được nhiều hơn thế nữa.</a:t>
            </a:r>
            <a:endParaRPr sz="2400">
              <a:solidFill>
                <a:schemeClr val="dk2"/>
              </a:solidFill>
            </a:endParaRPr>
          </a:p>
        </p:txBody>
      </p:sp>
      <p:pic>
        <p:nvPicPr>
          <p:cNvPr id="105" name="Google Shape;105;g1161c1426dc_0_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6" name="Google Shape;106;g1161c1426dc_0_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g1161c1426dc_0_7"/>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2"/>
                </a:solidFill>
              </a:rPr>
              <a:t>Hiển thị block và inline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77ca90c18cbf43d_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0383.180086aa</a:t>
            </a:r>
            <a:endParaRPr sz="3700">
              <a:latin typeface="Arial"/>
              <a:ea typeface="Arial"/>
              <a:cs typeface="Arial"/>
              <a:sym typeface="Arial"/>
            </a:endParaRPr>
          </a:p>
        </p:txBody>
      </p:sp>
      <p:cxnSp>
        <p:nvCxnSpPr>
          <p:cNvPr id="113" name="Google Shape;113;g77ca90c18cbf43d_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14" name="Google Shape;114;g77ca90c18cbf43d_5"/>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Hiển thị theo khối tức là phần tử đó sẽ chiếm không gian chi</a:t>
            </a:r>
            <a:r>
              <a:rPr lang="en-US" sz="2400">
                <a:solidFill>
                  <a:schemeClr val="dk2"/>
                </a:solidFill>
              </a:rPr>
              <a:t>ều ngang bằng đúng chiều ngang của phần tử cha chứa nó, các phần tử nối sau nó bắt buộc phải hiển thị xuống một dòng mới</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Các thẻ sau mặc định sẽ có cách hiển thị theo khối: div, p, h,article,aside,section, pre, table,ul,ol…</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Ví dụ: </a:t>
            </a:r>
            <a:endParaRPr sz="2400">
              <a:solidFill>
                <a:schemeClr val="dk2"/>
              </a:solidFill>
            </a:endParaRPr>
          </a:p>
        </p:txBody>
      </p:sp>
      <p:pic>
        <p:nvPicPr>
          <p:cNvPr id="115" name="Google Shape;115;g77ca90c18cbf43d_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6" name="Google Shape;116;g77ca90c18cbf43d_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g77ca90c18cbf43d_5"/>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rPr>
              <a:t>Hiển thị block và inline</a:t>
            </a:r>
            <a:endParaRPr b="1" sz="2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77ca90c18cbf43d_14"/>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3" name="Google Shape;123;g77ca90c18cbf43d_1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24" name="Google Shape;124;g77ca90c18cbf43d_14"/>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Hiển thị theo dòng tức là phần tử sẽ chiếm không gian chiều ngang bằng đúng chiều ngang nội dung bên trong nó, ph</a:t>
            </a:r>
            <a:r>
              <a:rPr lang="en-US" sz="2400">
                <a:solidFill>
                  <a:schemeClr val="dk2"/>
                </a:solidFill>
              </a:rPr>
              <a:t>ần tử phía sau nó có thể hiển thị trên cùng dòng với nó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Các phần tử có cách hiển thị theo dòng sé không thể cài đặt thuộc tính width hoặc height của CSS được</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Các thẻ sau mặc định sẽ có cách hiển thị theo khối: span, a, stroke, mark, strong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Ví dụ: </a:t>
            </a:r>
            <a:endParaRPr sz="2400">
              <a:solidFill>
                <a:schemeClr val="dk2"/>
              </a:solidFill>
            </a:endParaRPr>
          </a:p>
        </p:txBody>
      </p:sp>
      <p:pic>
        <p:nvPicPr>
          <p:cNvPr id="125" name="Google Shape;125;g77ca90c18cbf43d_1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6" name="Google Shape;126;g77ca90c18cbf43d_14"/>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 name="Google Shape;127;g77ca90c18cbf43d_14"/>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2"/>
                </a:solidFill>
              </a:rPr>
              <a:t>Hiển thị block và inline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77ca90c18cbf43d_3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3" name="Google Shape;133;g77ca90c18cbf43d_3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34" name="Google Shape;134;g77ca90c18cbf43d_32"/>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Clr>
                <a:schemeClr val="dk2"/>
              </a:buClr>
              <a:buSzPts val="2400"/>
              <a:buChar char="●"/>
            </a:pPr>
            <a:r>
              <a:rPr lang="en-US" sz="2400">
                <a:solidFill>
                  <a:schemeClr val="dk2"/>
                </a:solidFill>
              </a:rPr>
              <a:t>Thuộc tính display của CSS cho phép ghi đè nên cách hiển thị mặc định của thẻ </a:t>
            </a:r>
            <a:endParaRPr sz="2400">
              <a:solidFill>
                <a:schemeClr val="dk2"/>
              </a:solidFill>
            </a:endParaRPr>
          </a:p>
          <a:p>
            <a:pPr indent="-381000" lvl="0" marL="457200" rtl="0" algn="l">
              <a:lnSpc>
                <a:spcPct val="100000"/>
              </a:lnSpc>
              <a:spcBef>
                <a:spcPts val="0"/>
              </a:spcBef>
              <a:spcAft>
                <a:spcPts val="0"/>
              </a:spcAft>
              <a:buClr>
                <a:schemeClr val="dk2"/>
              </a:buClr>
              <a:buSzPts val="2400"/>
              <a:buChar char="●"/>
            </a:pPr>
            <a:r>
              <a:rPr lang="en-US" sz="2400">
                <a:solidFill>
                  <a:schemeClr val="dk2"/>
                </a:solidFill>
              </a:rPr>
              <a:t>Thuộc tính này có thể chuyển đổi thẻ hiển thị theo khối thành theo dòng và ngược lại, thuộc tính này cũng cho phép một phần tử có thể vừa hiển thị theo khối và vừa hiển thị theo dòng, ngoài ra thuộc tính này còn cho phép một phần tử bị ẩn đi khỏi giao diện và hơn thế nữa( tìm hiểu sau)</a:t>
            </a:r>
            <a:endParaRPr sz="2400">
              <a:solidFill>
                <a:schemeClr val="dk2"/>
              </a:solidFill>
            </a:endParaRPr>
          </a:p>
        </p:txBody>
      </p:sp>
      <p:pic>
        <p:nvPicPr>
          <p:cNvPr id="135" name="Google Shape;135;g77ca90c18cbf43d_3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6" name="Google Shape;136;g77ca90c18cbf43d_3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 name="Google Shape;137;g77ca90c18cbf43d_32"/>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77ca90c18cbf43d_4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3" name="Google Shape;143;g77ca90c18cbf43d_4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44" name="Google Shape;144;g77ca90c18cbf43d_41"/>
          <p:cNvSpPr txBox="1"/>
          <p:nvPr>
            <p:ph type="ctrTitle"/>
          </p:nvPr>
        </p:nvSpPr>
        <p:spPr>
          <a:xfrm>
            <a:off x="304800" y="1110973"/>
            <a:ext cx="8458200" cy="3544800"/>
          </a:xfrm>
          <a:prstGeom prst="rect">
            <a:avLst/>
          </a:prstGeom>
          <a:noFill/>
          <a:ln>
            <a:noFill/>
          </a:ln>
        </p:spPr>
        <p:txBody>
          <a:bodyPr anchorCtr="0" anchor="ctr" bIns="45700" lIns="91425" spcFirstLastPara="1" rIns="91425" wrap="square" tIns="45700">
            <a:normAutofit fontScale="90000"/>
          </a:bodyPr>
          <a:lstStyle/>
          <a:p>
            <a:pPr indent="-365760" lvl="0" marL="457200" rtl="0" algn="l">
              <a:lnSpc>
                <a:spcPct val="100000"/>
              </a:lnSpc>
              <a:spcBef>
                <a:spcPts val="0"/>
              </a:spcBef>
              <a:spcAft>
                <a:spcPts val="0"/>
              </a:spcAft>
              <a:buClr>
                <a:schemeClr val="dk2"/>
              </a:buClr>
              <a:buSzPct val="100000"/>
              <a:buChar char="●"/>
            </a:pPr>
            <a:r>
              <a:rPr lang="en-US" sz="2400">
                <a:solidFill>
                  <a:schemeClr val="dk2"/>
                </a:solidFill>
              </a:rPr>
              <a:t>Thuộc tính display có rất nhiều giá trị, trong đó phổ biến nhất là </a:t>
            </a:r>
            <a:r>
              <a:rPr b="1" lang="en-US" sz="2400">
                <a:solidFill>
                  <a:schemeClr val="dk2"/>
                </a:solidFill>
              </a:rPr>
              <a:t>block</a:t>
            </a:r>
            <a:r>
              <a:rPr lang="en-US" sz="2400">
                <a:solidFill>
                  <a:schemeClr val="dk2"/>
                </a:solidFill>
              </a:rPr>
              <a:t>, </a:t>
            </a:r>
            <a:r>
              <a:rPr b="1" lang="en-US" sz="2400">
                <a:solidFill>
                  <a:schemeClr val="dk2"/>
                </a:solidFill>
              </a:rPr>
              <a:t>inline</a:t>
            </a:r>
            <a:r>
              <a:rPr lang="en-US" sz="2400">
                <a:solidFill>
                  <a:schemeClr val="dk2"/>
                </a:solidFill>
              </a:rPr>
              <a:t>, </a:t>
            </a:r>
            <a:r>
              <a:rPr b="1" lang="en-US" sz="2400">
                <a:solidFill>
                  <a:schemeClr val="dk2"/>
                </a:solidFill>
              </a:rPr>
              <a:t>inline-block</a:t>
            </a:r>
            <a:r>
              <a:rPr lang="en-US" sz="2400">
                <a:solidFill>
                  <a:schemeClr val="dk2"/>
                </a:solidFill>
              </a:rPr>
              <a:t> và </a:t>
            </a:r>
            <a:r>
              <a:rPr b="1" lang="en-US" sz="2400">
                <a:solidFill>
                  <a:schemeClr val="dk2"/>
                </a:solidFill>
              </a:rPr>
              <a:t>none</a:t>
            </a:r>
            <a:endParaRPr b="1" sz="2400">
              <a:solidFill>
                <a:schemeClr val="dk2"/>
              </a:solidFill>
            </a:endParaRPr>
          </a:p>
          <a:p>
            <a:pPr indent="-365760" lvl="0" marL="457200" rtl="0" algn="l">
              <a:lnSpc>
                <a:spcPct val="100000"/>
              </a:lnSpc>
              <a:spcBef>
                <a:spcPts val="0"/>
              </a:spcBef>
              <a:spcAft>
                <a:spcPts val="0"/>
              </a:spcAft>
              <a:buClr>
                <a:schemeClr val="dk2"/>
              </a:buClr>
              <a:buSzPct val="100000"/>
              <a:buChar char="●"/>
            </a:pPr>
            <a:r>
              <a:rPr b="1" lang="en-US" sz="2400">
                <a:solidFill>
                  <a:schemeClr val="dk2"/>
                </a:solidFill>
              </a:rPr>
              <a:t>Block:</a:t>
            </a:r>
            <a:r>
              <a:rPr lang="en-US" sz="2400">
                <a:solidFill>
                  <a:schemeClr val="dk2"/>
                </a:solidFill>
              </a:rPr>
              <a:t> phần tử hiển thị dưới dạng từng khối, mỗi khối sẽ chiếm toàn bộ chiều ngang của phần tử cha </a:t>
            </a:r>
            <a:endParaRPr sz="2400">
              <a:solidFill>
                <a:schemeClr val="dk2"/>
              </a:solidFill>
            </a:endParaRPr>
          </a:p>
          <a:p>
            <a:pPr indent="-365760" lvl="0" marL="457200" rtl="0" algn="l">
              <a:lnSpc>
                <a:spcPct val="100000"/>
              </a:lnSpc>
              <a:spcBef>
                <a:spcPts val="0"/>
              </a:spcBef>
              <a:spcAft>
                <a:spcPts val="0"/>
              </a:spcAft>
              <a:buClr>
                <a:schemeClr val="dk2"/>
              </a:buClr>
              <a:buSzPct val="100000"/>
              <a:buChar char="●"/>
            </a:pPr>
            <a:r>
              <a:rPr b="1" lang="en-US" sz="2400">
                <a:solidFill>
                  <a:schemeClr val="dk2"/>
                </a:solidFill>
              </a:rPr>
              <a:t>Inline:</a:t>
            </a:r>
            <a:r>
              <a:rPr lang="en-US" sz="2400">
                <a:solidFill>
                  <a:schemeClr val="dk2"/>
                </a:solidFill>
              </a:rPr>
              <a:t> phần tử hiển thị liền dòng nhau, khi phần tử có display là inline, nó không thể cài đặt chiều cao và chiều rộng thông qua width và height</a:t>
            </a:r>
            <a:endParaRPr sz="2400">
              <a:solidFill>
                <a:schemeClr val="dk2"/>
              </a:solidFill>
            </a:endParaRPr>
          </a:p>
          <a:p>
            <a:pPr indent="-365760" lvl="0" marL="457200" rtl="0" algn="l">
              <a:lnSpc>
                <a:spcPct val="100000"/>
              </a:lnSpc>
              <a:spcBef>
                <a:spcPts val="0"/>
              </a:spcBef>
              <a:spcAft>
                <a:spcPts val="0"/>
              </a:spcAft>
              <a:buClr>
                <a:schemeClr val="dk2"/>
              </a:buClr>
              <a:buSzPct val="100000"/>
              <a:buChar char="●"/>
            </a:pPr>
            <a:r>
              <a:rPr b="1" lang="en-US" sz="2400">
                <a:solidFill>
                  <a:schemeClr val="dk2"/>
                </a:solidFill>
              </a:rPr>
              <a:t>Inline-Block:</a:t>
            </a:r>
            <a:r>
              <a:rPr lang="en-US" sz="2400">
                <a:solidFill>
                  <a:schemeClr val="dk2"/>
                </a:solidFill>
              </a:rPr>
              <a:t> Vừa cho phép hiển thị liền dòng, vừa set được chiều cao và chiều rộng thông qua thuộc tính </a:t>
            </a:r>
            <a:r>
              <a:rPr b="1" lang="en-US" sz="2400">
                <a:solidFill>
                  <a:schemeClr val="dk2"/>
                </a:solidFill>
              </a:rPr>
              <a:t>width</a:t>
            </a:r>
            <a:r>
              <a:rPr lang="en-US" sz="2400">
                <a:solidFill>
                  <a:schemeClr val="dk2"/>
                </a:solidFill>
              </a:rPr>
              <a:t> và </a:t>
            </a:r>
            <a:r>
              <a:rPr b="1" lang="en-US" sz="2400">
                <a:solidFill>
                  <a:schemeClr val="dk2"/>
                </a:solidFill>
              </a:rPr>
              <a:t>height</a:t>
            </a:r>
            <a:endParaRPr b="1" sz="2400">
              <a:solidFill>
                <a:schemeClr val="dk2"/>
              </a:solidFill>
            </a:endParaRPr>
          </a:p>
          <a:p>
            <a:pPr indent="-365760" lvl="0" marL="457200" rtl="0" algn="l">
              <a:lnSpc>
                <a:spcPct val="100000"/>
              </a:lnSpc>
              <a:spcBef>
                <a:spcPts val="0"/>
              </a:spcBef>
              <a:spcAft>
                <a:spcPts val="0"/>
              </a:spcAft>
              <a:buClr>
                <a:schemeClr val="dk2"/>
              </a:buClr>
              <a:buSzPct val="100000"/>
              <a:buChar char="●"/>
            </a:pPr>
            <a:r>
              <a:rPr b="1" lang="en-US" sz="2400">
                <a:solidFill>
                  <a:schemeClr val="dk2"/>
                </a:solidFill>
              </a:rPr>
              <a:t>None: </a:t>
            </a:r>
            <a:r>
              <a:rPr lang="en-US" sz="2400">
                <a:solidFill>
                  <a:schemeClr val="dk2"/>
                </a:solidFill>
              </a:rPr>
              <a:t>Không hiển thị ra giao diện</a:t>
            </a:r>
            <a:endParaRPr sz="2400">
              <a:solidFill>
                <a:schemeClr val="dk2"/>
              </a:solidFill>
            </a:endParaRPr>
          </a:p>
        </p:txBody>
      </p:sp>
      <p:pic>
        <p:nvPicPr>
          <p:cNvPr id="145" name="Google Shape;145;g77ca90c18cbf43d_4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46" name="Google Shape;146;g77ca90c18cbf43d_4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g77ca90c18cbf43d_41"/>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77ca90c18cbf43d_5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3" name="Google Shape;153;g77ca90c18cbf43d_5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54" name="Google Shape;154;g77ca90c18cbf43d_59"/>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US" sz="2400">
                <a:solidFill>
                  <a:schemeClr val="dk2"/>
                </a:solidFill>
              </a:rPr>
              <a:t>Giáo viên demo về thuộc tính display với các giá trị: inline,block, inline-block, none</a:t>
            </a:r>
            <a:endParaRPr sz="2400">
              <a:solidFill>
                <a:schemeClr val="dk2"/>
              </a:solidFill>
            </a:endParaRPr>
          </a:p>
        </p:txBody>
      </p:sp>
      <p:pic>
        <p:nvPicPr>
          <p:cNvPr id="155" name="Google Shape;155;g77ca90c18cbf43d_5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56" name="Google Shape;156;g77ca90c18cbf43d_5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g77ca90c18cbf43d_59"/>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165ac7f65e_1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3" name="Google Shape;163;g1165ac7f65e_1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164" name="Google Shape;164;g1165ac7f65e_1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5" name="Google Shape;165;g1165ac7f65e_1_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g1165ac7f65e_1_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2"/>
                </a:solidFill>
              </a:rPr>
              <a:t>3 cách sắp xếp bố cục</a:t>
            </a:r>
            <a:endParaRPr b="0" i="0" sz="1400" u="none" cap="none" strike="noStrike">
              <a:solidFill>
                <a:srgbClr val="000000"/>
              </a:solidFill>
              <a:latin typeface="Arial"/>
              <a:ea typeface="Arial"/>
              <a:cs typeface="Arial"/>
              <a:sym typeface="Arial"/>
            </a:endParaRPr>
          </a:p>
        </p:txBody>
      </p:sp>
      <p:sp>
        <p:nvSpPr>
          <p:cNvPr id="167" name="Google Shape;167;g1165ac7f65e_1_0"/>
          <p:cNvSpPr/>
          <p:nvPr/>
        </p:nvSpPr>
        <p:spPr>
          <a:xfrm>
            <a:off x="1295625" y="908800"/>
            <a:ext cx="6896700" cy="52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400">
                <a:solidFill>
                  <a:schemeClr val="dk2"/>
                </a:solidFill>
                <a:latin typeface="Calibri"/>
                <a:ea typeface="Calibri"/>
                <a:cs typeface="Calibri"/>
                <a:sym typeface="Calibri"/>
              </a:rPr>
              <a:t>Có 3 cách để sắp xếp bố cục giao diện web</a:t>
            </a:r>
            <a:endParaRPr sz="2400">
              <a:solidFill>
                <a:schemeClr val="dk2"/>
              </a:solidFill>
              <a:latin typeface="Calibri"/>
              <a:ea typeface="Calibri"/>
              <a:cs typeface="Calibri"/>
              <a:sym typeface="Calibri"/>
            </a:endParaRPr>
          </a:p>
        </p:txBody>
      </p:sp>
      <p:pic>
        <p:nvPicPr>
          <p:cNvPr id="168" name="Google Shape;168;g1165ac7f65e_1_0"/>
          <p:cNvPicPr preferRelativeResize="0"/>
          <p:nvPr/>
        </p:nvPicPr>
        <p:blipFill>
          <a:blip r:embed="rId4">
            <a:alphaModFix/>
          </a:blip>
          <a:stretch>
            <a:fillRect/>
          </a:stretch>
        </p:blipFill>
        <p:spPr>
          <a:xfrm>
            <a:off x="196800" y="1709925"/>
            <a:ext cx="2853850" cy="973275"/>
          </a:xfrm>
          <a:prstGeom prst="rect">
            <a:avLst/>
          </a:prstGeom>
          <a:noFill/>
          <a:ln>
            <a:noFill/>
          </a:ln>
        </p:spPr>
      </p:pic>
      <p:pic>
        <p:nvPicPr>
          <p:cNvPr id="169" name="Google Shape;169;g1165ac7f65e_1_0"/>
          <p:cNvPicPr preferRelativeResize="0"/>
          <p:nvPr/>
        </p:nvPicPr>
        <p:blipFill>
          <a:blip r:embed="rId5">
            <a:alphaModFix/>
          </a:blip>
          <a:stretch>
            <a:fillRect/>
          </a:stretch>
        </p:blipFill>
        <p:spPr>
          <a:xfrm>
            <a:off x="196800" y="2870500"/>
            <a:ext cx="2853851" cy="1086393"/>
          </a:xfrm>
          <a:prstGeom prst="rect">
            <a:avLst/>
          </a:prstGeom>
          <a:noFill/>
          <a:ln>
            <a:noFill/>
          </a:ln>
        </p:spPr>
      </p:pic>
      <p:pic>
        <p:nvPicPr>
          <p:cNvPr id="170" name="Google Shape;170;g1165ac7f65e_1_0"/>
          <p:cNvPicPr preferRelativeResize="0"/>
          <p:nvPr/>
        </p:nvPicPr>
        <p:blipFill>
          <a:blip r:embed="rId6">
            <a:alphaModFix/>
          </a:blip>
          <a:stretch>
            <a:fillRect/>
          </a:stretch>
        </p:blipFill>
        <p:spPr>
          <a:xfrm>
            <a:off x="242125" y="4150200"/>
            <a:ext cx="2808526" cy="1752500"/>
          </a:xfrm>
          <a:prstGeom prst="rect">
            <a:avLst/>
          </a:prstGeom>
          <a:noFill/>
          <a:ln>
            <a:noFill/>
          </a:ln>
        </p:spPr>
      </p:pic>
      <p:sp>
        <p:nvSpPr>
          <p:cNvPr id="171" name="Google Shape;171;g1165ac7f65e_1_0"/>
          <p:cNvSpPr txBox="1"/>
          <p:nvPr/>
        </p:nvSpPr>
        <p:spPr>
          <a:xfrm>
            <a:off x="3682650" y="1724750"/>
            <a:ext cx="4509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1. Float layouts: </a:t>
            </a:r>
            <a:r>
              <a:rPr lang="en-US">
                <a:latin typeface="Calibri"/>
                <a:ea typeface="Calibri"/>
                <a:cs typeface="Calibri"/>
                <a:sym typeface="Calibri"/>
              </a:rPr>
              <a:t>Đây là cách cũ sử dụng thuộc tính float để sắp xếp bố cục, cách này hiện tại vẫn được sử dụng nhưng sẽ sớm bị khai tử </a:t>
            </a:r>
            <a:endParaRPr>
              <a:latin typeface="Calibri"/>
              <a:ea typeface="Calibri"/>
              <a:cs typeface="Calibri"/>
              <a:sym typeface="Calibri"/>
            </a:endParaRPr>
          </a:p>
        </p:txBody>
      </p:sp>
      <p:sp>
        <p:nvSpPr>
          <p:cNvPr id="172" name="Google Shape;172;g1165ac7f65e_1_0"/>
          <p:cNvSpPr txBox="1"/>
          <p:nvPr/>
        </p:nvSpPr>
        <p:spPr>
          <a:xfrm>
            <a:off x="3731425" y="3045325"/>
            <a:ext cx="478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2. Flexbox: </a:t>
            </a:r>
            <a:r>
              <a:rPr lang="en-US">
                <a:latin typeface="Calibri"/>
                <a:ea typeface="Calibri"/>
                <a:cs typeface="Calibri"/>
                <a:sym typeface="Calibri"/>
              </a:rPr>
              <a:t>Đây là cách mới để sắp xếp bố cục, thích hợp sắp xếp bố cục một chiều</a:t>
            </a:r>
            <a:endParaRPr>
              <a:latin typeface="Calibri"/>
              <a:ea typeface="Calibri"/>
              <a:cs typeface="Calibri"/>
              <a:sym typeface="Calibri"/>
            </a:endParaRPr>
          </a:p>
        </p:txBody>
      </p:sp>
      <p:sp>
        <p:nvSpPr>
          <p:cNvPr id="173" name="Google Shape;173;g1165ac7f65e_1_0"/>
          <p:cNvSpPr txBox="1"/>
          <p:nvPr/>
        </p:nvSpPr>
        <p:spPr>
          <a:xfrm>
            <a:off x="3731425" y="4150200"/>
            <a:ext cx="478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3. CSS Grid: </a:t>
            </a:r>
            <a:r>
              <a:rPr lang="en-US">
                <a:latin typeface="Calibri"/>
                <a:ea typeface="Calibri"/>
                <a:cs typeface="Calibri"/>
                <a:sym typeface="Calibri"/>
              </a:rPr>
              <a:t>Đây là cách mới để sắp xếp bố cục, thích hợp cho sắp xếp bố cục hai chiều</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77ca90c18cbf43d_2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9" name="Google Shape;179;g77ca90c18cbf43d_2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180" name="Google Shape;180;g77ca90c18cbf43d_23"/>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fontScale="90000"/>
          </a:bodyPr>
          <a:lstStyle/>
          <a:p>
            <a:pPr indent="-365760" lvl="0" marL="457200" rtl="0" algn="l">
              <a:lnSpc>
                <a:spcPct val="100000"/>
              </a:lnSpc>
              <a:spcBef>
                <a:spcPts val="0"/>
              </a:spcBef>
              <a:spcAft>
                <a:spcPts val="0"/>
              </a:spcAft>
              <a:buClr>
                <a:schemeClr val="dk2"/>
              </a:buClr>
              <a:buSzPct val="100000"/>
              <a:buChar char="●"/>
            </a:pPr>
            <a:r>
              <a:rPr lang="en-US" sz="2400">
                <a:solidFill>
                  <a:schemeClr val="dk2"/>
                </a:solidFill>
              </a:rPr>
              <a:t>Để có thể tạo float layout, cần sử dụng thuộc tính float </a:t>
            </a:r>
            <a:endParaRPr sz="2400">
              <a:solidFill>
                <a:schemeClr val="dk2"/>
              </a:solidFill>
            </a:endParaRPr>
          </a:p>
          <a:p>
            <a:pPr indent="-365760" lvl="0" marL="457200" rtl="0" algn="l">
              <a:lnSpc>
                <a:spcPct val="100000"/>
              </a:lnSpc>
              <a:spcBef>
                <a:spcPts val="0"/>
              </a:spcBef>
              <a:spcAft>
                <a:spcPts val="0"/>
              </a:spcAft>
              <a:buClr>
                <a:schemeClr val="dk2"/>
              </a:buClr>
              <a:buSzPct val="100000"/>
              <a:buChar char="●"/>
            </a:pPr>
            <a:r>
              <a:rPr lang="en-US" sz="2400">
                <a:solidFill>
                  <a:schemeClr val="dk2"/>
                </a:solidFill>
              </a:rPr>
              <a:t>Thuộc tính float nhận vào một trong 2 giá trị: </a:t>
            </a:r>
            <a:r>
              <a:rPr b="1" lang="en-US" sz="2400">
                <a:solidFill>
                  <a:schemeClr val="dk2"/>
                </a:solidFill>
              </a:rPr>
              <a:t>right</a:t>
            </a:r>
            <a:r>
              <a:rPr lang="en-US" sz="2400">
                <a:solidFill>
                  <a:schemeClr val="dk2"/>
                </a:solidFill>
              </a:rPr>
              <a:t>, </a:t>
            </a:r>
            <a:r>
              <a:rPr b="1" lang="en-US" sz="2400">
                <a:solidFill>
                  <a:schemeClr val="dk2"/>
                </a:solidFill>
              </a:rPr>
              <a:t>left</a:t>
            </a:r>
            <a:endParaRPr b="1" sz="2400">
              <a:solidFill>
                <a:schemeClr val="dk2"/>
              </a:solidFill>
            </a:endParaRPr>
          </a:p>
          <a:p>
            <a:pPr indent="-365760" lvl="0" marL="457200" rtl="0" algn="l">
              <a:lnSpc>
                <a:spcPct val="100000"/>
              </a:lnSpc>
              <a:spcBef>
                <a:spcPts val="0"/>
              </a:spcBef>
              <a:spcAft>
                <a:spcPts val="0"/>
              </a:spcAft>
              <a:buClr>
                <a:schemeClr val="dk2"/>
              </a:buClr>
              <a:buSzPct val="100000"/>
              <a:buChar char="●"/>
            </a:pPr>
            <a:r>
              <a:rPr lang="en-US" sz="2400">
                <a:solidFill>
                  <a:schemeClr val="dk2"/>
                </a:solidFill>
              </a:rPr>
              <a:t>Float cho phép đẩy phần tử sang bên cạnh trái, cạnh phải  của phần tử cha dựa vào thuộc tính right và left</a:t>
            </a:r>
            <a:endParaRPr sz="2400">
              <a:solidFill>
                <a:schemeClr val="dk2"/>
              </a:solidFill>
            </a:endParaRPr>
          </a:p>
          <a:p>
            <a:pPr indent="-365760" lvl="0" marL="457200" rtl="0" algn="l">
              <a:lnSpc>
                <a:spcPct val="100000"/>
              </a:lnSpc>
              <a:spcBef>
                <a:spcPts val="0"/>
              </a:spcBef>
              <a:spcAft>
                <a:spcPts val="0"/>
              </a:spcAft>
              <a:buClr>
                <a:schemeClr val="dk2"/>
              </a:buClr>
              <a:buSzPct val="100000"/>
              <a:buChar char="●"/>
            </a:pPr>
            <a:r>
              <a:rPr lang="en-US" sz="2400">
                <a:solidFill>
                  <a:schemeClr val="dk2"/>
                </a:solidFill>
              </a:rPr>
              <a:t>Khi phần tử bị đẩy sang trái hoặc phải, các phần tử ở phía dưới cũng sẽ đẩy lên theo</a:t>
            </a:r>
            <a:endParaRPr sz="2400">
              <a:solidFill>
                <a:schemeClr val="dk2"/>
              </a:solidFill>
            </a:endParaRPr>
          </a:p>
          <a:p>
            <a:pPr indent="-365760" lvl="0" marL="457200" rtl="0" algn="l">
              <a:lnSpc>
                <a:spcPct val="100000"/>
              </a:lnSpc>
              <a:spcBef>
                <a:spcPts val="0"/>
              </a:spcBef>
              <a:spcAft>
                <a:spcPts val="0"/>
              </a:spcAft>
              <a:buClr>
                <a:schemeClr val="dk2"/>
              </a:buClr>
              <a:buSzPct val="100000"/>
              <a:buChar char="●"/>
            </a:pPr>
            <a:r>
              <a:rPr lang="en-US" sz="2400">
                <a:solidFill>
                  <a:schemeClr val="dk2"/>
                </a:solidFill>
              </a:rPr>
              <a:t>Float có tác dụng với cả phần tử display block</a:t>
            </a:r>
            <a:endParaRPr sz="2400">
              <a:solidFill>
                <a:schemeClr val="dk2"/>
              </a:solidFill>
            </a:endParaRPr>
          </a:p>
          <a:p>
            <a:pPr indent="-365760" lvl="0" marL="457200" rtl="0" algn="l">
              <a:lnSpc>
                <a:spcPct val="100000"/>
              </a:lnSpc>
              <a:spcBef>
                <a:spcPts val="0"/>
              </a:spcBef>
              <a:spcAft>
                <a:spcPts val="0"/>
              </a:spcAft>
              <a:buClr>
                <a:schemeClr val="dk2"/>
              </a:buClr>
              <a:buSzPct val="100000"/>
              <a:buChar char="●"/>
            </a:pPr>
            <a:r>
              <a:rPr lang="en-US" sz="2400">
                <a:solidFill>
                  <a:schemeClr val="dk2"/>
                </a:solidFill>
              </a:rPr>
              <a:t>Float là thuộc tính được sử dụng rất nhiều trong bố cục trang web, đặc biệt khi cần chia cột khi chưa có sự xuất hiện của flexbox và css grid</a:t>
            </a:r>
            <a:endParaRPr sz="2400">
              <a:solidFill>
                <a:schemeClr val="dk2"/>
              </a:solidFill>
            </a:endParaRPr>
          </a:p>
        </p:txBody>
      </p:sp>
      <p:pic>
        <p:nvPicPr>
          <p:cNvPr id="181" name="Google Shape;181;g77ca90c18cbf43d_2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2" name="Google Shape;182;g77ca90c18cbf43d_2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g77ca90c18cbf43d_23"/>
          <p:cNvSpPr txBox="1"/>
          <p:nvPr/>
        </p:nvSpPr>
        <p:spPr>
          <a:xfrm flipH="1">
            <a:off x="4599597" y="127123"/>
            <a:ext cx="4163400" cy="525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a:t>
            </a:r>
            <a:r>
              <a:rPr b="1" lang="en-US" sz="2800">
                <a:solidFill>
                  <a:schemeClr val="dk2"/>
                </a:solidFill>
              </a:rPr>
              <a:t>ính float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181b15a820_0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9" name="Google Shape;189;g1181b15a820_0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90" name="Google Shape;190;g1181b15a820_0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91" name="Google Shape;191;g1181b15a820_0_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 name="Google Shape;192;g1181b15a820_0_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float</a:t>
            </a:r>
            <a:endParaRPr b="0" i="0" sz="1400" u="none" cap="none" strike="noStrike">
              <a:solidFill>
                <a:srgbClr val="000000"/>
              </a:solidFill>
              <a:latin typeface="Arial"/>
              <a:ea typeface="Arial"/>
              <a:cs typeface="Arial"/>
              <a:sym typeface="Arial"/>
            </a:endParaRPr>
          </a:p>
        </p:txBody>
      </p:sp>
      <p:sp>
        <p:nvSpPr>
          <p:cNvPr id="193" name="Google Shape;193;g1181b15a820_0_0"/>
          <p:cNvSpPr txBox="1"/>
          <p:nvPr/>
        </p:nvSpPr>
        <p:spPr>
          <a:xfrm>
            <a:off x="0" y="491525"/>
            <a:ext cx="4284600" cy="5956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r>
              <a:rPr b="1" lang="en-US" sz="1500">
                <a:solidFill>
                  <a:srgbClr val="E8BF6A"/>
                </a:solidFill>
                <a:highlight>
                  <a:srgbClr val="2B2B2B"/>
                </a:highlight>
                <a:latin typeface="Courier New"/>
                <a:ea typeface="Courier New"/>
                <a:cs typeface="Courier New"/>
                <a:sym typeface="Courier New"/>
              </a:rPr>
              <a:t>parent</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border</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1</a:t>
            </a:r>
            <a:r>
              <a:rPr b="1" lang="en-US" sz="1500">
                <a:solidFill>
                  <a:srgbClr val="A5C261"/>
                </a:solidFill>
                <a:highlight>
                  <a:srgbClr val="2B2B2B"/>
                </a:highlight>
                <a:latin typeface="Courier New"/>
                <a:ea typeface="Courier New"/>
                <a:cs typeface="Courier New"/>
                <a:sym typeface="Courier New"/>
              </a:rPr>
              <a:t>px solid red</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width</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500</a:t>
            </a:r>
            <a:r>
              <a:rPr b="1" lang="en-US" sz="1500">
                <a:solidFill>
                  <a:srgbClr val="A5C261"/>
                </a:solidFill>
                <a:highlight>
                  <a:srgbClr val="2B2B2B"/>
                </a:highlight>
                <a:latin typeface="Courier New"/>
                <a:ea typeface="Courier New"/>
                <a:cs typeface="Courier New"/>
                <a:sym typeface="Courier New"/>
              </a:rPr>
              <a:t>px</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overflow</a:t>
            </a:r>
            <a:r>
              <a:rPr b="1" lang="en-US" sz="1500">
                <a:solidFill>
                  <a:srgbClr val="A9B7C6"/>
                </a:solidFill>
                <a:highlight>
                  <a:srgbClr val="2B2B2B"/>
                </a:highlight>
                <a:latin typeface="Courier New"/>
                <a:ea typeface="Courier New"/>
                <a:cs typeface="Courier New"/>
                <a:sym typeface="Courier New"/>
              </a:rPr>
              <a:t>: </a:t>
            </a:r>
            <a:r>
              <a:rPr b="1" lang="en-US" sz="1500">
                <a:solidFill>
                  <a:srgbClr val="A5C261"/>
                </a:solidFill>
                <a:highlight>
                  <a:srgbClr val="2B2B2B"/>
                </a:highlight>
                <a:latin typeface="Courier New"/>
                <a:ea typeface="Courier New"/>
                <a:cs typeface="Courier New"/>
                <a:sym typeface="Courier New"/>
              </a:rPr>
              <a:t>hidden</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position</a:t>
            </a:r>
            <a:r>
              <a:rPr b="1" lang="en-US" sz="1500">
                <a:solidFill>
                  <a:srgbClr val="A9B7C6"/>
                </a:solidFill>
                <a:highlight>
                  <a:srgbClr val="2B2B2B"/>
                </a:highlight>
                <a:latin typeface="Courier New"/>
                <a:ea typeface="Courier New"/>
                <a:cs typeface="Courier New"/>
                <a:sym typeface="Courier New"/>
              </a:rPr>
              <a:t>: </a:t>
            </a:r>
            <a:r>
              <a:rPr b="1" lang="en-US" sz="1500">
                <a:solidFill>
                  <a:srgbClr val="A5C261"/>
                </a:solidFill>
                <a:highlight>
                  <a:srgbClr val="2B2B2B"/>
                </a:highlight>
                <a:latin typeface="Courier New"/>
                <a:ea typeface="Courier New"/>
                <a:cs typeface="Courier New"/>
                <a:sym typeface="Courier New"/>
              </a:rPr>
              <a:t>relative</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r>
              <a:rPr b="1" lang="en-US" sz="1500">
                <a:solidFill>
                  <a:srgbClr val="E8BF6A"/>
                </a:solidFill>
                <a:highlight>
                  <a:srgbClr val="2B2B2B"/>
                </a:highlight>
                <a:latin typeface="Courier New"/>
                <a:ea typeface="Courier New"/>
                <a:cs typeface="Courier New"/>
                <a:sym typeface="Courier New"/>
              </a:rPr>
              <a:t>box </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width</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100</a:t>
            </a:r>
            <a:r>
              <a:rPr b="1" lang="en-US" sz="1500">
                <a:solidFill>
                  <a:srgbClr val="A5C261"/>
                </a:solidFill>
                <a:highlight>
                  <a:srgbClr val="2B2B2B"/>
                </a:highlight>
                <a:latin typeface="Courier New"/>
                <a:ea typeface="Courier New"/>
                <a:cs typeface="Courier New"/>
                <a:sym typeface="Courier New"/>
              </a:rPr>
              <a:t>px</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height</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100</a:t>
            </a:r>
            <a:r>
              <a:rPr b="1" lang="en-US" sz="1500">
                <a:solidFill>
                  <a:srgbClr val="A5C261"/>
                </a:solidFill>
                <a:highlight>
                  <a:srgbClr val="2B2B2B"/>
                </a:highlight>
                <a:latin typeface="Courier New"/>
                <a:ea typeface="Courier New"/>
                <a:cs typeface="Courier New"/>
                <a:sym typeface="Courier New"/>
              </a:rPr>
              <a:t>px</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r>
              <a:rPr b="1" lang="en-US" sz="1500">
                <a:solidFill>
                  <a:srgbClr val="E8BF6A"/>
                </a:solidFill>
                <a:highlight>
                  <a:srgbClr val="2B2B2B"/>
                </a:highlight>
                <a:latin typeface="Courier New"/>
                <a:ea typeface="Courier New"/>
                <a:cs typeface="Courier New"/>
                <a:sym typeface="Courier New"/>
              </a:rPr>
              <a:t>box-red</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background</a:t>
            </a:r>
            <a:r>
              <a:rPr b="1" lang="en-US" sz="1500">
                <a:solidFill>
                  <a:srgbClr val="A9B7C6"/>
                </a:solidFill>
                <a:highlight>
                  <a:srgbClr val="2B2B2B"/>
                </a:highlight>
                <a:latin typeface="Courier New"/>
                <a:ea typeface="Courier New"/>
                <a:cs typeface="Courier New"/>
                <a:sym typeface="Courier New"/>
              </a:rPr>
              <a:t>: </a:t>
            </a:r>
            <a:r>
              <a:rPr b="1" lang="en-US" sz="1500">
                <a:solidFill>
                  <a:srgbClr val="A5C261"/>
                </a:solidFill>
                <a:highlight>
                  <a:srgbClr val="2B2B2B"/>
                </a:highlight>
                <a:latin typeface="Courier New"/>
                <a:ea typeface="Courier New"/>
                <a:cs typeface="Courier New"/>
                <a:sym typeface="Courier New"/>
              </a:rPr>
              <a:t>red</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r>
              <a:rPr b="1" lang="en-US" sz="1500">
                <a:solidFill>
                  <a:srgbClr val="E8BF6A"/>
                </a:solidFill>
                <a:highlight>
                  <a:srgbClr val="2B2B2B"/>
                </a:highlight>
                <a:latin typeface="Courier New"/>
                <a:ea typeface="Courier New"/>
                <a:cs typeface="Courier New"/>
                <a:sym typeface="Courier New"/>
              </a:rPr>
              <a:t>box-orange</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background</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#ff8000</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width</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220</a:t>
            </a:r>
            <a:r>
              <a:rPr b="1" lang="en-US" sz="1500">
                <a:solidFill>
                  <a:srgbClr val="A5C261"/>
                </a:solidFill>
                <a:highlight>
                  <a:srgbClr val="2B2B2B"/>
                </a:highlight>
                <a:latin typeface="Courier New"/>
                <a:ea typeface="Courier New"/>
                <a:cs typeface="Courier New"/>
                <a:sym typeface="Courier New"/>
              </a:rPr>
              <a:t>px</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height</a:t>
            </a:r>
            <a:r>
              <a:rPr b="1" lang="en-US" sz="1500">
                <a:solidFill>
                  <a:srgbClr val="A9B7C6"/>
                </a:solidFill>
                <a:highlight>
                  <a:srgbClr val="2B2B2B"/>
                </a:highlight>
                <a:latin typeface="Courier New"/>
                <a:ea typeface="Courier New"/>
                <a:cs typeface="Courier New"/>
                <a:sym typeface="Courier New"/>
              </a:rPr>
              <a:t>: </a:t>
            </a:r>
            <a:r>
              <a:rPr b="1" lang="en-US" sz="1500">
                <a:solidFill>
                  <a:srgbClr val="6897BB"/>
                </a:solidFill>
                <a:highlight>
                  <a:srgbClr val="2B2B2B"/>
                </a:highlight>
                <a:latin typeface="Courier New"/>
                <a:ea typeface="Courier New"/>
                <a:cs typeface="Courier New"/>
                <a:sym typeface="Courier New"/>
              </a:rPr>
              <a:t>220</a:t>
            </a:r>
            <a:r>
              <a:rPr b="1" lang="en-US" sz="1500">
                <a:solidFill>
                  <a:srgbClr val="A5C261"/>
                </a:solidFill>
                <a:highlight>
                  <a:srgbClr val="2B2B2B"/>
                </a:highlight>
                <a:latin typeface="Courier New"/>
                <a:ea typeface="Courier New"/>
                <a:cs typeface="Courier New"/>
                <a:sym typeface="Courier New"/>
              </a:rPr>
              <a:t>px</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r>
              <a:rPr b="1" lang="en-US" sz="1500">
                <a:solidFill>
                  <a:srgbClr val="E8BF6A"/>
                </a:solidFill>
                <a:highlight>
                  <a:srgbClr val="2B2B2B"/>
                </a:highlight>
                <a:latin typeface="Courier New"/>
                <a:ea typeface="Courier New"/>
                <a:cs typeface="Courier New"/>
                <a:sym typeface="Courier New"/>
              </a:rPr>
              <a:t>left </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BABABA"/>
                </a:solidFill>
                <a:highlight>
                  <a:srgbClr val="2B2B2B"/>
                </a:highlight>
                <a:latin typeface="Courier New"/>
                <a:ea typeface="Courier New"/>
                <a:cs typeface="Courier New"/>
                <a:sym typeface="Courier New"/>
              </a:rPr>
              <a:t>float</a:t>
            </a:r>
            <a:r>
              <a:rPr b="1" lang="en-US" sz="1500">
                <a:solidFill>
                  <a:srgbClr val="A9B7C6"/>
                </a:solidFill>
                <a:highlight>
                  <a:srgbClr val="2B2B2B"/>
                </a:highlight>
                <a:latin typeface="Courier New"/>
                <a:ea typeface="Courier New"/>
                <a:cs typeface="Courier New"/>
                <a:sym typeface="Courier New"/>
              </a:rPr>
              <a:t>: </a:t>
            </a:r>
            <a:r>
              <a:rPr b="1" lang="en-US" sz="1500">
                <a:solidFill>
                  <a:srgbClr val="A5C261"/>
                </a:solidFill>
                <a:highlight>
                  <a:srgbClr val="2B2B2B"/>
                </a:highlight>
                <a:latin typeface="Courier New"/>
                <a:ea typeface="Courier New"/>
                <a:cs typeface="Courier New"/>
                <a:sym typeface="Courier New"/>
              </a:rPr>
              <a:t>left</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p:txBody>
      </p:sp>
      <p:pic>
        <p:nvPicPr>
          <p:cNvPr id="194" name="Google Shape;194;g1181b15a820_0_0"/>
          <p:cNvPicPr preferRelativeResize="0"/>
          <p:nvPr/>
        </p:nvPicPr>
        <p:blipFill>
          <a:blip r:embed="rId4">
            <a:alphaModFix/>
          </a:blip>
          <a:stretch>
            <a:fillRect/>
          </a:stretch>
        </p:blipFill>
        <p:spPr>
          <a:xfrm>
            <a:off x="4513500" y="3904425"/>
            <a:ext cx="4625551" cy="2343972"/>
          </a:xfrm>
          <a:prstGeom prst="rect">
            <a:avLst/>
          </a:prstGeom>
          <a:noFill/>
          <a:ln>
            <a:noFill/>
          </a:ln>
        </p:spPr>
      </p:pic>
      <p:sp>
        <p:nvSpPr>
          <p:cNvPr id="195" name="Google Shape;195;g1181b15a820_0_0"/>
          <p:cNvSpPr txBox="1"/>
          <p:nvPr/>
        </p:nvSpPr>
        <p:spPr>
          <a:xfrm>
            <a:off x="4513500" y="533400"/>
            <a:ext cx="4552500" cy="1569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&lt;</a:t>
            </a:r>
            <a:r>
              <a:rPr b="1" lang="en-US" sz="1500">
                <a:solidFill>
                  <a:srgbClr val="E8BF6A"/>
                </a:solidFill>
                <a:highlight>
                  <a:srgbClr val="2B2B2B"/>
                </a:highlight>
                <a:latin typeface="Courier New"/>
                <a:ea typeface="Courier New"/>
                <a:cs typeface="Courier New"/>
                <a:sym typeface="Courier New"/>
              </a:rPr>
              <a:t>div </a:t>
            </a:r>
            <a:r>
              <a:rPr b="1" lang="en-US" sz="1500">
                <a:solidFill>
                  <a:srgbClr val="BABABA"/>
                </a:solidFill>
                <a:highlight>
                  <a:srgbClr val="2B2B2B"/>
                </a:highlight>
                <a:latin typeface="Courier New"/>
                <a:ea typeface="Courier New"/>
                <a:cs typeface="Courier New"/>
                <a:sym typeface="Courier New"/>
              </a:rPr>
              <a:t>class</a:t>
            </a:r>
            <a:r>
              <a:rPr b="1" lang="en-US" sz="1500">
                <a:solidFill>
                  <a:srgbClr val="A5C261"/>
                </a:solidFill>
                <a:highlight>
                  <a:srgbClr val="2B2B2B"/>
                </a:highlight>
                <a:latin typeface="Courier New"/>
                <a:ea typeface="Courier New"/>
                <a:cs typeface="Courier New"/>
                <a:sym typeface="Courier New"/>
              </a:rPr>
              <a:t>="parent"</a:t>
            </a:r>
            <a:r>
              <a:rPr b="1" i="1" lang="en-US" sz="1500">
                <a:solidFill>
                  <a:srgbClr val="9876AA"/>
                </a:solidFill>
                <a:highlight>
                  <a:srgbClr val="2B2B2B"/>
                </a:highlight>
                <a:latin typeface="Courier New"/>
                <a:ea typeface="Courier New"/>
                <a:cs typeface="Courier New"/>
                <a:sym typeface="Courier New"/>
              </a:rPr>
              <a:t>&gt;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&lt;</a:t>
            </a:r>
            <a:r>
              <a:rPr b="1" lang="en-US" sz="1500">
                <a:solidFill>
                  <a:srgbClr val="E8BF6A"/>
                </a:solidFill>
                <a:highlight>
                  <a:srgbClr val="2B2B2B"/>
                </a:highlight>
                <a:latin typeface="Courier New"/>
                <a:ea typeface="Courier New"/>
                <a:cs typeface="Courier New"/>
                <a:sym typeface="Courier New"/>
              </a:rPr>
              <a:t>div </a:t>
            </a:r>
            <a:r>
              <a:rPr b="1" lang="en-US" sz="1500">
                <a:solidFill>
                  <a:srgbClr val="BABABA"/>
                </a:solidFill>
                <a:highlight>
                  <a:srgbClr val="2B2B2B"/>
                </a:highlight>
                <a:latin typeface="Courier New"/>
                <a:ea typeface="Courier New"/>
                <a:cs typeface="Courier New"/>
                <a:sym typeface="Courier New"/>
              </a:rPr>
              <a:t>class</a:t>
            </a:r>
            <a:r>
              <a:rPr b="1" lang="en-US" sz="1500">
                <a:solidFill>
                  <a:srgbClr val="A5C261"/>
                </a:solidFill>
                <a:highlight>
                  <a:srgbClr val="2B2B2B"/>
                </a:highlight>
                <a:latin typeface="Courier New"/>
                <a:ea typeface="Courier New"/>
                <a:cs typeface="Courier New"/>
                <a:sym typeface="Courier New"/>
              </a:rPr>
              <a:t>="left box box-red"</a:t>
            </a:r>
            <a:r>
              <a:rPr b="1" i="1" lang="en-US" sz="1500">
                <a:solidFill>
                  <a:srgbClr val="9876AA"/>
                </a:solidFill>
                <a:highlight>
                  <a:srgbClr val="2B2B2B"/>
                </a:highlight>
                <a:latin typeface="Courier New"/>
                <a:ea typeface="Courier New"/>
                <a:cs typeface="Courier New"/>
                <a:sym typeface="Courier New"/>
              </a:rPr>
              <a:t>&gt;</a:t>
            </a:r>
            <a:r>
              <a:rPr b="1" lang="en-US" sz="1500">
                <a:solidFill>
                  <a:srgbClr val="A9B7C6"/>
                </a:solidFill>
                <a:highlight>
                  <a:srgbClr val="2B2B2B"/>
                </a:highlight>
                <a:latin typeface="Courier New"/>
                <a:ea typeface="Courier New"/>
                <a:cs typeface="Courier New"/>
                <a:sym typeface="Courier New"/>
              </a:rPr>
              <a:t>Left Box</a:t>
            </a:r>
            <a:r>
              <a:rPr b="1" i="1" lang="en-US" sz="1500">
                <a:solidFill>
                  <a:srgbClr val="9876AA"/>
                </a:solidFill>
                <a:highlight>
                  <a:srgbClr val="2B2B2B"/>
                </a:highlight>
                <a:latin typeface="Courier New"/>
                <a:ea typeface="Courier New"/>
                <a:cs typeface="Courier New"/>
                <a:sym typeface="Courier New"/>
              </a:rPr>
              <a:t>&lt;/</a:t>
            </a:r>
            <a:r>
              <a:rPr b="1" lang="en-US" sz="1500">
                <a:solidFill>
                  <a:srgbClr val="E8BF6A"/>
                </a:solidFill>
                <a:highlight>
                  <a:srgbClr val="2B2B2B"/>
                </a:highlight>
                <a:latin typeface="Courier New"/>
                <a:ea typeface="Courier New"/>
                <a:cs typeface="Courier New"/>
                <a:sym typeface="Courier New"/>
              </a:rPr>
              <a:t>div</a:t>
            </a:r>
            <a:r>
              <a:rPr b="1" i="1" lang="en-US" sz="1500">
                <a:solidFill>
                  <a:srgbClr val="9876AA"/>
                </a:solidFill>
                <a:highlight>
                  <a:srgbClr val="2B2B2B"/>
                </a:highlight>
                <a:latin typeface="Courier New"/>
                <a:ea typeface="Courier New"/>
                <a:cs typeface="Courier New"/>
                <a:sym typeface="Courier New"/>
              </a:rPr>
              <a:t>&gt;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&lt;</a:t>
            </a:r>
            <a:r>
              <a:rPr b="1" lang="en-US" sz="1500">
                <a:solidFill>
                  <a:srgbClr val="E8BF6A"/>
                </a:solidFill>
                <a:highlight>
                  <a:srgbClr val="2B2B2B"/>
                </a:highlight>
                <a:latin typeface="Courier New"/>
                <a:ea typeface="Courier New"/>
                <a:cs typeface="Courier New"/>
                <a:sym typeface="Courier New"/>
              </a:rPr>
              <a:t>div </a:t>
            </a:r>
            <a:r>
              <a:rPr b="1" lang="en-US" sz="1500">
                <a:solidFill>
                  <a:srgbClr val="BABABA"/>
                </a:solidFill>
                <a:highlight>
                  <a:srgbClr val="2B2B2B"/>
                </a:highlight>
                <a:latin typeface="Courier New"/>
                <a:ea typeface="Courier New"/>
                <a:cs typeface="Courier New"/>
                <a:sym typeface="Courier New"/>
              </a:rPr>
              <a:t>class</a:t>
            </a:r>
            <a:r>
              <a:rPr b="1" lang="en-US" sz="1500">
                <a:solidFill>
                  <a:srgbClr val="A5C261"/>
                </a:solidFill>
                <a:highlight>
                  <a:srgbClr val="2B2B2B"/>
                </a:highlight>
                <a:latin typeface="Courier New"/>
                <a:ea typeface="Courier New"/>
                <a:cs typeface="Courier New"/>
                <a:sym typeface="Courier New"/>
              </a:rPr>
              <a:t>="box box-orange"</a:t>
            </a:r>
            <a:r>
              <a:rPr b="1" i="1" lang="en-US" sz="1500">
                <a:solidFill>
                  <a:srgbClr val="9876AA"/>
                </a:solidFill>
                <a:highlight>
                  <a:srgbClr val="2B2B2B"/>
                </a:highlight>
                <a:latin typeface="Courier New"/>
                <a:ea typeface="Courier New"/>
                <a:cs typeface="Courier New"/>
                <a:sym typeface="Courier New"/>
              </a:rPr>
              <a:t>&gt;</a:t>
            </a:r>
            <a:r>
              <a:rPr b="1" lang="en-US" sz="1500">
                <a:solidFill>
                  <a:srgbClr val="A9B7C6"/>
                </a:solidFill>
                <a:highlight>
                  <a:srgbClr val="2B2B2B"/>
                </a:highlight>
                <a:latin typeface="Courier New"/>
                <a:ea typeface="Courier New"/>
                <a:cs typeface="Courier New"/>
                <a:sym typeface="Courier New"/>
              </a:rPr>
              <a:t>Below Box</a:t>
            </a:r>
            <a:r>
              <a:rPr b="1" i="1" lang="en-US" sz="1500">
                <a:solidFill>
                  <a:srgbClr val="9876AA"/>
                </a:solidFill>
                <a:highlight>
                  <a:srgbClr val="2B2B2B"/>
                </a:highlight>
                <a:latin typeface="Courier New"/>
                <a:ea typeface="Courier New"/>
                <a:cs typeface="Courier New"/>
                <a:sym typeface="Courier New"/>
              </a:rPr>
              <a:t>&lt;/</a:t>
            </a:r>
            <a:r>
              <a:rPr b="1" lang="en-US" sz="1500">
                <a:solidFill>
                  <a:srgbClr val="E8BF6A"/>
                </a:solidFill>
                <a:highlight>
                  <a:srgbClr val="2B2B2B"/>
                </a:highlight>
                <a:latin typeface="Courier New"/>
                <a:ea typeface="Courier New"/>
                <a:cs typeface="Courier New"/>
                <a:sym typeface="Courier New"/>
              </a:rPr>
              <a:t>div</a:t>
            </a:r>
            <a:r>
              <a:rPr b="1" i="1" lang="en-US" sz="1500">
                <a:solidFill>
                  <a:srgbClr val="9876AA"/>
                </a:solidFill>
                <a:highlight>
                  <a:srgbClr val="2B2B2B"/>
                </a:highlight>
                <a:latin typeface="Courier New"/>
                <a:ea typeface="Courier New"/>
                <a:cs typeface="Courier New"/>
                <a:sym typeface="Courier New"/>
              </a:rPr>
              <a:t>&gt;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&lt;/</a:t>
            </a:r>
            <a:r>
              <a:rPr b="1" lang="en-US" sz="1500">
                <a:solidFill>
                  <a:srgbClr val="E8BF6A"/>
                </a:solidFill>
                <a:highlight>
                  <a:srgbClr val="2B2B2B"/>
                </a:highlight>
                <a:latin typeface="Courier New"/>
                <a:ea typeface="Courier New"/>
                <a:cs typeface="Courier New"/>
                <a:sym typeface="Courier New"/>
              </a:rPr>
              <a:t>div</a:t>
            </a:r>
            <a:r>
              <a:rPr b="1" i="1" lang="en-US" sz="1500">
                <a:solidFill>
                  <a:srgbClr val="9876AA"/>
                </a:solidFill>
                <a:highlight>
                  <a:srgbClr val="2B2B2B"/>
                </a:highlight>
                <a:latin typeface="Courier New"/>
                <a:ea typeface="Courier New"/>
                <a:cs typeface="Courier New"/>
                <a:sym typeface="Courier New"/>
              </a:rPr>
              <a:t>&gt;</a:t>
            </a:r>
            <a:endParaRPr b="1" i="1" sz="1500">
              <a:solidFill>
                <a:srgbClr val="9876AA"/>
              </a:solidFill>
              <a:highlight>
                <a:srgbClr val="2B2B2B"/>
              </a:highlight>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117faabe95f_0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1" name="Google Shape;201;g117faabe95f_0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202" name="Google Shape;202;g117faabe95f_0_0"/>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Khi một phần tử được đẩy sang trái hoặc sang phải bằng float, Tất cả các phần tử sau nó có thể bị đẩy lên </a:t>
            </a:r>
            <a:endParaRPr sz="2400"/>
          </a:p>
          <a:p>
            <a:pPr indent="-381000" lvl="0" marL="457200" rtl="0" algn="l">
              <a:lnSpc>
                <a:spcPct val="100000"/>
              </a:lnSpc>
              <a:spcBef>
                <a:spcPts val="0"/>
              </a:spcBef>
              <a:spcAft>
                <a:spcPts val="0"/>
              </a:spcAft>
              <a:buSzPts val="2400"/>
              <a:buChar char="●"/>
            </a:pPr>
            <a:r>
              <a:rPr lang="en-US" sz="2400"/>
              <a:t>Khi phần tử cha chứa phần tử float không cài đặt thuộc tính height hoặc height auto thì chiều cao của nó sẽ trở thành 0px </a:t>
            </a:r>
            <a:endParaRPr sz="2400"/>
          </a:p>
          <a:p>
            <a:pPr indent="-381000" lvl="0" marL="457200" rtl="0" algn="l">
              <a:lnSpc>
                <a:spcPct val="100000"/>
              </a:lnSpc>
              <a:spcBef>
                <a:spcPts val="0"/>
              </a:spcBef>
              <a:spcAft>
                <a:spcPts val="0"/>
              </a:spcAft>
              <a:buSzPts val="2400"/>
              <a:buChar char="●"/>
            </a:pPr>
            <a:r>
              <a:rPr lang="en-US" sz="2400"/>
              <a:t>Đôi khi hành vi này của float sẽ gây ảnh hưởng quá trình tạo bố cục giao diện, do đó cần ngăn chặn hành vi này bằng kỹ thuật clearfix</a:t>
            </a:r>
            <a:endParaRPr sz="2400"/>
          </a:p>
        </p:txBody>
      </p:sp>
      <p:pic>
        <p:nvPicPr>
          <p:cNvPr id="203" name="Google Shape;203;g117faabe95f_0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04" name="Google Shape;204;g117faabe95f_0_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g117faabe95f_0_0"/>
          <p:cNvSpPr txBox="1"/>
          <p:nvPr/>
        </p:nvSpPr>
        <p:spPr>
          <a:xfrm flipH="1">
            <a:off x="2835901" y="127124"/>
            <a:ext cx="59271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float - clearfix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1181b15a820_0_2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1" name="Google Shape;211;g1181b15a820_0_2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212" name="Google Shape;212;g1181b15a820_0_25"/>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fontScale="90000"/>
          </a:bodyPr>
          <a:lstStyle/>
          <a:p>
            <a:pPr indent="-365760" lvl="0" marL="457200" rtl="0" algn="l">
              <a:lnSpc>
                <a:spcPct val="100000"/>
              </a:lnSpc>
              <a:spcBef>
                <a:spcPts val="0"/>
              </a:spcBef>
              <a:spcAft>
                <a:spcPts val="0"/>
              </a:spcAft>
              <a:buSzPct val="100000"/>
              <a:buChar char="●"/>
            </a:pPr>
            <a:r>
              <a:rPr lang="en-US" sz="2400"/>
              <a:t>Clearfix bằng thuộc tính </a:t>
            </a:r>
            <a:r>
              <a:rPr b="1" lang="en-US" sz="2400"/>
              <a:t>clear</a:t>
            </a:r>
            <a:endParaRPr b="1" sz="2400"/>
          </a:p>
          <a:p>
            <a:pPr indent="-365760" lvl="0" marL="457200" rtl="0" algn="l">
              <a:lnSpc>
                <a:spcPct val="100000"/>
              </a:lnSpc>
              <a:spcBef>
                <a:spcPts val="0"/>
              </a:spcBef>
              <a:spcAft>
                <a:spcPts val="0"/>
              </a:spcAft>
              <a:buSzPct val="100000"/>
              <a:buChar char="●"/>
            </a:pPr>
            <a:r>
              <a:rPr b="1" lang="en-US" sz="2400"/>
              <a:t>clear</a:t>
            </a:r>
            <a:r>
              <a:rPr lang="en-US" sz="2400"/>
              <a:t> cho phép ngăn chặn các phần tử sau phần tử float tràn lên </a:t>
            </a:r>
            <a:endParaRPr sz="2400"/>
          </a:p>
          <a:p>
            <a:pPr indent="-365760" lvl="0" marL="457200" rtl="0" algn="l">
              <a:spcBef>
                <a:spcPts val="0"/>
              </a:spcBef>
              <a:spcAft>
                <a:spcPts val="0"/>
              </a:spcAft>
              <a:buSzPct val="100000"/>
              <a:buChar char="●"/>
            </a:pPr>
            <a:r>
              <a:rPr lang="en-US" sz="2400"/>
              <a:t>Thuộc tính clear nhận vào một trong ba tham số: </a:t>
            </a:r>
            <a:r>
              <a:rPr b="1" lang="en-US" sz="2400"/>
              <a:t>left</a:t>
            </a:r>
            <a:r>
              <a:rPr lang="en-US" sz="2400"/>
              <a:t>, </a:t>
            </a:r>
            <a:r>
              <a:rPr b="1" lang="en-US" sz="2400"/>
              <a:t>right</a:t>
            </a:r>
            <a:r>
              <a:rPr lang="en-US" sz="2400"/>
              <a:t>, </a:t>
            </a:r>
            <a:r>
              <a:rPr b="1" lang="en-US" sz="2400"/>
              <a:t>both</a:t>
            </a:r>
            <a:endParaRPr b="1" sz="2400"/>
          </a:p>
          <a:p>
            <a:pPr indent="-365760" lvl="0" marL="457200" rtl="0" algn="l">
              <a:spcBef>
                <a:spcPts val="0"/>
              </a:spcBef>
              <a:spcAft>
                <a:spcPts val="0"/>
              </a:spcAft>
              <a:buSzPct val="100000"/>
              <a:buChar char="●"/>
            </a:pPr>
            <a:r>
              <a:rPr b="1" lang="en-US" sz="2400"/>
              <a:t>left </a:t>
            </a:r>
            <a:r>
              <a:rPr lang="en-US" sz="2400"/>
              <a:t>ngăn tràn lên bên phải</a:t>
            </a:r>
            <a:r>
              <a:rPr b="1" lang="en-US" sz="2400"/>
              <a:t>, right </a:t>
            </a:r>
            <a:r>
              <a:rPr lang="en-US" sz="2400"/>
              <a:t>ngăn tràn lên bên trái và</a:t>
            </a:r>
            <a:r>
              <a:rPr b="1" lang="en-US" sz="2400"/>
              <a:t> both </a:t>
            </a:r>
            <a:r>
              <a:rPr lang="en-US" sz="2400"/>
              <a:t>ngăn tràn lên cả hai bên</a:t>
            </a:r>
            <a:endParaRPr sz="2400"/>
          </a:p>
          <a:p>
            <a:pPr indent="-365760" lvl="0" marL="457200" rtl="0" algn="l">
              <a:lnSpc>
                <a:spcPct val="100000"/>
              </a:lnSpc>
              <a:spcBef>
                <a:spcPts val="0"/>
              </a:spcBef>
              <a:spcAft>
                <a:spcPts val="0"/>
              </a:spcAft>
              <a:buSzPct val="100000"/>
              <a:buChar char="●"/>
            </a:pPr>
            <a:r>
              <a:rPr lang="en-US" sz="2400"/>
              <a:t>Với trường hợp hai phần tử trên- dưới, người ta sẽ tạo ra một phần tử có thuộc tính clear để chèn giữa phần tử float và phần tử dưới </a:t>
            </a:r>
            <a:endParaRPr sz="2400"/>
          </a:p>
          <a:p>
            <a:pPr indent="-365760" lvl="0" marL="457200" rtl="0" algn="l">
              <a:lnSpc>
                <a:spcPct val="100000"/>
              </a:lnSpc>
              <a:spcBef>
                <a:spcPts val="0"/>
              </a:spcBef>
              <a:spcAft>
                <a:spcPts val="0"/>
              </a:spcAft>
              <a:buSzPct val="100000"/>
              <a:buChar char="●"/>
            </a:pPr>
            <a:r>
              <a:rPr lang="en-US" sz="2400"/>
              <a:t>Với trường hợp phần tử float nằm trong phần tử cha, tạo một pseudo element với thuộc tính clear ở dưới phần tử float </a:t>
            </a:r>
            <a:endParaRPr sz="2400"/>
          </a:p>
        </p:txBody>
      </p:sp>
      <p:pic>
        <p:nvPicPr>
          <p:cNvPr id="213" name="Google Shape;213;g1181b15a820_0_2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14" name="Google Shape;214;g1181b15a820_0_2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g1181b15a820_0_25"/>
          <p:cNvSpPr txBox="1"/>
          <p:nvPr/>
        </p:nvSpPr>
        <p:spPr>
          <a:xfrm flipH="1">
            <a:off x="2835901" y="127124"/>
            <a:ext cx="59271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float - clearfix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1181b15a820_0_1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1" name="Google Shape;221;g1181b15a820_0_1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sp>
        <p:nvSpPr>
          <p:cNvPr id="222" name="Google Shape;222;g1181b15a820_0_16"/>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Giáo viên demo về float và clearfix cho học viên</a:t>
            </a:r>
            <a:endParaRPr sz="2400"/>
          </a:p>
        </p:txBody>
      </p:sp>
      <p:pic>
        <p:nvPicPr>
          <p:cNvPr id="223" name="Google Shape;223;g1181b15a820_0_1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4" name="Google Shape;224;g1181b15a820_0_1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g1181b15a820_0_16"/>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Demo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1" name="Google Shape;231;p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232" name="Google Shape;232;p4"/>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233" name="Google Shape;233;p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4" name="Google Shape;234;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35" name="Google Shape;235;p4"/>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