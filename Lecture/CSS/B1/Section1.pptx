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hCYTbGaYOYRFiXbTx1gsypEHTw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9973300-39E5-4DB4-9A53-34D2B2CC77C1}">
  <a:tblStyle styleId="{C9973300-39E5-4DB4-9A53-34D2B2CC77C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61c1426d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1161c1426d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6eeb822f0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116eeb822f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6eeb822f0_0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116eeb822f0_0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6eeb822f0_0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116eeb822f0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6eeb822f0_0_2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116eeb822f0_0_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16eeb822f0_0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116eeb822f0_0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6eeb822f0_0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116eeb822f0_0_4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6eeb822f0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116eeb822f0_0_4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6eeb822f0_0_4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116eeb822f0_0_4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161c1426dc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1161c1426dc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61c1426dc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1161c1426dc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16eeb822f0_0_4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116eeb822f0_0_4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6eeb822f0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116eeb822f0_0_4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6eeb822f0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116eeb822f0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6eeb822f0_0_4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g116eeb822f0_0_4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16eeb822f0_0_5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g116eeb822f0_0_5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6eeb822f0_0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116eeb822f0_0_5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16eeb822f0_0_5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116eeb822f0_0_5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16eeb822f0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116eeb822f0_0_5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6eeb822f0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116eeb822f0_0_6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1</a:t>
            </a:r>
            <a:r>
              <a:rPr b="1" lang="en-US">
                <a:solidFill>
                  <a:schemeClr val="dk2"/>
                </a:solidFill>
              </a:rPr>
              <a:t>. </a:t>
            </a:r>
            <a:br>
              <a:rPr b="1" lang="en-US">
                <a:solidFill>
                  <a:schemeClr val="dk2"/>
                </a:solidFill>
              </a:rPr>
            </a:br>
            <a:r>
              <a:rPr b="1" lang="en-US">
                <a:solidFill>
                  <a:schemeClr val="dk2"/>
                </a:solidFill>
              </a:rPr>
              <a:t>Section 1</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94" name="Google Shape;94;p2"/>
          <p:cNvSpPr txBox="1"/>
          <p:nvPr>
            <p:ph type="ctrTitle"/>
          </p:nvPr>
        </p:nvSpPr>
        <p:spPr>
          <a:xfrm>
            <a:off x="662350" y="1088399"/>
            <a:ext cx="7983600" cy="4617600"/>
          </a:xfrm>
          <a:prstGeom prst="rect">
            <a:avLst/>
          </a:prstGeom>
          <a:noFill/>
          <a:ln>
            <a:noFill/>
          </a:ln>
        </p:spPr>
        <p:txBody>
          <a:bodyPr anchorCtr="0" anchor="ctr" bIns="45700" lIns="91425" spcFirstLastPara="1" rIns="91425" wrap="square" tIns="45700">
            <a:spAutoFit/>
          </a:bodyPr>
          <a:lstStyle/>
          <a:p>
            <a:pPr indent="-457200" lvl="0" marL="457200" rtl="0" algn="l">
              <a:lnSpc>
                <a:spcPct val="100000"/>
              </a:lnSpc>
              <a:spcBef>
                <a:spcPts val="0"/>
              </a:spcBef>
              <a:spcAft>
                <a:spcPts val="0"/>
              </a:spcAft>
              <a:buClr>
                <a:schemeClr val="dk2"/>
              </a:buClr>
              <a:buSzPts val="4200"/>
              <a:buChar char="❖"/>
            </a:pPr>
            <a:r>
              <a:rPr lang="en-US" sz="4200">
                <a:solidFill>
                  <a:schemeClr val="dk2"/>
                </a:solidFill>
              </a:rPr>
              <a:t>Khái niệm CSS</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Làm thế nào để đưa CSS vào HTML ? </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Cú pháp CSS</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Các khái niệm cần nhớ</a:t>
            </a:r>
            <a:endParaRPr sz="4200">
              <a:solidFill>
                <a:schemeClr val="dk2"/>
              </a:solidFill>
            </a:endParaRPr>
          </a:p>
          <a:p>
            <a:pPr indent="-457200" lvl="0" marL="457200" rtl="0" algn="l">
              <a:lnSpc>
                <a:spcPct val="100000"/>
              </a:lnSpc>
              <a:spcBef>
                <a:spcPts val="0"/>
              </a:spcBef>
              <a:spcAft>
                <a:spcPts val="0"/>
              </a:spcAft>
              <a:buClr>
                <a:schemeClr val="dk2"/>
              </a:buClr>
              <a:buSzPts val="4200"/>
              <a:buChar char="❖"/>
            </a:pPr>
            <a:r>
              <a:rPr lang="en-US" sz="4200">
                <a:solidFill>
                  <a:schemeClr val="dk2"/>
                </a:solidFill>
              </a:rPr>
              <a:t>Tìm hiểu về mô hình hộp</a:t>
            </a:r>
            <a:endParaRPr sz="4200">
              <a:solidFill>
                <a:schemeClr val="dk2"/>
              </a:solidFill>
            </a:endParaRPr>
          </a:p>
          <a:p>
            <a:pPr indent="0" lvl="0" marL="0" rtl="0" algn="l">
              <a:lnSpc>
                <a:spcPct val="100000"/>
              </a:lnSpc>
              <a:spcBef>
                <a:spcPts val="0"/>
              </a:spcBef>
              <a:spcAft>
                <a:spcPts val="0"/>
              </a:spcAft>
              <a:buSzPts val="1800"/>
              <a:buNone/>
            </a:pPr>
            <a:r>
              <a:t/>
            </a:r>
            <a:endParaRPr sz="4200">
              <a:solidFill>
                <a:schemeClr val="dk2"/>
              </a:solidFill>
              <a:latin typeface="Calibri"/>
              <a:ea typeface="Calibri"/>
              <a:cs typeface="Calibri"/>
              <a:sym typeface="Calibri"/>
            </a:endParaRPr>
          </a:p>
        </p:txBody>
      </p:sp>
      <p:pic>
        <p:nvPicPr>
          <p:cNvPr id="95" name="Google Shape;95;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96" name="Google Shape;96;p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 name="Google Shape;97;p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1161c1426dc_0_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 name="Google Shape;103;g1161c1426dc_0_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4"/>
              </a:srgbClr>
            </a:outerShdw>
          </a:effectLst>
        </p:spPr>
      </p:cxnSp>
      <p:sp>
        <p:nvSpPr>
          <p:cNvPr id="104" name="Google Shape;104;g1161c1426dc_0_7"/>
          <p:cNvSpPr txBox="1"/>
          <p:nvPr>
            <p:ph type="ctrTitle"/>
          </p:nvPr>
        </p:nvSpPr>
        <p:spPr>
          <a:xfrm>
            <a:off x="358500" y="1369126"/>
            <a:ext cx="8427000" cy="36513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CSS viết tắt là Cascading Style Sheet (Bảng kiểu định hình phong cách xếp chồng)</a:t>
            </a:r>
            <a:endParaRPr sz="2400"/>
          </a:p>
          <a:p>
            <a:pPr indent="-381000" lvl="0" marL="457200" rtl="0" algn="l">
              <a:lnSpc>
                <a:spcPct val="100000"/>
              </a:lnSpc>
              <a:spcBef>
                <a:spcPts val="0"/>
              </a:spcBef>
              <a:spcAft>
                <a:spcPts val="0"/>
              </a:spcAft>
              <a:buSzPts val="2400"/>
              <a:buChar char="●"/>
            </a:pPr>
            <a:r>
              <a:rPr lang="en-US" sz="2400"/>
              <a:t>CSS là một ngôn ngữ trình bày được sử dụng để mô tả cách trình bày giao diện trong ngôn ngữ HTML </a:t>
            </a:r>
            <a:endParaRPr sz="2400"/>
          </a:p>
          <a:p>
            <a:pPr indent="-381000" lvl="0" marL="457200" rtl="0" algn="l">
              <a:lnSpc>
                <a:spcPct val="100000"/>
              </a:lnSpc>
              <a:spcBef>
                <a:spcPts val="0"/>
              </a:spcBef>
              <a:spcAft>
                <a:spcPts val="0"/>
              </a:spcAft>
              <a:buSzPts val="2400"/>
              <a:buChar char="●"/>
            </a:pPr>
            <a:r>
              <a:rPr lang="en-US" sz="2400"/>
              <a:t>HTML là bộ khung định hình nên bố cục của một webpage thì CSS là da thịt được đắp lên bộ khung đó để tạo nên một webpage sinh động và hoàn chỉnh hơn</a:t>
            </a:r>
            <a:endParaRPr sz="2400"/>
          </a:p>
          <a:p>
            <a:pPr indent="-381000" lvl="0" marL="457200" rtl="0" algn="l">
              <a:lnSpc>
                <a:spcPct val="100000"/>
              </a:lnSpc>
              <a:spcBef>
                <a:spcPts val="0"/>
              </a:spcBef>
              <a:spcAft>
                <a:spcPts val="0"/>
              </a:spcAft>
              <a:buSzPts val="2400"/>
              <a:buChar char="●"/>
            </a:pPr>
            <a:r>
              <a:rPr lang="en-US" sz="2400"/>
              <a:t>Nói cách khác, CSS cho phép đổi màu nền, màu chữ, căn chỉnh vị trí, độ dài, chiều cao … của các thẻ trong tập tin HTML </a:t>
            </a:r>
            <a:endParaRPr sz="2400"/>
          </a:p>
        </p:txBody>
      </p:sp>
      <p:pic>
        <p:nvPicPr>
          <p:cNvPr id="105" name="Google Shape;105;g1161c1426dc_0_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6" name="Google Shape;106;g1161c1426dc_0_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g1161c1426dc_0_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CSS là gì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16eeb822f0_0_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g116eeb822f0_0_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14" name="Google Shape;114;g116eeb822f0_0_18"/>
          <p:cNvSpPr txBox="1"/>
          <p:nvPr>
            <p:ph type="ctrTitle"/>
          </p:nvPr>
        </p:nvSpPr>
        <p:spPr>
          <a:xfrm>
            <a:off x="367100" y="1369126"/>
            <a:ext cx="8418300" cy="1000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US" sz="2400"/>
              <a:t>Có 3 cách để đưa CSS vào HTML </a:t>
            </a:r>
            <a:endParaRPr sz="2400"/>
          </a:p>
        </p:txBody>
      </p:sp>
      <p:pic>
        <p:nvPicPr>
          <p:cNvPr id="115" name="Google Shape;115;g116eeb822f0_0_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6" name="Google Shape;116;g116eeb822f0_0_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g116eeb822f0_0_18"/>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Đưa CSS vào HTML</a:t>
            </a:r>
            <a:r>
              <a:rPr b="1" lang="en-US" sz="2800">
                <a:solidFill>
                  <a:schemeClr val="dk2"/>
                </a:solidFill>
              </a:rPr>
              <a:t>?</a:t>
            </a:r>
            <a:endParaRPr b="0" i="0" sz="1400" u="none" cap="none" strike="noStrike">
              <a:solidFill>
                <a:srgbClr val="000000"/>
              </a:solidFill>
              <a:latin typeface="Arial"/>
              <a:ea typeface="Arial"/>
              <a:cs typeface="Arial"/>
              <a:sym typeface="Arial"/>
            </a:endParaRPr>
          </a:p>
        </p:txBody>
      </p:sp>
      <p:sp>
        <p:nvSpPr>
          <p:cNvPr id="118" name="Google Shape;118;g116eeb822f0_0_18"/>
          <p:cNvSpPr txBox="1"/>
          <p:nvPr>
            <p:ph type="ctrTitle"/>
          </p:nvPr>
        </p:nvSpPr>
        <p:spPr>
          <a:xfrm>
            <a:off x="452775" y="2272399"/>
            <a:ext cx="8332500" cy="26166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Nhúng một file CSS riêng biệt vào tập tin HTML </a:t>
            </a:r>
            <a:endParaRPr sz="2400"/>
          </a:p>
          <a:p>
            <a:pPr indent="-381000" lvl="0" marL="457200" rtl="0" algn="l">
              <a:lnSpc>
                <a:spcPct val="100000"/>
              </a:lnSpc>
              <a:spcBef>
                <a:spcPts val="0"/>
              </a:spcBef>
              <a:spcAft>
                <a:spcPts val="0"/>
              </a:spcAft>
              <a:buSzPts val="2400"/>
              <a:buChar char="●"/>
            </a:pPr>
            <a:r>
              <a:rPr lang="en-US" sz="2400"/>
              <a:t>Nhúng trực tiếp code CSS vào tập tin HTML thông qua thẻ style</a:t>
            </a:r>
            <a:endParaRPr sz="2400"/>
          </a:p>
          <a:p>
            <a:pPr indent="-381000" lvl="0" marL="457200" rtl="0" algn="l">
              <a:lnSpc>
                <a:spcPct val="100000"/>
              </a:lnSpc>
              <a:spcBef>
                <a:spcPts val="0"/>
              </a:spcBef>
              <a:spcAft>
                <a:spcPts val="0"/>
              </a:spcAft>
              <a:buSzPts val="2400"/>
              <a:buChar char="●"/>
            </a:pPr>
            <a:r>
              <a:rPr lang="en-US" sz="2400"/>
              <a:t>Nhúng trực tiếp code CSS vào thuộc tính style của thẻ HTML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116eeb822f0_0_264"/>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4" name="Google Shape;124;g116eeb822f0_0_26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25" name="Google Shape;125;g116eeb822f0_0_264"/>
          <p:cNvSpPr txBox="1"/>
          <p:nvPr>
            <p:ph type="ctrTitle"/>
          </p:nvPr>
        </p:nvSpPr>
        <p:spPr>
          <a:xfrm>
            <a:off x="367100" y="1369126"/>
            <a:ext cx="8418300" cy="1000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n-US" sz="2400"/>
              <a:t>Nhúng một file CSS riêng biệt vào tập tin HTML</a:t>
            </a:r>
            <a:endParaRPr sz="2400"/>
          </a:p>
        </p:txBody>
      </p:sp>
      <p:pic>
        <p:nvPicPr>
          <p:cNvPr id="126" name="Google Shape;126;g116eeb822f0_0_26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7" name="Google Shape;127;g116eeb822f0_0_264"/>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 name="Google Shape;128;g116eeb822f0_0_264"/>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Đưa CSS vào HTML?</a:t>
            </a:r>
            <a:endParaRPr b="0" i="0" sz="1400" u="none" cap="none" strike="noStrike">
              <a:solidFill>
                <a:srgbClr val="000000"/>
              </a:solidFill>
              <a:latin typeface="Arial"/>
              <a:ea typeface="Arial"/>
              <a:cs typeface="Arial"/>
              <a:sym typeface="Arial"/>
            </a:endParaRPr>
          </a:p>
        </p:txBody>
      </p:sp>
      <p:sp>
        <p:nvSpPr>
          <p:cNvPr id="129" name="Google Shape;129;g116eeb822f0_0_264"/>
          <p:cNvSpPr txBox="1"/>
          <p:nvPr>
            <p:ph type="ctrTitle"/>
          </p:nvPr>
        </p:nvSpPr>
        <p:spPr>
          <a:xfrm>
            <a:off x="483900" y="2272400"/>
            <a:ext cx="8301300" cy="24909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Các tập tin css sẽ có đuôi là .css được nhúng vào tập tin HTML thông qua thẻ &lt;link&gt; </a:t>
            </a:r>
            <a:endParaRPr sz="2400"/>
          </a:p>
          <a:p>
            <a:pPr indent="-381000" lvl="0" marL="457200" rtl="0" algn="l">
              <a:lnSpc>
                <a:spcPct val="100000"/>
              </a:lnSpc>
              <a:spcBef>
                <a:spcPts val="0"/>
              </a:spcBef>
              <a:spcAft>
                <a:spcPts val="0"/>
              </a:spcAft>
              <a:buSzPts val="2400"/>
              <a:buChar char="●"/>
            </a:pPr>
            <a:r>
              <a:rPr lang="en-US" sz="2400"/>
              <a:t>Cú pháp như sau </a:t>
            </a:r>
            <a:endParaRPr sz="2400"/>
          </a:p>
          <a:p>
            <a:pPr indent="0" lvl="0" marL="457200" rtl="0" algn="l">
              <a:lnSpc>
                <a:spcPct val="100000"/>
              </a:lnSpc>
              <a:spcBef>
                <a:spcPts val="0"/>
              </a:spcBef>
              <a:spcAft>
                <a:spcPts val="0"/>
              </a:spcAft>
              <a:buNone/>
            </a:pPr>
            <a:r>
              <a:t/>
            </a:r>
            <a:endParaRPr sz="2400"/>
          </a:p>
          <a:p>
            <a:pPr indent="0" lvl="0" marL="0" rtl="0" algn="l">
              <a:lnSpc>
                <a:spcPct val="100000"/>
              </a:lnSpc>
              <a:spcBef>
                <a:spcPts val="0"/>
              </a:spcBef>
              <a:spcAft>
                <a:spcPts val="0"/>
              </a:spcAft>
              <a:buNone/>
            </a:pPr>
            <a:r>
              <a:rPr lang="en-US" sz="2400"/>
              <a:t>	</a:t>
            </a:r>
            <a:r>
              <a:rPr b="1" lang="en-US" sz="2400">
                <a:solidFill>
                  <a:srgbClr val="808080"/>
                </a:solidFill>
                <a:highlight>
                  <a:srgbClr val="1E1E1E"/>
                </a:highlight>
                <a:latin typeface="Courier New"/>
                <a:ea typeface="Courier New"/>
                <a:cs typeface="Courier New"/>
                <a:sym typeface="Courier New"/>
              </a:rPr>
              <a:t>&lt;</a:t>
            </a:r>
            <a:r>
              <a:rPr b="1" lang="en-US" sz="2400">
                <a:solidFill>
                  <a:srgbClr val="569CD6"/>
                </a:solidFill>
                <a:highlight>
                  <a:srgbClr val="1E1E1E"/>
                </a:highlight>
                <a:latin typeface="Courier New"/>
                <a:ea typeface="Courier New"/>
                <a:cs typeface="Courier New"/>
                <a:sym typeface="Courier New"/>
              </a:rPr>
              <a:t>link</a:t>
            </a:r>
            <a:r>
              <a:rPr b="1" lang="en-US" sz="2400">
                <a:solidFill>
                  <a:srgbClr val="D4D4D4"/>
                </a:solidFill>
                <a:highlight>
                  <a:srgbClr val="1E1E1E"/>
                </a:highlight>
                <a:latin typeface="Courier New"/>
                <a:ea typeface="Courier New"/>
                <a:cs typeface="Courier New"/>
                <a:sym typeface="Courier New"/>
              </a:rPr>
              <a:t> </a:t>
            </a:r>
            <a:r>
              <a:rPr b="1" lang="en-US" sz="2400">
                <a:solidFill>
                  <a:srgbClr val="9CDCFE"/>
                </a:solidFill>
                <a:highlight>
                  <a:srgbClr val="1E1E1E"/>
                </a:highlight>
                <a:latin typeface="Courier New"/>
                <a:ea typeface="Courier New"/>
                <a:cs typeface="Courier New"/>
                <a:sym typeface="Courier New"/>
              </a:rPr>
              <a:t>rel</a:t>
            </a:r>
            <a:r>
              <a:rPr b="1" lang="en-US" sz="2400">
                <a:solidFill>
                  <a:srgbClr val="D4D4D4"/>
                </a:solidFill>
                <a:highlight>
                  <a:srgbClr val="1E1E1E"/>
                </a:highlight>
                <a:latin typeface="Courier New"/>
                <a:ea typeface="Courier New"/>
                <a:cs typeface="Courier New"/>
                <a:sym typeface="Courier New"/>
              </a:rPr>
              <a:t>=</a:t>
            </a:r>
            <a:r>
              <a:rPr b="1" lang="en-US" sz="2400">
                <a:solidFill>
                  <a:srgbClr val="CE9178"/>
                </a:solidFill>
                <a:highlight>
                  <a:srgbClr val="1E1E1E"/>
                </a:highlight>
                <a:latin typeface="Courier New"/>
                <a:ea typeface="Courier New"/>
                <a:cs typeface="Courier New"/>
                <a:sym typeface="Courier New"/>
              </a:rPr>
              <a:t>"stylesheet"</a:t>
            </a:r>
            <a:r>
              <a:rPr b="1" lang="en-US" sz="2400">
                <a:solidFill>
                  <a:srgbClr val="D4D4D4"/>
                </a:solidFill>
                <a:highlight>
                  <a:srgbClr val="1E1E1E"/>
                </a:highlight>
                <a:latin typeface="Courier New"/>
                <a:ea typeface="Courier New"/>
                <a:cs typeface="Courier New"/>
                <a:sym typeface="Courier New"/>
              </a:rPr>
              <a:t> </a:t>
            </a:r>
            <a:r>
              <a:rPr b="1" lang="en-US" sz="2400">
                <a:solidFill>
                  <a:srgbClr val="9CDCFE"/>
                </a:solidFill>
                <a:highlight>
                  <a:srgbClr val="1E1E1E"/>
                </a:highlight>
                <a:latin typeface="Courier New"/>
                <a:ea typeface="Courier New"/>
                <a:cs typeface="Courier New"/>
                <a:sym typeface="Courier New"/>
              </a:rPr>
              <a:t>href</a:t>
            </a:r>
            <a:r>
              <a:rPr b="1" lang="en-US" sz="2400">
                <a:solidFill>
                  <a:srgbClr val="D4D4D4"/>
                </a:solidFill>
                <a:highlight>
                  <a:srgbClr val="1E1E1E"/>
                </a:highlight>
                <a:latin typeface="Courier New"/>
                <a:ea typeface="Courier New"/>
                <a:cs typeface="Courier New"/>
                <a:sym typeface="Courier New"/>
              </a:rPr>
              <a:t>=</a:t>
            </a:r>
            <a:r>
              <a:rPr b="1" lang="en-US" sz="2400">
                <a:solidFill>
                  <a:srgbClr val="CE9178"/>
                </a:solidFill>
                <a:highlight>
                  <a:srgbClr val="1E1E1E"/>
                </a:highlight>
                <a:latin typeface="Courier New"/>
                <a:ea typeface="Courier New"/>
                <a:cs typeface="Courier New"/>
                <a:sym typeface="Courier New"/>
              </a:rPr>
              <a:t>"đường dẫn"</a:t>
            </a:r>
            <a:r>
              <a:rPr b="1" lang="en-US" sz="2400">
                <a:solidFill>
                  <a:srgbClr val="808080"/>
                </a:solidFill>
                <a:highlight>
                  <a:srgbClr val="1E1E1E"/>
                </a:highlight>
                <a:latin typeface="Courier New"/>
                <a:ea typeface="Courier New"/>
                <a:cs typeface="Courier New"/>
                <a:sym typeface="Courier New"/>
              </a:rPr>
              <a:t>&gt;</a:t>
            </a:r>
            <a:endParaRPr b="1" sz="2400">
              <a:solidFill>
                <a:srgbClr val="808080"/>
              </a:solidFill>
              <a:highlight>
                <a:srgbClr val="1E1E1E"/>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116eeb822f0_0_27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5" name="Google Shape;135;g116eeb822f0_0_27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36" name="Google Shape;136;g116eeb822f0_0_276"/>
          <p:cNvSpPr txBox="1"/>
          <p:nvPr>
            <p:ph type="ctrTitle"/>
          </p:nvPr>
        </p:nvSpPr>
        <p:spPr>
          <a:xfrm>
            <a:off x="367100" y="1369126"/>
            <a:ext cx="8418300" cy="1000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sz="2400"/>
              <a:t>   </a:t>
            </a:r>
            <a:r>
              <a:rPr lang="en-US" sz="2400"/>
              <a:t>Nhúng trực tiếp code CSS vào tập tin HTML thông qua thẻ style</a:t>
            </a:r>
            <a:endParaRPr sz="2400"/>
          </a:p>
        </p:txBody>
      </p:sp>
      <p:pic>
        <p:nvPicPr>
          <p:cNvPr id="137" name="Google Shape;137;g116eeb822f0_0_27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8" name="Google Shape;138;g116eeb822f0_0_27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g116eeb822f0_0_276"/>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Đưa CSS vào HTML?</a:t>
            </a:r>
            <a:endParaRPr b="0" i="0" sz="1400" u="none" cap="none" strike="noStrike">
              <a:solidFill>
                <a:srgbClr val="000000"/>
              </a:solidFill>
              <a:latin typeface="Arial"/>
              <a:ea typeface="Arial"/>
              <a:cs typeface="Arial"/>
              <a:sym typeface="Arial"/>
            </a:endParaRPr>
          </a:p>
        </p:txBody>
      </p:sp>
      <p:sp>
        <p:nvSpPr>
          <p:cNvPr id="140" name="Google Shape;140;g116eeb822f0_0_276"/>
          <p:cNvSpPr txBox="1"/>
          <p:nvPr>
            <p:ph type="ctrTitle"/>
          </p:nvPr>
        </p:nvSpPr>
        <p:spPr>
          <a:xfrm>
            <a:off x="483900" y="2272400"/>
            <a:ext cx="8301300" cy="17574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Các đoạn code CSS được đưa vào bên trong phần nội dung của thẻ &lt;style&gt; trong HTML </a:t>
            </a:r>
            <a:endParaRPr sz="2400"/>
          </a:p>
          <a:p>
            <a:pPr indent="-381000" lvl="2" marL="1371600" rtl="0" algn="l">
              <a:lnSpc>
                <a:spcPct val="100000"/>
              </a:lnSpc>
              <a:spcBef>
                <a:spcPts val="0"/>
              </a:spcBef>
              <a:spcAft>
                <a:spcPts val="0"/>
              </a:spcAft>
              <a:buSzPts val="2400"/>
              <a:buChar char="■"/>
            </a:pPr>
            <a:r>
              <a:rPr lang="en-US" sz="2400"/>
              <a:t>Cú pháp như sau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16eeb822f0_0_28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6" name="Google Shape;146;g116eeb822f0_0_28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47" name="Google Shape;147;g116eeb822f0_0_286"/>
          <p:cNvSpPr txBox="1"/>
          <p:nvPr>
            <p:ph type="ctrTitle"/>
          </p:nvPr>
        </p:nvSpPr>
        <p:spPr>
          <a:xfrm>
            <a:off x="367100" y="1369126"/>
            <a:ext cx="8418300" cy="1000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sz="2400"/>
              <a:t>Nhúng trực tiếp code CSS vào thuộc tính style của thẻ HTML </a:t>
            </a:r>
            <a:endParaRPr sz="2400"/>
          </a:p>
        </p:txBody>
      </p:sp>
      <p:pic>
        <p:nvPicPr>
          <p:cNvPr id="148" name="Google Shape;148;g116eeb822f0_0_28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49" name="Google Shape;149;g116eeb822f0_0_28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g116eeb822f0_0_286"/>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Đưa CSS vào HTML?</a:t>
            </a:r>
            <a:endParaRPr b="0" i="0" sz="1400" u="none" cap="none" strike="noStrike">
              <a:solidFill>
                <a:srgbClr val="000000"/>
              </a:solidFill>
              <a:latin typeface="Arial"/>
              <a:ea typeface="Arial"/>
              <a:cs typeface="Arial"/>
              <a:sym typeface="Arial"/>
            </a:endParaRPr>
          </a:p>
        </p:txBody>
      </p:sp>
      <p:sp>
        <p:nvSpPr>
          <p:cNvPr id="151" name="Google Shape;151;g116eeb822f0_0_286"/>
          <p:cNvSpPr txBox="1"/>
          <p:nvPr>
            <p:ph type="ctrTitle"/>
          </p:nvPr>
        </p:nvSpPr>
        <p:spPr>
          <a:xfrm>
            <a:off x="483900" y="2272400"/>
            <a:ext cx="8301300" cy="1757400"/>
          </a:xfrm>
          <a:prstGeom prst="rect">
            <a:avLst/>
          </a:prstGeom>
          <a:noFill/>
          <a:ln>
            <a:noFill/>
          </a:ln>
        </p:spPr>
        <p:txBody>
          <a:bodyPr anchorCtr="0" anchor="ctr"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sz="2400"/>
              <a:t>Đoạn code CSS được đưa trực tiếp vào thuộc tính style của thẻ HTML, cú pháp như sau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116eeb822f0_0_29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7" name="Google Shape;157;g116eeb822f0_0_29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58" name="Google Shape;158;g116eeb822f0_0_296"/>
          <p:cNvSpPr txBox="1"/>
          <p:nvPr>
            <p:ph type="ctrTitle"/>
          </p:nvPr>
        </p:nvSpPr>
        <p:spPr>
          <a:xfrm>
            <a:off x="367100" y="1369126"/>
            <a:ext cx="8418300" cy="1000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sz="2400"/>
              <a:t>Đoạn mã CSS là tập hợp các quy tắc (rule) được định nghĩa ra để áp dụng vào một hoặc nhiều thẻ (phần tử) trong tập tin HTML, các quy tác được định nghĩa lần lượt từ trên xuống (xếp chồng), mỗi quy tắc sẽ có cú pháp như sau</a:t>
            </a:r>
            <a:endParaRPr sz="2400"/>
          </a:p>
        </p:txBody>
      </p:sp>
      <p:pic>
        <p:nvPicPr>
          <p:cNvPr id="159" name="Google Shape;159;g116eeb822f0_0_29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0" name="Google Shape;160;g116eeb822f0_0_29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g116eeb822f0_0_296"/>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Cú pháp CSS</a:t>
            </a:r>
            <a:endParaRPr b="0" i="0" sz="1400" u="none" cap="none" strike="noStrike">
              <a:solidFill>
                <a:srgbClr val="000000"/>
              </a:solidFill>
              <a:latin typeface="Arial"/>
              <a:ea typeface="Arial"/>
              <a:cs typeface="Arial"/>
              <a:sym typeface="Arial"/>
            </a:endParaRPr>
          </a:p>
        </p:txBody>
      </p:sp>
      <p:sp>
        <p:nvSpPr>
          <p:cNvPr id="162" name="Google Shape;162;g116eeb822f0_0_296"/>
          <p:cNvSpPr txBox="1"/>
          <p:nvPr>
            <p:ph type="ctrTitle"/>
          </p:nvPr>
        </p:nvSpPr>
        <p:spPr>
          <a:xfrm>
            <a:off x="367100" y="3007850"/>
            <a:ext cx="3390900" cy="2257500"/>
          </a:xfrm>
          <a:prstGeom prst="rect">
            <a:avLst/>
          </a:prstGeom>
          <a:noFill/>
          <a:ln>
            <a:noFill/>
          </a:ln>
        </p:spPr>
        <p:txBody>
          <a:bodyPr anchorCtr="0" anchor="ctr" bIns="45700" lIns="91425" spcFirstLastPara="1" rIns="91425" wrap="square" tIns="45700">
            <a:normAutofit fontScale="90000"/>
          </a:bodyPr>
          <a:lstStyle/>
          <a:p>
            <a:pPr indent="-365760" lvl="0" marL="457200" rtl="0" algn="l">
              <a:lnSpc>
                <a:spcPct val="100000"/>
              </a:lnSpc>
              <a:spcBef>
                <a:spcPts val="0"/>
              </a:spcBef>
              <a:spcAft>
                <a:spcPts val="0"/>
              </a:spcAft>
              <a:buSzPct val="100000"/>
              <a:buChar char="●"/>
            </a:pPr>
            <a:r>
              <a:rPr lang="en-US" sz="2400"/>
              <a:t>selector: bộ chọn</a:t>
            </a:r>
            <a:endParaRPr sz="2400"/>
          </a:p>
          <a:p>
            <a:pPr indent="-365760" lvl="0" marL="457200" rtl="0" algn="l">
              <a:lnSpc>
                <a:spcPct val="100000"/>
              </a:lnSpc>
              <a:spcBef>
                <a:spcPts val="0"/>
              </a:spcBef>
              <a:spcAft>
                <a:spcPts val="0"/>
              </a:spcAft>
              <a:buSzPct val="100000"/>
              <a:buChar char="●"/>
            </a:pPr>
            <a:r>
              <a:rPr lang="en-US" sz="2400"/>
              <a:t>property: thuộc tính style muốn áp dụng</a:t>
            </a:r>
            <a:endParaRPr sz="2400"/>
          </a:p>
          <a:p>
            <a:pPr indent="-365760" lvl="0" marL="457200" rtl="0" algn="l">
              <a:lnSpc>
                <a:spcPct val="100000"/>
              </a:lnSpc>
              <a:spcBef>
                <a:spcPts val="0"/>
              </a:spcBef>
              <a:spcAft>
                <a:spcPts val="0"/>
              </a:spcAft>
              <a:buSzPct val="100000"/>
              <a:buChar char="●"/>
            </a:pPr>
            <a:r>
              <a:rPr lang="en-US" sz="2400"/>
              <a:t>value: giá trị của thuộc tính style</a:t>
            </a:r>
            <a:endParaRPr sz="2400"/>
          </a:p>
          <a:p>
            <a:pPr indent="-365760" lvl="0" marL="457200" rtl="0" algn="l">
              <a:lnSpc>
                <a:spcPct val="100000"/>
              </a:lnSpc>
              <a:spcBef>
                <a:spcPts val="0"/>
              </a:spcBef>
              <a:spcAft>
                <a:spcPts val="0"/>
              </a:spcAft>
              <a:buSzPct val="100000"/>
              <a:buChar char="●"/>
            </a:pPr>
            <a:r>
              <a:rPr lang="en-US" sz="2400"/>
              <a:t>Trong rule sẽ có tập hợp các &lt;thuộc tính:value&gt; được định nghĩa cách nhau bởi dấu “;”</a:t>
            </a:r>
            <a:endParaRPr sz="2400"/>
          </a:p>
        </p:txBody>
      </p:sp>
      <p:pic>
        <p:nvPicPr>
          <p:cNvPr id="163" name="Google Shape;163;g116eeb822f0_0_296"/>
          <p:cNvPicPr preferRelativeResize="0"/>
          <p:nvPr/>
        </p:nvPicPr>
        <p:blipFill>
          <a:blip r:embed="rId4">
            <a:alphaModFix/>
          </a:blip>
          <a:stretch>
            <a:fillRect/>
          </a:stretch>
        </p:blipFill>
        <p:spPr>
          <a:xfrm>
            <a:off x="3994650" y="3429000"/>
            <a:ext cx="5033725" cy="202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116eeb822f0_0_43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9" name="Google Shape;169;g116eeb822f0_0_43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70" name="Google Shape;170;g116eeb822f0_0_433"/>
          <p:cNvSpPr txBox="1"/>
          <p:nvPr>
            <p:ph type="ctrTitle"/>
          </p:nvPr>
        </p:nvSpPr>
        <p:spPr>
          <a:xfrm>
            <a:off x="385475" y="983651"/>
            <a:ext cx="8448900" cy="41460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SzPts val="2400"/>
              <a:buChar char="●"/>
            </a:pPr>
            <a:r>
              <a:rPr lang="en-US" sz="2400"/>
              <a:t>Property(thuộc tính) là thành phần định hình nên phong cách của phần tử được chọn, thuộc tính sẽ luôn đi kèm với value(giá trị), tên của thuộc tính do CSS quy định còn giá trị sẽ có thể là giá trị lựa chọn (do CSS quy định) trong một tập hoặc giá trị tự do (ko có nằm trong tập). Ví dụ </a:t>
            </a:r>
            <a:endParaRPr sz="2400"/>
          </a:p>
          <a:p>
            <a:pPr indent="0" lvl="0" marL="0" rtl="0" algn="l">
              <a:spcBef>
                <a:spcPts val="0"/>
              </a:spcBef>
              <a:spcAft>
                <a:spcPts val="0"/>
              </a:spcAft>
              <a:buNone/>
            </a:pPr>
            <a:r>
              <a:t/>
            </a:r>
            <a:endParaRPr sz="2400"/>
          </a:p>
        </p:txBody>
      </p:sp>
      <p:pic>
        <p:nvPicPr>
          <p:cNvPr id="171" name="Google Shape;171;g116eeb822f0_0_43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2" name="Google Shape;172;g116eeb822f0_0_43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3" name="Google Shape;173;g116eeb822f0_0_433"/>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Property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116eeb822f0_0_42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9" name="Google Shape;179;g116eeb822f0_0_42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80" name="Google Shape;180;g116eeb822f0_0_422"/>
          <p:cNvSpPr txBox="1"/>
          <p:nvPr>
            <p:ph type="ctrTitle"/>
          </p:nvPr>
        </p:nvSpPr>
        <p:spPr>
          <a:xfrm>
            <a:off x="385475" y="983651"/>
            <a:ext cx="8448900" cy="41460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SzPts val="2400"/>
              <a:buChar char="●"/>
            </a:pPr>
            <a:r>
              <a:rPr lang="en-US" sz="2400"/>
              <a:t>Khi muốn áp dụng style(phong cách) cho một phần tử nào đó trong HTML, việc đầu tiên cần làm là phải chỉ ra được phần tử muốn áp dụng style, để làm được điều này ta sử dụng selector (bộ chọn)</a:t>
            </a:r>
            <a:endParaRPr sz="2400"/>
          </a:p>
          <a:p>
            <a:pPr indent="-381000" lvl="0" marL="457200" rtl="0" algn="l">
              <a:spcBef>
                <a:spcPts val="0"/>
              </a:spcBef>
              <a:spcAft>
                <a:spcPts val="0"/>
              </a:spcAft>
              <a:buSzPts val="2400"/>
              <a:buChar char="●"/>
            </a:pPr>
            <a:r>
              <a:rPr lang="en-US" sz="2400"/>
              <a:t>Selector là một thành phần cú pháp cho phép chọn phần tử (thẻ) HTML cần áp dụng style trong CSS</a:t>
            </a:r>
            <a:endParaRPr sz="2400"/>
          </a:p>
          <a:p>
            <a:pPr indent="-381000" lvl="0" marL="457200" rtl="0" algn="l">
              <a:spcBef>
                <a:spcPts val="0"/>
              </a:spcBef>
              <a:spcAft>
                <a:spcPts val="0"/>
              </a:spcAft>
              <a:buSzPts val="2400"/>
              <a:buChar char="●"/>
            </a:pPr>
            <a:r>
              <a:rPr lang="en-US" sz="2400"/>
              <a:t>Trong CSS có tất cả 7 loại bộ chọn khác nhau: </a:t>
            </a:r>
            <a:r>
              <a:rPr b="1" lang="en-US" sz="2400"/>
              <a:t>universal selector, element selector, id selector, class selector, attribute selector, pseudo selector </a:t>
            </a:r>
            <a:r>
              <a:rPr lang="en-US" sz="2400"/>
              <a:t>và</a:t>
            </a:r>
            <a:r>
              <a:rPr b="1" lang="en-US" sz="2400"/>
              <a:t> combinator selector </a:t>
            </a:r>
            <a:endParaRPr b="1" sz="2400"/>
          </a:p>
        </p:txBody>
      </p:sp>
      <p:pic>
        <p:nvPicPr>
          <p:cNvPr id="181" name="Google Shape;181;g116eeb822f0_0_42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2" name="Google Shape;182;g116eeb822f0_0_42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g116eeb822f0_0_42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Selector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16eeb822f0_0_44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9" name="Google Shape;189;g116eeb822f0_0_44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sp>
        <p:nvSpPr>
          <p:cNvPr id="190" name="Google Shape;190;g116eeb822f0_0_442"/>
          <p:cNvSpPr txBox="1"/>
          <p:nvPr>
            <p:ph type="ctrTitle"/>
          </p:nvPr>
        </p:nvSpPr>
        <p:spPr>
          <a:xfrm>
            <a:off x="385475" y="983651"/>
            <a:ext cx="8448900" cy="4146000"/>
          </a:xfrm>
          <a:prstGeom prst="rect">
            <a:avLst/>
          </a:prstGeom>
          <a:noFill/>
          <a:ln>
            <a:noFill/>
          </a:ln>
        </p:spPr>
        <p:txBody>
          <a:bodyPr anchorCtr="0" anchor="ctr" bIns="45700" lIns="91425" spcFirstLastPara="1" rIns="91425" wrap="square" tIns="45700">
            <a:normAutofit/>
          </a:bodyPr>
          <a:lstStyle/>
          <a:p>
            <a:pPr indent="-381000" lvl="0" marL="457200" rtl="0" algn="l">
              <a:spcBef>
                <a:spcPts val="0"/>
              </a:spcBef>
              <a:spcAft>
                <a:spcPts val="0"/>
              </a:spcAft>
              <a:buSzPts val="2400"/>
              <a:buChar char="●"/>
            </a:pPr>
            <a:r>
              <a:rPr lang="en-US" sz="2400"/>
              <a:t>Giáo viên demo về cách đưa CSS vào HTML và cách để định nghĩa code CSS </a:t>
            </a:r>
            <a:endParaRPr sz="2400"/>
          </a:p>
          <a:p>
            <a:pPr indent="0" lvl="0" marL="0" rtl="0" algn="l">
              <a:spcBef>
                <a:spcPts val="0"/>
              </a:spcBef>
              <a:spcAft>
                <a:spcPts val="0"/>
              </a:spcAft>
              <a:buNone/>
            </a:pPr>
            <a:r>
              <a:t/>
            </a:r>
            <a:endParaRPr sz="2400"/>
          </a:p>
        </p:txBody>
      </p:sp>
      <p:pic>
        <p:nvPicPr>
          <p:cNvPr id="191" name="Google Shape;191;g116eeb822f0_0_44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92" name="Google Shape;192;g116eeb822f0_0_44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g116eeb822f0_0_44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1161c1426dc_0_2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9" name="Google Shape;199;g1161c1426dc_0_2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4"/>
              </a:srgbClr>
            </a:outerShdw>
          </a:effectLst>
        </p:spPr>
      </p:cxnSp>
      <p:sp>
        <p:nvSpPr>
          <p:cNvPr id="200" name="Google Shape;200;g1161c1426dc_0_21"/>
          <p:cNvSpPr txBox="1"/>
          <p:nvPr>
            <p:ph type="ctrTitle"/>
          </p:nvPr>
        </p:nvSpPr>
        <p:spPr>
          <a:xfrm>
            <a:off x="304800" y="908679"/>
            <a:ext cx="8589000" cy="1377300"/>
          </a:xfrm>
          <a:prstGeom prst="rect">
            <a:avLst/>
          </a:prstGeom>
          <a:noFill/>
          <a:ln>
            <a:noFill/>
          </a:ln>
        </p:spPr>
        <p:txBody>
          <a:bodyPr anchorCtr="0" anchor="ctr" bIns="45700" lIns="91425" spcFirstLastPara="1" rIns="91425" wrap="square" tIns="45700">
            <a:normAutofit fontScale="90000"/>
          </a:bodyPr>
          <a:lstStyle/>
          <a:p>
            <a:pPr indent="-365760" lvl="0" marL="457200" rtl="0" algn="l">
              <a:lnSpc>
                <a:spcPct val="100000"/>
              </a:lnSpc>
              <a:spcBef>
                <a:spcPts val="0"/>
              </a:spcBef>
              <a:spcAft>
                <a:spcPts val="0"/>
              </a:spcAft>
              <a:buClr>
                <a:schemeClr val="dk2"/>
              </a:buClr>
              <a:buSzPct val="100000"/>
              <a:buChar char="●"/>
            </a:pPr>
            <a:r>
              <a:rPr lang="en-US" sz="2400">
                <a:solidFill>
                  <a:schemeClr val="dk2"/>
                </a:solidFill>
              </a:rPr>
              <a:t>Để học CSS thì không hề khó, tuy nhiên CSS có rất nhiều thuộc tính và khái niệm, do đó để có thể trở nên giỏi và thành thạo CSS thì cực kỳ khó, đặc biệt khi sử dụng CSS trong các dự án lớn. Vậy cần học CSS như thế nào để có thể sử dụng nó một cách thành thạo trong dự án?</a:t>
            </a:r>
            <a:endParaRPr sz="2400">
              <a:solidFill>
                <a:schemeClr val="dk2"/>
              </a:solidFill>
            </a:endParaRPr>
          </a:p>
        </p:txBody>
      </p:sp>
      <p:pic>
        <p:nvPicPr>
          <p:cNvPr id="201" name="Google Shape;201;g1161c1426dc_0_2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2" name="Google Shape;202;g1161c1426dc_0_2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g1161c1426dc_0_21"/>
          <p:cNvSpPr txBox="1"/>
          <p:nvPr/>
        </p:nvSpPr>
        <p:spPr>
          <a:xfrm flipH="1">
            <a:off x="2511300" y="123075"/>
            <a:ext cx="6251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Làm thế nào để thành thạo CSS ?</a:t>
            </a:r>
            <a:endParaRPr b="0" i="0" sz="1400" u="none" cap="none" strike="noStrike">
              <a:solidFill>
                <a:srgbClr val="000000"/>
              </a:solidFill>
              <a:latin typeface="Arial"/>
              <a:ea typeface="Arial"/>
              <a:cs typeface="Arial"/>
              <a:sym typeface="Arial"/>
            </a:endParaRPr>
          </a:p>
        </p:txBody>
      </p:sp>
      <p:sp>
        <p:nvSpPr>
          <p:cNvPr id="204" name="Google Shape;204;g1161c1426dc_0_21"/>
          <p:cNvSpPr/>
          <p:nvPr/>
        </p:nvSpPr>
        <p:spPr>
          <a:xfrm>
            <a:off x="828125" y="2895050"/>
            <a:ext cx="3226500" cy="2144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t> Làm nhiều quen tay ?</a:t>
            </a:r>
            <a:endParaRPr sz="2100"/>
          </a:p>
        </p:txBody>
      </p:sp>
      <p:sp>
        <p:nvSpPr>
          <p:cNvPr id="205" name="Google Shape;205;g1161c1426dc_0_21"/>
          <p:cNvSpPr/>
          <p:nvPr/>
        </p:nvSpPr>
        <p:spPr>
          <a:xfrm>
            <a:off x="5375175" y="2853350"/>
            <a:ext cx="3387900" cy="222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900"/>
              <a:t>Học chắc các lý thuyết nền ?</a:t>
            </a:r>
            <a:endParaRPr sz="1900"/>
          </a:p>
        </p:txBody>
      </p:sp>
      <p:sp>
        <p:nvSpPr>
          <p:cNvPr id="206" name="Google Shape;206;g1161c1426dc_0_21"/>
          <p:cNvSpPr txBox="1"/>
          <p:nvPr/>
        </p:nvSpPr>
        <p:spPr>
          <a:xfrm>
            <a:off x="4338375" y="3657788"/>
            <a:ext cx="961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Calibri"/>
                <a:ea typeface="Calibri"/>
                <a:cs typeface="Calibri"/>
                <a:sym typeface="Calibri"/>
              </a:rPr>
              <a:t>VS</a:t>
            </a:r>
            <a:endParaRPr sz="3200">
              <a:latin typeface="Calibri"/>
              <a:ea typeface="Calibri"/>
              <a:cs typeface="Calibri"/>
              <a:sym typeface="Calibri"/>
            </a:endParaRPr>
          </a:p>
        </p:txBody>
      </p:sp>
      <p:sp>
        <p:nvSpPr>
          <p:cNvPr id="207" name="Google Shape;207;g1161c1426dc_0_21"/>
          <p:cNvSpPr txBox="1"/>
          <p:nvPr/>
        </p:nvSpPr>
        <p:spPr>
          <a:xfrm>
            <a:off x="6797925" y="4445450"/>
            <a:ext cx="54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Calibri"/>
                <a:ea typeface="Calibri"/>
                <a:cs typeface="Calibri"/>
                <a:sym typeface="Calibri"/>
              </a:rPr>
              <a:t>😄</a:t>
            </a:r>
            <a:endParaRPr sz="3200">
              <a:latin typeface="Calibri"/>
              <a:ea typeface="Calibri"/>
              <a:cs typeface="Calibri"/>
              <a:sym typeface="Calibri"/>
            </a:endParaRPr>
          </a:p>
        </p:txBody>
      </p:sp>
      <p:sp>
        <p:nvSpPr>
          <p:cNvPr id="208" name="Google Shape;208;g1161c1426dc_0_21"/>
          <p:cNvSpPr txBox="1"/>
          <p:nvPr/>
        </p:nvSpPr>
        <p:spPr>
          <a:xfrm>
            <a:off x="2170175" y="4362050"/>
            <a:ext cx="542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Calibri"/>
                <a:ea typeface="Calibri"/>
                <a:cs typeface="Calibri"/>
                <a:sym typeface="Calibri"/>
              </a:rPr>
              <a:t>😟</a:t>
            </a:r>
            <a:endParaRPr sz="32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1161c1426dc_0_8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4" name="Google Shape;214;g1161c1426dc_0_8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4"/>
              </a:srgbClr>
            </a:outerShdw>
          </a:effectLst>
        </p:spPr>
      </p:cxnSp>
      <p:pic>
        <p:nvPicPr>
          <p:cNvPr id="215" name="Google Shape;215;g1161c1426dc_0_8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6" name="Google Shape;216;g1161c1426dc_0_8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g1161c1426dc_0_83"/>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Làm nhiều quen tay ?</a:t>
            </a:r>
            <a:endParaRPr b="0" i="0" sz="1400" u="none" cap="none" strike="noStrike">
              <a:solidFill>
                <a:srgbClr val="000000"/>
              </a:solidFill>
              <a:latin typeface="Arial"/>
              <a:ea typeface="Arial"/>
              <a:cs typeface="Arial"/>
              <a:sym typeface="Arial"/>
            </a:endParaRPr>
          </a:p>
        </p:txBody>
      </p:sp>
      <p:sp>
        <p:nvSpPr>
          <p:cNvPr id="218" name="Google Shape;218;g1161c1426dc_0_83"/>
          <p:cNvSpPr txBox="1"/>
          <p:nvPr/>
        </p:nvSpPr>
        <p:spPr>
          <a:xfrm>
            <a:off x="642450" y="2275575"/>
            <a:ext cx="7859100" cy="2401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solidFill>
                  <a:schemeClr val="dk2"/>
                </a:solidFill>
                <a:latin typeface="Calibri"/>
                <a:ea typeface="Calibri"/>
                <a:cs typeface="Calibri"/>
                <a:sym typeface="Calibri"/>
              </a:rPr>
              <a:t>Đa phần mọi người sẽ tiếp cận CSS theo cách làm nhiều quen tay, nếu học CSS theo cách này ta có thể làm chủ được khi dự án nhỏ, ít giao diện và ít quy tắc, tuy nhiên khi dự án phình to, có nhiều người tham gia và có nhiều giao diện thì việc ko chắc kiến thức nền sẽ khiến chúng ta gặp khó khăn trong quá trình bảo trì và thêm tính năng</a:t>
            </a:r>
            <a:endParaRPr sz="2400">
              <a:solidFill>
                <a:schemeClr val="dk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116eeb822f0_0_45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4" name="Google Shape;224;g116eeb822f0_0_45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25" name="Google Shape;225;g116eeb822f0_0_45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6" name="Google Shape;226;g116eeb822f0_0_45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g116eeb822f0_0_451"/>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Học chắc kiến thức nền</a:t>
            </a:r>
            <a:r>
              <a:rPr b="1" lang="en-US" sz="2800">
                <a:solidFill>
                  <a:schemeClr val="dk2"/>
                </a:solidFill>
              </a:rPr>
              <a:t> ?</a:t>
            </a:r>
            <a:endParaRPr b="0" i="0" sz="1400" u="none" cap="none" strike="noStrike">
              <a:solidFill>
                <a:srgbClr val="000000"/>
              </a:solidFill>
              <a:latin typeface="Arial"/>
              <a:ea typeface="Arial"/>
              <a:cs typeface="Arial"/>
              <a:sym typeface="Arial"/>
            </a:endParaRPr>
          </a:p>
        </p:txBody>
      </p:sp>
      <p:sp>
        <p:nvSpPr>
          <p:cNvPr id="228" name="Google Shape;228;g116eeb822f0_0_451"/>
          <p:cNvSpPr txBox="1"/>
          <p:nvPr/>
        </p:nvSpPr>
        <p:spPr>
          <a:xfrm>
            <a:off x="642450" y="1963025"/>
            <a:ext cx="7859100" cy="2401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solidFill>
                  <a:schemeClr val="dk2"/>
                </a:solidFill>
                <a:latin typeface="Calibri"/>
                <a:ea typeface="Calibri"/>
                <a:cs typeface="Calibri"/>
                <a:sym typeface="Calibri"/>
              </a:rPr>
              <a:t>CSS có rất nhiều các thuộc tính khác nhau, việc nhớ hết tất cả các thuộc tính trong thời gian ngắn là điều bất khả thi, tuy nhiên ta có thể hệ thống hoá và học các kiến thức nền chắc chắn, sau đó kết hợp thực hành và làm nhiều chắc chắn bạn sẽ giỏi và thành thạo CSS. Vậy câu hỏi đặt ra là ta cần nắm chắc kiến thức gì ?</a:t>
            </a:r>
            <a:endParaRPr sz="2400">
              <a:solidFill>
                <a:schemeClr val="dk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116eeb822f0_0_46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4" name="Google Shape;234;g116eeb822f0_0_46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35" name="Google Shape;235;g116eeb822f0_0_46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6" name="Google Shape;236;g116eeb822f0_0_46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g116eeb822f0_0_460"/>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Học chắc kiến thức nền ?</a:t>
            </a:r>
            <a:endParaRPr b="0" i="0" sz="1400" u="none" cap="none" strike="noStrike">
              <a:solidFill>
                <a:srgbClr val="000000"/>
              </a:solidFill>
              <a:latin typeface="Arial"/>
              <a:ea typeface="Arial"/>
              <a:cs typeface="Arial"/>
              <a:sym typeface="Arial"/>
            </a:endParaRPr>
          </a:p>
        </p:txBody>
      </p:sp>
      <p:sp>
        <p:nvSpPr>
          <p:cNvPr id="238" name="Google Shape;238;g116eeb822f0_0_460"/>
          <p:cNvSpPr txBox="1"/>
          <p:nvPr/>
        </p:nvSpPr>
        <p:spPr>
          <a:xfrm>
            <a:off x="642450" y="1098900"/>
            <a:ext cx="78591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Các khái niệm cần nắm chắc trong CSS </a:t>
            </a:r>
            <a:endParaRPr sz="2400">
              <a:latin typeface="Calibri"/>
              <a:ea typeface="Calibri"/>
              <a:cs typeface="Calibri"/>
              <a:sym typeface="Calibri"/>
            </a:endParaRPr>
          </a:p>
        </p:txBody>
      </p:sp>
      <p:sp>
        <p:nvSpPr>
          <p:cNvPr id="239" name="Google Shape;239;g116eeb822f0_0_460"/>
          <p:cNvSpPr txBox="1"/>
          <p:nvPr/>
        </p:nvSpPr>
        <p:spPr>
          <a:xfrm>
            <a:off x="730525" y="2105625"/>
            <a:ext cx="78591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solidFill>
                  <a:schemeClr val="dk1"/>
                </a:solidFill>
                <a:latin typeface="Calibri"/>
                <a:ea typeface="Calibri"/>
                <a:cs typeface="Calibri"/>
                <a:sym typeface="Calibri"/>
              </a:rPr>
              <a:t>   Box Model (Mô hình hộp)</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Các thuộc tính cơ bản: display, width, height, margin, padding, background, color, border</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7 loại selector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Độ ưu tiên trong CSS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Position trong CSS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Margin Collapsing</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    Box Sizing</a:t>
            </a:r>
            <a:endParaRPr sz="24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116eeb822f0_0_47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5" name="Google Shape;245;g116eeb822f0_0_47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46" name="Google Shape;246;g116eeb822f0_0_47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7" name="Google Shape;247;g116eeb822f0_0_47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g116eeb822f0_0_471"/>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Box Model ?</a:t>
            </a:r>
            <a:endParaRPr b="0" i="0" sz="1400" u="none" cap="none" strike="noStrike">
              <a:solidFill>
                <a:srgbClr val="000000"/>
              </a:solidFill>
              <a:latin typeface="Arial"/>
              <a:ea typeface="Arial"/>
              <a:cs typeface="Arial"/>
              <a:sym typeface="Arial"/>
            </a:endParaRPr>
          </a:p>
        </p:txBody>
      </p:sp>
      <p:sp>
        <p:nvSpPr>
          <p:cNvPr id="249" name="Google Shape;249;g116eeb822f0_0_471"/>
          <p:cNvSpPr txBox="1"/>
          <p:nvPr/>
        </p:nvSpPr>
        <p:spPr>
          <a:xfrm>
            <a:off x="476975" y="646275"/>
            <a:ext cx="7859100" cy="1293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Box Model (Mô hình hộp) là khái niệm trong CSS chỉ đến sự dàn trang, trong đó CSS coi mỗi thẻ HTML là một cái hộp, trong cái hộp đó có các thành phần như hình sau. </a:t>
            </a:r>
            <a:endParaRPr sz="2400">
              <a:latin typeface="Calibri"/>
              <a:ea typeface="Calibri"/>
              <a:cs typeface="Calibri"/>
              <a:sym typeface="Calibri"/>
            </a:endParaRPr>
          </a:p>
        </p:txBody>
      </p:sp>
      <p:pic>
        <p:nvPicPr>
          <p:cNvPr id="250" name="Google Shape;250;g116eeb822f0_0_471"/>
          <p:cNvPicPr preferRelativeResize="0"/>
          <p:nvPr/>
        </p:nvPicPr>
        <p:blipFill>
          <a:blip r:embed="rId4">
            <a:alphaModFix/>
          </a:blip>
          <a:stretch>
            <a:fillRect/>
          </a:stretch>
        </p:blipFill>
        <p:spPr>
          <a:xfrm>
            <a:off x="4572000" y="2243725"/>
            <a:ext cx="4404926" cy="1997425"/>
          </a:xfrm>
          <a:prstGeom prst="rect">
            <a:avLst/>
          </a:prstGeom>
          <a:noFill/>
          <a:ln>
            <a:noFill/>
          </a:ln>
        </p:spPr>
      </p:pic>
      <p:sp>
        <p:nvSpPr>
          <p:cNvPr id="251" name="Google Shape;251;g116eeb822f0_0_471"/>
          <p:cNvSpPr txBox="1"/>
          <p:nvPr/>
        </p:nvSpPr>
        <p:spPr>
          <a:xfrm>
            <a:off x="337425" y="2100488"/>
            <a:ext cx="4050000" cy="3986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Calibri"/>
              <a:buChar char="●"/>
            </a:pPr>
            <a:r>
              <a:rPr lang="en-US" sz="1900">
                <a:solidFill>
                  <a:schemeClr val="dk1"/>
                </a:solidFill>
                <a:latin typeface="Calibri"/>
                <a:ea typeface="Calibri"/>
                <a:cs typeface="Calibri"/>
                <a:sym typeface="Calibri"/>
              </a:rPr>
              <a:t> Margin: Khoảng cách từ hộp(thẻ) đến các hộp(thẻ) nằm cạnh hoặc đến hộp cha (thẻ cha)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Border: đường viền của hộp(thẻ)</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Padding: Khoảng cách từ đường viền hộp đến nội dung bên trong hộp, nội dung bên trong hộp có thể là một hộp khác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Padding của hộp cha có thể bằng margin của hộp con</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Content: Nội dung bên trong hộp(thẻ), có thể là text hoặc tập các hộp(thẻ) khác</a:t>
            </a:r>
            <a:endParaRPr sz="1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16eeb822f0_0_49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7" name="Google Shape;257;g116eeb822f0_0_49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58" name="Google Shape;258;g116eeb822f0_0_49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59" name="Google Shape;259;g116eeb822f0_0_49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g116eeb822f0_0_495"/>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Box Model ?</a:t>
            </a:r>
            <a:endParaRPr b="0" i="0" sz="1400" u="none" cap="none" strike="noStrike">
              <a:solidFill>
                <a:srgbClr val="000000"/>
              </a:solidFill>
              <a:latin typeface="Arial"/>
              <a:ea typeface="Arial"/>
              <a:cs typeface="Arial"/>
              <a:sym typeface="Arial"/>
            </a:endParaRPr>
          </a:p>
        </p:txBody>
      </p:sp>
      <p:sp>
        <p:nvSpPr>
          <p:cNvPr id="261" name="Google Shape;261;g116eeb822f0_0_495"/>
          <p:cNvSpPr txBox="1"/>
          <p:nvPr/>
        </p:nvSpPr>
        <p:spPr>
          <a:xfrm>
            <a:off x="476975" y="646275"/>
            <a:ext cx="78591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Việc nắm chắc mô hình hộp giúp lập trình viên có thể biết được vị trí của các thẻ với các thẻ, vị trí của thẻ với nội dung  trong giao diện, nội dung chiếm đóng của một thẻ để căn chỉnh thẻ đó cho phù hợp với thiết kế</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Có thể xem mô hình hộp của một thẻ trong trình duyệt chrome bằng trình Debug(nhấn F12)</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CSS cung cấp các thuộc tính cho phép thay đổi các thuộc tính của một hộp như sau</a:t>
            </a:r>
            <a:endParaRPr sz="2400">
              <a:latin typeface="Calibri"/>
              <a:ea typeface="Calibri"/>
              <a:cs typeface="Calibri"/>
              <a:sym typeface="Calibri"/>
            </a:endParaRPr>
          </a:p>
        </p:txBody>
      </p:sp>
      <p:sp>
        <p:nvSpPr>
          <p:cNvPr id="262" name="Google Shape;262;g116eeb822f0_0_495"/>
          <p:cNvSpPr txBox="1"/>
          <p:nvPr/>
        </p:nvSpPr>
        <p:spPr>
          <a:xfrm>
            <a:off x="476975" y="3741570"/>
            <a:ext cx="7859100" cy="2401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Calibri"/>
              <a:buChar char="●"/>
            </a:pPr>
            <a:r>
              <a:rPr b="1" lang="en-US" sz="2400">
                <a:solidFill>
                  <a:schemeClr val="dk1"/>
                </a:solidFill>
                <a:latin typeface="Calibri"/>
                <a:ea typeface="Calibri"/>
                <a:cs typeface="Calibri"/>
                <a:sym typeface="Calibri"/>
              </a:rPr>
              <a:t>border</a:t>
            </a:r>
            <a:r>
              <a:rPr lang="en-US" sz="2400">
                <a:solidFill>
                  <a:schemeClr val="dk1"/>
                </a:solidFill>
                <a:latin typeface="Calibri"/>
                <a:ea typeface="Calibri"/>
                <a:cs typeface="Calibri"/>
                <a:sym typeface="Calibri"/>
              </a:rPr>
              <a:t>: thuộc tính này cho phép thay đổi style border của hộp</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b="1" lang="en-US" sz="2400">
                <a:latin typeface="Calibri"/>
                <a:ea typeface="Calibri"/>
                <a:cs typeface="Calibri"/>
                <a:sym typeface="Calibri"/>
              </a:rPr>
              <a:t>margin</a:t>
            </a:r>
            <a:r>
              <a:rPr lang="en-US" sz="2400">
                <a:latin typeface="Calibri"/>
                <a:ea typeface="Calibri"/>
                <a:cs typeface="Calibri"/>
                <a:sym typeface="Calibri"/>
              </a:rPr>
              <a:t>: thuộc tính này cho phép thay đổi giá trị margin của hộp</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b="1" lang="en-US" sz="2400">
                <a:latin typeface="Calibri"/>
                <a:ea typeface="Calibri"/>
                <a:cs typeface="Calibri"/>
                <a:sym typeface="Calibri"/>
              </a:rPr>
              <a:t>padding</a:t>
            </a:r>
            <a:r>
              <a:rPr lang="en-US" sz="2400">
                <a:latin typeface="Calibri"/>
                <a:ea typeface="Calibri"/>
                <a:cs typeface="Calibri"/>
                <a:sym typeface="Calibri"/>
              </a:rPr>
              <a:t>: thuộc tính này cho phép thay đổi giá trị padding của hộp </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16eeb822f0_0_54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8" name="Google Shape;268;g116eeb822f0_0_54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69" name="Google Shape;269;g116eeb822f0_0_54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0" name="Google Shape;270;g116eeb822f0_0_54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116eeb822f0_0_542"/>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border</a:t>
            </a:r>
            <a:endParaRPr b="0" i="0" sz="1400" u="none" cap="none" strike="noStrike">
              <a:solidFill>
                <a:srgbClr val="000000"/>
              </a:solidFill>
              <a:latin typeface="Arial"/>
              <a:ea typeface="Arial"/>
              <a:cs typeface="Arial"/>
              <a:sym typeface="Arial"/>
            </a:endParaRPr>
          </a:p>
        </p:txBody>
      </p:sp>
      <p:sp>
        <p:nvSpPr>
          <p:cNvPr id="272" name="Google Shape;272;g116eeb822f0_0_542"/>
          <p:cNvSpPr txBox="1"/>
          <p:nvPr/>
        </p:nvSpPr>
        <p:spPr>
          <a:xfrm>
            <a:off x="513750" y="938388"/>
            <a:ext cx="7859100" cy="923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Thuộc tính này cho phép định nghĩa phong cách cho border của hộp, cú pháp như sau</a:t>
            </a:r>
            <a:endParaRPr sz="2400">
              <a:latin typeface="Calibri"/>
              <a:ea typeface="Calibri"/>
              <a:cs typeface="Calibri"/>
              <a:sym typeface="Calibri"/>
            </a:endParaRPr>
          </a:p>
        </p:txBody>
      </p:sp>
      <p:graphicFrame>
        <p:nvGraphicFramePr>
          <p:cNvPr id="273" name="Google Shape;273;g116eeb822f0_0_542"/>
          <p:cNvGraphicFramePr/>
          <p:nvPr/>
        </p:nvGraphicFramePr>
        <p:xfrm>
          <a:off x="952500" y="1980075"/>
          <a:ext cx="3000000" cy="3000000"/>
        </p:xfrm>
        <a:graphic>
          <a:graphicData uri="http://schemas.openxmlformats.org/drawingml/2006/table">
            <a:tbl>
              <a:tblPr>
                <a:noFill/>
                <a:tableStyleId>{C9973300-39E5-4DB4-9A53-34D2B2CC77C1}</a:tableStyleId>
              </a:tblPr>
              <a:tblGrid>
                <a:gridCol w="2543250"/>
                <a:gridCol w="2543250"/>
                <a:gridCol w="2543250"/>
              </a:tblGrid>
              <a:tr h="745300">
                <a:tc>
                  <a:txBody>
                    <a:bodyPr/>
                    <a:lstStyle/>
                    <a:p>
                      <a:pPr indent="0" lvl="0" marL="0" rtl="0" algn="ctr">
                        <a:spcBef>
                          <a:spcPts val="0"/>
                        </a:spcBef>
                        <a:spcAft>
                          <a:spcPts val="0"/>
                        </a:spcAft>
                        <a:buNone/>
                      </a:pPr>
                      <a:r>
                        <a:rPr b="1" lang="en-US"/>
                        <a:t>Tên t</a:t>
                      </a:r>
                      <a:r>
                        <a:rPr b="1" lang="en-US"/>
                        <a:t>huộc tính</a:t>
                      </a:r>
                      <a:endParaRPr b="1"/>
                    </a:p>
                  </a:txBody>
                  <a:tcPr marT="91425" marB="91425" marR="91425" marL="91425"/>
                </a:tc>
                <a:tc>
                  <a:txBody>
                    <a:bodyPr/>
                    <a:lstStyle/>
                    <a:p>
                      <a:pPr indent="0" lvl="0" marL="0" rtl="0" algn="ctr">
                        <a:spcBef>
                          <a:spcPts val="0"/>
                        </a:spcBef>
                        <a:spcAft>
                          <a:spcPts val="0"/>
                        </a:spcAft>
                        <a:buNone/>
                      </a:pPr>
                      <a:r>
                        <a:rPr b="1" lang="en-US"/>
                        <a:t>Giá trị nhận vào</a:t>
                      </a:r>
                      <a:endParaRPr b="1"/>
                    </a:p>
                  </a:txBody>
                  <a:tcPr marT="91425" marB="91425" marR="91425" marL="91425"/>
                </a:tc>
                <a:tc>
                  <a:txBody>
                    <a:bodyPr/>
                    <a:lstStyle/>
                    <a:p>
                      <a:pPr indent="0" lvl="0" marL="0" rtl="0" algn="ctr">
                        <a:spcBef>
                          <a:spcPts val="0"/>
                        </a:spcBef>
                        <a:spcAft>
                          <a:spcPts val="0"/>
                        </a:spcAft>
                        <a:buNone/>
                      </a:pPr>
                      <a:r>
                        <a:rPr b="1" lang="en-US"/>
                        <a:t>Ý nghĩa</a:t>
                      </a:r>
                      <a:endParaRPr b="1"/>
                    </a:p>
                  </a:txBody>
                  <a:tcPr marT="91425" marB="91425" marR="91425" marL="91425"/>
                </a:tc>
              </a:tr>
              <a:tr h="745300">
                <a:tc>
                  <a:txBody>
                    <a:bodyPr/>
                    <a:lstStyle/>
                    <a:p>
                      <a:pPr indent="0" lvl="0" marL="0" rtl="0" algn="l">
                        <a:spcBef>
                          <a:spcPts val="0"/>
                        </a:spcBef>
                        <a:spcAft>
                          <a:spcPts val="0"/>
                        </a:spcAft>
                        <a:buNone/>
                      </a:pPr>
                      <a:r>
                        <a:rPr lang="en-US"/>
                        <a:t>border-style</a:t>
                      </a:r>
                      <a:endParaRPr/>
                    </a:p>
                  </a:txBody>
                  <a:tcPr marT="91425" marB="91425" marR="91425" marL="91425"/>
                </a:tc>
                <a:tc>
                  <a:txBody>
                    <a:bodyPr/>
                    <a:lstStyle/>
                    <a:p>
                      <a:pPr indent="0" lvl="0" marL="0" rtl="0" algn="l">
                        <a:spcBef>
                          <a:spcPts val="0"/>
                        </a:spcBef>
                        <a:spcAft>
                          <a:spcPts val="0"/>
                        </a:spcAft>
                        <a:buNone/>
                      </a:pPr>
                      <a:r>
                        <a:rPr lang="en-US"/>
                        <a:t>dotted|dashed|solid|double|groove|ridge|inset|outset|none|hidden</a:t>
                      </a:r>
                      <a:endParaRPr/>
                    </a:p>
                  </a:txBody>
                  <a:tcPr marT="91425" marB="91425" marR="91425" marL="91425"/>
                </a:tc>
                <a:tc>
                  <a:txBody>
                    <a:bodyPr/>
                    <a:lstStyle/>
                    <a:p>
                      <a:pPr indent="0" lvl="0" marL="0" rtl="0" algn="l">
                        <a:spcBef>
                          <a:spcPts val="0"/>
                        </a:spcBef>
                        <a:spcAft>
                          <a:spcPts val="0"/>
                        </a:spcAft>
                        <a:buNone/>
                      </a:pPr>
                      <a:r>
                        <a:rPr lang="en-US"/>
                        <a:t>Định nghĩa kiểu cách cho đường viền</a:t>
                      </a:r>
                      <a:endParaRPr/>
                    </a:p>
                  </a:txBody>
                  <a:tcPr marT="91425" marB="91425" marR="91425" marL="91425"/>
                </a:tc>
              </a:tr>
              <a:tr h="716700">
                <a:tc>
                  <a:txBody>
                    <a:bodyPr/>
                    <a:lstStyle/>
                    <a:p>
                      <a:pPr indent="0" lvl="0" marL="0" rtl="0" algn="l">
                        <a:spcBef>
                          <a:spcPts val="0"/>
                        </a:spcBef>
                        <a:spcAft>
                          <a:spcPts val="0"/>
                        </a:spcAft>
                        <a:buNone/>
                      </a:pPr>
                      <a:r>
                        <a:rPr lang="en-US"/>
                        <a:t>border-color</a:t>
                      </a:r>
                      <a:endParaRPr/>
                    </a:p>
                  </a:txBody>
                  <a:tcPr marT="91425" marB="91425" marR="91425" marL="91425"/>
                </a:tc>
                <a:tc>
                  <a:txBody>
                    <a:bodyPr/>
                    <a:lstStyle/>
                    <a:p>
                      <a:pPr indent="0" lvl="0" marL="0" rtl="0" algn="l">
                        <a:spcBef>
                          <a:spcPts val="0"/>
                        </a:spcBef>
                        <a:spcAft>
                          <a:spcPts val="0"/>
                        </a:spcAft>
                        <a:buNone/>
                      </a:pPr>
                      <a:r>
                        <a:rPr lang="en-US"/>
                        <a:t>Một giá trị màu sắc: tên màu (tiếng Anh), mã hexa, mã  rgb, mã hls </a:t>
                      </a:r>
                      <a:endParaRPr/>
                    </a:p>
                  </a:txBody>
                  <a:tcPr marT="91425" marB="91425" marR="91425" marL="91425"/>
                </a:tc>
                <a:tc>
                  <a:txBody>
                    <a:bodyPr/>
                    <a:lstStyle/>
                    <a:p>
                      <a:pPr indent="0" lvl="0" marL="0" rtl="0" algn="l">
                        <a:spcBef>
                          <a:spcPts val="0"/>
                        </a:spcBef>
                        <a:spcAft>
                          <a:spcPts val="0"/>
                        </a:spcAft>
                        <a:buNone/>
                      </a:pPr>
                      <a:r>
                        <a:rPr lang="en-US"/>
                        <a:t>Định nghĩa màu sắc cho đường viền</a:t>
                      </a:r>
                      <a:endParaRPr/>
                    </a:p>
                  </a:txBody>
                  <a:tcPr marT="91425" marB="91425" marR="91425" marL="91425"/>
                </a:tc>
              </a:tr>
              <a:tr h="716700">
                <a:tc>
                  <a:txBody>
                    <a:bodyPr/>
                    <a:lstStyle/>
                    <a:p>
                      <a:pPr indent="0" lvl="0" marL="0" rtl="0" algn="l">
                        <a:spcBef>
                          <a:spcPts val="0"/>
                        </a:spcBef>
                        <a:spcAft>
                          <a:spcPts val="0"/>
                        </a:spcAft>
                        <a:buNone/>
                      </a:pPr>
                      <a:r>
                        <a:rPr lang="en-US"/>
                        <a:t>border-width</a:t>
                      </a:r>
                      <a:endParaRPr/>
                    </a:p>
                  </a:txBody>
                  <a:tcPr marT="91425" marB="91425" marR="91425" marL="91425"/>
                </a:tc>
                <a:tc>
                  <a:txBody>
                    <a:bodyPr/>
                    <a:lstStyle/>
                    <a:p>
                      <a:pPr indent="0" lvl="0" marL="0" rtl="0" algn="l">
                        <a:spcBef>
                          <a:spcPts val="0"/>
                        </a:spcBef>
                        <a:spcAft>
                          <a:spcPts val="0"/>
                        </a:spcAft>
                        <a:buNone/>
                      </a:pPr>
                      <a:r>
                        <a:rPr lang="en-US"/>
                        <a:t>Một giá trị số với đơn vị đo (px,rem,em,...)</a:t>
                      </a:r>
                      <a:endParaRPr/>
                    </a:p>
                  </a:txBody>
                  <a:tcPr marT="91425" marB="91425" marR="91425" marL="91425"/>
                </a:tc>
                <a:tc>
                  <a:txBody>
                    <a:bodyPr/>
                    <a:lstStyle/>
                    <a:p>
                      <a:pPr indent="0" lvl="0" marL="0" rtl="0" algn="l">
                        <a:spcBef>
                          <a:spcPts val="0"/>
                        </a:spcBef>
                        <a:spcAft>
                          <a:spcPts val="0"/>
                        </a:spcAft>
                        <a:buNone/>
                      </a:pPr>
                      <a:r>
                        <a:rPr lang="en-US"/>
                        <a:t>Định nghĩa độ dày của đường viên</a:t>
                      </a:r>
                      <a:endParaRPr/>
                    </a:p>
                  </a:txBody>
                  <a:tcPr marT="91425" marB="91425" marR="91425" marL="91425"/>
                </a:tc>
              </a:tr>
              <a:tr h="735100">
                <a:tc>
                  <a:txBody>
                    <a:bodyPr/>
                    <a:lstStyle/>
                    <a:p>
                      <a:pPr indent="0" lvl="0" marL="0" rtl="0" algn="l">
                        <a:spcBef>
                          <a:spcPts val="0"/>
                        </a:spcBef>
                        <a:spcAft>
                          <a:spcPts val="0"/>
                        </a:spcAft>
                        <a:buNone/>
                      </a:pPr>
                      <a:r>
                        <a:rPr lang="en-US"/>
                        <a:t>border</a:t>
                      </a:r>
                      <a:endParaRPr/>
                    </a:p>
                  </a:txBody>
                  <a:tcPr marT="91425" marB="91425" marR="91425" marL="91425"/>
                </a:tc>
                <a:tc>
                  <a:txBody>
                    <a:bodyPr/>
                    <a:lstStyle/>
                    <a:p>
                      <a:pPr indent="0" lvl="0" marL="0" rtl="0" algn="l">
                        <a:spcBef>
                          <a:spcPts val="0"/>
                        </a:spcBef>
                        <a:spcAft>
                          <a:spcPts val="0"/>
                        </a:spcAft>
                        <a:buNone/>
                      </a:pPr>
                      <a:r>
                        <a:rPr lang="en-US"/>
                        <a:t>&lt;giá trị border-width&gt; &lt;gía trị border-style&gt;</a:t>
                      </a:r>
                      <a:r>
                        <a:rPr lang="en-US">
                          <a:solidFill>
                            <a:schemeClr val="dk1"/>
                          </a:solidFill>
                        </a:rPr>
                        <a:t> &lt;giá trị border-color)</a:t>
                      </a:r>
                      <a:endParaRPr/>
                    </a:p>
                  </a:txBody>
                  <a:tcPr marT="91425" marB="91425" marR="91425" marL="91425"/>
                </a:tc>
                <a:tc>
                  <a:txBody>
                    <a:bodyPr/>
                    <a:lstStyle/>
                    <a:p>
                      <a:pPr indent="0" lvl="0" marL="0" rtl="0" algn="l">
                        <a:spcBef>
                          <a:spcPts val="0"/>
                        </a:spcBef>
                        <a:spcAft>
                          <a:spcPts val="0"/>
                        </a:spcAft>
                        <a:buNone/>
                      </a:pPr>
                      <a:r>
                        <a:rPr lang="en-US"/>
                        <a:t>Cách viết rút gọn định nghĩa cả ba thuộc tính trên cùng lúc</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16eeb822f0_0_55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9" name="Google Shape;279;g116eeb822f0_0_55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80" name="Google Shape;280;g116eeb822f0_0_55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81" name="Google Shape;281;g116eeb822f0_0_55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2" name="Google Shape;282;g116eeb822f0_0_553"/>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Mẹo</a:t>
            </a:r>
            <a:endParaRPr b="0" i="0" sz="1400" u="none" cap="none" strike="noStrike">
              <a:solidFill>
                <a:srgbClr val="000000"/>
              </a:solidFill>
              <a:latin typeface="Arial"/>
              <a:ea typeface="Arial"/>
              <a:cs typeface="Arial"/>
              <a:sym typeface="Arial"/>
            </a:endParaRPr>
          </a:p>
        </p:txBody>
      </p:sp>
      <p:sp>
        <p:nvSpPr>
          <p:cNvPr id="283" name="Google Shape;283;g116eeb822f0_0_553"/>
          <p:cNvSpPr txBox="1"/>
          <p:nvPr/>
        </p:nvSpPr>
        <p:spPr>
          <a:xfrm>
            <a:off x="403425" y="2446038"/>
            <a:ext cx="7859100" cy="1662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Khi mới lập trình CSS, ta nên sử dụng thuộc tính border cho các thẻ HTML để biết được vị trí và nội dung chiếm đóng của thẻ đó trong giao diện, sau khi căn chỉnh vị trí các thẻ xong thì </a:t>
            </a:r>
            <a:r>
              <a:rPr lang="en-US" sz="2400">
                <a:latin typeface="Calibri"/>
                <a:ea typeface="Calibri"/>
                <a:cs typeface="Calibri"/>
                <a:sym typeface="Calibri"/>
              </a:rPr>
              <a:t>xóa</a:t>
            </a:r>
            <a:r>
              <a:rPr lang="en-US" sz="2400">
                <a:latin typeface="Calibri"/>
                <a:ea typeface="Calibri"/>
                <a:cs typeface="Calibri"/>
                <a:sym typeface="Calibri"/>
              </a:rPr>
              <a:t> border đi.</a:t>
            </a:r>
            <a:endParaRPr sz="24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16eeb822f0_0_57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9" name="Google Shape;289;g116eeb822f0_0_57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290" name="Google Shape;290;g116eeb822f0_0_57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1" name="Google Shape;291;g116eeb822f0_0_57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g116eeb822f0_0_572"/>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margin</a:t>
            </a:r>
            <a:endParaRPr b="0" i="0" sz="1400" u="none" cap="none" strike="noStrike">
              <a:solidFill>
                <a:srgbClr val="000000"/>
              </a:solidFill>
              <a:latin typeface="Arial"/>
              <a:ea typeface="Arial"/>
              <a:cs typeface="Arial"/>
              <a:sym typeface="Arial"/>
            </a:endParaRPr>
          </a:p>
        </p:txBody>
      </p:sp>
      <p:sp>
        <p:nvSpPr>
          <p:cNvPr id="293" name="Google Shape;293;g116eeb822f0_0_572"/>
          <p:cNvSpPr txBox="1"/>
          <p:nvPr/>
        </p:nvSpPr>
        <p:spPr>
          <a:xfrm>
            <a:off x="361175" y="579000"/>
            <a:ext cx="8401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Thuộc tính margin cho phép căn chỉnh khoảng cách đường viền của một hộp(thẻ) với đường viền các hộp(thẻ) kế cận hoặc với padding hộp cha chứa nó, cú pháp như sau</a:t>
            </a:r>
            <a:endParaRPr sz="1800">
              <a:latin typeface="Calibri"/>
              <a:ea typeface="Calibri"/>
              <a:cs typeface="Calibri"/>
              <a:sym typeface="Calibri"/>
            </a:endParaRPr>
          </a:p>
        </p:txBody>
      </p:sp>
      <p:graphicFrame>
        <p:nvGraphicFramePr>
          <p:cNvPr id="294" name="Google Shape;294;g116eeb822f0_0_572"/>
          <p:cNvGraphicFramePr/>
          <p:nvPr/>
        </p:nvGraphicFramePr>
        <p:xfrm>
          <a:off x="361175" y="1451522"/>
          <a:ext cx="3000000" cy="3000000"/>
        </p:xfrm>
        <a:graphic>
          <a:graphicData uri="http://schemas.openxmlformats.org/drawingml/2006/table">
            <a:tbl>
              <a:tblPr>
                <a:noFill/>
                <a:tableStyleId>{C9973300-39E5-4DB4-9A53-34D2B2CC77C1}</a:tableStyleId>
              </a:tblPr>
              <a:tblGrid>
                <a:gridCol w="1527725"/>
                <a:gridCol w="1864100"/>
                <a:gridCol w="5188750"/>
              </a:tblGrid>
              <a:tr h="377250">
                <a:tc>
                  <a:txBody>
                    <a:bodyPr/>
                    <a:lstStyle/>
                    <a:p>
                      <a:pPr indent="0" lvl="0" marL="0" rtl="0" algn="ctr">
                        <a:spcBef>
                          <a:spcPts val="0"/>
                        </a:spcBef>
                        <a:spcAft>
                          <a:spcPts val="0"/>
                        </a:spcAft>
                        <a:buNone/>
                      </a:pPr>
                      <a:r>
                        <a:rPr b="1" lang="en-US"/>
                        <a:t>Tên t</a:t>
                      </a:r>
                      <a:r>
                        <a:rPr b="1" lang="en-US"/>
                        <a:t>huộc tính</a:t>
                      </a:r>
                      <a:endParaRPr b="1"/>
                    </a:p>
                  </a:txBody>
                  <a:tcPr marT="91425" marB="91425" marR="91425" marL="91425"/>
                </a:tc>
                <a:tc>
                  <a:txBody>
                    <a:bodyPr/>
                    <a:lstStyle/>
                    <a:p>
                      <a:pPr indent="0" lvl="0" marL="0" rtl="0" algn="ctr">
                        <a:spcBef>
                          <a:spcPts val="0"/>
                        </a:spcBef>
                        <a:spcAft>
                          <a:spcPts val="0"/>
                        </a:spcAft>
                        <a:buNone/>
                      </a:pPr>
                      <a:r>
                        <a:rPr b="1" lang="en-US"/>
                        <a:t>Giá trị nhận vào</a:t>
                      </a:r>
                      <a:endParaRPr b="1"/>
                    </a:p>
                  </a:txBody>
                  <a:tcPr marT="91425" marB="91425" marR="91425" marL="91425"/>
                </a:tc>
                <a:tc>
                  <a:txBody>
                    <a:bodyPr/>
                    <a:lstStyle/>
                    <a:p>
                      <a:pPr indent="0" lvl="0" marL="0" rtl="0" algn="ctr">
                        <a:spcBef>
                          <a:spcPts val="0"/>
                        </a:spcBef>
                        <a:spcAft>
                          <a:spcPts val="0"/>
                        </a:spcAft>
                        <a:buNone/>
                      </a:pPr>
                      <a:r>
                        <a:rPr b="1" lang="en-US"/>
                        <a:t>Ý nghĩa</a:t>
                      </a:r>
                      <a:endParaRPr b="1"/>
                    </a:p>
                  </a:txBody>
                  <a:tcPr marT="91425" marB="91425" marR="91425" marL="91425"/>
                </a:tc>
              </a:tr>
              <a:tr h="583900">
                <a:tc>
                  <a:txBody>
                    <a:bodyPr/>
                    <a:lstStyle/>
                    <a:p>
                      <a:pPr indent="0" lvl="0" marL="0" rtl="0" algn="l">
                        <a:spcBef>
                          <a:spcPts val="0"/>
                        </a:spcBef>
                        <a:spcAft>
                          <a:spcPts val="0"/>
                        </a:spcAft>
                        <a:buNone/>
                      </a:pPr>
                      <a:r>
                        <a:rPr lang="en-US"/>
                        <a:t>margin-left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Một giá trị số với đơn vị đo (px,...)</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Khoảng cách đường viền trái(cạnh trái) của hộp(thẻ) đến đường viền phải  hộp(thẻ) bên trái hoặc đến padding trái hộp cha(thẻ)</a:t>
                      </a:r>
                      <a:endParaRPr/>
                    </a:p>
                  </a:txBody>
                  <a:tcPr marT="91425" marB="91425" marR="91425" marL="91425"/>
                </a:tc>
              </a:tr>
              <a:tr h="783525">
                <a:tc>
                  <a:txBody>
                    <a:bodyPr/>
                    <a:lstStyle/>
                    <a:p>
                      <a:pPr indent="0" lvl="0" marL="0" rtl="0" algn="l">
                        <a:spcBef>
                          <a:spcPts val="0"/>
                        </a:spcBef>
                        <a:spcAft>
                          <a:spcPts val="0"/>
                        </a:spcAft>
                        <a:buNone/>
                      </a:pPr>
                      <a:r>
                        <a:rPr lang="en-US"/>
                        <a:t>margin-right</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phải(cạnh phải) của hộp(thẻ) đến đường viền trái hộp(thẻ) bên trái hoặc đến padding phải hộp cha(thẻ)</a:t>
                      </a:r>
                      <a:endParaRPr/>
                    </a:p>
                  </a:txBody>
                  <a:tcPr marT="91425" marB="91425" marR="91425" marL="91425"/>
                </a:tc>
              </a:tr>
              <a:tr h="446000">
                <a:tc>
                  <a:txBody>
                    <a:bodyPr/>
                    <a:lstStyle/>
                    <a:p>
                      <a:pPr indent="0" lvl="0" marL="0" rtl="0" algn="l">
                        <a:spcBef>
                          <a:spcPts val="0"/>
                        </a:spcBef>
                        <a:spcAft>
                          <a:spcPts val="0"/>
                        </a:spcAft>
                        <a:buNone/>
                      </a:pPr>
                      <a:r>
                        <a:rPr lang="en-US"/>
                        <a:t>margin-top</a:t>
                      </a:r>
                      <a:endParaRPr/>
                    </a:p>
                  </a:txBody>
                  <a:tcPr marT="91425" marB="91425" marR="91425" marL="91425"/>
                </a:tc>
                <a:tc>
                  <a:txBody>
                    <a:bodyPr/>
                    <a:lstStyle/>
                    <a:p>
                      <a:pPr indent="0" lvl="0" marL="0" rtl="0" algn="l">
                        <a:spcBef>
                          <a:spcPts val="0"/>
                        </a:spcBef>
                        <a:spcAft>
                          <a:spcPts val="0"/>
                        </a:spcAft>
                        <a:buNone/>
                      </a:pPr>
                      <a:r>
                        <a:rPr lang="en-US"/>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trên(cạnh trên) của hộp(thẻ) đến đường viền dưới hộp(thẻ) bên trên hoặc đến padding trên hộp cha(thẻ)</a:t>
                      </a:r>
                      <a:endParaRPr/>
                    </a:p>
                  </a:txBody>
                  <a:tcPr marT="91425" marB="91425" marR="91425" marL="91425"/>
                </a:tc>
              </a:tr>
              <a:tr h="519550">
                <a:tc>
                  <a:txBody>
                    <a:bodyPr/>
                    <a:lstStyle/>
                    <a:p>
                      <a:pPr indent="0" lvl="0" marL="0" rtl="0" algn="l">
                        <a:spcBef>
                          <a:spcPts val="0"/>
                        </a:spcBef>
                        <a:spcAft>
                          <a:spcPts val="0"/>
                        </a:spcAft>
                        <a:buNone/>
                      </a:pPr>
                      <a:r>
                        <a:rPr lang="en-US"/>
                        <a:t>margin-bottom</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dưới(cạnh trái) của hộp(thẻ) đến đường viền trên hộp(thẻ) bên dưới hoặc đến padding dưới hộp cha(thẻ)</a:t>
                      </a:r>
                      <a:endParaRPr/>
                    </a:p>
                  </a:txBody>
                  <a:tcPr marT="91425" marB="91425" marR="91425" marL="91425"/>
                </a:tc>
              </a:tr>
              <a:tr h="521275">
                <a:tc>
                  <a:txBody>
                    <a:bodyPr/>
                    <a:lstStyle/>
                    <a:p>
                      <a:pPr indent="0" lvl="0" marL="0" rtl="0" algn="l">
                        <a:spcBef>
                          <a:spcPts val="0"/>
                        </a:spcBef>
                        <a:spcAft>
                          <a:spcPts val="0"/>
                        </a:spcAft>
                        <a:buNone/>
                      </a:pPr>
                      <a:r>
                        <a:rPr lang="en-US"/>
                        <a:t>margin</a:t>
                      </a:r>
                      <a:endParaRPr/>
                    </a:p>
                  </a:txBody>
                  <a:tcPr marT="91425" marB="91425" marR="91425" marL="91425"/>
                </a:tc>
                <a:tc>
                  <a:txBody>
                    <a:bodyPr/>
                    <a:lstStyle/>
                    <a:p>
                      <a:pPr indent="0" lvl="0" marL="0" rtl="0" algn="l">
                        <a:spcBef>
                          <a:spcPts val="0"/>
                        </a:spcBef>
                        <a:spcAft>
                          <a:spcPts val="0"/>
                        </a:spcAft>
                        <a:buNone/>
                      </a:pPr>
                      <a:r>
                        <a:rPr lang="en-US"/>
                        <a:t>Tập các giá trị margin-left|right|top|bottom </a:t>
                      </a:r>
                      <a:endParaRPr/>
                    </a:p>
                  </a:txBody>
                  <a:tcPr marT="91425" marB="91425" marR="91425" marL="91425"/>
                </a:tc>
                <a:tc>
                  <a:txBody>
                    <a:bodyPr/>
                    <a:lstStyle/>
                    <a:p>
                      <a:pPr indent="0" lvl="0" marL="0" rtl="0" algn="l">
                        <a:spcBef>
                          <a:spcPts val="0"/>
                        </a:spcBef>
                        <a:spcAft>
                          <a:spcPts val="0"/>
                        </a:spcAft>
                        <a:buNone/>
                      </a:pPr>
                      <a:r>
                        <a:rPr lang="en-US"/>
                        <a:t>Cách viết rút gọn </a:t>
                      </a:r>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116eeb822f0_0_59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0" name="Google Shape;300;g116eeb822f0_0_59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301" name="Google Shape;301;g116eeb822f0_0_59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2" name="Google Shape;302;g116eeb822f0_0_59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g116eeb822f0_0_597"/>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Thuộc tính padding</a:t>
            </a:r>
            <a:endParaRPr b="0" i="0" sz="1400" u="none" cap="none" strike="noStrike">
              <a:solidFill>
                <a:srgbClr val="000000"/>
              </a:solidFill>
              <a:latin typeface="Arial"/>
              <a:ea typeface="Arial"/>
              <a:cs typeface="Arial"/>
              <a:sym typeface="Arial"/>
            </a:endParaRPr>
          </a:p>
        </p:txBody>
      </p:sp>
      <p:sp>
        <p:nvSpPr>
          <p:cNvPr id="304" name="Google Shape;304;g116eeb822f0_0_597"/>
          <p:cNvSpPr txBox="1"/>
          <p:nvPr/>
        </p:nvSpPr>
        <p:spPr>
          <a:xfrm>
            <a:off x="361175" y="579000"/>
            <a:ext cx="8401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Thuộc tính padding cho phép căn chỉnh khoảng cách đường viền của một hộp(thẻ) với đường viền hộp con bên trong nó, cú pháp như sau</a:t>
            </a:r>
            <a:endParaRPr sz="1800">
              <a:latin typeface="Calibri"/>
              <a:ea typeface="Calibri"/>
              <a:cs typeface="Calibri"/>
              <a:sym typeface="Calibri"/>
            </a:endParaRPr>
          </a:p>
        </p:txBody>
      </p:sp>
      <p:graphicFrame>
        <p:nvGraphicFramePr>
          <p:cNvPr id="305" name="Google Shape;305;g116eeb822f0_0_597"/>
          <p:cNvGraphicFramePr/>
          <p:nvPr/>
        </p:nvGraphicFramePr>
        <p:xfrm>
          <a:off x="361175" y="1541872"/>
          <a:ext cx="3000000" cy="3000000"/>
        </p:xfrm>
        <a:graphic>
          <a:graphicData uri="http://schemas.openxmlformats.org/drawingml/2006/table">
            <a:tbl>
              <a:tblPr>
                <a:noFill/>
                <a:tableStyleId>{C9973300-39E5-4DB4-9A53-34D2B2CC77C1}</a:tableStyleId>
              </a:tblPr>
              <a:tblGrid>
                <a:gridCol w="1720775"/>
                <a:gridCol w="1671050"/>
                <a:gridCol w="5188750"/>
              </a:tblGrid>
              <a:tr h="377250">
                <a:tc>
                  <a:txBody>
                    <a:bodyPr/>
                    <a:lstStyle/>
                    <a:p>
                      <a:pPr indent="0" lvl="0" marL="0" rtl="0" algn="ctr">
                        <a:spcBef>
                          <a:spcPts val="0"/>
                        </a:spcBef>
                        <a:spcAft>
                          <a:spcPts val="0"/>
                        </a:spcAft>
                        <a:buNone/>
                      </a:pPr>
                      <a:r>
                        <a:rPr b="1" lang="en-US"/>
                        <a:t>Tên thuộc tính</a:t>
                      </a:r>
                      <a:endParaRPr b="1"/>
                    </a:p>
                  </a:txBody>
                  <a:tcPr marT="91425" marB="91425" marR="91425" marL="91425"/>
                </a:tc>
                <a:tc>
                  <a:txBody>
                    <a:bodyPr/>
                    <a:lstStyle/>
                    <a:p>
                      <a:pPr indent="0" lvl="0" marL="0" rtl="0" algn="ctr">
                        <a:spcBef>
                          <a:spcPts val="0"/>
                        </a:spcBef>
                        <a:spcAft>
                          <a:spcPts val="0"/>
                        </a:spcAft>
                        <a:buNone/>
                      </a:pPr>
                      <a:r>
                        <a:rPr b="1" lang="en-US"/>
                        <a:t>Giá trị nhận vào</a:t>
                      </a:r>
                      <a:endParaRPr b="1"/>
                    </a:p>
                  </a:txBody>
                  <a:tcPr marT="91425" marB="91425" marR="91425" marL="91425"/>
                </a:tc>
                <a:tc>
                  <a:txBody>
                    <a:bodyPr/>
                    <a:lstStyle/>
                    <a:p>
                      <a:pPr indent="0" lvl="0" marL="0" rtl="0" algn="ctr">
                        <a:spcBef>
                          <a:spcPts val="0"/>
                        </a:spcBef>
                        <a:spcAft>
                          <a:spcPts val="0"/>
                        </a:spcAft>
                        <a:buNone/>
                      </a:pPr>
                      <a:r>
                        <a:rPr b="1" lang="en-US"/>
                        <a:t>Ý nghĩa</a:t>
                      </a:r>
                      <a:endParaRPr b="1"/>
                    </a:p>
                  </a:txBody>
                  <a:tcPr marT="91425" marB="91425" marR="91425" marL="91425"/>
                </a:tc>
              </a:tr>
              <a:tr h="583900">
                <a:tc>
                  <a:txBody>
                    <a:bodyPr/>
                    <a:lstStyle/>
                    <a:p>
                      <a:pPr indent="0" lvl="0" marL="0" rtl="0" algn="l">
                        <a:spcBef>
                          <a:spcPts val="0"/>
                        </a:spcBef>
                        <a:spcAft>
                          <a:spcPts val="0"/>
                        </a:spcAft>
                        <a:buNone/>
                      </a:pPr>
                      <a:r>
                        <a:rPr lang="en-US"/>
                        <a:t>padding-left</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Một giá trị số với đơn vị đo (px,...)</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Khoảng cách đường viền trái(cạnh trái) của hộp(thẻ) đến đường viền trái của hộp con(thẻ) hoặc text</a:t>
                      </a:r>
                      <a:endParaRPr/>
                    </a:p>
                  </a:txBody>
                  <a:tcPr marT="91425" marB="91425" marR="91425" marL="91425"/>
                </a:tc>
              </a:tr>
              <a:tr h="783525">
                <a:tc>
                  <a:txBody>
                    <a:bodyPr/>
                    <a:lstStyle/>
                    <a:p>
                      <a:pPr indent="0" lvl="0" marL="0" rtl="0" algn="l">
                        <a:spcBef>
                          <a:spcPts val="0"/>
                        </a:spcBef>
                        <a:spcAft>
                          <a:spcPts val="0"/>
                        </a:spcAft>
                        <a:buNone/>
                      </a:pPr>
                      <a:r>
                        <a:rPr lang="en-US"/>
                        <a:t>padding-right</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phải(cạnh phải) của hộp(thẻ) đến đường viền phải của hộp con(thẻ) hoặc text</a:t>
                      </a:r>
                      <a:endParaRPr>
                        <a:solidFill>
                          <a:schemeClr val="dk1"/>
                        </a:solidFill>
                      </a:endParaRPr>
                    </a:p>
                    <a:p>
                      <a:pPr indent="0" lvl="0" marL="0" rtl="0" algn="l">
                        <a:spcBef>
                          <a:spcPts val="0"/>
                        </a:spcBef>
                        <a:spcAft>
                          <a:spcPts val="0"/>
                        </a:spcAft>
                        <a:buNone/>
                      </a:pPr>
                      <a:r>
                        <a:t/>
                      </a:r>
                      <a:endParaRPr/>
                    </a:p>
                  </a:txBody>
                  <a:tcPr marT="91425" marB="91425" marR="91425" marL="91425"/>
                </a:tc>
              </a:tr>
              <a:tr h="446000">
                <a:tc>
                  <a:txBody>
                    <a:bodyPr/>
                    <a:lstStyle/>
                    <a:p>
                      <a:pPr indent="0" lvl="0" marL="0" rtl="0" algn="l">
                        <a:spcBef>
                          <a:spcPts val="0"/>
                        </a:spcBef>
                        <a:spcAft>
                          <a:spcPts val="0"/>
                        </a:spcAft>
                        <a:buNone/>
                      </a:pPr>
                      <a:r>
                        <a:rPr lang="en-US"/>
                        <a:t>padding-top</a:t>
                      </a:r>
                      <a:endParaRPr/>
                    </a:p>
                  </a:txBody>
                  <a:tcPr marT="91425" marB="91425" marR="91425" marL="91425"/>
                </a:tc>
                <a:tc>
                  <a:txBody>
                    <a:bodyPr/>
                    <a:lstStyle/>
                    <a:p>
                      <a:pPr indent="0" lvl="0" marL="0" rtl="0" algn="l">
                        <a:spcBef>
                          <a:spcPts val="0"/>
                        </a:spcBef>
                        <a:spcAft>
                          <a:spcPts val="0"/>
                        </a:spcAft>
                        <a:buNone/>
                      </a:pPr>
                      <a:r>
                        <a:rPr lang="en-US"/>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trên của hộp(thẻ) đến đường viền trên của hộp con(thẻ) hoặc text</a:t>
                      </a:r>
                      <a:endParaRPr>
                        <a:solidFill>
                          <a:schemeClr val="dk1"/>
                        </a:solidFill>
                      </a:endParaRPr>
                    </a:p>
                    <a:p>
                      <a:pPr indent="0" lvl="0" marL="0" rtl="0" algn="l">
                        <a:spcBef>
                          <a:spcPts val="0"/>
                        </a:spcBef>
                        <a:spcAft>
                          <a:spcPts val="0"/>
                        </a:spcAft>
                        <a:buNone/>
                      </a:pPr>
                      <a:r>
                        <a:t/>
                      </a:r>
                      <a:endParaRPr/>
                    </a:p>
                  </a:txBody>
                  <a:tcPr marT="91425" marB="91425" marR="91425" marL="91425"/>
                </a:tc>
              </a:tr>
              <a:tr h="519550">
                <a:tc>
                  <a:txBody>
                    <a:bodyPr/>
                    <a:lstStyle/>
                    <a:p>
                      <a:pPr indent="0" lvl="0" marL="0" rtl="0" algn="l">
                        <a:spcBef>
                          <a:spcPts val="0"/>
                        </a:spcBef>
                        <a:spcAft>
                          <a:spcPts val="0"/>
                        </a:spcAft>
                        <a:buNone/>
                      </a:pPr>
                      <a:r>
                        <a:rPr lang="en-US"/>
                        <a:t>padding-bottom</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Như trên</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Khoảng cách đường viền dưới của hộp(thẻ) đường viền dưới của hộp con(thẻ) hoặc text</a:t>
                      </a:r>
                      <a:endParaRPr>
                        <a:solidFill>
                          <a:schemeClr val="dk1"/>
                        </a:solidFill>
                      </a:endParaRPr>
                    </a:p>
                    <a:p>
                      <a:pPr indent="0" lvl="0" marL="0" rtl="0" algn="l">
                        <a:spcBef>
                          <a:spcPts val="0"/>
                        </a:spcBef>
                        <a:spcAft>
                          <a:spcPts val="0"/>
                        </a:spcAft>
                        <a:buNone/>
                      </a:pPr>
                      <a:r>
                        <a:t/>
                      </a:r>
                      <a:endParaRPr/>
                    </a:p>
                  </a:txBody>
                  <a:tcPr marT="91425" marB="91425" marR="91425" marL="91425"/>
                </a:tc>
              </a:tr>
              <a:tr h="521275">
                <a:tc>
                  <a:txBody>
                    <a:bodyPr/>
                    <a:lstStyle/>
                    <a:p>
                      <a:pPr indent="0" lvl="0" marL="0" rtl="0" algn="l">
                        <a:spcBef>
                          <a:spcPts val="0"/>
                        </a:spcBef>
                        <a:spcAft>
                          <a:spcPts val="0"/>
                        </a:spcAft>
                        <a:buNone/>
                      </a:pPr>
                      <a:r>
                        <a:rPr lang="en-US"/>
                        <a:t>padding</a:t>
                      </a:r>
                      <a:endParaRPr/>
                    </a:p>
                  </a:txBody>
                  <a:tcPr marT="91425" marB="91425" marR="91425" marL="91425"/>
                </a:tc>
                <a:tc>
                  <a:txBody>
                    <a:bodyPr/>
                    <a:lstStyle/>
                    <a:p>
                      <a:pPr indent="0" lvl="0" marL="0" rtl="0" algn="l">
                        <a:spcBef>
                          <a:spcPts val="0"/>
                        </a:spcBef>
                        <a:spcAft>
                          <a:spcPts val="0"/>
                        </a:spcAft>
                        <a:buNone/>
                      </a:pPr>
                      <a:r>
                        <a:rPr lang="en-US"/>
                        <a:t>Tập các giá trị padding-left|right|top|bottom </a:t>
                      </a:r>
                      <a:endParaRPr/>
                    </a:p>
                  </a:txBody>
                  <a:tcPr marT="91425" marB="91425" marR="91425" marL="91425"/>
                </a:tc>
                <a:tc>
                  <a:txBody>
                    <a:bodyPr/>
                    <a:lstStyle/>
                    <a:p>
                      <a:pPr indent="0" lvl="0" marL="0" rtl="0" algn="l">
                        <a:spcBef>
                          <a:spcPts val="0"/>
                        </a:spcBef>
                        <a:spcAft>
                          <a:spcPts val="0"/>
                        </a:spcAft>
                        <a:buNone/>
                      </a:pPr>
                      <a:r>
                        <a:rPr lang="en-US"/>
                        <a:t>Cách viết rút gọn </a:t>
                      </a:r>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116eeb822f0_0_60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1" name="Google Shape;311;g116eeb822f0_0_60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7250"/>
              </a:srgbClr>
            </a:outerShdw>
          </a:effectLst>
        </p:spPr>
      </p:cxnSp>
      <p:pic>
        <p:nvPicPr>
          <p:cNvPr id="312" name="Google Shape;312;g116eeb822f0_0_60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13" name="Google Shape;313;g116eeb822f0_0_60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4" name="Google Shape;314;g116eeb822f0_0_607"/>
          <p:cNvSpPr txBox="1"/>
          <p:nvPr/>
        </p:nvSpPr>
        <p:spPr>
          <a:xfrm flipH="1">
            <a:off x="966000" y="123075"/>
            <a:ext cx="77970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Demo</a:t>
            </a:r>
            <a:endParaRPr b="0" i="0" sz="1400" u="none" cap="none" strike="noStrike">
              <a:solidFill>
                <a:srgbClr val="000000"/>
              </a:solidFill>
              <a:latin typeface="Arial"/>
              <a:ea typeface="Arial"/>
              <a:cs typeface="Arial"/>
              <a:sym typeface="Arial"/>
            </a:endParaRPr>
          </a:p>
        </p:txBody>
      </p:sp>
      <p:sp>
        <p:nvSpPr>
          <p:cNvPr id="315" name="Google Shape;315;g116eeb822f0_0_607"/>
          <p:cNvSpPr txBox="1"/>
          <p:nvPr/>
        </p:nvSpPr>
        <p:spPr>
          <a:xfrm>
            <a:off x="361175" y="579000"/>
            <a:ext cx="8401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Giáo viên demo về những nội dung sau</a:t>
            </a:r>
            <a:endParaRPr sz="2400">
              <a:latin typeface="Calibri"/>
              <a:ea typeface="Calibri"/>
              <a:cs typeface="Calibri"/>
              <a:sym typeface="Calibri"/>
            </a:endParaRPr>
          </a:p>
        </p:txBody>
      </p:sp>
      <p:sp>
        <p:nvSpPr>
          <p:cNvPr id="316" name="Google Shape;316;g116eeb822f0_0_607"/>
          <p:cNvSpPr txBox="1"/>
          <p:nvPr/>
        </p:nvSpPr>
        <p:spPr>
          <a:xfrm>
            <a:off x="514800" y="1452500"/>
            <a:ext cx="7869300" cy="20319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Thuộc tính border</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Thuộc tính padding(đặc biệt demo cách viết tắt)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Thuộc tính margin(đặc biệt demo cách viết tắt)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Xem mô hình hộp của một phần tử trong trình inspect debug của chrome</a:t>
            </a:r>
            <a:endParaRPr sz="2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2" name="Google Shape;322;p4"/>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323" name="Google Shape;323;p4"/>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324" name="Google Shape;324;p4"/>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25" name="Google Shape;325;p4"/>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26" name="Google Shape;326;p4"/>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