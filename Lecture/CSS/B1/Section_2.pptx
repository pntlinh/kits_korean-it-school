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8" roundtripDataSignature="AMtx7mgdSd9oN6J8E3eycDPdJfcJbTRz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161c1426d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g1161c1426dc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6f0dc6cd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g116f0dc6cd1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16eeb822f0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116eeb822f0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16f0dc6cd1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g116f0dc6cd1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16eeb822f0_0_2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g116eeb822f0_0_2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16f0dc6cd1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g116f0dc6cd1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16f0dc6cd1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116f0dc6cd1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6f0dc6cd1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116f0dc6cd1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16f0dc6cd1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116f0dc6cd1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16eeb822f0_0_2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g116eeb822f0_0_2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16fbf12dcc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116fbf12dcc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16fbf12dcc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116fbf12dcc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16fbf12dcc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g116fbf12dcc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16fbf12dcc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116fbf12dcc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16fbf12dcc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g116fbf12dcc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16fbf12dcc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116fbf12dcc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16fbf12dcc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g116fbf12dcc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180b70cf1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1180b70cf1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80b70cf16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g1180b70cf16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p:nvPr>
            <p:ph idx="2" type="pic"/>
          </p:nvPr>
        </p:nvSpPr>
        <p:spPr>
          <a:xfrm>
            <a:off x="1792288" y="612775"/>
            <a:ext cx="5486400" cy="4114800"/>
          </a:xfrm>
          <a:prstGeom prst="rect">
            <a:avLst/>
          </a:prstGeom>
          <a:noFill/>
          <a:ln>
            <a:noFill/>
          </a:ln>
        </p:spPr>
      </p:sp>
      <p:sp>
        <p:nvSpPr>
          <p:cNvPr id="64" name="Google Shape;64;p1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 name="Google Shape;85;p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sp>
        <p:nvSpPr>
          <p:cNvPr id="86" name="Google Shape;86;p1"/>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3999"/>
              </a:buClr>
              <a:buSzPts val="4400"/>
              <a:buFont typeface="Calibri"/>
              <a:buNone/>
            </a:pPr>
            <a:br>
              <a:rPr lang="en-US">
                <a:solidFill>
                  <a:srgbClr val="003999"/>
                </a:solidFill>
              </a:rPr>
            </a:br>
            <a:r>
              <a:rPr b="1" lang="en-US">
                <a:solidFill>
                  <a:schemeClr val="dk2"/>
                </a:solidFill>
                <a:latin typeface="Calibri"/>
                <a:ea typeface="Calibri"/>
                <a:cs typeface="Calibri"/>
                <a:sym typeface="Calibri"/>
              </a:rPr>
              <a:t>Bài 1</a:t>
            </a:r>
            <a:r>
              <a:rPr b="1" lang="en-US">
                <a:solidFill>
                  <a:schemeClr val="dk2"/>
                </a:solidFill>
              </a:rPr>
              <a:t>. </a:t>
            </a:r>
            <a:br>
              <a:rPr b="1" lang="en-US">
                <a:solidFill>
                  <a:schemeClr val="dk2"/>
                </a:solidFill>
              </a:rPr>
            </a:br>
            <a:r>
              <a:rPr b="1" lang="en-US">
                <a:solidFill>
                  <a:schemeClr val="dk2"/>
                </a:solidFill>
              </a:rPr>
              <a:t>Section 2 </a:t>
            </a:r>
            <a:endParaRPr sz="4200">
              <a:solidFill>
                <a:schemeClr val="dk2"/>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 name="Google Shape;93;p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sp>
        <p:nvSpPr>
          <p:cNvPr id="94" name="Google Shape;94;p2"/>
          <p:cNvSpPr txBox="1"/>
          <p:nvPr>
            <p:ph type="ctrTitle"/>
          </p:nvPr>
        </p:nvSpPr>
        <p:spPr>
          <a:xfrm>
            <a:off x="580200" y="1217099"/>
            <a:ext cx="7983600" cy="3324600"/>
          </a:xfrm>
          <a:prstGeom prst="rect">
            <a:avLst/>
          </a:prstGeom>
          <a:noFill/>
          <a:ln>
            <a:noFill/>
          </a:ln>
        </p:spPr>
        <p:txBody>
          <a:bodyPr anchorCtr="0" anchor="ctr" bIns="45700" lIns="91425" spcFirstLastPara="1" rIns="91425" wrap="square" tIns="45700">
            <a:spAutoFit/>
          </a:bodyPr>
          <a:lstStyle/>
          <a:p>
            <a:pPr indent="-457200" lvl="0" marL="457200" rtl="0" algn="l">
              <a:lnSpc>
                <a:spcPct val="100000"/>
              </a:lnSpc>
              <a:spcBef>
                <a:spcPts val="0"/>
              </a:spcBef>
              <a:spcAft>
                <a:spcPts val="0"/>
              </a:spcAft>
              <a:buClr>
                <a:schemeClr val="dk2"/>
              </a:buClr>
              <a:buSzPts val="4200"/>
              <a:buChar char="❖"/>
            </a:pPr>
            <a:r>
              <a:rPr lang="en-US" sz="4200">
                <a:solidFill>
                  <a:schemeClr val="dk2"/>
                </a:solidFill>
              </a:rPr>
              <a:t>Thuộc tính màu chữ </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Thuộc tính màu nền</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Tìm hiểu về selector </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Thuộc tính width và height</a:t>
            </a:r>
            <a:endParaRPr sz="4200">
              <a:solidFill>
                <a:schemeClr val="dk2"/>
              </a:solidFill>
            </a:endParaRPr>
          </a:p>
          <a:p>
            <a:pPr indent="0" lvl="0" marL="0" rtl="0" algn="l">
              <a:lnSpc>
                <a:spcPct val="100000"/>
              </a:lnSpc>
              <a:spcBef>
                <a:spcPts val="0"/>
              </a:spcBef>
              <a:spcAft>
                <a:spcPts val="0"/>
              </a:spcAft>
              <a:buSzPts val="1800"/>
              <a:buNone/>
            </a:pPr>
            <a:r>
              <a:t/>
            </a:r>
            <a:endParaRPr sz="4200">
              <a:solidFill>
                <a:schemeClr val="dk2"/>
              </a:solidFill>
              <a:latin typeface="Calibri"/>
              <a:ea typeface="Calibri"/>
              <a:cs typeface="Calibri"/>
              <a:sym typeface="Calibri"/>
            </a:endParaRPr>
          </a:p>
        </p:txBody>
      </p:sp>
      <p:pic>
        <p:nvPicPr>
          <p:cNvPr id="95" name="Google Shape;95;p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96" name="Google Shape;96;p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 name="Google Shape;97;p2"/>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Arial"/>
                <a:ea typeface="Arial"/>
                <a:cs typeface="Arial"/>
                <a:sym typeface="Arial"/>
              </a:rPr>
              <a:t>Tổng quan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1161c1426dc_0_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3" name="Google Shape;103;g1161c1426dc_0_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sp>
        <p:nvSpPr>
          <p:cNvPr id="104" name="Google Shape;104;g1161c1426dc_0_7"/>
          <p:cNvSpPr txBox="1"/>
          <p:nvPr>
            <p:ph type="ctrTitle"/>
          </p:nvPr>
        </p:nvSpPr>
        <p:spPr>
          <a:xfrm>
            <a:off x="384175" y="2486850"/>
            <a:ext cx="8304900" cy="2364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Char char="●"/>
            </a:pPr>
            <a:r>
              <a:rPr lang="en-US" sz="2400">
                <a:solidFill>
                  <a:schemeClr val="dk2"/>
                </a:solidFill>
              </a:rPr>
              <a:t>Để đổi màu chữ cho văn bản, CSS cung cấp cho ta thuộc tính </a:t>
            </a:r>
            <a:r>
              <a:rPr b="1" lang="en-US" sz="2400">
                <a:solidFill>
                  <a:schemeClr val="dk2"/>
                </a:solidFill>
              </a:rPr>
              <a:t>color</a:t>
            </a:r>
            <a:endParaRPr b="1" sz="2400">
              <a:solidFill>
                <a:schemeClr val="dk2"/>
              </a:solidFill>
            </a:endParaRPr>
          </a:p>
          <a:p>
            <a:pPr indent="0" lvl="0" marL="0" rtl="0" algn="l">
              <a:lnSpc>
                <a:spcPct val="100000"/>
              </a:lnSpc>
              <a:spcBef>
                <a:spcPts val="0"/>
              </a:spcBef>
              <a:spcAft>
                <a:spcPts val="0"/>
              </a:spcAft>
              <a:buClr>
                <a:schemeClr val="dk2"/>
              </a:buClr>
              <a:buSzPts val="2400"/>
              <a:buChar char="●"/>
            </a:pPr>
            <a:r>
              <a:rPr lang="en-US" sz="2400">
                <a:solidFill>
                  <a:schemeClr val="dk2"/>
                </a:solidFill>
              </a:rPr>
              <a:t>Thuộc tính </a:t>
            </a:r>
            <a:r>
              <a:rPr b="1" lang="en-US" sz="2400">
                <a:solidFill>
                  <a:schemeClr val="dk2"/>
                </a:solidFill>
              </a:rPr>
              <a:t>color</a:t>
            </a:r>
            <a:r>
              <a:rPr lang="en-US" sz="2400">
                <a:solidFill>
                  <a:schemeClr val="dk2"/>
                </a:solidFill>
              </a:rPr>
              <a:t> nhận vào giá trị là: tên màu(tiếng Anh), mã màu theo hệ RGB, mã màu theo hệ Hexa, mã màu theo hệ HSL</a:t>
            </a:r>
            <a:endParaRPr sz="2400">
              <a:solidFill>
                <a:schemeClr val="dk2"/>
              </a:solidFill>
            </a:endParaRPr>
          </a:p>
          <a:p>
            <a:pPr indent="0" lvl="0" marL="0" rtl="0" algn="l">
              <a:lnSpc>
                <a:spcPct val="100000"/>
              </a:lnSpc>
              <a:spcBef>
                <a:spcPts val="0"/>
              </a:spcBef>
              <a:spcAft>
                <a:spcPts val="0"/>
              </a:spcAft>
              <a:buClr>
                <a:schemeClr val="dk2"/>
              </a:buClr>
              <a:buSzPts val="2400"/>
              <a:buChar char="●"/>
            </a:pPr>
            <a:r>
              <a:rPr lang="en-US" sz="2400">
                <a:solidFill>
                  <a:schemeClr val="dk2"/>
                </a:solidFill>
              </a:rPr>
              <a:t>Thông thường ta dùng là mã RGB và Hex</a:t>
            </a:r>
            <a:endParaRPr sz="2400">
              <a:solidFill>
                <a:schemeClr val="dk2"/>
              </a:solidFill>
            </a:endParaRPr>
          </a:p>
          <a:p>
            <a:pPr indent="0" lvl="0" marL="0" rtl="0" algn="l">
              <a:lnSpc>
                <a:spcPct val="100000"/>
              </a:lnSpc>
              <a:spcBef>
                <a:spcPts val="0"/>
              </a:spcBef>
              <a:spcAft>
                <a:spcPts val="0"/>
              </a:spcAft>
              <a:buClr>
                <a:schemeClr val="dk2"/>
              </a:buClr>
              <a:buSzPts val="2400"/>
              <a:buChar char="●"/>
            </a:pPr>
            <a:r>
              <a:rPr lang="en-US" sz="2400">
                <a:solidFill>
                  <a:schemeClr val="dk2"/>
                </a:solidFill>
              </a:rPr>
              <a:t>Ví dụ </a:t>
            </a:r>
            <a:endParaRPr sz="2400">
              <a:solidFill>
                <a:schemeClr val="dk2"/>
              </a:solidFill>
            </a:endParaRPr>
          </a:p>
        </p:txBody>
      </p:sp>
      <p:pic>
        <p:nvPicPr>
          <p:cNvPr id="105" name="Google Shape;105;g1161c1426dc_0_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06" name="Google Shape;106;g1161c1426dc_0_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 name="Google Shape;107;g1161c1426dc_0_7"/>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màu chữ</a:t>
            </a:r>
            <a:r>
              <a:rPr b="1" i="0" lang="en-US" sz="2800" u="none" cap="none" strike="noStrike">
                <a:solidFill>
                  <a:schemeClr val="dk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16f0dc6cd1_0_5"/>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13" name="Google Shape;113;g116f0dc6cd1_0_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sp>
        <p:nvSpPr>
          <p:cNvPr id="114" name="Google Shape;114;g116f0dc6cd1_0_5"/>
          <p:cNvSpPr txBox="1"/>
          <p:nvPr>
            <p:ph type="ctrTitle"/>
          </p:nvPr>
        </p:nvSpPr>
        <p:spPr>
          <a:xfrm>
            <a:off x="398125" y="2046000"/>
            <a:ext cx="8249100" cy="27474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Để đổi màu nền cho một hộp(thẻ) sử dụng thuộc tính background-color hoặc background(cách viết tắt - bàn sau)</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Thuộc tính background-color cũng nhận vào giá trị là: </a:t>
            </a:r>
            <a:r>
              <a:rPr lang="en-US" sz="2400">
                <a:solidFill>
                  <a:schemeClr val="dk2"/>
                </a:solidFill>
              </a:rPr>
              <a:t>ên màu(tiếng Anh), mã màu theo hệ RGB, mã màu theo hệ Hexa, mã màu theo hệ HSL</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Ví dụ</a:t>
            </a:r>
            <a:r>
              <a:rPr lang="en-US" sz="2400">
                <a:solidFill>
                  <a:schemeClr val="dk2"/>
                </a:solidFill>
              </a:rPr>
              <a:t> </a:t>
            </a:r>
            <a:endParaRPr sz="2400">
              <a:solidFill>
                <a:schemeClr val="dk2"/>
              </a:solidFill>
            </a:endParaRPr>
          </a:p>
        </p:txBody>
      </p:sp>
      <p:pic>
        <p:nvPicPr>
          <p:cNvPr id="115" name="Google Shape;115;g116f0dc6cd1_0_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16" name="Google Shape;116;g116f0dc6cd1_0_5"/>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 name="Google Shape;117;g116f0dc6cd1_0_5"/>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màu nền</a:t>
            </a:r>
            <a:r>
              <a:rPr b="1" i="0" lang="en-US" sz="2800" u="none" cap="none" strike="noStrike">
                <a:solidFill>
                  <a:schemeClr val="dk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116eeb822f0_0_1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3" name="Google Shape;123;g116eeb822f0_0_1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pic>
        <p:nvPicPr>
          <p:cNvPr id="124" name="Google Shape;124;g116eeb822f0_0_1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25" name="Google Shape;125;g116eeb822f0_0_1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g116eeb822f0_0_18"/>
          <p:cNvSpPr txBox="1"/>
          <p:nvPr/>
        </p:nvSpPr>
        <p:spPr>
          <a:xfrm flipH="1">
            <a:off x="3061201" y="127124"/>
            <a:ext cx="57018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Tìm hiểu sâu về selector ?</a:t>
            </a:r>
            <a:endParaRPr b="0" i="0" sz="1400" u="none" cap="none" strike="noStrike">
              <a:solidFill>
                <a:srgbClr val="000000"/>
              </a:solidFill>
              <a:latin typeface="Arial"/>
              <a:ea typeface="Arial"/>
              <a:cs typeface="Arial"/>
              <a:sym typeface="Arial"/>
            </a:endParaRPr>
          </a:p>
        </p:txBody>
      </p:sp>
      <p:sp>
        <p:nvSpPr>
          <p:cNvPr id="127" name="Google Shape;127;g116eeb822f0_0_18"/>
          <p:cNvSpPr txBox="1"/>
          <p:nvPr>
            <p:ph type="ctrTitle"/>
          </p:nvPr>
        </p:nvSpPr>
        <p:spPr>
          <a:xfrm>
            <a:off x="430500" y="1821924"/>
            <a:ext cx="8332500" cy="26166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Selector(bộ chọn) là thành phần cực kỳ quan trọng trong mã CSS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Việc nắm chắc Selector giúp lập trình viên giảm thiểu được việc đặt tên cho thuộc tính class hoặc id trong HTML, giúp đoạn code CSS dễ bảo trì, ngắn gọn, dễ mở rộng và phát triển hơn</a:t>
            </a:r>
            <a:endParaRPr sz="24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116f0dc6cd1_0_1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3" name="Google Shape;133;g116f0dc6cd1_0_1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34" name="Google Shape;134;g116f0dc6cd1_0_1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35" name="Google Shape;135;g116f0dc6cd1_0_1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g116f0dc6cd1_0_19"/>
          <p:cNvSpPr txBox="1"/>
          <p:nvPr/>
        </p:nvSpPr>
        <p:spPr>
          <a:xfrm flipH="1">
            <a:off x="3061201" y="127124"/>
            <a:ext cx="57018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Tìm hiểu sâu về selector ?</a:t>
            </a:r>
            <a:endParaRPr b="0" i="0" sz="1400" u="none" cap="none" strike="noStrike">
              <a:solidFill>
                <a:srgbClr val="000000"/>
              </a:solidFill>
              <a:latin typeface="Arial"/>
              <a:ea typeface="Arial"/>
              <a:cs typeface="Arial"/>
              <a:sym typeface="Arial"/>
            </a:endParaRPr>
          </a:p>
        </p:txBody>
      </p:sp>
      <p:sp>
        <p:nvSpPr>
          <p:cNvPr id="137" name="Google Shape;137;g116f0dc6cd1_0_19"/>
          <p:cNvSpPr txBox="1"/>
          <p:nvPr>
            <p:ph type="ctrTitle"/>
          </p:nvPr>
        </p:nvSpPr>
        <p:spPr>
          <a:xfrm>
            <a:off x="430500" y="1821925"/>
            <a:ext cx="8275200" cy="30672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Element Selector (Bộ chọn thẻ)</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Class Selector( Bộ chọn theo giá trị thuộc tính class)</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Id Selector(Bộ chọn theo giá trị thuộc tính id)</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Pseudo Selector (Bộ chọn theo thành phần giả trong HTML)</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Attribute Selector (Bộ chọn theo thuộc tính của thẻ HTML)</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Combinator Selector (Kết hợp tất cả các dạng trên)</a:t>
            </a:r>
            <a:endParaRPr sz="2400">
              <a:solidFill>
                <a:schemeClr val="dk2"/>
              </a:solidFill>
            </a:endParaRPr>
          </a:p>
        </p:txBody>
      </p:sp>
      <p:sp>
        <p:nvSpPr>
          <p:cNvPr id="138" name="Google Shape;138;g116f0dc6cd1_0_19"/>
          <p:cNvSpPr txBox="1"/>
          <p:nvPr/>
        </p:nvSpPr>
        <p:spPr>
          <a:xfrm>
            <a:off x="652700" y="818200"/>
            <a:ext cx="5295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Các loại Selector trong CSS</a:t>
            </a:r>
            <a:endParaRPr sz="24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116eeb822f0_0_264"/>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4" name="Google Shape;144;g116eeb822f0_0_26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pic>
        <p:nvPicPr>
          <p:cNvPr id="145" name="Google Shape;145;g116eeb822f0_0_26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46" name="Google Shape;146;g116eeb822f0_0_264"/>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 name="Google Shape;147;g116eeb822f0_0_264"/>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Element Selector</a:t>
            </a:r>
            <a:endParaRPr b="0" i="0" sz="1400" u="none" cap="none" strike="noStrike">
              <a:solidFill>
                <a:srgbClr val="000000"/>
              </a:solidFill>
              <a:latin typeface="Arial"/>
              <a:ea typeface="Arial"/>
              <a:cs typeface="Arial"/>
              <a:sym typeface="Arial"/>
            </a:endParaRPr>
          </a:p>
        </p:txBody>
      </p:sp>
      <p:sp>
        <p:nvSpPr>
          <p:cNvPr id="148" name="Google Shape;148;g116eeb822f0_0_264"/>
          <p:cNvSpPr txBox="1"/>
          <p:nvPr>
            <p:ph type="ctrTitle"/>
          </p:nvPr>
        </p:nvSpPr>
        <p:spPr>
          <a:xfrm>
            <a:off x="461700" y="1187625"/>
            <a:ext cx="8301300" cy="17574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Đây là bộ chọn theo tên của thẻ HTML, nó cho phép chọn một hoặc nhiều phần tử thẻ HTML cùng lúc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Bộ chọn này có cú pháp chính là tên thẻ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Ví dụ </a:t>
            </a:r>
            <a:endParaRPr sz="24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116f0dc6cd1_0_6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54" name="Google Shape;154;g116f0dc6cd1_0_6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55" name="Google Shape;155;g116f0dc6cd1_0_6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56" name="Google Shape;156;g116f0dc6cd1_0_6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 name="Google Shape;157;g116f0dc6cd1_0_60"/>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Universal Selector</a:t>
            </a:r>
            <a:endParaRPr b="0" i="0" sz="1400" u="none" cap="none" strike="noStrike">
              <a:solidFill>
                <a:srgbClr val="000000"/>
              </a:solidFill>
              <a:latin typeface="Arial"/>
              <a:ea typeface="Arial"/>
              <a:cs typeface="Arial"/>
              <a:sym typeface="Arial"/>
            </a:endParaRPr>
          </a:p>
        </p:txBody>
      </p:sp>
      <p:sp>
        <p:nvSpPr>
          <p:cNvPr id="158" name="Google Shape;158;g116f0dc6cd1_0_60"/>
          <p:cNvSpPr txBox="1"/>
          <p:nvPr>
            <p:ph type="ctrTitle"/>
          </p:nvPr>
        </p:nvSpPr>
        <p:spPr>
          <a:xfrm>
            <a:off x="366300" y="844963"/>
            <a:ext cx="8301300" cy="20298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Đây là bộ chọn cho phép chọn tất cả các phần tử thẻ trong tập tin HTML</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Bộ chọn này có cú pháp là dấu hoa thị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Ví dụ</a:t>
            </a:r>
            <a:endParaRPr sz="24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116f0dc6cd1_0_2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64" name="Google Shape;164;g116f0dc6cd1_0_2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65" name="Google Shape;165;g116f0dc6cd1_0_2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66" name="Google Shape;166;g116f0dc6cd1_0_2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 name="Google Shape;167;g116f0dc6cd1_0_29"/>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Class Selector</a:t>
            </a:r>
            <a:endParaRPr b="0" i="0" sz="1400" u="none" cap="none" strike="noStrike">
              <a:solidFill>
                <a:srgbClr val="000000"/>
              </a:solidFill>
              <a:latin typeface="Arial"/>
              <a:ea typeface="Arial"/>
              <a:cs typeface="Arial"/>
              <a:sym typeface="Arial"/>
            </a:endParaRPr>
          </a:p>
        </p:txBody>
      </p:sp>
      <p:sp>
        <p:nvSpPr>
          <p:cNvPr id="168" name="Google Shape;168;g116f0dc6cd1_0_29"/>
          <p:cNvSpPr txBox="1"/>
          <p:nvPr>
            <p:ph type="ctrTitle"/>
          </p:nvPr>
        </p:nvSpPr>
        <p:spPr>
          <a:xfrm>
            <a:off x="304800" y="791250"/>
            <a:ext cx="8418000" cy="37836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Đây là bộ chọn thẻ theo giá trị(tên) trong thuộc tính class của phần tử thẻ</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Do giá trị của thuộc tính có thể giống nhau, nên bộ chọn này cho phép chọn một hoặc nhiều phần tử thẻ cùng lúc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Giá trị(tên) của class nên đặt theo kiểu kebab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Một thuộc tính class có thể có nhiều giá trị khác nhau cách nhau bởi dấu cách, do đó một phần tử thẻ có thể nằm trong nhiều class khác nhau nên nó có thể được chọn cùng lúc bởi nhiều bộ chọn class khác nhau trong CSS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Bộ chọn này có cú pháp như sau </a:t>
            </a:r>
            <a:endParaRPr sz="2400">
              <a:solidFill>
                <a:schemeClr val="dk2"/>
              </a:solidFill>
            </a:endParaRPr>
          </a:p>
        </p:txBody>
      </p:sp>
      <p:sp>
        <p:nvSpPr>
          <p:cNvPr id="169" name="Google Shape;169;g116f0dc6cd1_0_29"/>
          <p:cNvSpPr/>
          <p:nvPr/>
        </p:nvSpPr>
        <p:spPr>
          <a:xfrm>
            <a:off x="919275" y="4788463"/>
            <a:ext cx="5368800" cy="87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t>&lt;dấu chấm&gt;</a:t>
            </a:r>
            <a:r>
              <a:rPr b="1" lang="en-US" sz="1600"/>
              <a:t>&lt;giá trị trong class&gt;</a:t>
            </a:r>
            <a:endParaRPr b="1"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116f0dc6cd1_0_3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5" name="Google Shape;175;g116f0dc6cd1_0_3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76" name="Google Shape;176;g116f0dc6cd1_0_3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77" name="Google Shape;177;g116f0dc6cd1_0_3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8" name="Google Shape;178;g116f0dc6cd1_0_38"/>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Id Selector</a:t>
            </a:r>
            <a:endParaRPr b="0" i="0" sz="1400" u="none" cap="none" strike="noStrike">
              <a:solidFill>
                <a:srgbClr val="000000"/>
              </a:solidFill>
              <a:latin typeface="Arial"/>
              <a:ea typeface="Arial"/>
              <a:cs typeface="Arial"/>
              <a:sym typeface="Arial"/>
            </a:endParaRPr>
          </a:p>
        </p:txBody>
      </p:sp>
      <p:sp>
        <p:nvSpPr>
          <p:cNvPr id="179" name="Google Shape;179;g116f0dc6cd1_0_38"/>
          <p:cNvSpPr txBox="1"/>
          <p:nvPr>
            <p:ph type="ctrTitle"/>
          </p:nvPr>
        </p:nvSpPr>
        <p:spPr>
          <a:xfrm>
            <a:off x="421350" y="902600"/>
            <a:ext cx="8301300" cy="20298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Đây là bộ chọn theo giá trị(tên) đặt trong thuộc tính id của phần tử thẻ</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Do giá trị trong ID là duy nhất nên bộ chọn này chỉ chọn một phần tử thẻ tại thời điểm thực thi</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Bộ chọn này có cú pháp như sau</a:t>
            </a:r>
            <a:endParaRPr sz="2400">
              <a:solidFill>
                <a:schemeClr val="dk2"/>
              </a:solidFill>
            </a:endParaRPr>
          </a:p>
        </p:txBody>
      </p:sp>
      <p:sp>
        <p:nvSpPr>
          <p:cNvPr id="180" name="Google Shape;180;g116f0dc6cd1_0_38"/>
          <p:cNvSpPr/>
          <p:nvPr/>
        </p:nvSpPr>
        <p:spPr>
          <a:xfrm>
            <a:off x="1428025" y="3184663"/>
            <a:ext cx="5368800" cy="87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t>&lt;dấu thăng #&gt;&lt;giá trị trong id&gt;</a:t>
            </a:r>
            <a:endParaRPr b="1"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116f0dc6cd1_0_4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6" name="Google Shape;186;g116f0dc6cd1_0_4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87" name="Google Shape;187;g116f0dc6cd1_0_4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88" name="Google Shape;188;g116f0dc6cd1_0_4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9" name="Google Shape;189;g116f0dc6cd1_0_47"/>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Attribute Selector </a:t>
            </a:r>
            <a:endParaRPr b="0" i="0" sz="1400" u="none" cap="none" strike="noStrike">
              <a:solidFill>
                <a:srgbClr val="000000"/>
              </a:solidFill>
              <a:latin typeface="Arial"/>
              <a:ea typeface="Arial"/>
              <a:cs typeface="Arial"/>
              <a:sym typeface="Arial"/>
            </a:endParaRPr>
          </a:p>
        </p:txBody>
      </p:sp>
      <p:sp>
        <p:nvSpPr>
          <p:cNvPr id="190" name="Google Shape;190;g116f0dc6cd1_0_47"/>
          <p:cNvSpPr txBox="1"/>
          <p:nvPr>
            <p:ph type="ctrTitle"/>
          </p:nvPr>
        </p:nvSpPr>
        <p:spPr>
          <a:xfrm>
            <a:off x="366300" y="844963"/>
            <a:ext cx="8301300" cy="20298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Đây là bộ chọn cho phép chọn một hoặc nhiều phần tử thẻ có cùng giá trị thuộc tính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Bộ chọn này có cú pháp như sau </a:t>
            </a:r>
            <a:endParaRPr sz="2400">
              <a:solidFill>
                <a:schemeClr val="dk2"/>
              </a:solidFill>
            </a:endParaRPr>
          </a:p>
        </p:txBody>
      </p:sp>
      <p:sp>
        <p:nvSpPr>
          <p:cNvPr id="191" name="Google Shape;191;g116f0dc6cd1_0_47"/>
          <p:cNvSpPr/>
          <p:nvPr/>
        </p:nvSpPr>
        <p:spPr>
          <a:xfrm>
            <a:off x="1598775" y="2900838"/>
            <a:ext cx="5368800" cy="87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t>&lt;tên thẻ&gt;[&lt;tên thuộc tính&gt;=giá trị]</a:t>
            </a:r>
            <a:endParaRPr b="1" sz="1600"/>
          </a:p>
        </p:txBody>
      </p:sp>
      <p:sp>
        <p:nvSpPr>
          <p:cNvPr id="192" name="Google Shape;192;g116f0dc6cd1_0_47"/>
          <p:cNvSpPr txBox="1"/>
          <p:nvPr>
            <p:ph type="ctrTitle"/>
          </p:nvPr>
        </p:nvSpPr>
        <p:spPr>
          <a:xfrm>
            <a:off x="414000" y="4118800"/>
            <a:ext cx="8205900" cy="4863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Ví dụ</a:t>
            </a:r>
            <a:endParaRPr sz="24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116eeb822f0_0_276"/>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98" name="Google Shape;198;g116eeb822f0_0_27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pic>
        <p:nvPicPr>
          <p:cNvPr id="199" name="Google Shape;199;g116eeb822f0_0_27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00" name="Google Shape;200;g116eeb822f0_0_276"/>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1" name="Google Shape;201;g116eeb822f0_0_276"/>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Pseudo Selector</a:t>
            </a:r>
            <a:endParaRPr b="0" i="0" sz="1400" u="none" cap="none" strike="noStrike">
              <a:solidFill>
                <a:srgbClr val="000000"/>
              </a:solidFill>
              <a:latin typeface="Arial"/>
              <a:ea typeface="Arial"/>
              <a:cs typeface="Arial"/>
              <a:sym typeface="Arial"/>
            </a:endParaRPr>
          </a:p>
        </p:txBody>
      </p:sp>
      <p:sp>
        <p:nvSpPr>
          <p:cNvPr id="202" name="Google Shape;202;g116eeb822f0_0_276"/>
          <p:cNvSpPr txBox="1"/>
          <p:nvPr>
            <p:ph type="ctrTitle"/>
          </p:nvPr>
        </p:nvSpPr>
        <p:spPr>
          <a:xfrm>
            <a:off x="387550" y="939425"/>
            <a:ext cx="8458200" cy="40890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Clr>
                <a:schemeClr val="dk2"/>
              </a:buClr>
              <a:buSzPts val="2400"/>
              <a:buChar char="●"/>
            </a:pPr>
            <a:r>
              <a:rPr lang="en-US" sz="2400">
                <a:solidFill>
                  <a:schemeClr val="dk2"/>
                </a:solidFill>
              </a:rPr>
              <a:t> Đây là bộ chọn cho phép chọn những thành phần không thực sự tồn tại “hữu hình” trong tập tin HTML, cho nên nó có tên là bộ chọn giả</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 Các thành phần không “hữu hình” như: khoảng trắng của một thẻ, vị trí của một thẻ trong tập thẻ, trạng thái của thẻ…</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Pseudo là một bộ chọn khá hữu ích khi muốn chèn các nội dung vào HTML từ CSS mà không cần viết trực tiếp vào CSS </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Pseudo có hai dạng: Pseudo element và Pseudo Classes</a:t>
            </a:r>
            <a:endParaRPr sz="24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116fbf12dcc_0_1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08" name="Google Shape;208;g116fbf12dcc_0_1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09" name="Google Shape;209;g116fbf12dcc_0_1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10" name="Google Shape;210;g116fbf12dcc_0_1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1" name="Google Shape;211;g116fbf12dcc_0_18"/>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Combinator Selector</a:t>
            </a:r>
            <a:endParaRPr b="0" i="0" sz="1400" u="none" cap="none" strike="noStrike">
              <a:solidFill>
                <a:srgbClr val="000000"/>
              </a:solidFill>
              <a:latin typeface="Arial"/>
              <a:ea typeface="Arial"/>
              <a:cs typeface="Arial"/>
              <a:sym typeface="Arial"/>
            </a:endParaRPr>
          </a:p>
        </p:txBody>
      </p:sp>
      <p:sp>
        <p:nvSpPr>
          <p:cNvPr id="212" name="Google Shape;212;g116fbf12dcc_0_18"/>
          <p:cNvSpPr txBox="1"/>
          <p:nvPr>
            <p:ph type="ctrTitle"/>
          </p:nvPr>
        </p:nvSpPr>
        <p:spPr>
          <a:xfrm>
            <a:off x="387550" y="939425"/>
            <a:ext cx="8458200" cy="40890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Clr>
                <a:schemeClr val="dk2"/>
              </a:buClr>
              <a:buSzPts val="2400"/>
              <a:buChar char="●"/>
            </a:pPr>
            <a:r>
              <a:rPr lang="en-US" sz="2400">
                <a:solidFill>
                  <a:schemeClr val="dk2"/>
                </a:solidFill>
              </a:rPr>
              <a:t> Combinator Selector là bộ chọn kết hợp tất cả các dạng trên với nhau </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 Sử dụng combinator selector sẽ hạn chế rất nhiều về việc chồng chéo rules lên một phần tử(bàn sau). </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 Combinator Selector có tất cả 4 dạng</a:t>
            </a:r>
            <a:endParaRPr sz="24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116fbf12dcc_0_2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18" name="Google Shape;218;g116fbf12dcc_0_2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19" name="Google Shape;219;g116fbf12dcc_0_2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20" name="Google Shape;220;g116fbf12dcc_0_2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 name="Google Shape;221;g116fbf12dcc_0_27"/>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2"/>
                </a:solidFill>
              </a:rPr>
              <a:t>Combinator Selector</a:t>
            </a:r>
            <a:endParaRPr b="0" i="0" sz="1400" u="none" cap="none" strike="noStrike">
              <a:solidFill>
                <a:srgbClr val="000000"/>
              </a:solidFill>
              <a:latin typeface="Arial"/>
              <a:ea typeface="Arial"/>
              <a:cs typeface="Arial"/>
              <a:sym typeface="Arial"/>
            </a:endParaRPr>
          </a:p>
        </p:txBody>
      </p:sp>
      <p:sp>
        <p:nvSpPr>
          <p:cNvPr id="222" name="Google Shape;222;g116fbf12dcc_0_27"/>
          <p:cNvSpPr txBox="1"/>
          <p:nvPr>
            <p:ph type="ctrTitle"/>
          </p:nvPr>
        </p:nvSpPr>
        <p:spPr>
          <a:xfrm>
            <a:off x="353425" y="792650"/>
            <a:ext cx="8504700" cy="40704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Clr>
                <a:schemeClr val="dk2"/>
              </a:buClr>
              <a:buSzPts val="2400"/>
              <a:buChar char="●"/>
            </a:pPr>
            <a:r>
              <a:rPr lang="en-US" sz="2400">
                <a:solidFill>
                  <a:schemeClr val="dk2"/>
                </a:solidFill>
              </a:rPr>
              <a:t> Descendant Selector </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 Child Selector</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 Adjacent Sibling Selector </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 General Sibling Selector</a:t>
            </a:r>
            <a:endParaRPr sz="24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116fbf12dcc_0_36"/>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28" name="Google Shape;228;g116fbf12dcc_0_3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29" name="Google Shape;229;g116fbf12dcc_0_3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30" name="Google Shape;230;g116fbf12dcc_0_36"/>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1" name="Google Shape;231;g116fbf12dcc_0_36"/>
          <p:cNvSpPr txBox="1"/>
          <p:nvPr/>
        </p:nvSpPr>
        <p:spPr>
          <a:xfrm flipH="1">
            <a:off x="960300" y="127125"/>
            <a:ext cx="78027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2"/>
                </a:solidFill>
              </a:rPr>
              <a:t>Combinator Selector - Descendant Selector</a:t>
            </a:r>
            <a:endParaRPr b="0" i="0" sz="1400" u="none" cap="none" strike="noStrike">
              <a:solidFill>
                <a:srgbClr val="000000"/>
              </a:solidFill>
              <a:latin typeface="Arial"/>
              <a:ea typeface="Arial"/>
              <a:cs typeface="Arial"/>
              <a:sym typeface="Arial"/>
            </a:endParaRPr>
          </a:p>
        </p:txBody>
      </p:sp>
      <p:sp>
        <p:nvSpPr>
          <p:cNvPr id="232" name="Google Shape;232;g116fbf12dcc_0_36"/>
          <p:cNvSpPr txBox="1"/>
          <p:nvPr>
            <p:ph type="ctrTitle"/>
          </p:nvPr>
        </p:nvSpPr>
        <p:spPr>
          <a:xfrm>
            <a:off x="313500" y="1454175"/>
            <a:ext cx="8517000" cy="26364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Clr>
                <a:schemeClr val="dk2"/>
              </a:buClr>
              <a:buSzPts val="2400"/>
              <a:buChar char="●"/>
            </a:pPr>
            <a:r>
              <a:rPr lang="en-US" sz="2400">
                <a:solidFill>
                  <a:schemeClr val="dk2"/>
                </a:solidFill>
              </a:rPr>
              <a:t>Descendant Selector (Bộ chọn con cháu) cho phép chọn tất cả các phần tử con cháu từ bộ chọn của phần tử cha đã biết</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Cú pháp của bộ chọn này là sử dụng dấu cách ngăn giữa bộ chọn phần tử cha và bộ chọn con</a:t>
            </a:r>
            <a:endParaRPr sz="24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116fbf12dcc_0_45"/>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8" name="Google Shape;238;g116fbf12dcc_0_4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39" name="Google Shape;239;g116fbf12dcc_0_4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40" name="Google Shape;240;g116fbf12dcc_0_45"/>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g116fbf12dcc_0_45"/>
          <p:cNvSpPr txBox="1"/>
          <p:nvPr/>
        </p:nvSpPr>
        <p:spPr>
          <a:xfrm flipH="1">
            <a:off x="960300" y="127125"/>
            <a:ext cx="78027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2"/>
                </a:solidFill>
              </a:rPr>
              <a:t>Combinator Selector - Child Selector</a:t>
            </a:r>
            <a:endParaRPr b="0" i="0" sz="1400" u="none" cap="none" strike="noStrike">
              <a:solidFill>
                <a:srgbClr val="000000"/>
              </a:solidFill>
              <a:latin typeface="Arial"/>
              <a:ea typeface="Arial"/>
              <a:cs typeface="Arial"/>
              <a:sym typeface="Arial"/>
            </a:endParaRPr>
          </a:p>
        </p:txBody>
      </p:sp>
      <p:sp>
        <p:nvSpPr>
          <p:cNvPr id="242" name="Google Shape;242;g116fbf12dcc_0_45"/>
          <p:cNvSpPr txBox="1"/>
          <p:nvPr>
            <p:ph type="ctrTitle"/>
          </p:nvPr>
        </p:nvSpPr>
        <p:spPr>
          <a:xfrm>
            <a:off x="357925" y="1655150"/>
            <a:ext cx="8517000" cy="26364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Clr>
                <a:schemeClr val="dk2"/>
              </a:buClr>
              <a:buSzPts val="2400"/>
              <a:buChar char="●"/>
            </a:pPr>
            <a:r>
              <a:rPr lang="en-US" sz="2400">
                <a:solidFill>
                  <a:schemeClr val="dk2"/>
                </a:solidFill>
              </a:rPr>
              <a:t>Child</a:t>
            </a:r>
            <a:r>
              <a:rPr lang="en-US" sz="2400">
                <a:solidFill>
                  <a:schemeClr val="dk2"/>
                </a:solidFill>
              </a:rPr>
              <a:t> Selector (Bộ chọn con cháu) cho phép chọn phần tử con trực tiếp từ bộ chọn của phần tử cha đã biết</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Cú pháp của bộ chọn này là sử dụng mũi tên (&gt;) ngăn giữa bộ chọn phần tử cha và bộ chọn con</a:t>
            </a:r>
            <a:endParaRPr sz="24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116fbf12dcc_0_54"/>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48" name="Google Shape;248;g116fbf12dcc_0_5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49" name="Google Shape;249;g116fbf12dcc_0_5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50" name="Google Shape;250;g116fbf12dcc_0_54"/>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1" name="Google Shape;251;g116fbf12dcc_0_54"/>
          <p:cNvSpPr txBox="1"/>
          <p:nvPr/>
        </p:nvSpPr>
        <p:spPr>
          <a:xfrm flipH="1">
            <a:off x="341175" y="151625"/>
            <a:ext cx="8763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2"/>
                </a:solidFill>
              </a:rPr>
              <a:t>Combinator Selector - Adjacent Sibling Selector</a:t>
            </a:r>
            <a:endParaRPr b="1" i="0" sz="2800" u="none" cap="none" strike="noStrike">
              <a:solidFill>
                <a:schemeClr val="accent1"/>
              </a:solidFill>
            </a:endParaRPr>
          </a:p>
        </p:txBody>
      </p:sp>
      <p:sp>
        <p:nvSpPr>
          <p:cNvPr id="252" name="Google Shape;252;g116fbf12dcc_0_54"/>
          <p:cNvSpPr txBox="1"/>
          <p:nvPr>
            <p:ph type="ctrTitle"/>
          </p:nvPr>
        </p:nvSpPr>
        <p:spPr>
          <a:xfrm>
            <a:off x="341175" y="1747250"/>
            <a:ext cx="8517000" cy="26364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Clr>
                <a:schemeClr val="dk2"/>
              </a:buClr>
              <a:buSzPts val="2400"/>
              <a:buChar char="●"/>
            </a:pPr>
            <a:r>
              <a:rPr lang="en-US" sz="2400">
                <a:solidFill>
                  <a:schemeClr val="dk2"/>
                </a:solidFill>
              </a:rPr>
              <a:t>Adjacent Sibling</a:t>
            </a:r>
            <a:r>
              <a:rPr lang="en-US" sz="2400">
                <a:solidFill>
                  <a:schemeClr val="dk2"/>
                </a:solidFill>
              </a:rPr>
              <a:t> Selector (Bộ chọn một phần tử kế cận) cho phép chọn phần tử kế cận từ bộ chọn của phần tử cha đã biết</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Cú pháp của bộ chọn này là sử dụng dấu cộng (+) ngăn giữa bộ chọn phần tử trước và bộ chọn phần tử sau kế cận</a:t>
            </a:r>
            <a:endParaRPr sz="24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116fbf12dcc_0_6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58" name="Google Shape;258;g116fbf12dcc_0_6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59" name="Google Shape;259;g116fbf12dcc_0_6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60" name="Google Shape;260;g116fbf12dcc_0_6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g116fbf12dcc_0_63"/>
          <p:cNvSpPr txBox="1"/>
          <p:nvPr/>
        </p:nvSpPr>
        <p:spPr>
          <a:xfrm flipH="1">
            <a:off x="341175" y="151625"/>
            <a:ext cx="8763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2"/>
                </a:solidFill>
              </a:rPr>
              <a:t>Combinator Selector - General Sibling Selector</a:t>
            </a:r>
            <a:endParaRPr b="1" i="0" sz="2800" u="none" cap="none" strike="noStrike">
              <a:solidFill>
                <a:schemeClr val="accent1"/>
              </a:solidFill>
            </a:endParaRPr>
          </a:p>
        </p:txBody>
      </p:sp>
      <p:sp>
        <p:nvSpPr>
          <p:cNvPr id="262" name="Google Shape;262;g116fbf12dcc_0_63"/>
          <p:cNvSpPr txBox="1"/>
          <p:nvPr>
            <p:ph type="ctrTitle"/>
          </p:nvPr>
        </p:nvSpPr>
        <p:spPr>
          <a:xfrm>
            <a:off x="313500" y="1429050"/>
            <a:ext cx="8517000" cy="26364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Clr>
                <a:schemeClr val="dk2"/>
              </a:buClr>
              <a:buSzPts val="2400"/>
              <a:buChar char="●"/>
            </a:pPr>
            <a:r>
              <a:rPr lang="en-US" sz="2400">
                <a:solidFill>
                  <a:schemeClr val="dk2"/>
                </a:solidFill>
              </a:rPr>
              <a:t>General</a:t>
            </a:r>
            <a:r>
              <a:rPr lang="en-US" sz="2400">
                <a:solidFill>
                  <a:schemeClr val="dk2"/>
                </a:solidFill>
              </a:rPr>
              <a:t> Sibling Selector (Bộ chọn tập phần tử kế cận) cho phép chọn tập phần tử kế cận từ bộ chọn của phần tử cha đã biết</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Cú pháp của bộ chọn này là sử dụng dấu cộng (+) ngăn giữa bộ chọn phần tử trước và bộ chọn tập phần tử sau kế cận</a:t>
            </a:r>
            <a:endParaRPr sz="24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116fbf12dcc_0_7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68" name="Google Shape;268;g116fbf12dcc_0_7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69" name="Google Shape;269;g116fbf12dcc_0_7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70" name="Google Shape;270;g116fbf12dcc_0_7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g116fbf12dcc_0_72"/>
          <p:cNvSpPr txBox="1"/>
          <p:nvPr/>
        </p:nvSpPr>
        <p:spPr>
          <a:xfrm flipH="1">
            <a:off x="7714875" y="151625"/>
            <a:ext cx="13893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2"/>
                </a:solidFill>
              </a:rPr>
              <a:t>Demo</a:t>
            </a:r>
            <a:endParaRPr b="1" i="0" sz="2800" u="none" cap="none" strike="noStrike">
              <a:solidFill>
                <a:schemeClr val="accent1"/>
              </a:solidFill>
            </a:endParaRPr>
          </a:p>
        </p:txBody>
      </p:sp>
      <p:sp>
        <p:nvSpPr>
          <p:cNvPr id="272" name="Google Shape;272;g116fbf12dcc_0_72"/>
          <p:cNvSpPr txBox="1"/>
          <p:nvPr>
            <p:ph type="ctrTitle"/>
          </p:nvPr>
        </p:nvSpPr>
        <p:spPr>
          <a:xfrm>
            <a:off x="369100" y="1769375"/>
            <a:ext cx="8517000" cy="2636400"/>
          </a:xfrm>
          <a:prstGeom prst="rect">
            <a:avLst/>
          </a:prstGeom>
          <a:noFill/>
          <a:ln>
            <a:noFill/>
          </a:ln>
        </p:spPr>
        <p:txBody>
          <a:bodyPr anchorCtr="0" anchor="ctr" bIns="45700" lIns="91425" spcFirstLastPara="1" rIns="91425" wrap="square" tIns="45700">
            <a:normAutofit/>
          </a:bodyPr>
          <a:lstStyle/>
          <a:p>
            <a:pPr indent="-152400" lvl="0" marL="0" rtl="0" algn="l">
              <a:spcBef>
                <a:spcPts val="0"/>
              </a:spcBef>
              <a:spcAft>
                <a:spcPts val="0"/>
              </a:spcAft>
              <a:buClr>
                <a:schemeClr val="dk2"/>
              </a:buClr>
              <a:buSzPts val="2400"/>
              <a:buChar char="●"/>
            </a:pPr>
            <a:r>
              <a:rPr lang="en-US" sz="2400">
                <a:solidFill>
                  <a:schemeClr val="dk2"/>
                </a:solidFill>
              </a:rPr>
              <a:t> Giáo viên demo về các loại bộ chọn cho sinh viên nắm được</a:t>
            </a:r>
            <a:endParaRPr sz="24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1180b70cf16_0_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78" name="Google Shape;278;g1180b70cf16_0_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79" name="Google Shape;279;g1180b70cf16_0_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80" name="Google Shape;280;g1180b70cf16_0_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1" name="Google Shape;281;g1180b70cf16_0_0"/>
          <p:cNvSpPr txBox="1"/>
          <p:nvPr/>
        </p:nvSpPr>
        <p:spPr>
          <a:xfrm flipH="1">
            <a:off x="3918675" y="151625"/>
            <a:ext cx="51855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2"/>
                </a:solidFill>
              </a:rPr>
              <a:t>Thuộc tính width và height</a:t>
            </a:r>
            <a:endParaRPr b="1" i="0" sz="2800" u="none" cap="none" strike="noStrike">
              <a:solidFill>
                <a:schemeClr val="accent1"/>
              </a:solidFill>
            </a:endParaRPr>
          </a:p>
        </p:txBody>
      </p:sp>
      <p:sp>
        <p:nvSpPr>
          <p:cNvPr id="282" name="Google Shape;282;g1180b70cf16_0_0"/>
          <p:cNvSpPr txBox="1"/>
          <p:nvPr>
            <p:ph type="ctrTitle"/>
          </p:nvPr>
        </p:nvSpPr>
        <p:spPr>
          <a:xfrm>
            <a:off x="213950" y="792650"/>
            <a:ext cx="8644200" cy="43374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Clr>
                <a:schemeClr val="dk2"/>
              </a:buClr>
              <a:buSzPts val="2400"/>
              <a:buChar char="●"/>
            </a:pPr>
            <a:r>
              <a:rPr lang="en-US" sz="2400">
                <a:solidFill>
                  <a:schemeClr val="dk2"/>
                </a:solidFill>
              </a:rPr>
              <a:t>Thuộc tính width và height cho phép cài đặt chiều ngang và chiều cao cố định cho box model </a:t>
            </a:r>
            <a:endParaRPr sz="2400">
              <a:solidFill>
                <a:schemeClr val="dk2"/>
              </a:solidFill>
            </a:endParaRPr>
          </a:p>
          <a:p>
            <a:pPr indent="-381000" lvl="0" marL="457200" rtl="0" algn="l">
              <a:spcBef>
                <a:spcPts val="0"/>
              </a:spcBef>
              <a:spcAft>
                <a:spcPts val="0"/>
              </a:spcAft>
              <a:buClr>
                <a:schemeClr val="dk2"/>
              </a:buClr>
              <a:buSzPts val="2400"/>
              <a:buChar char="●"/>
            </a:pPr>
            <a:r>
              <a:rPr lang="en-US" sz="2400">
                <a:solidFill>
                  <a:schemeClr val="dk2"/>
                </a:solidFill>
              </a:rPr>
              <a:t>Ngoài thuộc tính max và width ta còn có thuộc tính max-width và max-height cho phép giới hạn giá trị height và width của box nếu như width và height được cài đặt giá trị auto</a:t>
            </a:r>
            <a:endParaRPr sz="24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1180b70cf16_0_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88" name="Google Shape;288;g1180b70cf16_0_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89" name="Google Shape;289;g1180b70cf16_0_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90" name="Google Shape;290;g1180b70cf16_0_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g1180b70cf16_0_9"/>
          <p:cNvSpPr txBox="1"/>
          <p:nvPr/>
        </p:nvSpPr>
        <p:spPr>
          <a:xfrm flipH="1">
            <a:off x="5537175" y="151625"/>
            <a:ext cx="3567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2"/>
                </a:solidFill>
              </a:rPr>
              <a:t>Demo</a:t>
            </a:r>
            <a:endParaRPr b="1" i="0" sz="2800" u="none" cap="none" strike="noStrike">
              <a:solidFill>
                <a:schemeClr val="accent1"/>
              </a:solidFill>
            </a:endParaRPr>
          </a:p>
        </p:txBody>
      </p:sp>
      <p:sp>
        <p:nvSpPr>
          <p:cNvPr id="292" name="Google Shape;292;g1180b70cf16_0_9"/>
          <p:cNvSpPr txBox="1"/>
          <p:nvPr>
            <p:ph type="ctrTitle"/>
          </p:nvPr>
        </p:nvSpPr>
        <p:spPr>
          <a:xfrm>
            <a:off x="213950" y="792650"/>
            <a:ext cx="8644200" cy="43374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Clr>
                <a:schemeClr val="dk2"/>
              </a:buClr>
              <a:buSzPts val="2400"/>
              <a:buChar char="●"/>
            </a:pPr>
            <a:r>
              <a:rPr lang="en-US" sz="2400">
                <a:solidFill>
                  <a:schemeClr val="dk2"/>
                </a:solidFill>
              </a:rPr>
              <a:t>Giáo viên demo về width và height cho học viên</a:t>
            </a:r>
            <a:endParaRPr sz="24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98" name="Google Shape;298;p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sp>
        <p:nvSpPr>
          <p:cNvPr id="299" name="Google Shape;299;p4"/>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300" name="Google Shape;300;p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01" name="Google Shape;301;p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02" name="Google Shape;302;p4"/>
          <p:cNvPicPr preferRelativeResize="0"/>
          <p:nvPr/>
        </p:nvPicPr>
        <p:blipFill rotWithShape="1">
          <a:blip r:embed="rId4">
            <a:alphaModFix/>
          </a:blip>
          <a:srcRect b="0" l="0" r="0" t="0"/>
          <a:stretch/>
        </p:blipFill>
        <p:spPr>
          <a:xfrm>
            <a:off x="1309686" y="762000"/>
            <a:ext cx="6829425" cy="4848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2021-03-05T02:20:42Z</dcterms:created>
  <dc:creator>GIAOVU</dc:creator>
</cp:coreProperties>
</file>