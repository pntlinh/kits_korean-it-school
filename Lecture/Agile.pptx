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7" roundtripDataSignature="AMtx7miNKmyJqujlGtgArtvcl5vj4S7T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D524F1-D779-479A-A6A9-B4675811FBC7}">
  <a:tblStyle styleId="{01D524F1-D779-479A-A6A9-B4675811FBC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2f8e6809e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86" name="Google Shape;86;g12f8e6809e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2f8e6809e2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94" name="Google Shape;94;g12f8e6809e2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f8e6809e2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04" name="Google Shape;104;g12f8e6809e2_0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2f8e6809e2_0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14" name="Google Shape;114;g12f8e6809e2_0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2f8e6809e2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24" name="Google Shape;124;g12f8e6809e2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2f8e6809e2_0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34" name="Google Shape;134;g12f8e6809e2_0_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2f8e6809e2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44" name="Google Shape;144;g12f8e6809e2_0_1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2f8e6809e2_0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54" name="Google Shape;154;g12f8e6809e2_0_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2f8e6809e2_0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64" name="Google Shape;164;g12f8e6809e2_0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2f8e6809e2_0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74" name="Google Shape;174;g12f8e6809e2_0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2f8e6809e2_0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84" name="Google Shape;184;g12f8e6809e2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2f8e6809e2_0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194" name="Google Shape;194;g12f8e6809e2_0_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2f8e6809e2_0_2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04" name="Google Shape;204;g12f8e6809e2_0_2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2f8e6809e2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14" name="Google Shape;214;g12f8e6809e2_0_2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2f8e6809e2_0_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24" name="Google Shape;224;g12f8e6809e2_0_2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2f8e6809e2_0_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35" name="Google Shape;235;g12f8e6809e2_0_2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2f8e6809e2_0_2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45" name="Google Shape;245;g12f8e6809e2_0_2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2f8e6809e2_0_2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55" name="Google Shape;255;g12f8e6809e2_0_2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2f8e6809e2_0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65" name="Google Shape;265;g12f8e6809e2_0_2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2f8e6809e2_0_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76" name="Google Shape;276;g12f8e6809e2_0_2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2f8e6809e2_0_3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87" name="Google Shape;287;g12f8e6809e2_0_3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2f8e6809e2_0_3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97" name="Google Shape;297;g12f8e6809e2_0_3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2f8e6809e2_0_3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307" name="Google Shape;307;g12f8e6809e2_0_3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2f8e6809e2_0_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317" name="Google Shape;317;g12f8e6809e2_0_3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2f8e6809e2_0_3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327" name="Google Shape;327;g12f8e6809e2_0_3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2f8e6809e2_0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337" name="Google Shape;337;g12f8e6809e2_0_3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2f8e6809e2_0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347" name="Google Shape;347;g12f8e6809e2_0_3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2f8e6809e2_0_3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357" name="Google Shape;357;g12f8e6809e2_0_3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2f8e6809e2_0_3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367" name="Google Shape;367;g12f8e6809e2_0_3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2f8e6809e2_0_3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377" name="Google Shape;377;g12f8e6809e2_0_3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2f8e6809e2_0_3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387" name="Google Shape;387;g12f8e6809e2_0_3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p:nvPr>
            <p:ph idx="2" type="pic"/>
          </p:nvPr>
        </p:nvSpPr>
        <p:spPr>
          <a:xfrm>
            <a:off x="5183188" y="987425"/>
            <a:ext cx="6172200" cy="4873625"/>
          </a:xfrm>
          <a:prstGeom prst="rect">
            <a:avLst/>
          </a:prstGeom>
          <a:noFill/>
          <a:ln>
            <a:noFill/>
          </a:ln>
        </p:spPr>
      </p:sp>
      <p:sp>
        <p:nvSpPr>
          <p:cNvPr id="68" name="Google Shape;68;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12f8e6809e2_0_0"/>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9" name="Google Shape;89;g12f8e6809e2_0_0"/>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4900"/>
              </a:srgbClr>
            </a:outerShdw>
          </a:effectLst>
        </p:spPr>
      </p:cxnSp>
      <p:sp>
        <p:nvSpPr>
          <p:cNvPr id="90" name="Google Shape;90;g12f8e6809e2_0_0"/>
          <p:cNvSpPr txBox="1"/>
          <p:nvPr>
            <p:ph type="ctrTitle"/>
          </p:nvPr>
        </p:nvSpPr>
        <p:spPr>
          <a:xfrm>
            <a:off x="1905000" y="762000"/>
            <a:ext cx="8297700" cy="1536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003999"/>
              </a:buClr>
              <a:buSzPct val="104761"/>
              <a:buFont typeface="Calibri"/>
              <a:buNone/>
            </a:pPr>
            <a:br>
              <a:rPr lang="en-US">
                <a:solidFill>
                  <a:srgbClr val="003999"/>
                </a:solidFill>
              </a:rPr>
            </a:br>
            <a:br>
              <a:rPr b="1" lang="en-US">
                <a:solidFill>
                  <a:schemeClr val="dk2"/>
                </a:solidFill>
              </a:rPr>
            </a:br>
            <a:r>
              <a:rPr b="1" lang="en-US">
                <a:solidFill>
                  <a:schemeClr val="dk2"/>
                </a:solidFill>
              </a:rPr>
              <a:t>Agile </a:t>
            </a:r>
            <a:endParaRPr sz="4200">
              <a:solidFill>
                <a:schemeClr val="dk2"/>
              </a:solidFill>
              <a:latin typeface="Calibri"/>
              <a:ea typeface="Calibri"/>
              <a:cs typeface="Calibri"/>
              <a:sym typeface="Calibri"/>
            </a:endParaRPr>
          </a:p>
        </p:txBody>
      </p:sp>
      <p:pic>
        <p:nvPicPr>
          <p:cNvPr id="91" name="Google Shape;91;g12f8e6809e2_0_0"/>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12f8e6809e2_0_22"/>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7" name="Google Shape;97;g12f8e6809e2_0_22"/>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sp>
        <p:nvSpPr>
          <p:cNvPr id="98" name="Google Shape;98;g12f8e6809e2_0_22"/>
          <p:cNvSpPr txBox="1"/>
          <p:nvPr>
            <p:ph type="ctrTitle"/>
          </p:nvPr>
        </p:nvSpPr>
        <p:spPr>
          <a:xfrm>
            <a:off x="2214575" y="1787060"/>
            <a:ext cx="7983600" cy="2247300"/>
          </a:xfrm>
          <a:prstGeom prst="rect">
            <a:avLst/>
          </a:prstGeom>
          <a:noFill/>
          <a:ln>
            <a:noFill/>
          </a:ln>
        </p:spPr>
        <p:txBody>
          <a:bodyPr anchorCtr="0" anchor="ctr" bIns="45700" lIns="91425" spcFirstLastPara="1" rIns="91425" wrap="square" tIns="45700">
            <a:spAutoFit/>
          </a:bodyPr>
          <a:lstStyle/>
          <a:p>
            <a:pPr indent="-177800" lvl="0" marL="0" rtl="0" algn="l">
              <a:lnSpc>
                <a:spcPct val="100000"/>
              </a:lnSpc>
              <a:spcBef>
                <a:spcPts val="0"/>
              </a:spcBef>
              <a:spcAft>
                <a:spcPts val="0"/>
              </a:spcAft>
              <a:buClr>
                <a:srgbClr val="003999"/>
              </a:buClr>
              <a:buSzPts val="2800"/>
              <a:buChar char="❖"/>
            </a:pPr>
            <a:r>
              <a:rPr lang="en-US" sz="2800">
                <a:solidFill>
                  <a:srgbClr val="003999"/>
                </a:solidFill>
              </a:rPr>
              <a:t>Lịch sử hình thành Agile, tuyên ngôn Agile</a:t>
            </a:r>
            <a:endParaRPr sz="2800">
              <a:solidFill>
                <a:srgbClr val="003999"/>
              </a:solidFill>
            </a:endParaRPr>
          </a:p>
          <a:p>
            <a:pPr indent="-177800" lvl="0" marL="0" rtl="0" algn="l">
              <a:lnSpc>
                <a:spcPct val="100000"/>
              </a:lnSpc>
              <a:spcBef>
                <a:spcPts val="0"/>
              </a:spcBef>
              <a:spcAft>
                <a:spcPts val="0"/>
              </a:spcAft>
              <a:buClr>
                <a:srgbClr val="003999"/>
              </a:buClr>
              <a:buSzPts val="2800"/>
              <a:buChar char="❖"/>
            </a:pPr>
            <a:r>
              <a:rPr lang="en-US" sz="2800">
                <a:solidFill>
                  <a:srgbClr val="003999"/>
                </a:solidFill>
              </a:rPr>
              <a:t>Agile là gì ?</a:t>
            </a:r>
            <a:endParaRPr sz="2800">
              <a:solidFill>
                <a:srgbClr val="003999"/>
              </a:solidFill>
            </a:endParaRPr>
          </a:p>
          <a:p>
            <a:pPr indent="-177800" lvl="0" marL="0" rtl="0" algn="l">
              <a:lnSpc>
                <a:spcPct val="100000"/>
              </a:lnSpc>
              <a:spcBef>
                <a:spcPts val="0"/>
              </a:spcBef>
              <a:spcAft>
                <a:spcPts val="0"/>
              </a:spcAft>
              <a:buClr>
                <a:srgbClr val="003999"/>
              </a:buClr>
              <a:buSzPts val="2800"/>
              <a:buChar char="❖"/>
            </a:pPr>
            <a:r>
              <a:rPr lang="en-US" sz="2800">
                <a:solidFill>
                  <a:srgbClr val="003999"/>
                </a:solidFill>
              </a:rPr>
              <a:t>Đặc điểm của Agile</a:t>
            </a:r>
            <a:endParaRPr sz="2800">
              <a:solidFill>
                <a:srgbClr val="003999"/>
              </a:solidFill>
            </a:endParaRPr>
          </a:p>
          <a:p>
            <a:pPr indent="-177800" lvl="0" marL="0" rtl="0" algn="l">
              <a:lnSpc>
                <a:spcPct val="100000"/>
              </a:lnSpc>
              <a:spcBef>
                <a:spcPts val="0"/>
              </a:spcBef>
              <a:spcAft>
                <a:spcPts val="0"/>
              </a:spcAft>
              <a:buClr>
                <a:srgbClr val="003999"/>
              </a:buClr>
              <a:buSzPts val="2800"/>
              <a:buChar char="❖"/>
            </a:pPr>
            <a:r>
              <a:rPr lang="en-US" sz="2800">
                <a:solidFill>
                  <a:srgbClr val="003999"/>
                </a:solidFill>
              </a:rPr>
              <a:t>Quy tắc của Agile </a:t>
            </a:r>
            <a:endParaRPr sz="2800">
              <a:solidFill>
                <a:srgbClr val="003999"/>
              </a:solidFill>
            </a:endParaRPr>
          </a:p>
          <a:p>
            <a:pPr indent="-177800" lvl="0" marL="0" rtl="0" algn="l">
              <a:lnSpc>
                <a:spcPct val="100000"/>
              </a:lnSpc>
              <a:spcBef>
                <a:spcPts val="0"/>
              </a:spcBef>
              <a:spcAft>
                <a:spcPts val="0"/>
              </a:spcAft>
              <a:buClr>
                <a:srgbClr val="003999"/>
              </a:buClr>
              <a:buSzPts val="2800"/>
              <a:buChar char="❖"/>
            </a:pPr>
            <a:r>
              <a:rPr lang="en-US" sz="2800">
                <a:solidFill>
                  <a:srgbClr val="003999"/>
                </a:solidFill>
              </a:rPr>
              <a:t>Mô hình Scrum </a:t>
            </a:r>
            <a:endParaRPr sz="4200">
              <a:solidFill>
                <a:schemeClr val="dk2"/>
              </a:solidFill>
            </a:endParaRPr>
          </a:p>
        </p:txBody>
      </p:sp>
      <p:pic>
        <p:nvPicPr>
          <p:cNvPr id="99" name="Google Shape;99;g12f8e6809e2_0_22"/>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100" name="Google Shape;100;g12f8e6809e2_0_22"/>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1" name="Google Shape;101;g12f8e6809e2_0_22"/>
          <p:cNvSpPr txBox="1"/>
          <p:nvPr/>
        </p:nvSpPr>
        <p:spPr>
          <a:xfrm flipH="1">
            <a:off x="6123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Arial"/>
                <a:ea typeface="Arial"/>
                <a:cs typeface="Arial"/>
                <a:sym typeface="Arial"/>
              </a:rPr>
              <a:t>Tổng quan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12f8e6809e2_0_106"/>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7" name="Google Shape;107;g12f8e6809e2_0_106"/>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sp>
        <p:nvSpPr>
          <p:cNvPr id="108" name="Google Shape;108;g12f8e6809e2_0_106"/>
          <p:cNvSpPr txBox="1"/>
          <p:nvPr>
            <p:ph type="ctrTitle"/>
          </p:nvPr>
        </p:nvSpPr>
        <p:spPr>
          <a:xfrm>
            <a:off x="1828800" y="1209550"/>
            <a:ext cx="8839200" cy="3971100"/>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n-US" sz="2800"/>
              <a:t>Vào tháng 2 năm 2001, 17 chuyên gia từ các phương pháp Extreme Programming, Scrum, DSDM, …. đã họp mặt tại khu nghỉ dưỡng trượt tuyết Snowbird, Utah để chia sẻ về các ý tưởng phát triển phần mềm “tinh gọn” và cuối cùng họ đã đưa ra một bản tuyên bố chung gọi là tuyên ngôn Agile ( Agile Manifesto) và bản tuyên ngôn này đã nhanh chóng lan rộng và trở thành kim chỉ nam cho các nhà phát triển phần mềm </a:t>
            </a:r>
            <a:endParaRPr sz="2800"/>
          </a:p>
          <a:p>
            <a:pPr indent="0" lvl="0" marL="0" rtl="0" algn="l">
              <a:lnSpc>
                <a:spcPct val="100000"/>
              </a:lnSpc>
              <a:spcBef>
                <a:spcPts val="0"/>
              </a:spcBef>
              <a:spcAft>
                <a:spcPts val="0"/>
              </a:spcAft>
              <a:buNone/>
            </a:pPr>
            <a:r>
              <a:t/>
            </a:r>
            <a:endParaRPr sz="2800">
              <a:solidFill>
                <a:srgbClr val="003999"/>
              </a:solidFill>
            </a:endParaRPr>
          </a:p>
        </p:txBody>
      </p:sp>
      <p:pic>
        <p:nvPicPr>
          <p:cNvPr id="109" name="Google Shape;109;g12f8e6809e2_0_106"/>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110" name="Google Shape;110;g12f8e6809e2_0_106"/>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 name="Google Shape;111;g12f8e6809e2_0_106"/>
          <p:cNvSpPr txBox="1"/>
          <p:nvPr/>
        </p:nvSpPr>
        <p:spPr>
          <a:xfrm flipH="1">
            <a:off x="6123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Tuyên ngôn Agile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12f8e6809e2_0_115"/>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17" name="Google Shape;117;g12f8e6809e2_0_115"/>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sp>
        <p:nvSpPr>
          <p:cNvPr id="118" name="Google Shape;118;g12f8e6809e2_0_115"/>
          <p:cNvSpPr txBox="1"/>
          <p:nvPr>
            <p:ph type="ctrTitle"/>
          </p:nvPr>
        </p:nvSpPr>
        <p:spPr>
          <a:xfrm>
            <a:off x="1828800" y="2003625"/>
            <a:ext cx="8771100" cy="2247300"/>
          </a:xfrm>
          <a:prstGeom prst="rect">
            <a:avLst/>
          </a:prstGeom>
          <a:noFill/>
          <a:ln>
            <a:noFill/>
          </a:ln>
        </p:spPr>
        <p:txBody>
          <a:bodyPr anchorCtr="0" anchor="ctr" bIns="45700" lIns="91425" spcFirstLastPara="1" rIns="91425" wrap="square" tIns="45700">
            <a:spAutoFit/>
          </a:bodyPr>
          <a:lstStyle/>
          <a:p>
            <a:pPr indent="-406400" lvl="0" marL="457200" rtl="0" algn="l">
              <a:lnSpc>
                <a:spcPct val="100000"/>
              </a:lnSpc>
              <a:spcBef>
                <a:spcPts val="0"/>
              </a:spcBef>
              <a:spcAft>
                <a:spcPts val="0"/>
              </a:spcAft>
              <a:buSzPts val="2800"/>
              <a:buChar char="●"/>
            </a:pPr>
            <a:r>
              <a:rPr lang="en-US" sz="2800"/>
              <a:t>Cá nhân và tương tác quan trọng hơn quy trình và công cụ</a:t>
            </a:r>
            <a:endParaRPr sz="2800"/>
          </a:p>
          <a:p>
            <a:pPr indent="-406400" lvl="0" marL="457200" rtl="0" algn="l">
              <a:lnSpc>
                <a:spcPct val="100000"/>
              </a:lnSpc>
              <a:spcBef>
                <a:spcPts val="0"/>
              </a:spcBef>
              <a:spcAft>
                <a:spcPts val="0"/>
              </a:spcAft>
              <a:buSzPts val="2800"/>
              <a:buChar char="●"/>
            </a:pPr>
            <a:r>
              <a:rPr lang="en-US" sz="2800"/>
              <a:t>Phần mềm chạy tốt hơn là tại liệu đầy đủ </a:t>
            </a:r>
            <a:endParaRPr sz="2800"/>
          </a:p>
          <a:p>
            <a:pPr indent="-406400" lvl="0" marL="457200" rtl="0" algn="l">
              <a:lnSpc>
                <a:spcPct val="100000"/>
              </a:lnSpc>
              <a:spcBef>
                <a:spcPts val="0"/>
              </a:spcBef>
              <a:spcAft>
                <a:spcPts val="0"/>
              </a:spcAft>
              <a:buSzPts val="2800"/>
              <a:buChar char="●"/>
            </a:pPr>
            <a:r>
              <a:rPr lang="en-US" sz="2800"/>
              <a:t>Cộng tác với khách hàng hơn là đàm phán hợp đồng</a:t>
            </a:r>
            <a:endParaRPr sz="2800"/>
          </a:p>
          <a:p>
            <a:pPr indent="-406400" lvl="0" marL="457200" rtl="0" algn="l">
              <a:lnSpc>
                <a:spcPct val="100000"/>
              </a:lnSpc>
              <a:spcBef>
                <a:spcPts val="0"/>
              </a:spcBef>
              <a:spcAft>
                <a:spcPts val="0"/>
              </a:spcAft>
              <a:buSzPts val="2800"/>
              <a:buChar char="●"/>
            </a:pPr>
            <a:r>
              <a:rPr lang="en-US" sz="2800"/>
              <a:t>Phản hồi và thay đổi hơn là bám sát kế hoạch</a:t>
            </a:r>
            <a:endParaRPr sz="2800"/>
          </a:p>
        </p:txBody>
      </p:sp>
      <p:pic>
        <p:nvPicPr>
          <p:cNvPr id="119" name="Google Shape;119;g12f8e6809e2_0_115"/>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120" name="Google Shape;120;g12f8e6809e2_0_115"/>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 name="Google Shape;121;g12f8e6809e2_0_115"/>
          <p:cNvSpPr txBox="1"/>
          <p:nvPr/>
        </p:nvSpPr>
        <p:spPr>
          <a:xfrm flipH="1">
            <a:off x="2358300" y="127125"/>
            <a:ext cx="79287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4 giá trị được đúc kết trong tuyên ngôn Agile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12f8e6809e2_0_124"/>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27" name="Google Shape;127;g12f8e6809e2_0_124"/>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sp>
        <p:nvSpPr>
          <p:cNvPr id="128" name="Google Shape;128;g12f8e6809e2_0_124"/>
          <p:cNvSpPr txBox="1"/>
          <p:nvPr>
            <p:ph type="ctrTitle"/>
          </p:nvPr>
        </p:nvSpPr>
        <p:spPr>
          <a:xfrm>
            <a:off x="1638250" y="1702850"/>
            <a:ext cx="8771100" cy="2247300"/>
          </a:xfrm>
          <a:prstGeom prst="rect">
            <a:avLst/>
          </a:prstGeom>
          <a:noFill/>
          <a:ln>
            <a:noFill/>
          </a:ln>
        </p:spPr>
        <p:txBody>
          <a:bodyPr anchorCtr="0" anchor="ctr" bIns="45700" lIns="91425" spcFirstLastPara="1" rIns="91425" wrap="square" tIns="45700">
            <a:spAutoFit/>
          </a:bodyPr>
          <a:lstStyle/>
          <a:p>
            <a:pPr indent="-406400" lvl="0" marL="457200" rtl="0" algn="l">
              <a:lnSpc>
                <a:spcPct val="100000"/>
              </a:lnSpc>
              <a:spcBef>
                <a:spcPts val="0"/>
              </a:spcBef>
              <a:spcAft>
                <a:spcPts val="0"/>
              </a:spcAft>
              <a:buSzPts val="2800"/>
              <a:buChar char="●"/>
            </a:pPr>
            <a:r>
              <a:rPr lang="en-US" sz="2800"/>
              <a:t>Agile là một hệ tư tưởng (phương pháp luận) phát triển phần mềm theo quy chuẩn được mô tả bởi 4 giá trị, 12 quy tắc để làm sao có thể đem lại phần mềm giá trị đến người dùng nhanh nhất có thể</a:t>
            </a:r>
            <a:endParaRPr sz="2800"/>
          </a:p>
          <a:p>
            <a:pPr indent="-406400" lvl="0" marL="457200" rtl="0" algn="l">
              <a:lnSpc>
                <a:spcPct val="100000"/>
              </a:lnSpc>
              <a:spcBef>
                <a:spcPts val="0"/>
              </a:spcBef>
              <a:spcAft>
                <a:spcPts val="0"/>
              </a:spcAft>
              <a:buSzPts val="2800"/>
              <a:buChar char="●"/>
            </a:pPr>
            <a:r>
              <a:rPr lang="en-US" sz="2800"/>
              <a:t>Các mô hình phát triển Agile: Scrum, Kanban, XP, Safe …</a:t>
            </a:r>
            <a:endParaRPr sz="2800"/>
          </a:p>
        </p:txBody>
      </p:sp>
      <p:pic>
        <p:nvPicPr>
          <p:cNvPr id="129" name="Google Shape;129;g12f8e6809e2_0_124"/>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130" name="Google Shape;130;g12f8e6809e2_0_124"/>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 name="Google Shape;131;g12f8e6809e2_0_124"/>
          <p:cNvSpPr txBox="1"/>
          <p:nvPr/>
        </p:nvSpPr>
        <p:spPr>
          <a:xfrm flipH="1">
            <a:off x="2358300" y="127125"/>
            <a:ext cx="79287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Agile là gì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12f8e6809e2_0_142"/>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37" name="Google Shape;137;g12f8e6809e2_0_142"/>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138" name="Google Shape;138;g12f8e6809e2_0_142"/>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139" name="Google Shape;139;g12f8e6809e2_0_142"/>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0" name="Google Shape;140;g12f8e6809e2_0_142"/>
          <p:cNvSpPr txBox="1"/>
          <p:nvPr/>
        </p:nvSpPr>
        <p:spPr>
          <a:xfrm flipH="1">
            <a:off x="2358300" y="127125"/>
            <a:ext cx="79287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12 Quy tắc của Agile </a:t>
            </a:r>
            <a:endParaRPr b="0" i="0" sz="1400" u="none" cap="none" strike="noStrike">
              <a:solidFill>
                <a:srgbClr val="000000"/>
              </a:solidFill>
              <a:latin typeface="Arial"/>
              <a:ea typeface="Arial"/>
              <a:cs typeface="Arial"/>
              <a:sym typeface="Arial"/>
            </a:endParaRPr>
          </a:p>
        </p:txBody>
      </p:sp>
      <p:pic>
        <p:nvPicPr>
          <p:cNvPr descr="How To Apply Agile Methodologies In Outsourcing Software Development?" id="141" name="Google Shape;141;g12f8e6809e2_0_142"/>
          <p:cNvPicPr preferRelativeResize="0"/>
          <p:nvPr/>
        </p:nvPicPr>
        <p:blipFill>
          <a:blip r:embed="rId4">
            <a:alphaModFix/>
          </a:blip>
          <a:stretch>
            <a:fillRect/>
          </a:stretch>
        </p:blipFill>
        <p:spPr>
          <a:xfrm>
            <a:off x="2921725" y="460912"/>
            <a:ext cx="6801851" cy="5936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12f8e6809e2_0_133"/>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47" name="Google Shape;147;g12f8e6809e2_0_133"/>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sp>
        <p:nvSpPr>
          <p:cNvPr id="148" name="Google Shape;148;g12f8e6809e2_0_133"/>
          <p:cNvSpPr txBox="1"/>
          <p:nvPr>
            <p:ph type="ctrTitle"/>
          </p:nvPr>
        </p:nvSpPr>
        <p:spPr>
          <a:xfrm>
            <a:off x="1710450" y="1381688"/>
            <a:ext cx="8771100" cy="3694200"/>
          </a:xfrm>
          <a:prstGeom prst="rect">
            <a:avLst/>
          </a:prstGeom>
          <a:noFill/>
          <a:ln>
            <a:noFill/>
          </a:ln>
        </p:spPr>
        <p:txBody>
          <a:bodyPr anchorCtr="0" anchor="ctr" bIns="45700" lIns="91425" spcFirstLastPara="1" rIns="91425" wrap="square" tIns="45700">
            <a:spAutoFit/>
          </a:bodyPr>
          <a:lstStyle/>
          <a:p>
            <a:pPr indent="-342900" lvl="0" marL="457200" rtl="0" algn="l">
              <a:lnSpc>
                <a:spcPct val="100000"/>
              </a:lnSpc>
              <a:spcBef>
                <a:spcPts val="0"/>
              </a:spcBef>
              <a:spcAft>
                <a:spcPts val="0"/>
              </a:spcAft>
              <a:buSzPts val="1800"/>
              <a:buChar char="●"/>
            </a:pPr>
            <a:r>
              <a:rPr lang="en-US" sz="1800"/>
              <a:t>Thoả mãn khách hàng </a:t>
            </a:r>
            <a:endParaRPr sz="1800"/>
          </a:p>
          <a:p>
            <a:pPr indent="-342900" lvl="0" marL="457200" rtl="0" algn="l">
              <a:lnSpc>
                <a:spcPct val="100000"/>
              </a:lnSpc>
              <a:spcBef>
                <a:spcPts val="0"/>
              </a:spcBef>
              <a:spcAft>
                <a:spcPts val="0"/>
              </a:spcAft>
              <a:buSzPts val="1800"/>
              <a:buChar char="●"/>
            </a:pPr>
            <a:r>
              <a:rPr lang="en-US" sz="1800"/>
              <a:t>Thể hiện sự tích cực với sự thay đổi</a:t>
            </a:r>
            <a:endParaRPr sz="1800"/>
          </a:p>
          <a:p>
            <a:pPr indent="-342900" lvl="0" marL="457200" rtl="0" algn="l">
              <a:lnSpc>
                <a:spcPct val="100000"/>
              </a:lnSpc>
              <a:spcBef>
                <a:spcPts val="0"/>
              </a:spcBef>
              <a:spcAft>
                <a:spcPts val="0"/>
              </a:spcAft>
              <a:buSzPts val="1800"/>
              <a:buChar char="●"/>
            </a:pPr>
            <a:r>
              <a:rPr lang="en-US" sz="1800"/>
              <a:t>Thường xuyên chuyển giao phần mềm chạy tốt cho khách hàng </a:t>
            </a:r>
            <a:endParaRPr sz="1800"/>
          </a:p>
          <a:p>
            <a:pPr indent="-342900" lvl="0" marL="457200" rtl="0" algn="l">
              <a:lnSpc>
                <a:spcPct val="100000"/>
              </a:lnSpc>
              <a:spcBef>
                <a:spcPts val="0"/>
              </a:spcBef>
              <a:spcAft>
                <a:spcPts val="0"/>
              </a:spcAft>
              <a:buSzPts val="1800"/>
              <a:buChar char="●"/>
            </a:pPr>
            <a:r>
              <a:rPr lang="en-US" sz="1800"/>
              <a:t>Các stakeholder phải làm việc cùng nhau thường xuyên</a:t>
            </a:r>
            <a:endParaRPr sz="1800"/>
          </a:p>
          <a:p>
            <a:pPr indent="-342900" lvl="0" marL="457200" rtl="0" algn="l">
              <a:lnSpc>
                <a:spcPct val="100000"/>
              </a:lnSpc>
              <a:spcBef>
                <a:spcPts val="0"/>
              </a:spcBef>
              <a:spcAft>
                <a:spcPts val="0"/>
              </a:spcAft>
              <a:buSzPts val="1800"/>
              <a:buChar char="●"/>
            </a:pPr>
            <a:r>
              <a:rPr lang="en-US" sz="1800"/>
              <a:t>Xây dựng một team luôn có động lực và tin tưởng lẫn nhau </a:t>
            </a:r>
            <a:endParaRPr sz="1800"/>
          </a:p>
          <a:p>
            <a:pPr indent="-342900" lvl="0" marL="457200" rtl="0" algn="l">
              <a:lnSpc>
                <a:spcPct val="100000"/>
              </a:lnSpc>
              <a:spcBef>
                <a:spcPts val="0"/>
              </a:spcBef>
              <a:spcAft>
                <a:spcPts val="0"/>
              </a:spcAft>
              <a:buSzPts val="1800"/>
              <a:buChar char="●"/>
            </a:pPr>
            <a:r>
              <a:rPr lang="en-US" sz="1800"/>
              <a:t>Luôn luôn đối thoại trực tiếp</a:t>
            </a:r>
            <a:endParaRPr sz="1800"/>
          </a:p>
          <a:p>
            <a:pPr indent="-342900" lvl="0" marL="457200" rtl="0" algn="l">
              <a:lnSpc>
                <a:spcPct val="100000"/>
              </a:lnSpc>
              <a:spcBef>
                <a:spcPts val="0"/>
              </a:spcBef>
              <a:spcAft>
                <a:spcPts val="0"/>
              </a:spcAft>
              <a:buSzPts val="1800"/>
              <a:buChar char="●"/>
            </a:pPr>
            <a:r>
              <a:rPr lang="en-US" sz="1800"/>
              <a:t>Phần mềm chạy tốt là thước đo của tiến độ </a:t>
            </a:r>
            <a:endParaRPr sz="1800"/>
          </a:p>
          <a:p>
            <a:pPr indent="-342900" lvl="0" marL="457200" rtl="0" algn="l">
              <a:lnSpc>
                <a:spcPct val="100000"/>
              </a:lnSpc>
              <a:spcBef>
                <a:spcPts val="0"/>
              </a:spcBef>
              <a:spcAft>
                <a:spcPts val="0"/>
              </a:spcAft>
              <a:buSzPts val="1800"/>
              <a:buChar char="●"/>
            </a:pPr>
            <a:r>
              <a:rPr lang="en-US" sz="1800"/>
              <a:t>Luôn duy trì nhịp độ dự án </a:t>
            </a:r>
            <a:endParaRPr sz="1800"/>
          </a:p>
          <a:p>
            <a:pPr indent="-342900" lvl="0" marL="457200" rtl="0" algn="l">
              <a:lnSpc>
                <a:spcPct val="100000"/>
              </a:lnSpc>
              <a:spcBef>
                <a:spcPts val="0"/>
              </a:spcBef>
              <a:spcAft>
                <a:spcPts val="0"/>
              </a:spcAft>
              <a:buSzPts val="1800"/>
              <a:buChar char="●"/>
            </a:pPr>
            <a:r>
              <a:rPr lang="en-US" sz="1800"/>
              <a:t>Áp dụng và ứng dụng các thiết kế tốt liên tục </a:t>
            </a:r>
            <a:endParaRPr sz="1800"/>
          </a:p>
          <a:p>
            <a:pPr indent="-342900" lvl="0" marL="457200" rtl="0" algn="l">
              <a:lnSpc>
                <a:spcPct val="100000"/>
              </a:lnSpc>
              <a:spcBef>
                <a:spcPts val="0"/>
              </a:spcBef>
              <a:spcAft>
                <a:spcPts val="0"/>
              </a:spcAft>
              <a:buSzPts val="1800"/>
              <a:buChar char="●"/>
            </a:pPr>
            <a:r>
              <a:rPr lang="en-US" sz="1800"/>
              <a:t>Đơn giản mọi thứ </a:t>
            </a:r>
            <a:endParaRPr sz="1800"/>
          </a:p>
          <a:p>
            <a:pPr indent="-342900" lvl="0" marL="457200" rtl="0" algn="l">
              <a:lnSpc>
                <a:spcPct val="100000"/>
              </a:lnSpc>
              <a:spcBef>
                <a:spcPts val="0"/>
              </a:spcBef>
              <a:spcAft>
                <a:spcPts val="0"/>
              </a:spcAft>
              <a:buSzPts val="1800"/>
              <a:buChar char="●"/>
            </a:pPr>
            <a:r>
              <a:rPr lang="en-US" sz="1800"/>
              <a:t>Team phải có tính tự tổ chức và cá nhân hoá </a:t>
            </a:r>
            <a:endParaRPr sz="1800"/>
          </a:p>
          <a:p>
            <a:pPr indent="-342900" lvl="0" marL="457200" rtl="0" algn="l">
              <a:lnSpc>
                <a:spcPct val="100000"/>
              </a:lnSpc>
              <a:spcBef>
                <a:spcPts val="0"/>
              </a:spcBef>
              <a:spcAft>
                <a:spcPts val="0"/>
              </a:spcAft>
              <a:buSzPts val="1800"/>
              <a:buChar char="●"/>
            </a:pPr>
            <a:r>
              <a:rPr lang="en-US" sz="1800"/>
              <a:t>Luôn nghĩ về việc cải tiến và làm sao để mọi thứ trở nên hiệu quả hơn</a:t>
            </a:r>
            <a:endParaRPr sz="1800"/>
          </a:p>
          <a:p>
            <a:pPr indent="-342900" lvl="0" marL="457200" rtl="0" algn="l">
              <a:lnSpc>
                <a:spcPct val="100000"/>
              </a:lnSpc>
              <a:spcBef>
                <a:spcPts val="0"/>
              </a:spcBef>
              <a:spcAft>
                <a:spcPts val="0"/>
              </a:spcAft>
              <a:buSzPts val="1800"/>
              <a:buChar char="●"/>
            </a:pPr>
            <a:r>
              <a:rPr lang="en-US" sz="1800"/>
              <a:t>Luôn điều chỉnh và thay đổi hành vi</a:t>
            </a:r>
            <a:endParaRPr sz="1800"/>
          </a:p>
        </p:txBody>
      </p:sp>
      <p:pic>
        <p:nvPicPr>
          <p:cNvPr id="149" name="Google Shape;149;g12f8e6809e2_0_133"/>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150" name="Google Shape;150;g12f8e6809e2_0_133"/>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 name="Google Shape;151;g12f8e6809e2_0_133"/>
          <p:cNvSpPr txBox="1"/>
          <p:nvPr/>
        </p:nvSpPr>
        <p:spPr>
          <a:xfrm flipH="1">
            <a:off x="2358300" y="127125"/>
            <a:ext cx="79287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12 Quy tắc của Agile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12f8e6809e2_0_155"/>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57" name="Google Shape;157;g12f8e6809e2_0_155"/>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sp>
        <p:nvSpPr>
          <p:cNvPr id="158" name="Google Shape;158;g12f8e6809e2_0_155"/>
          <p:cNvSpPr txBox="1"/>
          <p:nvPr>
            <p:ph type="ctrTitle"/>
          </p:nvPr>
        </p:nvSpPr>
        <p:spPr>
          <a:xfrm>
            <a:off x="1710450" y="1381688"/>
            <a:ext cx="8771100" cy="3971100"/>
          </a:xfrm>
          <a:prstGeom prst="rect">
            <a:avLst/>
          </a:prstGeom>
          <a:noFill/>
          <a:ln>
            <a:noFill/>
          </a:ln>
        </p:spPr>
        <p:txBody>
          <a:bodyPr anchorCtr="0" anchor="ctr" bIns="45700" lIns="91425" spcFirstLastPara="1" rIns="91425" wrap="square" tIns="45700">
            <a:spAutoFit/>
          </a:bodyPr>
          <a:lstStyle/>
          <a:p>
            <a:pPr indent="-342900" lvl="0" marL="457200" rtl="0" algn="l">
              <a:lnSpc>
                <a:spcPct val="100000"/>
              </a:lnSpc>
              <a:spcBef>
                <a:spcPts val="0"/>
              </a:spcBef>
              <a:spcAft>
                <a:spcPts val="0"/>
              </a:spcAft>
              <a:buSzPts val="1800"/>
              <a:buChar char="●"/>
            </a:pPr>
            <a:r>
              <a:rPr lang="en-US" sz="1800"/>
              <a:t>Quy trình hiện tại có giúp chúng ta liên tục chuyển giao phần mềm tốt cho user hay không ?</a:t>
            </a:r>
            <a:endParaRPr sz="1800"/>
          </a:p>
          <a:p>
            <a:pPr indent="-342900" lvl="0" marL="457200" rtl="0" algn="l">
              <a:lnSpc>
                <a:spcPct val="100000"/>
              </a:lnSpc>
              <a:spcBef>
                <a:spcPts val="0"/>
              </a:spcBef>
              <a:spcAft>
                <a:spcPts val="0"/>
              </a:spcAft>
              <a:buSzPts val="1800"/>
              <a:buChar char="●"/>
            </a:pPr>
            <a:r>
              <a:rPr lang="en-US" sz="1800"/>
              <a:t>Quy trình hiện tại có welcome sự thay đổi hay không ?</a:t>
            </a:r>
            <a:endParaRPr sz="1800"/>
          </a:p>
          <a:p>
            <a:pPr indent="-342900" lvl="0" marL="457200" rtl="0" algn="l">
              <a:lnSpc>
                <a:spcPct val="100000"/>
              </a:lnSpc>
              <a:spcBef>
                <a:spcPts val="0"/>
              </a:spcBef>
              <a:spcAft>
                <a:spcPts val="0"/>
              </a:spcAft>
              <a:buSzPts val="1800"/>
              <a:buChar char="●"/>
            </a:pPr>
            <a:r>
              <a:rPr lang="en-US" sz="1800"/>
              <a:t>Quy trình hiện tại có hỗ trợ cho quá trình làm việc hay không, dev và product owner có làm việc cùng nhau hàng ngày hay không ?</a:t>
            </a:r>
            <a:endParaRPr sz="1800"/>
          </a:p>
          <a:p>
            <a:pPr indent="-342900" lvl="0" marL="457200" rtl="0" algn="l">
              <a:lnSpc>
                <a:spcPct val="100000"/>
              </a:lnSpc>
              <a:spcBef>
                <a:spcPts val="0"/>
              </a:spcBef>
              <a:spcAft>
                <a:spcPts val="0"/>
              </a:spcAft>
              <a:buSzPts val="1800"/>
              <a:buChar char="●"/>
            </a:pPr>
            <a:r>
              <a:rPr lang="en-US" sz="1800"/>
              <a:t>Khách hàng và các bên liên quan có làm việc gần gũi với project team hay không ? </a:t>
            </a:r>
            <a:endParaRPr sz="1800"/>
          </a:p>
          <a:p>
            <a:pPr indent="-342900" lvl="0" marL="457200" rtl="0" algn="l">
              <a:lnSpc>
                <a:spcPct val="100000"/>
              </a:lnSpc>
              <a:spcBef>
                <a:spcPts val="0"/>
              </a:spcBef>
              <a:spcAft>
                <a:spcPts val="0"/>
              </a:spcAft>
              <a:buSzPts val="1800"/>
              <a:buChar char="●"/>
            </a:pPr>
            <a:r>
              <a:rPr lang="en-US" sz="1800"/>
              <a:t>Môi trường có hỗ trợ cho dev team hoàn thành công việc hay không ?</a:t>
            </a:r>
            <a:endParaRPr sz="1800"/>
          </a:p>
          <a:p>
            <a:pPr indent="-342900" lvl="0" marL="457200" rtl="0" algn="l">
              <a:lnSpc>
                <a:spcPct val="100000"/>
              </a:lnSpc>
              <a:spcBef>
                <a:spcPts val="0"/>
              </a:spcBef>
              <a:spcAft>
                <a:spcPts val="0"/>
              </a:spcAft>
              <a:buSzPts val="1800"/>
              <a:buChar char="●"/>
            </a:pPr>
            <a:r>
              <a:rPr lang="en-US" sz="1800"/>
              <a:t>Có nói chuyện trực tiếp hay không ?</a:t>
            </a:r>
            <a:endParaRPr sz="1800"/>
          </a:p>
          <a:p>
            <a:pPr indent="-342900" lvl="0" marL="457200" rtl="0" algn="l">
              <a:lnSpc>
                <a:spcPct val="100000"/>
              </a:lnSpc>
              <a:spcBef>
                <a:spcPts val="0"/>
              </a:spcBef>
              <a:spcAft>
                <a:spcPts val="0"/>
              </a:spcAft>
              <a:buSzPts val="1800"/>
              <a:buChar char="●"/>
            </a:pPr>
            <a:r>
              <a:rPr lang="en-US" sz="1800"/>
              <a:t>Có đo lường quy trình bằng khối lượng của các chức năng hoạt động được hay không ?</a:t>
            </a:r>
            <a:endParaRPr sz="1800"/>
          </a:p>
          <a:p>
            <a:pPr indent="-342900" lvl="0" marL="457200" rtl="0" algn="l">
              <a:lnSpc>
                <a:spcPct val="100000"/>
              </a:lnSpc>
              <a:spcBef>
                <a:spcPts val="0"/>
              </a:spcBef>
              <a:spcAft>
                <a:spcPts val="0"/>
              </a:spcAft>
              <a:buSzPts val="1800"/>
              <a:buChar char="●"/>
            </a:pPr>
            <a:r>
              <a:rPr lang="en-US" sz="1800"/>
              <a:t>Có thể duy trì tốc độ của quy trình một cách bền bỉ hay không ? </a:t>
            </a:r>
            <a:endParaRPr sz="1800"/>
          </a:p>
          <a:p>
            <a:pPr indent="-342900" lvl="0" marL="457200" rtl="0" algn="l">
              <a:lnSpc>
                <a:spcPct val="100000"/>
              </a:lnSpc>
              <a:spcBef>
                <a:spcPts val="0"/>
              </a:spcBef>
              <a:spcAft>
                <a:spcPts val="0"/>
              </a:spcAft>
              <a:buSzPts val="1800"/>
              <a:buChar char="●"/>
            </a:pPr>
            <a:r>
              <a:rPr lang="en-US" sz="1800"/>
              <a:t>Hỗ trợ về mặt công nghệ để có thể mở rộng trong tương lai ? </a:t>
            </a:r>
            <a:endParaRPr sz="1800"/>
          </a:p>
          <a:p>
            <a:pPr indent="-342900" lvl="0" marL="457200" rtl="0" algn="l">
              <a:lnSpc>
                <a:spcPct val="100000"/>
              </a:lnSpc>
              <a:spcBef>
                <a:spcPts val="0"/>
              </a:spcBef>
              <a:spcAft>
                <a:spcPts val="0"/>
              </a:spcAft>
              <a:buSzPts val="1800"/>
              <a:buChar char="●"/>
            </a:pPr>
            <a:r>
              <a:rPr lang="en-US" sz="1800"/>
              <a:t>Làm việc từng chút một để đảm bảo mục tiêu của dự án ?</a:t>
            </a:r>
            <a:endParaRPr sz="1800"/>
          </a:p>
          <a:p>
            <a:pPr indent="-342900" lvl="0" marL="457200" rtl="0" algn="l">
              <a:lnSpc>
                <a:spcPct val="100000"/>
              </a:lnSpc>
              <a:spcBef>
                <a:spcPts val="0"/>
              </a:spcBef>
              <a:spcAft>
                <a:spcPts val="0"/>
              </a:spcAft>
              <a:buSzPts val="1800"/>
              <a:buChar char="●"/>
            </a:pPr>
            <a:r>
              <a:rPr lang="en-US" sz="1800"/>
              <a:t>Dev team có khả năng tự tổ chức, tự quản lý hay không ?</a:t>
            </a:r>
            <a:endParaRPr sz="1800"/>
          </a:p>
          <a:p>
            <a:pPr indent="-342900" lvl="0" marL="457200" rtl="0" algn="l">
              <a:lnSpc>
                <a:spcPct val="100000"/>
              </a:lnSpc>
              <a:spcBef>
                <a:spcPts val="0"/>
              </a:spcBef>
              <a:spcAft>
                <a:spcPts val="0"/>
              </a:spcAft>
              <a:buSzPts val="1800"/>
              <a:buChar char="●"/>
            </a:pPr>
            <a:r>
              <a:rPr lang="en-US" sz="1800"/>
              <a:t>Có phản ánh và điều chỉnh hành vi phù hợp thường xuyên hay không ?</a:t>
            </a:r>
            <a:endParaRPr sz="1800"/>
          </a:p>
        </p:txBody>
      </p:sp>
      <p:pic>
        <p:nvPicPr>
          <p:cNvPr id="159" name="Google Shape;159;g12f8e6809e2_0_155"/>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160" name="Google Shape;160;g12f8e6809e2_0_155"/>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1" name="Google Shape;161;g12f8e6809e2_0_155"/>
          <p:cNvSpPr txBox="1"/>
          <p:nvPr/>
        </p:nvSpPr>
        <p:spPr>
          <a:xfrm flipH="1">
            <a:off x="2358300" y="127125"/>
            <a:ext cx="79287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Trả lời các câu hỏi sau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12f8e6809e2_0_164"/>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67" name="Google Shape;167;g12f8e6809e2_0_164"/>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168" name="Google Shape;168;g12f8e6809e2_0_164"/>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169" name="Google Shape;169;g12f8e6809e2_0_164"/>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 name="Google Shape;170;g12f8e6809e2_0_164"/>
          <p:cNvSpPr txBox="1"/>
          <p:nvPr/>
        </p:nvSpPr>
        <p:spPr>
          <a:xfrm flipH="1">
            <a:off x="2358300" y="127125"/>
            <a:ext cx="79287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Triết lý waterfall vs Agile</a:t>
            </a:r>
            <a:endParaRPr b="0" i="0" sz="1400" u="none" cap="none" strike="noStrike">
              <a:solidFill>
                <a:srgbClr val="000000"/>
              </a:solidFill>
              <a:latin typeface="Arial"/>
              <a:ea typeface="Arial"/>
              <a:cs typeface="Arial"/>
              <a:sym typeface="Arial"/>
            </a:endParaRPr>
          </a:p>
        </p:txBody>
      </p:sp>
      <p:pic>
        <p:nvPicPr>
          <p:cNvPr descr="Waterfall Vs. Agile Project Management: Which One Is Better For Your  Business?" id="171" name="Google Shape;171;g12f8e6809e2_0_164"/>
          <p:cNvPicPr preferRelativeResize="0"/>
          <p:nvPr/>
        </p:nvPicPr>
        <p:blipFill>
          <a:blip r:embed="rId4">
            <a:alphaModFix/>
          </a:blip>
          <a:stretch>
            <a:fillRect/>
          </a:stretch>
        </p:blipFill>
        <p:spPr>
          <a:xfrm>
            <a:off x="2318075" y="1039013"/>
            <a:ext cx="7555826" cy="436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12f8e6809e2_0_175"/>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77" name="Google Shape;177;g12f8e6809e2_0_175"/>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178" name="Google Shape;178;g12f8e6809e2_0_175"/>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179" name="Google Shape;179;g12f8e6809e2_0_175"/>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0" name="Google Shape;180;g12f8e6809e2_0_175"/>
          <p:cNvSpPr txBox="1"/>
          <p:nvPr/>
        </p:nvSpPr>
        <p:spPr>
          <a:xfrm flipH="1">
            <a:off x="2358300" y="127125"/>
            <a:ext cx="79287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Triết lý waterfall vs Agile</a:t>
            </a:r>
            <a:endParaRPr b="0" i="0" sz="1400" u="none" cap="none" strike="noStrike">
              <a:solidFill>
                <a:srgbClr val="000000"/>
              </a:solidFill>
              <a:latin typeface="Arial"/>
              <a:ea typeface="Arial"/>
              <a:cs typeface="Arial"/>
              <a:sym typeface="Arial"/>
            </a:endParaRPr>
          </a:p>
        </p:txBody>
      </p:sp>
      <p:graphicFrame>
        <p:nvGraphicFramePr>
          <p:cNvPr id="181" name="Google Shape;181;g12f8e6809e2_0_175"/>
          <p:cNvGraphicFramePr/>
          <p:nvPr/>
        </p:nvGraphicFramePr>
        <p:xfrm>
          <a:off x="1072825" y="1475875"/>
          <a:ext cx="3000000" cy="3000000"/>
        </p:xfrm>
        <a:graphic>
          <a:graphicData uri="http://schemas.openxmlformats.org/drawingml/2006/table">
            <a:tbl>
              <a:tblPr>
                <a:noFill/>
                <a:tableStyleId>{01D524F1-D779-479A-A6A9-B4675811FBC7}</a:tableStyleId>
              </a:tblPr>
              <a:tblGrid>
                <a:gridCol w="2634925"/>
                <a:gridCol w="4223075"/>
                <a:gridCol w="3429000"/>
              </a:tblGrid>
              <a:tr h="381000">
                <a:tc>
                  <a:txBody>
                    <a:bodyPr/>
                    <a:lstStyle/>
                    <a:p>
                      <a:pPr indent="0" lvl="0" marL="0" rtl="0" algn="l">
                        <a:spcBef>
                          <a:spcPts val="0"/>
                        </a:spcBef>
                        <a:spcAft>
                          <a:spcPts val="0"/>
                        </a:spcAft>
                        <a:buNone/>
                      </a:pPr>
                      <a:r>
                        <a:rPr b="1" lang="en-US">
                          <a:latin typeface="Calibri"/>
                          <a:ea typeface="Calibri"/>
                          <a:cs typeface="Calibri"/>
                          <a:sym typeface="Calibri"/>
                        </a:rPr>
                        <a:t>Đặc điểm</a:t>
                      </a:r>
                      <a:endParaRPr b="1">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n-US">
                          <a:latin typeface="Calibri"/>
                          <a:ea typeface="Calibri"/>
                          <a:cs typeface="Calibri"/>
                          <a:sym typeface="Calibri"/>
                        </a:rPr>
                        <a:t>Waterfall</a:t>
                      </a:r>
                      <a:endParaRPr b="1">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n-US">
                          <a:latin typeface="Calibri"/>
                          <a:ea typeface="Calibri"/>
                          <a:cs typeface="Calibri"/>
                          <a:sym typeface="Calibri"/>
                        </a:rPr>
                        <a:t>Agile</a:t>
                      </a:r>
                      <a:endParaRPr b="1">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US">
                          <a:latin typeface="Calibri"/>
                          <a:ea typeface="Calibri"/>
                          <a:cs typeface="Calibri"/>
                          <a:sym typeface="Calibri"/>
                        </a:rPr>
                        <a:t>Tuần tự</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x</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US">
                          <a:latin typeface="Calibri"/>
                          <a:ea typeface="Calibri"/>
                          <a:cs typeface="Calibri"/>
                          <a:sym typeface="Calibri"/>
                        </a:rPr>
                        <a:t>Linh động</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US">
                          <a:latin typeface="Calibri"/>
                          <a:ea typeface="Calibri"/>
                          <a:cs typeface="Calibri"/>
                          <a:sym typeface="Calibri"/>
                        </a:rPr>
                        <a:t>Định nghĩa requirement</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x</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US">
                          <a:latin typeface="Calibri"/>
                          <a:ea typeface="Calibri"/>
                          <a:cs typeface="Calibri"/>
                          <a:sym typeface="Calibri"/>
                        </a:rPr>
                        <a:t>Chuyển giao phần mềm chất lượng</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x</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x</a:t>
                      </a:r>
                      <a:endParaRPr>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US">
                          <a:latin typeface="Calibri"/>
                          <a:ea typeface="Calibri"/>
                          <a:cs typeface="Calibri"/>
                          <a:sym typeface="Calibri"/>
                        </a:rPr>
                        <a:t>Tiếp tục phát triển</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x</a:t>
                      </a:r>
                      <a:endParaRPr>
                        <a:latin typeface="Calibri"/>
                        <a:ea typeface="Calibri"/>
                        <a:cs typeface="Calibri"/>
                        <a:sym typeface="Calibri"/>
                      </a:endParaRPr>
                    </a:p>
                  </a:txBody>
                  <a:tcPr marT="91425" marB="91425" marR="91425" marL="91425"/>
                </a:tc>
              </a:tr>
              <a:tr h="381000">
                <a:tc>
                  <a:txBody>
                    <a:bodyPr/>
                    <a:lstStyle/>
                    <a:p>
                      <a:pPr indent="0" lvl="0" marL="0" rtl="0" algn="l">
                        <a:spcBef>
                          <a:spcPts val="0"/>
                        </a:spcBef>
                        <a:spcAft>
                          <a:spcPts val="0"/>
                        </a:spcAft>
                        <a:buNone/>
                      </a:pPr>
                      <a:r>
                        <a:rPr lang="en-US">
                          <a:latin typeface="Calibri"/>
                          <a:ea typeface="Calibri"/>
                          <a:cs typeface="Calibri"/>
                          <a:sym typeface="Calibri"/>
                        </a:rPr>
                        <a:t>Quy trình nghiêm ngặt</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x</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t/>
                      </a:r>
                      <a:endParaRPr>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12f8e6809e2_0_185"/>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87" name="Google Shape;187;g12f8e6809e2_0_185"/>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188" name="Google Shape;188;g12f8e6809e2_0_185"/>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189" name="Google Shape;189;g12f8e6809e2_0_185"/>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0" name="Google Shape;190;g12f8e6809e2_0_185"/>
          <p:cNvSpPr txBox="1"/>
          <p:nvPr/>
        </p:nvSpPr>
        <p:spPr>
          <a:xfrm flipH="1">
            <a:off x="2358300" y="127125"/>
            <a:ext cx="79287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Triết lý waterfall vs Agile</a:t>
            </a:r>
            <a:endParaRPr b="0" i="0" sz="1400" u="none" cap="none" strike="noStrike">
              <a:solidFill>
                <a:srgbClr val="000000"/>
              </a:solidFill>
              <a:latin typeface="Arial"/>
              <a:ea typeface="Arial"/>
              <a:cs typeface="Arial"/>
              <a:sym typeface="Arial"/>
            </a:endParaRPr>
          </a:p>
        </p:txBody>
      </p:sp>
      <p:graphicFrame>
        <p:nvGraphicFramePr>
          <p:cNvPr id="191" name="Google Shape;191;g12f8e6809e2_0_185"/>
          <p:cNvGraphicFramePr/>
          <p:nvPr/>
        </p:nvGraphicFramePr>
        <p:xfrm>
          <a:off x="1179150" y="1534025"/>
          <a:ext cx="3000000" cy="3000000"/>
        </p:xfrm>
        <a:graphic>
          <a:graphicData uri="http://schemas.openxmlformats.org/drawingml/2006/table">
            <a:tbl>
              <a:tblPr>
                <a:noFill/>
                <a:tableStyleId>{01D524F1-D779-479A-A6A9-B4675811FBC7}</a:tableStyleId>
              </a:tblPr>
              <a:tblGrid>
                <a:gridCol w="5179575"/>
                <a:gridCol w="5179575"/>
              </a:tblGrid>
              <a:tr h="850025">
                <a:tc>
                  <a:txBody>
                    <a:bodyPr/>
                    <a:lstStyle/>
                    <a:p>
                      <a:pPr indent="0" lvl="0" marL="0" rtl="0" algn="ctr">
                        <a:spcBef>
                          <a:spcPts val="0"/>
                        </a:spcBef>
                        <a:spcAft>
                          <a:spcPts val="0"/>
                        </a:spcAft>
                        <a:buNone/>
                      </a:pPr>
                      <a:r>
                        <a:rPr b="1" lang="en-US" sz="2000"/>
                        <a:t>Waterfall</a:t>
                      </a:r>
                      <a:endParaRPr b="1" sz="2000"/>
                    </a:p>
                  </a:txBody>
                  <a:tcPr marT="91425" marB="91425" marR="91425" marL="91425"/>
                </a:tc>
                <a:tc>
                  <a:txBody>
                    <a:bodyPr/>
                    <a:lstStyle/>
                    <a:p>
                      <a:pPr indent="0" lvl="0" marL="0" rtl="0" algn="ctr">
                        <a:spcBef>
                          <a:spcPts val="0"/>
                        </a:spcBef>
                        <a:spcAft>
                          <a:spcPts val="0"/>
                        </a:spcAft>
                        <a:buNone/>
                      </a:pPr>
                      <a:r>
                        <a:rPr b="1" lang="en-US" sz="2000"/>
                        <a:t>Agile</a:t>
                      </a:r>
                      <a:endParaRPr b="1" sz="2000"/>
                    </a:p>
                  </a:txBody>
                  <a:tcPr marT="91425" marB="91425" marR="91425" marL="91425"/>
                </a:tc>
              </a:tr>
              <a:tr h="2011800">
                <a:tc>
                  <a:txBody>
                    <a:bodyPr/>
                    <a:lstStyle/>
                    <a:p>
                      <a:pPr indent="0" lvl="0" marL="0" rtl="0" algn="l">
                        <a:spcBef>
                          <a:spcPts val="0"/>
                        </a:spcBef>
                        <a:spcAft>
                          <a:spcPts val="0"/>
                        </a:spcAft>
                        <a:buNone/>
                      </a:pPr>
                      <a:r>
                        <a:rPr lang="en-US"/>
                        <a:t>Ít có sự thay đổi trong scope, fixed price contract</a:t>
                      </a:r>
                      <a:endParaRPr/>
                    </a:p>
                    <a:p>
                      <a:pPr indent="0" lvl="0" marL="0" rtl="0" algn="l">
                        <a:spcBef>
                          <a:spcPts val="0"/>
                        </a:spcBef>
                        <a:spcAft>
                          <a:spcPts val="0"/>
                        </a:spcAft>
                        <a:buNone/>
                      </a:pPr>
                      <a:r>
                        <a:rPr lang="en-US"/>
                        <a:t>Project đơn giản </a:t>
                      </a:r>
                      <a:endParaRPr/>
                    </a:p>
                    <a:p>
                      <a:pPr indent="0" lvl="0" marL="0" rtl="0" algn="l">
                        <a:spcBef>
                          <a:spcPts val="0"/>
                        </a:spcBef>
                        <a:spcAft>
                          <a:spcPts val="0"/>
                        </a:spcAft>
                        <a:buNone/>
                      </a:pPr>
                      <a:r>
                        <a:rPr lang="en-US"/>
                        <a:t>Requirement rõ ràng và cố định</a:t>
                      </a:r>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a:t>Sản phẩm cuối chưa rõ ràng </a:t>
                      </a:r>
                      <a:endParaRPr/>
                    </a:p>
                    <a:p>
                      <a:pPr indent="0" lvl="0" marL="0" rtl="0" algn="l">
                        <a:spcBef>
                          <a:spcPts val="0"/>
                        </a:spcBef>
                        <a:spcAft>
                          <a:spcPts val="0"/>
                        </a:spcAft>
                        <a:buNone/>
                      </a:pPr>
                      <a:r>
                        <a:rPr lang="en-US"/>
                        <a:t>Luôn có sự thay đổi </a:t>
                      </a:r>
                      <a:endParaRPr/>
                    </a:p>
                    <a:p>
                      <a:pPr indent="0" lvl="0" marL="0" rtl="0" algn="l">
                        <a:spcBef>
                          <a:spcPts val="0"/>
                        </a:spcBef>
                        <a:spcAft>
                          <a:spcPts val="0"/>
                        </a:spcAft>
                        <a:buNone/>
                      </a:pPr>
                      <a:r>
                        <a:rPr lang="en-US"/>
                        <a:t>Cần phát hành sớm nhất có thể </a:t>
                      </a:r>
                      <a:endParaRPr/>
                    </a:p>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12f8e6809e2_0_195"/>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97" name="Google Shape;197;g12f8e6809e2_0_195"/>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198" name="Google Shape;198;g12f8e6809e2_0_195"/>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199" name="Google Shape;199;g12f8e6809e2_0_195"/>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0" name="Google Shape;200;g12f8e6809e2_0_195"/>
          <p:cNvSpPr txBox="1"/>
          <p:nvPr/>
        </p:nvSpPr>
        <p:spPr>
          <a:xfrm flipH="1">
            <a:off x="2358300" y="127125"/>
            <a:ext cx="79287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Nhược điểm của Agile</a:t>
            </a:r>
            <a:endParaRPr b="0" i="0" sz="1400" u="none" cap="none" strike="noStrike">
              <a:solidFill>
                <a:srgbClr val="000000"/>
              </a:solidFill>
              <a:latin typeface="Arial"/>
              <a:ea typeface="Arial"/>
              <a:cs typeface="Arial"/>
              <a:sym typeface="Arial"/>
            </a:endParaRPr>
          </a:p>
        </p:txBody>
      </p:sp>
      <p:sp>
        <p:nvSpPr>
          <p:cNvPr id="201" name="Google Shape;201;g12f8e6809e2_0_195"/>
          <p:cNvSpPr txBox="1"/>
          <p:nvPr/>
        </p:nvSpPr>
        <p:spPr>
          <a:xfrm>
            <a:off x="1925100" y="1600200"/>
            <a:ext cx="87951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Kế hoạch thay đổi quá nhiều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Các thành viên trong team phải có kỹ năng cao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Cần phải có cam kết về thời gian từ dev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Không có tài liệu rõ ràng</a:t>
            </a:r>
            <a:endParaRPr sz="18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12f8e6809e2_0_205"/>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07" name="Google Shape;207;g12f8e6809e2_0_205"/>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208" name="Google Shape;208;g12f8e6809e2_0_205"/>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209" name="Google Shape;209;g12f8e6809e2_0_205"/>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0" name="Google Shape;210;g12f8e6809e2_0_205"/>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Key Concepts trong Agile </a:t>
            </a:r>
            <a:endParaRPr b="0" i="0" sz="1400" u="none" cap="none" strike="noStrike">
              <a:solidFill>
                <a:srgbClr val="000000"/>
              </a:solidFill>
              <a:latin typeface="Arial"/>
              <a:ea typeface="Arial"/>
              <a:cs typeface="Arial"/>
              <a:sym typeface="Arial"/>
            </a:endParaRPr>
          </a:p>
        </p:txBody>
      </p:sp>
      <p:sp>
        <p:nvSpPr>
          <p:cNvPr id="211" name="Google Shape;211;g12f8e6809e2_0_205"/>
          <p:cNvSpPr txBox="1"/>
          <p:nvPr/>
        </p:nvSpPr>
        <p:spPr>
          <a:xfrm>
            <a:off x="1985200" y="1564100"/>
            <a:ext cx="87951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Story (User Story)</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Epic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Initiative</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Theme</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Product Backlog </a:t>
            </a:r>
            <a:endParaRPr sz="18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12f8e6809e2_0_214"/>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17" name="Google Shape;217;g12f8e6809e2_0_214"/>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218" name="Google Shape;218;g12f8e6809e2_0_214"/>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219" name="Google Shape;219;g12f8e6809e2_0_214"/>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0" name="Google Shape;220;g12f8e6809e2_0_214"/>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Story</a:t>
            </a:r>
            <a:endParaRPr b="0" i="0" sz="1400" u="none" cap="none" strike="noStrike">
              <a:solidFill>
                <a:srgbClr val="000000"/>
              </a:solidFill>
              <a:latin typeface="Arial"/>
              <a:ea typeface="Arial"/>
              <a:cs typeface="Arial"/>
              <a:sym typeface="Arial"/>
            </a:endParaRPr>
          </a:p>
        </p:txBody>
      </p:sp>
      <p:sp>
        <p:nvSpPr>
          <p:cNvPr id="221" name="Google Shape;221;g12f8e6809e2_0_214"/>
          <p:cNvSpPr txBox="1"/>
          <p:nvPr/>
        </p:nvSpPr>
        <p:spPr>
          <a:xfrm>
            <a:off x="1985200" y="1564100"/>
            <a:ext cx="87348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Story (User Story ) là câu chuyện mong muốn giải quyết của end user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User Story sẽ đặt end user là trung tâm của cuộc hội thoại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Sau khi đọc về User Story, team sẽ biết tại thứ mà họ xây dựng và tại sao họ lại xây dựng nó </a:t>
            </a:r>
            <a:endParaRPr sz="18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12f8e6809e2_0_223"/>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27" name="Google Shape;227;g12f8e6809e2_0_223"/>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228" name="Google Shape;228;g12f8e6809e2_0_223"/>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229" name="Google Shape;229;g12f8e6809e2_0_223"/>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0" name="Google Shape;230;g12f8e6809e2_0_223"/>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Intiative</a:t>
            </a:r>
            <a:endParaRPr b="0" i="0" sz="1400" u="none" cap="none" strike="noStrike">
              <a:solidFill>
                <a:srgbClr val="000000"/>
              </a:solidFill>
              <a:latin typeface="Arial"/>
              <a:ea typeface="Arial"/>
              <a:cs typeface="Arial"/>
              <a:sym typeface="Arial"/>
            </a:endParaRPr>
          </a:p>
        </p:txBody>
      </p:sp>
      <p:sp>
        <p:nvSpPr>
          <p:cNvPr id="231" name="Google Shape;231;g12f8e6809e2_0_223"/>
          <p:cNvSpPr txBox="1"/>
          <p:nvPr/>
        </p:nvSpPr>
        <p:spPr>
          <a:xfrm>
            <a:off x="1997225" y="1311425"/>
            <a:ext cx="87348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Initiative</a:t>
            </a:r>
            <a:r>
              <a:rPr lang="en-US" sz="1800">
                <a:latin typeface="Calibri"/>
                <a:ea typeface="Calibri"/>
                <a:cs typeface="Calibri"/>
                <a:sym typeface="Calibri"/>
              </a:rPr>
              <a:t> là tập hợp các Epics </a:t>
            </a:r>
            <a:endParaRPr sz="1800">
              <a:latin typeface="Calibri"/>
              <a:ea typeface="Calibri"/>
              <a:cs typeface="Calibri"/>
              <a:sym typeface="Calibri"/>
            </a:endParaRPr>
          </a:p>
        </p:txBody>
      </p:sp>
      <p:pic>
        <p:nvPicPr>
          <p:cNvPr descr="Example user stories | Atlassian agile coach" id="232" name="Google Shape;232;g12f8e6809e2_0_223"/>
          <p:cNvPicPr preferRelativeResize="0"/>
          <p:nvPr/>
        </p:nvPicPr>
        <p:blipFill>
          <a:blip r:embed="rId4">
            <a:alphaModFix/>
          </a:blip>
          <a:stretch>
            <a:fillRect/>
          </a:stretch>
        </p:blipFill>
        <p:spPr>
          <a:xfrm>
            <a:off x="2751225" y="2026850"/>
            <a:ext cx="6689550" cy="3478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12f8e6809e2_0_243"/>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38" name="Google Shape;238;g12f8e6809e2_0_243"/>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239" name="Google Shape;239;g12f8e6809e2_0_243"/>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240" name="Google Shape;240;g12f8e6809e2_0_243"/>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1" name="Google Shape;241;g12f8e6809e2_0_243"/>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Theme</a:t>
            </a:r>
            <a:endParaRPr b="0" i="0" sz="1400" u="none" cap="none" strike="noStrike">
              <a:solidFill>
                <a:srgbClr val="000000"/>
              </a:solidFill>
              <a:latin typeface="Arial"/>
              <a:ea typeface="Arial"/>
              <a:cs typeface="Arial"/>
              <a:sym typeface="Arial"/>
            </a:endParaRPr>
          </a:p>
        </p:txBody>
      </p:sp>
      <p:sp>
        <p:nvSpPr>
          <p:cNvPr id="242" name="Google Shape;242;g12f8e6809e2_0_243"/>
          <p:cNvSpPr txBox="1"/>
          <p:nvPr/>
        </p:nvSpPr>
        <p:spPr>
          <a:xfrm>
            <a:off x="1997225" y="1311425"/>
            <a:ext cx="87348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Theme là tập hợp các </a:t>
            </a:r>
            <a:r>
              <a:rPr lang="en-US" sz="1800">
                <a:solidFill>
                  <a:schemeClr val="dk1"/>
                </a:solidFill>
                <a:latin typeface="Calibri"/>
                <a:ea typeface="Calibri"/>
                <a:cs typeface="Calibri"/>
                <a:sym typeface="Calibri"/>
              </a:rPr>
              <a:t>Initiative</a:t>
            </a:r>
            <a:endParaRPr sz="18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12f8e6809e2_0_253"/>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48" name="Google Shape;248;g12f8e6809e2_0_253"/>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249" name="Google Shape;249;g12f8e6809e2_0_253"/>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250" name="Google Shape;250;g12f8e6809e2_0_253"/>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1" name="Google Shape;251;g12f8e6809e2_0_253"/>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Product Backlog</a:t>
            </a:r>
            <a:endParaRPr b="0" i="0" sz="1400" u="none" cap="none" strike="noStrike">
              <a:solidFill>
                <a:srgbClr val="000000"/>
              </a:solidFill>
              <a:latin typeface="Arial"/>
              <a:ea typeface="Arial"/>
              <a:cs typeface="Arial"/>
              <a:sym typeface="Arial"/>
            </a:endParaRPr>
          </a:p>
        </p:txBody>
      </p:sp>
      <p:sp>
        <p:nvSpPr>
          <p:cNvPr id="252" name="Google Shape;252;g12f8e6809e2_0_253"/>
          <p:cNvSpPr txBox="1"/>
          <p:nvPr/>
        </p:nvSpPr>
        <p:spPr>
          <a:xfrm>
            <a:off x="1997100" y="2594313"/>
            <a:ext cx="86709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Product backlog là nơi lưu trữ danh sách các tính năng mong muốn cho một sản phẩm được quản lý và sắp xếp thứ tự ưu tiên. Các hạng mục có độ ưu tiên cao hơn nằm ở phía trên của danh sách và được các nhà phát triển lựa chọn để đưa vào sản xuất sớm</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Product Owner là người chịu trách nhiệm quản lý, sắp xếp vào bảo trì Product Backlog </a:t>
            </a:r>
            <a:endParaRPr sz="18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12f8e6809e2_0_262"/>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58" name="Google Shape;258;g12f8e6809e2_0_262"/>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259" name="Google Shape;259;g12f8e6809e2_0_262"/>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260" name="Google Shape;260;g12f8e6809e2_0_262"/>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 name="Google Shape;261;g12f8e6809e2_0_262"/>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Estimated</a:t>
            </a:r>
            <a:r>
              <a:rPr b="1" lang="en-US" sz="2800">
                <a:solidFill>
                  <a:schemeClr val="dk2"/>
                </a:solidFill>
              </a:rPr>
              <a:t> Trong Agile</a:t>
            </a:r>
            <a:endParaRPr b="0" i="0" sz="1400" u="none" cap="none" strike="noStrike">
              <a:solidFill>
                <a:srgbClr val="000000"/>
              </a:solidFill>
              <a:latin typeface="Arial"/>
              <a:ea typeface="Arial"/>
              <a:cs typeface="Arial"/>
              <a:sym typeface="Arial"/>
            </a:endParaRPr>
          </a:p>
        </p:txBody>
      </p:sp>
      <p:sp>
        <p:nvSpPr>
          <p:cNvPr id="262" name="Google Shape;262;g12f8e6809e2_0_262"/>
          <p:cNvSpPr txBox="1"/>
          <p:nvPr/>
        </p:nvSpPr>
        <p:spPr>
          <a:xfrm>
            <a:off x="1760550" y="1956658"/>
            <a:ext cx="8851200" cy="1569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Estimated</a:t>
            </a:r>
            <a:r>
              <a:rPr lang="en-US" sz="1800">
                <a:latin typeface="Calibri"/>
                <a:ea typeface="Calibri"/>
                <a:cs typeface="Calibri"/>
                <a:sym typeface="Calibri"/>
              </a:rPr>
              <a:t> khối lượng công việc là công việc khó nhất trong quy trình agile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Việc estimated khối lượng và thời gian hoàn thành công việc phụ thuộc khá nhiều vào quan điểm của từng thành viên trong team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Có rất nhiều cách để ước lượng khối lượng công việc như : T-shirt size, fibonacci, poker plan,dot voting...</a:t>
            </a:r>
            <a:endParaRPr sz="180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12f8e6809e2_0_271"/>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68" name="Google Shape;268;g12f8e6809e2_0_271"/>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269" name="Google Shape;269;g12f8e6809e2_0_271"/>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270" name="Google Shape;270;g12f8e6809e2_0_271"/>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1" name="Google Shape;271;g12f8e6809e2_0_271"/>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Scrum</a:t>
            </a:r>
            <a:endParaRPr b="0" i="0" sz="1400" u="none" cap="none" strike="noStrike">
              <a:solidFill>
                <a:srgbClr val="000000"/>
              </a:solidFill>
              <a:latin typeface="Arial"/>
              <a:ea typeface="Arial"/>
              <a:cs typeface="Arial"/>
              <a:sym typeface="Arial"/>
            </a:endParaRPr>
          </a:p>
        </p:txBody>
      </p:sp>
      <p:sp>
        <p:nvSpPr>
          <p:cNvPr id="272" name="Google Shape;272;g12f8e6809e2_0_271"/>
          <p:cNvSpPr txBox="1"/>
          <p:nvPr/>
        </p:nvSpPr>
        <p:spPr>
          <a:xfrm>
            <a:off x="1592100" y="1030208"/>
            <a:ext cx="88512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Scrum là một framework quy trình để thực hành Agile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3 trụ cột của Scrum là: tính minh bach, thanh tra và thích nghi </a:t>
            </a:r>
            <a:endParaRPr sz="1800">
              <a:latin typeface="Calibri"/>
              <a:ea typeface="Calibri"/>
              <a:cs typeface="Calibri"/>
              <a:sym typeface="Calibri"/>
            </a:endParaRPr>
          </a:p>
        </p:txBody>
      </p:sp>
      <p:pic>
        <p:nvPicPr>
          <p:cNvPr descr="Minh bạch (Transparency) là gì?" id="273" name="Google Shape;273;g12f8e6809e2_0_271"/>
          <p:cNvPicPr preferRelativeResize="0"/>
          <p:nvPr/>
        </p:nvPicPr>
        <p:blipFill>
          <a:blip r:embed="rId4">
            <a:alphaModFix/>
          </a:blip>
          <a:stretch>
            <a:fillRect/>
          </a:stretch>
        </p:blipFill>
        <p:spPr>
          <a:xfrm>
            <a:off x="2021400" y="1675788"/>
            <a:ext cx="8421900" cy="430958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12f8e6809e2_0_292"/>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79" name="Google Shape;279;g12f8e6809e2_0_292"/>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280" name="Google Shape;280;g12f8e6809e2_0_292"/>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281" name="Google Shape;281;g12f8e6809e2_0_292"/>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2" name="Google Shape;282;g12f8e6809e2_0_292"/>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4 thành phần của Scrum</a:t>
            </a:r>
            <a:endParaRPr b="0" i="0" sz="1400" u="none" cap="none" strike="noStrike">
              <a:solidFill>
                <a:srgbClr val="000000"/>
              </a:solidFill>
              <a:latin typeface="Arial"/>
              <a:ea typeface="Arial"/>
              <a:cs typeface="Arial"/>
              <a:sym typeface="Arial"/>
            </a:endParaRPr>
          </a:p>
        </p:txBody>
      </p:sp>
      <p:sp>
        <p:nvSpPr>
          <p:cNvPr id="283" name="Google Shape;283;g12f8e6809e2_0_292"/>
          <p:cNvSpPr txBox="1"/>
          <p:nvPr/>
        </p:nvSpPr>
        <p:spPr>
          <a:xfrm>
            <a:off x="1524000" y="2293507"/>
            <a:ext cx="56871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Scrum team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Scrum Artifacts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Scrum Event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Scrum Rules</a:t>
            </a:r>
            <a:endParaRPr sz="1800">
              <a:latin typeface="Calibri"/>
              <a:ea typeface="Calibri"/>
              <a:cs typeface="Calibri"/>
              <a:sym typeface="Calibri"/>
            </a:endParaRPr>
          </a:p>
        </p:txBody>
      </p:sp>
      <p:pic>
        <p:nvPicPr>
          <p:cNvPr descr="do-hinh-scrum" id="284" name="Google Shape;284;g12f8e6809e2_0_292"/>
          <p:cNvPicPr preferRelativeResize="0"/>
          <p:nvPr/>
        </p:nvPicPr>
        <p:blipFill>
          <a:blip r:embed="rId4">
            <a:alphaModFix/>
          </a:blip>
          <a:stretch>
            <a:fillRect/>
          </a:stretch>
        </p:blipFill>
        <p:spPr>
          <a:xfrm>
            <a:off x="5506450" y="858563"/>
            <a:ext cx="5029200" cy="5029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12f8e6809e2_0_304"/>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90" name="Google Shape;290;g12f8e6809e2_0_304"/>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291" name="Google Shape;291;g12f8e6809e2_0_304"/>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292" name="Google Shape;292;g12f8e6809e2_0_304"/>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3" name="Google Shape;293;g12f8e6809e2_0_304"/>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Nhóm Scrum</a:t>
            </a:r>
            <a:endParaRPr b="0" i="0" sz="1400" u="none" cap="none" strike="noStrike">
              <a:solidFill>
                <a:srgbClr val="000000"/>
              </a:solidFill>
              <a:latin typeface="Arial"/>
              <a:ea typeface="Arial"/>
              <a:cs typeface="Arial"/>
              <a:sym typeface="Arial"/>
            </a:endParaRPr>
          </a:p>
        </p:txBody>
      </p:sp>
      <p:sp>
        <p:nvSpPr>
          <p:cNvPr id="294" name="Google Shape;294;g12f8e6809e2_0_304"/>
          <p:cNvSpPr txBox="1"/>
          <p:nvPr/>
        </p:nvSpPr>
        <p:spPr>
          <a:xfrm>
            <a:off x="1524000" y="2293507"/>
            <a:ext cx="56871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Scrum</a:t>
            </a:r>
            <a:r>
              <a:rPr lang="en-US" sz="1800">
                <a:latin typeface="Calibri"/>
                <a:ea typeface="Calibri"/>
                <a:cs typeface="Calibri"/>
                <a:sym typeface="Calibri"/>
              </a:rPr>
              <a:t> Product Owner</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Scrum Dev Team</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Scrum Master</a:t>
            </a:r>
            <a:endParaRPr sz="18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12f8e6809e2_0_368"/>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00" name="Google Shape;300;g12f8e6809e2_0_368"/>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301" name="Google Shape;301;g12f8e6809e2_0_368"/>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302" name="Google Shape;302;g12f8e6809e2_0_368"/>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3" name="Google Shape;303;g12f8e6809e2_0_368"/>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Product Owner</a:t>
            </a:r>
            <a:endParaRPr b="0" i="0" sz="1400" u="none" cap="none" strike="noStrike">
              <a:solidFill>
                <a:srgbClr val="000000"/>
              </a:solidFill>
              <a:latin typeface="Arial"/>
              <a:ea typeface="Arial"/>
              <a:cs typeface="Arial"/>
              <a:sym typeface="Arial"/>
            </a:endParaRPr>
          </a:p>
        </p:txBody>
      </p:sp>
      <p:sp>
        <p:nvSpPr>
          <p:cNvPr id="304" name="Google Shape;304;g12f8e6809e2_0_368"/>
          <p:cNvSpPr txBox="1"/>
          <p:nvPr/>
        </p:nvSpPr>
        <p:spPr>
          <a:xfrm>
            <a:off x="1524000" y="2293500"/>
            <a:ext cx="8763000" cy="1847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Đảm bảo kết quả đầu ra tốt nhất bởi dev team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luôn luôn minh bạch</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Tạo và maintain backlog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Đảm bảo các thành viên trong dev team hiểu về cái đang làm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Chỉ là một người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Chỉ product owner có thể yêu cầu dev team làm gì </a:t>
            </a:r>
            <a:endParaRPr sz="18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12f8e6809e2_0_377"/>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10" name="Google Shape;310;g12f8e6809e2_0_377"/>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311" name="Google Shape;311;g12f8e6809e2_0_377"/>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312" name="Google Shape;312;g12f8e6809e2_0_377"/>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3" name="Google Shape;313;g12f8e6809e2_0_377"/>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Dev team</a:t>
            </a:r>
            <a:endParaRPr b="0" i="0" sz="1400" u="none" cap="none" strike="noStrike">
              <a:solidFill>
                <a:srgbClr val="000000"/>
              </a:solidFill>
              <a:latin typeface="Arial"/>
              <a:ea typeface="Arial"/>
              <a:cs typeface="Arial"/>
              <a:sym typeface="Arial"/>
            </a:endParaRPr>
          </a:p>
        </p:txBody>
      </p:sp>
      <p:sp>
        <p:nvSpPr>
          <p:cNvPr id="314" name="Google Shape;314;g12f8e6809e2_0_377"/>
          <p:cNvSpPr txBox="1"/>
          <p:nvPr/>
        </p:nvSpPr>
        <p:spPr>
          <a:xfrm>
            <a:off x="1524000" y="2293500"/>
            <a:ext cx="87630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Đảm bảo hoàn thiện và phát hành sản phẩm ở cuối sprint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Tự tổ chức</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Mỗi thành viên là công bằng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Phải có thành viên với kỹ năng cao </a:t>
            </a:r>
            <a:endParaRPr sz="180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12f8e6809e2_0_386"/>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20" name="Google Shape;320;g12f8e6809e2_0_386"/>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321" name="Google Shape;321;g12f8e6809e2_0_386"/>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322" name="Google Shape;322;g12f8e6809e2_0_386"/>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3" name="Google Shape;323;g12f8e6809e2_0_386"/>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Scrum Master</a:t>
            </a:r>
            <a:endParaRPr b="0" i="0" sz="1400" u="none" cap="none" strike="noStrike">
              <a:solidFill>
                <a:srgbClr val="000000"/>
              </a:solidFill>
              <a:latin typeface="Arial"/>
              <a:ea typeface="Arial"/>
              <a:cs typeface="Arial"/>
              <a:sym typeface="Arial"/>
            </a:endParaRPr>
          </a:p>
        </p:txBody>
      </p:sp>
      <p:sp>
        <p:nvSpPr>
          <p:cNvPr id="324" name="Google Shape;324;g12f8e6809e2_0_386"/>
          <p:cNvSpPr txBox="1"/>
          <p:nvPr/>
        </p:nvSpPr>
        <p:spPr>
          <a:xfrm>
            <a:off x="1524000" y="2293500"/>
            <a:ext cx="87630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Đảm bảo vận hành Scrum theo đúng hướng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Pro về Scrum</a:t>
            </a:r>
            <a:endParaRPr sz="18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12f8e6809e2_0_314"/>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30" name="Google Shape;330;g12f8e6809e2_0_314"/>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331" name="Google Shape;331;g12f8e6809e2_0_314"/>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332" name="Google Shape;332;g12f8e6809e2_0_314"/>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3" name="Google Shape;333;g12f8e6809e2_0_314"/>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Scrum Artifacts</a:t>
            </a:r>
            <a:endParaRPr b="0" i="0" sz="1400" u="none" cap="none" strike="noStrike">
              <a:solidFill>
                <a:srgbClr val="000000"/>
              </a:solidFill>
              <a:latin typeface="Arial"/>
              <a:ea typeface="Arial"/>
              <a:cs typeface="Arial"/>
              <a:sym typeface="Arial"/>
            </a:endParaRPr>
          </a:p>
        </p:txBody>
      </p:sp>
      <p:sp>
        <p:nvSpPr>
          <p:cNvPr id="334" name="Google Shape;334;g12f8e6809e2_0_314"/>
          <p:cNvSpPr txBox="1"/>
          <p:nvPr/>
        </p:nvSpPr>
        <p:spPr>
          <a:xfrm>
            <a:off x="1524000" y="2293507"/>
            <a:ext cx="56871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Product Backlog</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Spring Backlog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Increment </a:t>
            </a:r>
            <a:endParaRPr sz="180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12f8e6809e2_0_323"/>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40" name="Google Shape;340;g12f8e6809e2_0_323"/>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341" name="Google Shape;341;g12f8e6809e2_0_323"/>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342" name="Google Shape;342;g12f8e6809e2_0_323"/>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3" name="Google Shape;343;g12f8e6809e2_0_323"/>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Scrum Events</a:t>
            </a:r>
            <a:endParaRPr b="0" i="0" sz="1400" u="none" cap="none" strike="noStrike">
              <a:solidFill>
                <a:srgbClr val="000000"/>
              </a:solidFill>
              <a:latin typeface="Arial"/>
              <a:ea typeface="Arial"/>
              <a:cs typeface="Arial"/>
              <a:sym typeface="Arial"/>
            </a:endParaRPr>
          </a:p>
        </p:txBody>
      </p:sp>
      <p:sp>
        <p:nvSpPr>
          <p:cNvPr id="344" name="Google Shape;344;g12f8e6809e2_0_323"/>
          <p:cNvSpPr txBox="1"/>
          <p:nvPr/>
        </p:nvSpPr>
        <p:spPr>
          <a:xfrm>
            <a:off x="1918950" y="2269457"/>
            <a:ext cx="56871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Lập kế hoạch Sprint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Daily Scrum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Sơ kết Sprint</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Cải tiến Sprint</a:t>
            </a:r>
            <a:endParaRPr sz="18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12f8e6809e2_0_332"/>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50" name="Google Shape;350;g12f8e6809e2_0_332"/>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351" name="Google Shape;351;g12f8e6809e2_0_332"/>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352" name="Google Shape;352;g12f8e6809e2_0_332"/>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3" name="Google Shape;353;g12f8e6809e2_0_332"/>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Lập kế hoạch Sprint</a:t>
            </a:r>
            <a:endParaRPr b="0" i="0" sz="1400" u="none" cap="none" strike="noStrike">
              <a:solidFill>
                <a:srgbClr val="000000"/>
              </a:solidFill>
              <a:latin typeface="Arial"/>
              <a:ea typeface="Arial"/>
              <a:cs typeface="Arial"/>
              <a:sym typeface="Arial"/>
            </a:endParaRPr>
          </a:p>
        </p:txBody>
      </p:sp>
      <p:sp>
        <p:nvSpPr>
          <p:cNvPr id="354" name="Google Shape;354;g12f8e6809e2_0_332"/>
          <p:cNvSpPr txBox="1"/>
          <p:nvPr/>
        </p:nvSpPr>
        <p:spPr>
          <a:xfrm>
            <a:off x="1918950" y="2269450"/>
            <a:ext cx="8921400" cy="1847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Sprint là khoảng thời gian phát triển, improved và phát hành sản phẩm</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Nên chọn khoảng sprint nhỏ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Quá trình lập kế hoạch cho Sprint các thành phần phải tham gia bao gồm cả Scrum Team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Timebox thường là 8h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Trả lời câu hỏi: cái gì sẽ hoàn thành trong sprint, làm thế nào để hoàn thành nó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Product Owner cần đưa ra Sprint Backlog và thảo luận với các thành viên</a:t>
            </a:r>
            <a:endParaRPr sz="180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12f8e6809e2_0_341"/>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60" name="Google Shape;360;g12f8e6809e2_0_341"/>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361" name="Google Shape;361;g12f8e6809e2_0_341"/>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362" name="Google Shape;362;g12f8e6809e2_0_341"/>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3" name="Google Shape;363;g12f8e6809e2_0_341"/>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Daily</a:t>
            </a:r>
            <a:r>
              <a:rPr b="1" lang="en-US" sz="2800">
                <a:solidFill>
                  <a:schemeClr val="dk2"/>
                </a:solidFill>
              </a:rPr>
              <a:t> Scrum</a:t>
            </a:r>
            <a:endParaRPr b="0" i="0" sz="1400" u="none" cap="none" strike="noStrike">
              <a:solidFill>
                <a:srgbClr val="000000"/>
              </a:solidFill>
              <a:latin typeface="Arial"/>
              <a:ea typeface="Arial"/>
              <a:cs typeface="Arial"/>
              <a:sym typeface="Arial"/>
            </a:endParaRPr>
          </a:p>
        </p:txBody>
      </p:sp>
      <p:sp>
        <p:nvSpPr>
          <p:cNvPr id="364" name="Google Shape;364;g12f8e6809e2_0_341"/>
          <p:cNvSpPr txBox="1"/>
          <p:nvPr/>
        </p:nvSpPr>
        <p:spPr>
          <a:xfrm>
            <a:off x="1918950" y="2269450"/>
            <a:ext cx="89214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Timbox 15 phút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Trả lời câu hỏi tôi đã làm gì ngày hôm qua, nay tôi sẽ làm gì ? khó khăn và trợ giúp </a:t>
            </a:r>
            <a:endParaRPr sz="1800">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12f8e6809e2_0_350"/>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70" name="Google Shape;370;g12f8e6809e2_0_350"/>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371" name="Google Shape;371;g12f8e6809e2_0_350"/>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372" name="Google Shape;372;g12f8e6809e2_0_350"/>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3" name="Google Shape;373;g12f8e6809e2_0_350"/>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Sprint Review</a:t>
            </a:r>
            <a:endParaRPr b="0" i="0" sz="1400" u="none" cap="none" strike="noStrike">
              <a:solidFill>
                <a:srgbClr val="000000"/>
              </a:solidFill>
              <a:latin typeface="Arial"/>
              <a:ea typeface="Arial"/>
              <a:cs typeface="Arial"/>
              <a:sym typeface="Arial"/>
            </a:endParaRPr>
          </a:p>
        </p:txBody>
      </p:sp>
      <p:sp>
        <p:nvSpPr>
          <p:cNvPr id="374" name="Google Shape;374;g12f8e6809e2_0_350"/>
          <p:cNvSpPr txBox="1"/>
          <p:nvPr/>
        </p:nvSpPr>
        <p:spPr>
          <a:xfrm>
            <a:off x="1918950" y="2269450"/>
            <a:ext cx="8921400" cy="1569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Scrum Team + StakeHolder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Product Owner highlight</a:t>
            </a:r>
            <a:r>
              <a:rPr lang="en-US" sz="1800">
                <a:latin typeface="Calibri"/>
                <a:ea typeface="Calibri"/>
                <a:cs typeface="Calibri"/>
                <a:sym typeface="Calibri"/>
              </a:rPr>
              <a:t> công việc đã đạt được và chưa đạt được</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Nếu phần việc chưa đạt được sẽ được đưa ngược trở lại backlog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Dev Team chia sẻ kinh nghiệm, thách thức, demo sản phẩm sau sprint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StakeHolder hỏi về các sản phẩm demo </a:t>
            </a:r>
            <a:endParaRPr sz="1800">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12f8e6809e2_0_359"/>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80" name="Google Shape;380;g12f8e6809e2_0_359"/>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381" name="Google Shape;381;g12f8e6809e2_0_359"/>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382" name="Google Shape;382;g12f8e6809e2_0_359"/>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3" name="Google Shape;383;g12f8e6809e2_0_359"/>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Sprint Petrospective</a:t>
            </a:r>
            <a:endParaRPr b="0" i="0" sz="1400" u="none" cap="none" strike="noStrike">
              <a:solidFill>
                <a:srgbClr val="000000"/>
              </a:solidFill>
              <a:latin typeface="Arial"/>
              <a:ea typeface="Arial"/>
              <a:cs typeface="Arial"/>
              <a:sym typeface="Arial"/>
            </a:endParaRPr>
          </a:p>
        </p:txBody>
      </p:sp>
      <p:sp>
        <p:nvSpPr>
          <p:cNvPr id="384" name="Google Shape;384;g12f8e6809e2_0_359"/>
          <p:cNvSpPr txBox="1"/>
          <p:nvPr/>
        </p:nvSpPr>
        <p:spPr>
          <a:xfrm>
            <a:off x="1918950" y="2269450"/>
            <a:ext cx="8921400" cy="1569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Các thành viên bao gồm Scrum team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Thanh tra về hiệu suất của team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Cái gì làm tốt ? cái gì chưa tốt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Làm gì để nâng hiệu suất </a:t>
            </a:r>
            <a:endParaRPr sz="1800">
              <a:latin typeface="Calibri"/>
              <a:ea typeface="Calibri"/>
              <a:cs typeface="Calibri"/>
              <a:sym typeface="Calibri"/>
            </a:endParaRPr>
          </a:p>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Timebox là 3h hoặc ít hơn </a:t>
            </a:r>
            <a:endParaRPr sz="1800">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g12f8e6809e2_0_395"/>
          <p:cNvSpPr txBox="1"/>
          <p:nvPr>
            <p:ph idx="1" type="subTitle"/>
          </p:nvPr>
        </p:nvSpPr>
        <p:spPr>
          <a:xfrm>
            <a:off x="1828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90" name="Google Shape;390;g12f8e6809e2_0_395"/>
          <p:cNvCxnSpPr/>
          <p:nvPr/>
        </p:nvCxnSpPr>
        <p:spPr>
          <a:xfrm>
            <a:off x="152400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5290"/>
              </a:srgbClr>
            </a:outerShdw>
          </a:effectLst>
        </p:spPr>
      </p:cxnSp>
      <p:pic>
        <p:nvPicPr>
          <p:cNvPr id="391" name="Google Shape;391;g12f8e6809e2_0_395"/>
          <p:cNvPicPr preferRelativeResize="0"/>
          <p:nvPr/>
        </p:nvPicPr>
        <p:blipFill rotWithShape="1">
          <a:blip r:embed="rId3">
            <a:alphaModFix/>
          </a:blip>
          <a:srcRect b="0" l="0" r="0" t="0"/>
          <a:stretch/>
        </p:blipFill>
        <p:spPr>
          <a:xfrm>
            <a:off x="8897842" y="6206613"/>
            <a:ext cx="1389157" cy="486205"/>
          </a:xfrm>
          <a:prstGeom prst="rect">
            <a:avLst/>
          </a:prstGeom>
          <a:noFill/>
          <a:ln>
            <a:noFill/>
          </a:ln>
        </p:spPr>
      </p:pic>
      <p:sp>
        <p:nvSpPr>
          <p:cNvPr id="392" name="Google Shape;392;g12f8e6809e2_0_395"/>
          <p:cNvSpPr/>
          <p:nvPr/>
        </p:nvSpPr>
        <p:spPr>
          <a:xfrm>
            <a:off x="152400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3" name="Google Shape;393;g12f8e6809e2_0_395"/>
          <p:cNvSpPr txBox="1"/>
          <p:nvPr/>
        </p:nvSpPr>
        <p:spPr>
          <a:xfrm flipH="1">
            <a:off x="2358400" y="127125"/>
            <a:ext cx="84219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Tổng kết</a:t>
            </a:r>
            <a:endParaRPr b="0" i="0" sz="1400" u="none" cap="none" strike="noStrike">
              <a:solidFill>
                <a:srgbClr val="000000"/>
              </a:solidFill>
              <a:latin typeface="Arial"/>
              <a:ea typeface="Arial"/>
              <a:cs typeface="Arial"/>
              <a:sym typeface="Arial"/>
            </a:endParaRPr>
          </a:p>
        </p:txBody>
      </p:sp>
      <p:sp>
        <p:nvSpPr>
          <p:cNvPr id="394" name="Google Shape;394;g12f8e6809e2_0_395"/>
          <p:cNvSpPr txBox="1"/>
          <p:nvPr/>
        </p:nvSpPr>
        <p:spPr>
          <a:xfrm>
            <a:off x="1918950" y="2269450"/>
            <a:ext cx="89214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Calibri"/>
              <a:buChar char="●"/>
            </a:pPr>
            <a:r>
              <a:rPr lang="en-US" sz="1800">
                <a:latin typeface="Calibri"/>
                <a:ea typeface="Calibri"/>
                <a:cs typeface="Calibri"/>
                <a:sym typeface="Calibri"/>
              </a:rPr>
              <a:t>Tổng kết và ask question</a:t>
            </a:r>
            <a:endParaRPr sz="18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2022-03-06T05:20:53Z</dcterms:created>
  <dc:creator>Duc Cao</dc:creator>
</cp:coreProperties>
</file>